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6" d="100"/>
          <a:sy n="126" d="100"/>
        </p:scale>
        <p:origin x="58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185552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274320"/>
            <a:ext cx="402336" cy="40233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3" name="Text 1"/>
          <p:cNvSpPr txBox="1"/>
          <p:nvPr/>
        </p:nvSpPr>
        <p:spPr>
          <a:xfrm>
            <a:off x="685800" y="2743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VD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274320"/>
            <a:ext cx="4114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VortexDeep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69164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103120"/>
            <a:ext cx="1081735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handles the repetitive work.</a:t>
            </a:r>
            <a:endParaRPr lang="en-US" sz="4000" dirty="0"/>
          </a:p>
          <a:p>
            <a:pPr marL="0" indent="0" algn="l">
              <a:lnSpc>
                <a:spcPct val="102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keep the decisions.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3886200"/>
            <a:ext cx="10817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7C7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build and run AI workflows for small and mid-sized companies.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85800" y="5760720"/>
            <a:ext cx="10817352" cy="0"/>
          </a:xfrm>
          <a:prstGeom prst="line">
            <a:avLst/>
          </a:prstGeom>
          <a:noFill/>
          <a:ln w="9525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9" name="Text 7"/>
          <p:cNvSpPr txBox="1"/>
          <p:nvPr/>
        </p:nvSpPr>
        <p:spPr>
          <a:xfrm>
            <a:off x="685800" y="585216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CREATION ICT  ·  VENTURELAB  ·  AUG-SEP 2026  ·  ZÜRICH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617220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Maciek Szczech, Founder  ·  vortexdeep.ch  ·  info@vortexdeep.ch  ·  Claridapark 4, 8636 Wald ZH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274320"/>
            <a:ext cx="402336" cy="402336"/>
          </a:xfrm>
          <a:prstGeom prst="rect">
            <a:avLst/>
          </a:prstGeom>
          <a:solidFill>
            <a:srgbClr val="141414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3" name="Text 1"/>
          <p:cNvSpPr txBox="1"/>
          <p:nvPr/>
        </p:nvSpPr>
        <p:spPr>
          <a:xfrm>
            <a:off x="685800" y="2743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VD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274320"/>
            <a:ext cx="4114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VortexDeep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85800" y="841248"/>
            <a:ext cx="10817352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6" name="Text 4"/>
          <p:cNvSpPr txBox="1"/>
          <p:nvPr/>
        </p:nvSpPr>
        <p:spPr>
          <a:xfrm>
            <a:off x="685800" y="905256"/>
            <a:ext cx="10817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</a:t>
            </a: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</a:t>
            </a:r>
            <a:r>
              <a:rPr lang="en-US" sz="900" kern="0" spc="100" dirty="0">
                <a:solidFill>
                  <a:srgbClr val="C7C7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</a:t>
            </a: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</a:t>
            </a:r>
            <a:r>
              <a:rPr lang="en-US" sz="900" kern="0" spc="100" dirty="0">
                <a:solidFill>
                  <a:srgbClr val="C7C7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</a:t>
            </a: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</a:t>
            </a:r>
            <a:r>
              <a:rPr lang="en-US" sz="900" kern="0" spc="100" dirty="0">
                <a:solidFill>
                  <a:srgbClr val="C7C7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COMPETITION</a:t>
            </a: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</a:t>
            </a:r>
            <a:r>
              <a:rPr lang="en-US" sz="900" kern="0" spc="100" dirty="0">
                <a:solidFill>
                  <a:srgbClr val="C7C7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</a:t>
            </a: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</a:t>
            </a:r>
            <a:r>
              <a:rPr lang="en-US" sz="900" kern="0" spc="100" dirty="0">
                <a:solidFill>
                  <a:srgbClr val="C7C7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FINANCIALS</a:t>
            </a: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</a:t>
            </a:r>
            <a:r>
              <a:rPr lang="en-US" sz="900" kern="0" spc="100" dirty="0">
                <a:solidFill>
                  <a:srgbClr val="C7C7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</a:t>
            </a: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</a:t>
            </a:r>
            <a:r>
              <a:rPr lang="en-US" sz="900" kern="0" spc="100" dirty="0">
                <a:solidFill>
                  <a:srgbClr val="C7C7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BOARD</a:t>
            </a: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</a:t>
            </a:r>
            <a:r>
              <a:rPr lang="en-US" sz="900" kern="0" spc="100" dirty="0">
                <a:solidFill>
                  <a:srgbClr val="C7C7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TRACTION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316736"/>
            <a:ext cx="10817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 tasks, repeated every day.</a:t>
            </a:r>
            <a:endParaRPr lang="en-US" sz="23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1810512"/>
            <a:ext cx="10817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is easy once. The cost is that it never stops.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33172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queue · 1…N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822960" y="2651760"/>
            <a:ext cx="2331720" cy="402336"/>
          </a:xfrm>
          <a:prstGeom prst="roundRect">
            <a:avLst>
              <a:gd name="adj" fmla="val 13636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11" name="Text 9"/>
          <p:cNvSpPr txBox="1"/>
          <p:nvPr/>
        </p:nvSpPr>
        <p:spPr>
          <a:xfrm>
            <a:off x="822960" y="2651760"/>
            <a:ext cx="2331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Messages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22960" y="3154680"/>
            <a:ext cx="2331720" cy="402336"/>
          </a:xfrm>
          <a:prstGeom prst="roundRect">
            <a:avLst>
              <a:gd name="adj" fmla="val 13636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13" name="Text 11"/>
          <p:cNvSpPr txBox="1"/>
          <p:nvPr/>
        </p:nvSpPr>
        <p:spPr>
          <a:xfrm>
            <a:off x="822960" y="3154680"/>
            <a:ext cx="2331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Documents &amp; Data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22960" y="3657600"/>
            <a:ext cx="2331720" cy="402336"/>
          </a:xfrm>
          <a:prstGeom prst="roundRect">
            <a:avLst>
              <a:gd name="adj" fmla="val 13636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15" name="Text 13"/>
          <p:cNvSpPr txBox="1"/>
          <p:nvPr/>
        </p:nvSpPr>
        <p:spPr>
          <a:xfrm>
            <a:off x="822960" y="3657600"/>
            <a:ext cx="2331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Quotes &amp; Renewals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22960" y="4160520"/>
            <a:ext cx="2331720" cy="402336"/>
          </a:xfrm>
          <a:prstGeom prst="roundRect">
            <a:avLst>
              <a:gd name="adj" fmla="val 13636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17" name="Text 15"/>
          <p:cNvSpPr txBox="1"/>
          <p:nvPr/>
        </p:nvSpPr>
        <p:spPr>
          <a:xfrm>
            <a:off x="822960" y="4160520"/>
            <a:ext cx="2331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154680" y="2852928"/>
            <a:ext cx="1810512" cy="548640"/>
          </a:xfrm>
          <a:prstGeom prst="line">
            <a:avLst/>
          </a:prstGeom>
          <a:noFill/>
          <a:ln w="12700">
            <a:solidFill>
              <a:srgbClr val="B4B4B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CH"/>
          </a:p>
        </p:txBody>
      </p:sp>
      <p:sp>
        <p:nvSpPr>
          <p:cNvPr id="19" name="Shape 17"/>
          <p:cNvSpPr/>
          <p:nvPr/>
        </p:nvSpPr>
        <p:spPr>
          <a:xfrm>
            <a:off x="3154680" y="3355848"/>
            <a:ext cx="1810512" cy="45720"/>
          </a:xfrm>
          <a:prstGeom prst="line">
            <a:avLst/>
          </a:prstGeom>
          <a:noFill/>
          <a:ln w="12700">
            <a:solidFill>
              <a:srgbClr val="B4B4B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CH"/>
          </a:p>
        </p:txBody>
      </p:sp>
      <p:sp>
        <p:nvSpPr>
          <p:cNvPr id="20" name="Shape 18"/>
          <p:cNvSpPr/>
          <p:nvPr/>
        </p:nvSpPr>
        <p:spPr>
          <a:xfrm flipV="1">
            <a:off x="3154680" y="3401568"/>
            <a:ext cx="1810512" cy="457200"/>
          </a:xfrm>
          <a:prstGeom prst="line">
            <a:avLst/>
          </a:prstGeom>
          <a:noFill/>
          <a:ln w="12700">
            <a:solidFill>
              <a:srgbClr val="B4B4B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CH"/>
          </a:p>
        </p:txBody>
      </p:sp>
      <p:sp>
        <p:nvSpPr>
          <p:cNvPr id="21" name="Shape 19"/>
          <p:cNvSpPr/>
          <p:nvPr/>
        </p:nvSpPr>
        <p:spPr>
          <a:xfrm flipV="1">
            <a:off x="3154680" y="3401568"/>
            <a:ext cx="1810512" cy="960120"/>
          </a:xfrm>
          <a:prstGeom prst="line">
            <a:avLst/>
          </a:prstGeom>
          <a:noFill/>
          <a:ln w="12700">
            <a:solidFill>
              <a:srgbClr val="B4B4B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CH"/>
          </a:p>
        </p:txBody>
      </p:sp>
      <p:sp>
        <p:nvSpPr>
          <p:cNvPr id="22" name="Shape 20"/>
          <p:cNvSpPr/>
          <p:nvPr/>
        </p:nvSpPr>
        <p:spPr>
          <a:xfrm>
            <a:off x="4983480" y="2788920"/>
            <a:ext cx="1234440" cy="123444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41414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23" name="Text 21"/>
          <p:cNvSpPr txBox="1"/>
          <p:nvPr/>
        </p:nvSpPr>
        <p:spPr>
          <a:xfrm>
            <a:off x="4983480" y="2788920"/>
            <a:ext cx="1234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</a:t>
            </a:r>
            <a:endParaRPr lang="en-US" sz="13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 / one at a time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309360" y="3401568"/>
            <a:ext cx="1234440" cy="0"/>
          </a:xfrm>
          <a:prstGeom prst="line">
            <a:avLst/>
          </a:prstGeom>
          <a:noFill/>
          <a:ln w="15875">
            <a:solidFill>
              <a:srgbClr val="8C8C8C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CH"/>
          </a:p>
        </p:txBody>
      </p:sp>
      <p:sp>
        <p:nvSpPr>
          <p:cNvPr id="25" name="Shape 23"/>
          <p:cNvSpPr/>
          <p:nvPr/>
        </p:nvSpPr>
        <p:spPr>
          <a:xfrm>
            <a:off x="7635240" y="3072384"/>
            <a:ext cx="3246120" cy="658368"/>
          </a:xfrm>
          <a:prstGeom prst="roundRect">
            <a:avLst>
              <a:gd name="adj" fmla="val 8333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26" name="Text 24"/>
          <p:cNvSpPr txBox="1"/>
          <p:nvPr/>
        </p:nvSpPr>
        <p:spPr>
          <a:xfrm>
            <a:off x="7635240" y="3072384"/>
            <a:ext cx="3246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resolved — one after another</a:t>
            </a:r>
            <a:endParaRPr lang="en-US" sz="12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1, then 2, then 3 …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9171432" y="3730752"/>
            <a:ext cx="0" cy="429768"/>
          </a:xfrm>
          <a:prstGeom prst="line">
            <a:avLst/>
          </a:prstGeom>
          <a:noFill/>
          <a:ln w="12700">
            <a:solidFill>
              <a:srgbClr val="B4B4B4"/>
            </a:solidFill>
            <a:prstDash val="dash"/>
            <a:headEnd type="none"/>
            <a:tailEnd type="none"/>
          </a:ln>
        </p:spPr>
        <p:txBody>
          <a:bodyPr/>
          <a:lstStyle/>
          <a:p>
            <a:endParaRPr lang="en-CH"/>
          </a:p>
        </p:txBody>
      </p:sp>
      <p:sp>
        <p:nvSpPr>
          <p:cNvPr id="28" name="Shape 26"/>
          <p:cNvSpPr/>
          <p:nvPr/>
        </p:nvSpPr>
        <p:spPr>
          <a:xfrm>
            <a:off x="5605272" y="4160520"/>
            <a:ext cx="3566160" cy="0"/>
          </a:xfrm>
          <a:prstGeom prst="line">
            <a:avLst/>
          </a:prstGeom>
          <a:noFill/>
          <a:ln w="12700">
            <a:solidFill>
              <a:srgbClr val="B4B4B4"/>
            </a:solidFill>
            <a:prstDash val="dash"/>
            <a:headEnd type="none"/>
            <a:tailEnd type="none"/>
          </a:ln>
        </p:spPr>
        <p:txBody>
          <a:bodyPr/>
          <a:lstStyle/>
          <a:p>
            <a:endParaRPr lang="en-CH"/>
          </a:p>
        </p:txBody>
      </p:sp>
      <p:sp>
        <p:nvSpPr>
          <p:cNvPr id="29" name="Shape 27"/>
          <p:cNvSpPr/>
          <p:nvPr/>
        </p:nvSpPr>
        <p:spPr>
          <a:xfrm>
            <a:off x="5605272" y="4023360"/>
            <a:ext cx="0" cy="137160"/>
          </a:xfrm>
          <a:prstGeom prst="line">
            <a:avLst/>
          </a:prstGeom>
          <a:noFill/>
          <a:ln w="12700">
            <a:solidFill>
              <a:srgbClr val="B4B4B4"/>
            </a:solidFill>
            <a:prstDash val="dash"/>
            <a:headEnd type="triangle"/>
            <a:tailEnd type="none"/>
          </a:ln>
        </p:spPr>
        <p:txBody>
          <a:bodyPr/>
          <a:lstStyle/>
          <a:p>
            <a:endParaRPr lang="en-CH"/>
          </a:p>
        </p:txBody>
      </p:sp>
      <p:sp>
        <p:nvSpPr>
          <p:cNvPr id="30" name="Text 28"/>
          <p:cNvSpPr txBox="1"/>
          <p:nvPr/>
        </p:nvSpPr>
        <p:spPr>
          <a:xfrm>
            <a:off x="5669280" y="42062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1 resolved, then the next task …</a:t>
            </a:r>
            <a:endParaRPr lang="en-US" sz="900" dirty="0"/>
          </a:p>
        </p:txBody>
      </p:sp>
      <p:sp>
        <p:nvSpPr>
          <p:cNvPr id="31" name="Text 29"/>
          <p:cNvSpPr txBox="1"/>
          <p:nvPr/>
        </p:nvSpPr>
        <p:spPr>
          <a:xfrm>
            <a:off x="822960" y="4956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pair of hands — the queue only clears as fast as you do.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685800" y="5925312"/>
            <a:ext cx="10817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 </a:t>
            </a:r>
            <a:r>
              <a:rPr lang="en-US" sz="1250" i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bottleneck isn't any one task — it's that they never stop.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685800" y="6327648"/>
            <a:ext cx="10817352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34" name="Text 32"/>
          <p:cNvSpPr txBox="1"/>
          <p:nvPr/>
        </p:nvSpPr>
        <p:spPr>
          <a:xfrm>
            <a:off x="685800" y="636422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vortexdeep.ch  ·  info@vortexdeep.ch</a:t>
            </a:r>
            <a:endParaRPr lang="en-US" sz="900" dirty="0"/>
          </a:p>
        </p:txBody>
      </p:sp>
      <p:sp>
        <p:nvSpPr>
          <p:cNvPr id="35" name="Text 33"/>
          <p:cNvSpPr txBox="1"/>
          <p:nvPr/>
        </p:nvSpPr>
        <p:spPr>
          <a:xfrm>
            <a:off x="10131552" y="636422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11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274320"/>
            <a:ext cx="402336" cy="402336"/>
          </a:xfrm>
          <a:prstGeom prst="rect">
            <a:avLst/>
          </a:prstGeom>
          <a:solidFill>
            <a:srgbClr val="141414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3" name="Text 1"/>
          <p:cNvSpPr txBox="1"/>
          <p:nvPr/>
        </p:nvSpPr>
        <p:spPr>
          <a:xfrm>
            <a:off x="685800" y="2743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VD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274320"/>
            <a:ext cx="4114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VortexDeep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85800" y="841248"/>
            <a:ext cx="10817352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6" name="Text 4"/>
          <p:cNvSpPr txBox="1"/>
          <p:nvPr/>
        </p:nvSpPr>
        <p:spPr>
          <a:xfrm>
            <a:off x="685800" y="905256"/>
            <a:ext cx="10817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C7C7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</a:t>
            </a: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</a:t>
            </a:r>
            <a:r>
              <a:rPr lang="en-US" sz="900" b="1" kern="0" spc="10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</a:t>
            </a: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</a:t>
            </a:r>
            <a:r>
              <a:rPr lang="en-US" sz="900" kern="0" spc="100" dirty="0">
                <a:solidFill>
                  <a:srgbClr val="C7C7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</a:t>
            </a: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</a:t>
            </a:r>
            <a:r>
              <a:rPr lang="en-US" sz="900" kern="0" spc="100" dirty="0">
                <a:solidFill>
                  <a:srgbClr val="C7C7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COMPETITION</a:t>
            </a: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</a:t>
            </a:r>
            <a:r>
              <a:rPr lang="en-US" sz="900" kern="0" spc="100" dirty="0">
                <a:solidFill>
                  <a:srgbClr val="C7C7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</a:t>
            </a: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</a:t>
            </a:r>
            <a:r>
              <a:rPr lang="en-US" sz="900" kern="0" spc="100" dirty="0">
                <a:solidFill>
                  <a:srgbClr val="C7C7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FINANCIALS</a:t>
            </a: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</a:t>
            </a:r>
            <a:r>
              <a:rPr lang="en-US" sz="900" kern="0" spc="100" dirty="0">
                <a:solidFill>
                  <a:srgbClr val="C7C7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</a:t>
            </a: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</a:t>
            </a:r>
            <a:r>
              <a:rPr lang="en-US" sz="900" kern="0" spc="100" dirty="0">
                <a:solidFill>
                  <a:srgbClr val="C7C7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BOARD</a:t>
            </a: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</a:t>
            </a:r>
            <a:r>
              <a:rPr lang="en-US" sz="900" kern="0" spc="100" dirty="0">
                <a:solidFill>
                  <a:srgbClr val="C7C7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TRACTION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316736"/>
            <a:ext cx="10817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turn repetitive tasks into AI workflows — with human control.</a:t>
            </a:r>
            <a:endParaRPr lang="en-US" sz="23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33172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incoming · 1…N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822960" y="2651760"/>
            <a:ext cx="2011680" cy="402336"/>
          </a:xfrm>
          <a:prstGeom prst="roundRect">
            <a:avLst>
              <a:gd name="adj" fmla="val 13636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10" name="Text 8"/>
          <p:cNvSpPr txBox="1"/>
          <p:nvPr/>
        </p:nvSpPr>
        <p:spPr>
          <a:xfrm>
            <a:off x="822960" y="265176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1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22960" y="3154680"/>
            <a:ext cx="2011680" cy="402336"/>
          </a:xfrm>
          <a:prstGeom prst="roundRect">
            <a:avLst>
              <a:gd name="adj" fmla="val 13636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12" name="Text 10"/>
          <p:cNvSpPr txBox="1"/>
          <p:nvPr/>
        </p:nvSpPr>
        <p:spPr>
          <a:xfrm>
            <a:off x="822960" y="315468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2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22960" y="3657600"/>
            <a:ext cx="2011680" cy="402336"/>
          </a:xfrm>
          <a:prstGeom prst="roundRect">
            <a:avLst>
              <a:gd name="adj" fmla="val 13636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14" name="Text 12"/>
          <p:cNvSpPr txBox="1"/>
          <p:nvPr/>
        </p:nvSpPr>
        <p:spPr>
          <a:xfrm>
            <a:off x="822960" y="365760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3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22960" y="4160520"/>
            <a:ext cx="2011680" cy="402336"/>
          </a:xfrm>
          <a:prstGeom prst="roundRect">
            <a:avLst>
              <a:gd name="adj" fmla="val 13636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16" name="Text 14"/>
          <p:cNvSpPr txBox="1"/>
          <p:nvPr/>
        </p:nvSpPr>
        <p:spPr>
          <a:xfrm>
            <a:off x="822960" y="416052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4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2834640" y="2852928"/>
            <a:ext cx="640080" cy="548640"/>
          </a:xfrm>
          <a:prstGeom prst="line">
            <a:avLst/>
          </a:prstGeom>
          <a:noFill/>
          <a:ln w="12700">
            <a:solidFill>
              <a:srgbClr val="B4B4B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CH"/>
          </a:p>
        </p:txBody>
      </p:sp>
      <p:sp>
        <p:nvSpPr>
          <p:cNvPr id="18" name="Shape 16"/>
          <p:cNvSpPr/>
          <p:nvPr/>
        </p:nvSpPr>
        <p:spPr>
          <a:xfrm>
            <a:off x="2834640" y="3355848"/>
            <a:ext cx="640080" cy="45720"/>
          </a:xfrm>
          <a:prstGeom prst="line">
            <a:avLst/>
          </a:prstGeom>
          <a:noFill/>
          <a:ln w="12700">
            <a:solidFill>
              <a:srgbClr val="B4B4B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CH"/>
          </a:p>
        </p:txBody>
      </p:sp>
      <p:sp>
        <p:nvSpPr>
          <p:cNvPr id="19" name="Shape 17"/>
          <p:cNvSpPr/>
          <p:nvPr/>
        </p:nvSpPr>
        <p:spPr>
          <a:xfrm flipV="1">
            <a:off x="2834640" y="3401568"/>
            <a:ext cx="640080" cy="457200"/>
          </a:xfrm>
          <a:prstGeom prst="line">
            <a:avLst/>
          </a:prstGeom>
          <a:noFill/>
          <a:ln w="12700">
            <a:solidFill>
              <a:srgbClr val="B4B4B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CH"/>
          </a:p>
        </p:txBody>
      </p:sp>
      <p:sp>
        <p:nvSpPr>
          <p:cNvPr id="20" name="Shape 18"/>
          <p:cNvSpPr/>
          <p:nvPr/>
        </p:nvSpPr>
        <p:spPr>
          <a:xfrm flipV="1">
            <a:off x="2834640" y="3401568"/>
            <a:ext cx="640080" cy="960120"/>
          </a:xfrm>
          <a:prstGeom prst="line">
            <a:avLst/>
          </a:prstGeom>
          <a:noFill/>
          <a:ln w="12700">
            <a:solidFill>
              <a:srgbClr val="B4B4B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CH"/>
          </a:p>
        </p:txBody>
      </p:sp>
      <p:sp>
        <p:nvSpPr>
          <p:cNvPr id="21" name="Shape 19"/>
          <p:cNvSpPr/>
          <p:nvPr/>
        </p:nvSpPr>
        <p:spPr>
          <a:xfrm>
            <a:off x="3474720" y="2926080"/>
            <a:ext cx="2148840" cy="960120"/>
          </a:xfrm>
          <a:prstGeom prst="roundRect">
            <a:avLst>
              <a:gd name="adj" fmla="val 5714"/>
            </a:avLst>
          </a:prstGeom>
          <a:solidFill>
            <a:srgbClr val="141414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22" name="Text 20"/>
          <p:cNvSpPr txBox="1"/>
          <p:nvPr/>
        </p:nvSpPr>
        <p:spPr>
          <a:xfrm>
            <a:off x="3474720" y="2926080"/>
            <a:ext cx="2148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workflow</a:t>
            </a:r>
            <a:endParaRPr lang="en-US" sz="130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C7C7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 the work — in parallel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623560" y="3401568"/>
            <a:ext cx="411480" cy="0"/>
          </a:xfrm>
          <a:prstGeom prst="line">
            <a:avLst/>
          </a:prstGeom>
          <a:noFill/>
          <a:ln w="15875">
            <a:solidFill>
              <a:srgbClr val="8C8C8C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CH"/>
          </a:p>
        </p:txBody>
      </p:sp>
      <p:sp>
        <p:nvSpPr>
          <p:cNvPr id="24" name="Shape 22"/>
          <p:cNvSpPr/>
          <p:nvPr/>
        </p:nvSpPr>
        <p:spPr>
          <a:xfrm>
            <a:off x="6144768" y="2834640"/>
            <a:ext cx="1143000" cy="11430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41414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25" name="Text 23"/>
          <p:cNvSpPr txBox="1"/>
          <p:nvPr/>
        </p:nvSpPr>
        <p:spPr>
          <a:xfrm>
            <a:off x="6144768" y="2834640"/>
            <a:ext cx="1143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</a:t>
            </a:r>
            <a:endParaRPr lang="en-US" sz="130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5577840" y="404164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point · human-in-the-loop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7360920" y="3401568"/>
            <a:ext cx="502920" cy="0"/>
          </a:xfrm>
          <a:prstGeom prst="line">
            <a:avLst/>
          </a:prstGeom>
          <a:noFill/>
          <a:ln w="15875">
            <a:solidFill>
              <a:srgbClr val="8C8C8C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CH"/>
          </a:p>
        </p:txBody>
      </p:sp>
      <p:sp>
        <p:nvSpPr>
          <p:cNvPr id="28" name="Shape 26"/>
          <p:cNvSpPr/>
          <p:nvPr/>
        </p:nvSpPr>
        <p:spPr>
          <a:xfrm>
            <a:off x="7955280" y="3072384"/>
            <a:ext cx="2926080" cy="658368"/>
          </a:xfrm>
          <a:prstGeom prst="roundRect">
            <a:avLst>
              <a:gd name="adj" fmla="val 8333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29" name="Text 27"/>
          <p:cNvSpPr txBox="1"/>
          <p:nvPr/>
        </p:nvSpPr>
        <p:spPr>
          <a:xfrm>
            <a:off x="7955280" y="3072384"/>
            <a:ext cx="2926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1…N resolved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822960" y="48463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AI does the work in parallel. You approve each — your call.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685800" y="5925312"/>
            <a:ext cx="10817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 </a:t>
            </a:r>
            <a:r>
              <a:rPr lang="en-US" sz="1250" i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with the task costing you the most hours. Add from there.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685800" y="6327648"/>
            <a:ext cx="10817352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33" name="Text 31"/>
          <p:cNvSpPr txBox="1"/>
          <p:nvPr/>
        </p:nvSpPr>
        <p:spPr>
          <a:xfrm>
            <a:off x="685800" y="636422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vortexdeep.ch  ·  info@vortexdeep.ch</a:t>
            </a:r>
            <a:endParaRPr lang="en-US" sz="900" dirty="0"/>
          </a:p>
        </p:txBody>
      </p:sp>
      <p:sp>
        <p:nvSpPr>
          <p:cNvPr id="34" name="Text 32"/>
          <p:cNvSpPr txBox="1"/>
          <p:nvPr/>
        </p:nvSpPr>
        <p:spPr>
          <a:xfrm>
            <a:off x="10131552" y="636422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11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274320"/>
            <a:ext cx="402336" cy="402336"/>
          </a:xfrm>
          <a:prstGeom prst="rect">
            <a:avLst/>
          </a:prstGeom>
          <a:solidFill>
            <a:srgbClr val="141414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3" name="Text 1"/>
          <p:cNvSpPr txBox="1"/>
          <p:nvPr/>
        </p:nvSpPr>
        <p:spPr>
          <a:xfrm>
            <a:off x="685800" y="2743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VD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274320"/>
            <a:ext cx="4114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VortexDeep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85800" y="841248"/>
            <a:ext cx="10817352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6" name="Text 4"/>
          <p:cNvSpPr txBox="1"/>
          <p:nvPr/>
        </p:nvSpPr>
        <p:spPr>
          <a:xfrm>
            <a:off x="685800" y="905256"/>
            <a:ext cx="10817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C7C7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</a:t>
            </a: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</a:t>
            </a:r>
            <a:r>
              <a:rPr lang="en-US" sz="900" kern="0" spc="100" dirty="0">
                <a:solidFill>
                  <a:srgbClr val="C7C7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</a:t>
            </a: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</a:t>
            </a:r>
            <a:r>
              <a:rPr lang="en-US" sz="900" b="1" kern="0" spc="10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</a:t>
            </a: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</a:t>
            </a:r>
            <a:r>
              <a:rPr lang="en-US" sz="900" kern="0" spc="100" dirty="0">
                <a:solidFill>
                  <a:srgbClr val="C7C7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COMPETITION</a:t>
            </a: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</a:t>
            </a:r>
            <a:r>
              <a:rPr lang="en-US" sz="900" kern="0" spc="100" dirty="0">
                <a:solidFill>
                  <a:srgbClr val="C7C7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</a:t>
            </a: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</a:t>
            </a:r>
            <a:r>
              <a:rPr lang="en-US" sz="900" kern="0" spc="100" dirty="0">
                <a:solidFill>
                  <a:srgbClr val="C7C7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FINANCIALS</a:t>
            </a: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</a:t>
            </a:r>
            <a:r>
              <a:rPr lang="en-US" sz="900" kern="0" spc="100" dirty="0">
                <a:solidFill>
                  <a:srgbClr val="C7C7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</a:t>
            </a: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</a:t>
            </a:r>
            <a:r>
              <a:rPr lang="en-US" sz="900" kern="0" spc="100" dirty="0">
                <a:solidFill>
                  <a:srgbClr val="C7C7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BOARD</a:t>
            </a: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</a:t>
            </a:r>
            <a:r>
              <a:rPr lang="en-US" sz="900" kern="0" spc="100" dirty="0">
                <a:solidFill>
                  <a:srgbClr val="C7C7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TRACTION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316736"/>
            <a:ext cx="10817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and mid-sized companies — starting in Switzerland.</a:t>
            </a:r>
            <a:endParaRPr lang="en-US" sz="23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1810512"/>
            <a:ext cx="10817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defined by industry. By the admin that repeats every day.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85800" y="2276856"/>
            <a:ext cx="3364992" cy="566928"/>
          </a:xfrm>
          <a:prstGeom prst="rect">
            <a:avLst/>
          </a:prstGeom>
          <a:solidFill>
            <a:srgbClr val="141414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10" name="Text 8"/>
          <p:cNvSpPr txBox="1"/>
          <p:nvPr/>
        </p:nvSpPr>
        <p:spPr>
          <a:xfrm>
            <a:off x="685800" y="2276856"/>
            <a:ext cx="33649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416552" y="2276856"/>
            <a:ext cx="3364992" cy="566928"/>
          </a:xfrm>
          <a:prstGeom prst="rect">
            <a:avLst/>
          </a:prstGeom>
          <a:solidFill>
            <a:srgbClr val="F3F3F3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12" name="Text 10"/>
          <p:cNvSpPr txBox="1"/>
          <p:nvPr/>
        </p:nvSpPr>
        <p:spPr>
          <a:xfrm>
            <a:off x="4416552" y="2276856"/>
            <a:ext cx="33649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147304" y="2276856"/>
            <a:ext cx="3364992" cy="566928"/>
          </a:xfrm>
          <a:prstGeom prst="rect">
            <a:avLst/>
          </a:prstGeom>
          <a:solidFill>
            <a:srgbClr val="F3F3F3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14" name="Text 12"/>
          <p:cNvSpPr txBox="1"/>
          <p:nvPr/>
        </p:nvSpPr>
        <p:spPr>
          <a:xfrm>
            <a:off x="8147304" y="2276856"/>
            <a:ext cx="33649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Worldwide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4069080" y="2276856"/>
            <a:ext cx="329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7799832" y="2276856"/>
            <a:ext cx="329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685800" y="3072384"/>
            <a:ext cx="10817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SIZE  ·  SWISS BEACHHEAD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85800" y="3401568"/>
            <a:ext cx="3419856" cy="1481328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19" name="Text 17"/>
          <p:cNvSpPr txBox="1"/>
          <p:nvPr/>
        </p:nvSpPr>
        <p:spPr>
          <a:xfrm>
            <a:off x="886968" y="3529584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886968" y="37490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~600k</a:t>
            </a:r>
            <a:endParaRPr lang="en-US" sz="3000" dirty="0"/>
          </a:p>
        </p:txBody>
      </p:sp>
      <p:sp>
        <p:nvSpPr>
          <p:cNvPr id="21" name="Text 19"/>
          <p:cNvSpPr txBox="1"/>
          <p:nvPr/>
        </p:nvSpPr>
        <p:spPr>
          <a:xfrm>
            <a:off x="886968" y="426110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Swiss SMEs with repetitive admin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886968" y="4535424"/>
            <a:ext cx="3054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mostly micro firms — a lighter tier could open them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379976" y="3401568"/>
            <a:ext cx="3419856" cy="1481328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24" name="Text 22"/>
          <p:cNvSpPr txBox="1"/>
          <p:nvPr/>
        </p:nvSpPr>
        <p:spPr>
          <a:xfrm>
            <a:off x="4581144" y="3529584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4581144" y="37490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~50k</a:t>
            </a:r>
            <a:endParaRPr lang="en-US" sz="3000" dirty="0"/>
          </a:p>
        </p:txBody>
      </p:sp>
      <p:sp>
        <p:nvSpPr>
          <p:cNvPr id="26" name="Text 24"/>
          <p:cNvSpPr txBox="1"/>
          <p:nvPr/>
        </p:nvSpPr>
        <p:spPr>
          <a:xfrm>
            <a:off x="4581144" y="426110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firms, 10–49 employees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4581144" y="4535424"/>
            <a:ext cx="3054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CHF 400–750M ARR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8074152" y="3401568"/>
            <a:ext cx="3419856" cy="1481328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29" name="Text 27"/>
          <p:cNvSpPr txBox="1"/>
          <p:nvPr/>
        </p:nvSpPr>
        <p:spPr>
          <a:xfrm>
            <a:off x="8275320" y="3529584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8275320" y="37490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30–40</a:t>
            </a:r>
            <a:endParaRPr lang="en-US" sz="3000" dirty="0"/>
          </a:p>
        </p:txBody>
      </p:sp>
      <p:sp>
        <p:nvSpPr>
          <p:cNvPr id="31" name="Text 29"/>
          <p:cNvSpPr txBox="1"/>
          <p:nvPr/>
        </p:nvSpPr>
        <p:spPr>
          <a:xfrm>
            <a:off x="8275320" y="426110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managed clients by 2029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8275320" y="4535424"/>
            <a:ext cx="3054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CHF 0.25–0.6M ARR · under 0.1% of SAM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685800" y="4992624"/>
            <a:ext cx="10817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SECO / Federal Statistical Office. Revenue indicative.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685800" y="5266944"/>
            <a:ext cx="108173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 (Total Addressable Market) — everyone who has the problem, if you could reach them all.</a:t>
            </a:r>
            <a:endParaRPr lang="en-US" sz="1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 (Serviceable Addressable Market) — the slice you could actually serve with your model and focus.</a:t>
            </a:r>
            <a:endParaRPr lang="en-US" sz="1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 (Serviceable Obtainable Market) — what you can realistically win in the near term (your beachhead).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685800" y="5925312"/>
            <a:ext cx="10817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 </a:t>
            </a:r>
            <a:r>
              <a:rPr lang="en-US" sz="1250" i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slice is the cautious middle — AI's help, not its autonomy.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685800" y="6327648"/>
            <a:ext cx="10817352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37" name="Text 35"/>
          <p:cNvSpPr txBox="1"/>
          <p:nvPr/>
        </p:nvSpPr>
        <p:spPr>
          <a:xfrm>
            <a:off x="685800" y="636422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vortexdeep.ch  ·  info@vortexdeep.ch</a:t>
            </a:r>
            <a:endParaRPr lang="en-US" sz="900" dirty="0"/>
          </a:p>
        </p:txBody>
      </p:sp>
      <p:sp>
        <p:nvSpPr>
          <p:cNvPr id="38" name="Text 36"/>
          <p:cNvSpPr txBox="1"/>
          <p:nvPr/>
        </p:nvSpPr>
        <p:spPr>
          <a:xfrm>
            <a:off x="10131552" y="636422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11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274320"/>
            <a:ext cx="402336" cy="402336"/>
          </a:xfrm>
          <a:prstGeom prst="rect">
            <a:avLst/>
          </a:prstGeom>
          <a:solidFill>
            <a:srgbClr val="141414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3" name="Text 1"/>
          <p:cNvSpPr txBox="1"/>
          <p:nvPr/>
        </p:nvSpPr>
        <p:spPr>
          <a:xfrm>
            <a:off x="685800" y="2743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VD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274320"/>
            <a:ext cx="4114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VortexDeep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85800" y="841248"/>
            <a:ext cx="10817352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6" name="Text 4"/>
          <p:cNvSpPr txBox="1"/>
          <p:nvPr/>
        </p:nvSpPr>
        <p:spPr>
          <a:xfrm>
            <a:off x="685800" y="905256"/>
            <a:ext cx="10817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C7C7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</a:t>
            </a: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</a:t>
            </a:r>
            <a:r>
              <a:rPr lang="en-US" sz="900" kern="0" spc="100" dirty="0">
                <a:solidFill>
                  <a:srgbClr val="C7C7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</a:t>
            </a: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</a:t>
            </a:r>
            <a:r>
              <a:rPr lang="en-US" sz="900" kern="0" spc="100" dirty="0">
                <a:solidFill>
                  <a:srgbClr val="C7C7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</a:t>
            </a: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</a:t>
            </a:r>
            <a:r>
              <a:rPr lang="en-US" sz="900" b="1" kern="0" spc="10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COMPETITION</a:t>
            </a: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</a:t>
            </a:r>
            <a:r>
              <a:rPr lang="en-US" sz="900" kern="0" spc="100" dirty="0">
                <a:solidFill>
                  <a:srgbClr val="C7C7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</a:t>
            </a: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</a:t>
            </a:r>
            <a:r>
              <a:rPr lang="en-US" sz="900" kern="0" spc="100" dirty="0">
                <a:solidFill>
                  <a:srgbClr val="C7C7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FINANCIALS</a:t>
            </a: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</a:t>
            </a:r>
            <a:r>
              <a:rPr lang="en-US" sz="900" kern="0" spc="100" dirty="0">
                <a:solidFill>
                  <a:srgbClr val="C7C7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</a:t>
            </a: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</a:t>
            </a:r>
            <a:r>
              <a:rPr lang="en-US" sz="900" kern="0" spc="100" dirty="0">
                <a:solidFill>
                  <a:srgbClr val="C7C7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BOARD</a:t>
            </a: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</a:t>
            </a:r>
            <a:r>
              <a:rPr lang="en-US" sz="900" kern="0" spc="100" dirty="0">
                <a:solidFill>
                  <a:srgbClr val="C7C7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TRACTION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316736"/>
            <a:ext cx="10817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Managed automation — a person approves every step.</a:t>
            </a:r>
            <a:endParaRPr lang="en-US" sz="23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1810512"/>
            <a:ext cx="10817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ways to handle the repetition, each with a catch — and our fifth.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2267712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FOUR OPTIONS — EACH WITH A CATCH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265176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DIY tools  </a:t>
            </a:r>
            <a:r>
              <a:rPr lang="en-US" sz="120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cheap, but you build and maintain it.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3456432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autonomy  </a:t>
            </a:r>
            <a:r>
              <a:rPr lang="en-US" sz="120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fast, but a black box you can't oversee.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4261104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Hire  </a:t>
            </a:r>
            <a:r>
              <a:rPr lang="en-US" sz="120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headcount cost, and still manual.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85800" y="5065776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nothing  </a:t>
            </a:r>
            <a:r>
              <a:rPr lang="en-US" sz="120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the cost quietly compounds every day.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035040" y="2267712"/>
            <a:ext cx="5468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FIFTH WAY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035040" y="2615184"/>
            <a:ext cx="5468112" cy="731520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16" name="Text 14"/>
          <p:cNvSpPr txBox="1"/>
          <p:nvPr/>
        </p:nvSpPr>
        <p:spPr>
          <a:xfrm>
            <a:off x="6236208" y="276148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784848" y="2761488"/>
            <a:ext cx="46085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approve every step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784848" y="3072384"/>
            <a:ext cx="46085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nothing sent or done on its own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035040" y="3419856"/>
            <a:ext cx="5468112" cy="731520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20" name="Text 18"/>
          <p:cNvSpPr txBox="1"/>
          <p:nvPr/>
        </p:nvSpPr>
        <p:spPr>
          <a:xfrm>
            <a:off x="6236208" y="356616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6784848" y="3566160"/>
            <a:ext cx="46085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build and run it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6784848" y="3877056"/>
            <a:ext cx="46085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 tool to learn or maintain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035040" y="4224528"/>
            <a:ext cx="5468112" cy="731520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24" name="Text 22"/>
          <p:cNvSpPr txBox="1"/>
          <p:nvPr/>
        </p:nvSpPr>
        <p:spPr>
          <a:xfrm>
            <a:off x="6236208" y="4370832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6784848" y="4370832"/>
            <a:ext cx="46085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data stays yours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6784848" y="4681728"/>
            <a:ext cx="46085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lock-in, nothing hidden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035040" y="5029200"/>
            <a:ext cx="5468112" cy="731520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28" name="Text 26"/>
          <p:cNvSpPr txBox="1"/>
          <p:nvPr/>
        </p:nvSpPr>
        <p:spPr>
          <a:xfrm>
            <a:off x="6236208" y="5175504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6784848" y="5175504"/>
            <a:ext cx="46085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People not replaced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6784848" y="5486400"/>
            <a:ext cx="46085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automate the work, not the person</a:t>
            </a:r>
            <a:endParaRPr lang="en-US" sz="1050" dirty="0"/>
          </a:p>
        </p:txBody>
      </p:sp>
      <p:sp>
        <p:nvSpPr>
          <p:cNvPr id="31" name="Text 29"/>
          <p:cNvSpPr txBox="1"/>
          <p:nvPr/>
        </p:nvSpPr>
        <p:spPr>
          <a:xfrm>
            <a:off x="685800" y="5925312"/>
            <a:ext cx="10817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 </a:t>
            </a:r>
            <a:r>
              <a:rPr lang="en-US" sz="1250" i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for the cautious middle — a few clients at a time, fixed scope.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685800" y="6327648"/>
            <a:ext cx="10817352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33" name="Text 31"/>
          <p:cNvSpPr txBox="1"/>
          <p:nvPr/>
        </p:nvSpPr>
        <p:spPr>
          <a:xfrm>
            <a:off x="685800" y="636422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vortexdeep.ch  ·  info@vortexdeep.ch</a:t>
            </a:r>
            <a:endParaRPr lang="en-US" sz="900" dirty="0"/>
          </a:p>
        </p:txBody>
      </p:sp>
      <p:sp>
        <p:nvSpPr>
          <p:cNvPr id="34" name="Text 32"/>
          <p:cNvSpPr txBox="1"/>
          <p:nvPr/>
        </p:nvSpPr>
        <p:spPr>
          <a:xfrm>
            <a:off x="10131552" y="636422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/ 11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274320"/>
            <a:ext cx="402336" cy="402336"/>
          </a:xfrm>
          <a:prstGeom prst="rect">
            <a:avLst/>
          </a:prstGeom>
          <a:solidFill>
            <a:srgbClr val="141414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3" name="Text 1"/>
          <p:cNvSpPr txBox="1"/>
          <p:nvPr/>
        </p:nvSpPr>
        <p:spPr>
          <a:xfrm>
            <a:off x="685800" y="2743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VD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274320"/>
            <a:ext cx="4114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VortexDeep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85800" y="841248"/>
            <a:ext cx="10817352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6" name="Text 4"/>
          <p:cNvSpPr txBox="1"/>
          <p:nvPr/>
        </p:nvSpPr>
        <p:spPr>
          <a:xfrm>
            <a:off x="685800" y="905256"/>
            <a:ext cx="10817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C7C7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</a:t>
            </a: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</a:t>
            </a:r>
            <a:r>
              <a:rPr lang="en-US" sz="900" kern="0" spc="100" dirty="0">
                <a:solidFill>
                  <a:srgbClr val="C7C7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</a:t>
            </a: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</a:t>
            </a:r>
            <a:r>
              <a:rPr lang="en-US" sz="900" kern="0" spc="100" dirty="0">
                <a:solidFill>
                  <a:srgbClr val="C7C7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</a:t>
            </a: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</a:t>
            </a:r>
            <a:r>
              <a:rPr lang="en-US" sz="900" kern="0" spc="100" dirty="0">
                <a:solidFill>
                  <a:srgbClr val="C7C7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COMPETITION</a:t>
            </a: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</a:t>
            </a:r>
            <a:r>
              <a:rPr lang="en-US" sz="900" b="1" kern="0" spc="10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</a:t>
            </a: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</a:t>
            </a:r>
            <a:r>
              <a:rPr lang="en-US" sz="900" kern="0" spc="100" dirty="0">
                <a:solidFill>
                  <a:srgbClr val="C7C7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FINANCIALS</a:t>
            </a: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</a:t>
            </a:r>
            <a:r>
              <a:rPr lang="en-US" sz="900" kern="0" spc="100" dirty="0">
                <a:solidFill>
                  <a:srgbClr val="C7C7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</a:t>
            </a: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</a:t>
            </a:r>
            <a:r>
              <a:rPr lang="en-US" sz="900" kern="0" spc="100" dirty="0">
                <a:solidFill>
                  <a:srgbClr val="C7C7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BOARD</a:t>
            </a: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</a:t>
            </a:r>
            <a:r>
              <a:rPr lang="en-US" sz="900" kern="0" spc="100" dirty="0">
                <a:solidFill>
                  <a:srgbClr val="C7C7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TRACTION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316736"/>
            <a:ext cx="10817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narrow, prove it, then widen.</a:t>
            </a:r>
            <a:endParaRPr lang="en-US" sz="2300" dirty="0"/>
          </a:p>
        </p:txBody>
      </p:sp>
      <p:sp>
        <p:nvSpPr>
          <p:cNvPr id="8" name="Shape 6"/>
          <p:cNvSpPr/>
          <p:nvPr/>
        </p:nvSpPr>
        <p:spPr>
          <a:xfrm>
            <a:off x="685800" y="2395728"/>
            <a:ext cx="2514600" cy="3200400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9" name="Text 7"/>
          <p:cNvSpPr txBox="1"/>
          <p:nvPr/>
        </p:nvSpPr>
        <p:spPr>
          <a:xfrm>
            <a:off x="905256" y="2596896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 H2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905256" y="2999232"/>
            <a:ext cx="2148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Foundation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905256" y="3456432"/>
            <a:ext cx="2075688" cy="0"/>
          </a:xfrm>
          <a:prstGeom prst="line">
            <a:avLst/>
          </a:prstGeom>
          <a:noFill/>
          <a:ln w="9525">
            <a:solidFill>
              <a:srgbClr val="D2D2D2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2" name="Text 10"/>
          <p:cNvSpPr txBox="1"/>
          <p:nvPr/>
        </p:nvSpPr>
        <p:spPr>
          <a:xfrm>
            <a:off x="960120" y="3639312"/>
            <a:ext cx="2057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1–2 Swiss clients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automation live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reference case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456432" y="2395728"/>
            <a:ext cx="2514600" cy="3200400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14" name="Text 12"/>
          <p:cNvSpPr txBox="1"/>
          <p:nvPr/>
        </p:nvSpPr>
        <p:spPr>
          <a:xfrm>
            <a:off x="3675888" y="2596896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2027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3675888" y="2999232"/>
            <a:ext cx="2148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 it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75888" y="3456432"/>
            <a:ext cx="2075688" cy="0"/>
          </a:xfrm>
          <a:prstGeom prst="line">
            <a:avLst/>
          </a:prstGeom>
          <a:noFill/>
          <a:ln w="9525">
            <a:solidFill>
              <a:srgbClr val="D2D2D2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7" name="Text 15"/>
          <p:cNvSpPr txBox="1"/>
          <p:nvPr/>
        </p:nvSpPr>
        <p:spPr>
          <a:xfrm>
            <a:off x="3730752" y="3639312"/>
            <a:ext cx="2057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6–8 managed clients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Break-even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hire decided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227064" y="2395728"/>
            <a:ext cx="2514600" cy="3200400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19" name="Text 17"/>
          <p:cNvSpPr txBox="1"/>
          <p:nvPr/>
        </p:nvSpPr>
        <p:spPr>
          <a:xfrm>
            <a:off x="6446520" y="2596896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2028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6446520" y="2999232"/>
            <a:ext cx="2148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&amp; widen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6446520" y="3456432"/>
            <a:ext cx="2075688" cy="0"/>
          </a:xfrm>
          <a:prstGeom prst="line">
            <a:avLst/>
          </a:prstGeom>
          <a:noFill/>
          <a:ln w="9525">
            <a:solidFill>
              <a:srgbClr val="D2D2D2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22" name="Text 20"/>
          <p:cNvSpPr txBox="1"/>
          <p:nvPr/>
        </p:nvSpPr>
        <p:spPr>
          <a:xfrm>
            <a:off x="6501384" y="3639312"/>
            <a:ext cx="2057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15–20 clients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 → EU expansion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Productise workflows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8997696" y="2395728"/>
            <a:ext cx="2514600" cy="3200400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24" name="Text 22"/>
          <p:cNvSpPr txBox="1"/>
          <p:nvPr/>
        </p:nvSpPr>
        <p:spPr>
          <a:xfrm>
            <a:off x="9217152" y="2596896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2029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9217152" y="2999232"/>
            <a:ext cx="2148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9217152" y="3456432"/>
            <a:ext cx="2075688" cy="0"/>
          </a:xfrm>
          <a:prstGeom prst="line">
            <a:avLst/>
          </a:prstGeom>
          <a:noFill/>
          <a:ln w="9525">
            <a:solidFill>
              <a:srgbClr val="D2D2D2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27" name="Text 25"/>
          <p:cNvSpPr txBox="1"/>
          <p:nvPr/>
        </p:nvSpPr>
        <p:spPr>
          <a:xfrm>
            <a:off x="9272016" y="3639312"/>
            <a:ext cx="2057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30–40+ clients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of ~6–8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Reusable IP, licensed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685800" y="5925312"/>
            <a:ext cx="10817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 </a:t>
            </a:r>
            <a:r>
              <a:rPr lang="en-US" sz="1250" i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 one process, expand within the account — each stage funds the next.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685800" y="6327648"/>
            <a:ext cx="10817352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30" name="Text 28"/>
          <p:cNvSpPr txBox="1"/>
          <p:nvPr/>
        </p:nvSpPr>
        <p:spPr>
          <a:xfrm>
            <a:off x="685800" y="636422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vortexdeep.ch  ·  info@vortexdeep.ch</a:t>
            </a:r>
            <a:endParaRPr lang="en-US" sz="900" dirty="0"/>
          </a:p>
        </p:txBody>
      </p:sp>
      <p:sp>
        <p:nvSpPr>
          <p:cNvPr id="31" name="Text 29"/>
          <p:cNvSpPr txBox="1"/>
          <p:nvPr/>
        </p:nvSpPr>
        <p:spPr>
          <a:xfrm>
            <a:off x="10131552" y="636422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/ 11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274320"/>
            <a:ext cx="402336" cy="402336"/>
          </a:xfrm>
          <a:prstGeom prst="rect">
            <a:avLst/>
          </a:prstGeom>
          <a:solidFill>
            <a:srgbClr val="141414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3" name="Text 1"/>
          <p:cNvSpPr txBox="1"/>
          <p:nvPr/>
        </p:nvSpPr>
        <p:spPr>
          <a:xfrm>
            <a:off x="685800" y="2743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VD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274320"/>
            <a:ext cx="4114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VortexDeep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85800" y="841248"/>
            <a:ext cx="10817352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6" name="Text 4"/>
          <p:cNvSpPr txBox="1"/>
          <p:nvPr/>
        </p:nvSpPr>
        <p:spPr>
          <a:xfrm>
            <a:off x="685800" y="905256"/>
            <a:ext cx="10817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C7C7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</a:t>
            </a: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</a:t>
            </a:r>
            <a:r>
              <a:rPr lang="en-US" sz="900" kern="0" spc="100" dirty="0">
                <a:solidFill>
                  <a:srgbClr val="C7C7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</a:t>
            </a: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</a:t>
            </a:r>
            <a:r>
              <a:rPr lang="en-US" sz="900" kern="0" spc="100" dirty="0">
                <a:solidFill>
                  <a:srgbClr val="C7C7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</a:t>
            </a: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</a:t>
            </a:r>
            <a:r>
              <a:rPr lang="en-US" sz="900" kern="0" spc="100" dirty="0">
                <a:solidFill>
                  <a:srgbClr val="C7C7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COMPETITION</a:t>
            </a: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</a:t>
            </a:r>
            <a:r>
              <a:rPr lang="en-US" sz="900" kern="0" spc="100" dirty="0">
                <a:solidFill>
                  <a:srgbClr val="C7C7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</a:t>
            </a: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</a:t>
            </a:r>
            <a:r>
              <a:rPr lang="en-US" sz="900" b="1" kern="0" spc="10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FINANCIALS</a:t>
            </a: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</a:t>
            </a:r>
            <a:r>
              <a:rPr lang="en-US" sz="900" kern="0" spc="100" dirty="0">
                <a:solidFill>
                  <a:srgbClr val="C7C7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</a:t>
            </a: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</a:t>
            </a:r>
            <a:r>
              <a:rPr lang="en-US" sz="900" kern="0" spc="100" dirty="0">
                <a:solidFill>
                  <a:srgbClr val="C7C7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BOARD</a:t>
            </a: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</a:t>
            </a:r>
            <a:r>
              <a:rPr lang="en-US" sz="900" kern="0" spc="100" dirty="0">
                <a:solidFill>
                  <a:srgbClr val="C7C7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TRACTION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316736"/>
            <a:ext cx="10817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Priced to the scope you choose — recurring by design.</a:t>
            </a:r>
            <a:endParaRPr lang="en-US" sz="23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1810512"/>
            <a:ext cx="10817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lines: a one-time setup that funds the build, and a monthly managed service — the recurring base. Five packages, priced by complexity and control.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85800" y="2615184"/>
            <a:ext cx="2011680" cy="749808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10" name="Text 8"/>
          <p:cNvSpPr txBox="1"/>
          <p:nvPr/>
        </p:nvSpPr>
        <p:spPr>
          <a:xfrm>
            <a:off x="832104" y="2706624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832104" y="294436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 Intake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843784" y="2615184"/>
            <a:ext cx="2011680" cy="749808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13" name="Text 11"/>
          <p:cNvSpPr txBox="1"/>
          <p:nvPr/>
        </p:nvSpPr>
        <p:spPr>
          <a:xfrm>
            <a:off x="2990088" y="2706624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2990088" y="294436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Basic+ AI Triage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001768" y="2615184"/>
            <a:ext cx="2011680" cy="749808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16" name="Text 14"/>
          <p:cNvSpPr txBox="1"/>
          <p:nvPr/>
        </p:nvSpPr>
        <p:spPr>
          <a:xfrm>
            <a:off x="5148072" y="2706624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5148072" y="294436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 Multi-Channel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159752" y="2615184"/>
            <a:ext cx="2011680" cy="749808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19" name="Text 17"/>
          <p:cNvSpPr txBox="1"/>
          <p:nvPr/>
        </p:nvSpPr>
        <p:spPr>
          <a:xfrm>
            <a:off x="7306056" y="2706624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7306056" y="294436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Managed Operations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317736" y="2615184"/>
            <a:ext cx="2011680" cy="749808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22" name="Text 20"/>
          <p:cNvSpPr txBox="1"/>
          <p:nvPr/>
        </p:nvSpPr>
        <p:spPr>
          <a:xfrm>
            <a:off x="9464040" y="2706624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9464040" y="294436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 Automation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685800" y="3511296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Setup  ~CHF 750 → 30'000          Monthly  ~CHF 150 → 6'000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685800" y="3950208"/>
            <a:ext cx="10817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 RECURRING REVENUE (ARR) — INDICATIVE, BLENDED ~CHF 8–15K PER ACTIVE CLIENT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685800" y="4206240"/>
            <a:ext cx="10817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Early clients start lower; the blend rises as accounts expand.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85800" y="4617720"/>
            <a:ext cx="2395728" cy="896112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28" name="Text 26"/>
          <p:cNvSpPr txBox="1"/>
          <p:nvPr/>
        </p:nvSpPr>
        <p:spPr>
          <a:xfrm>
            <a:off x="685800" y="4718304"/>
            <a:ext cx="2395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685800" y="4956048"/>
            <a:ext cx="2395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</a:t>
            </a:r>
            <a:endParaRPr lang="en-US" sz="1900" dirty="0"/>
          </a:p>
        </p:txBody>
      </p:sp>
      <p:sp>
        <p:nvSpPr>
          <p:cNvPr id="30" name="Shape 28"/>
          <p:cNvSpPr/>
          <p:nvPr/>
        </p:nvSpPr>
        <p:spPr>
          <a:xfrm>
            <a:off x="3374136" y="4617720"/>
            <a:ext cx="2395728" cy="896112"/>
          </a:xfrm>
          <a:prstGeom prst="rect">
            <a:avLst/>
          </a:prstGeom>
          <a:solidFill>
            <a:srgbClr val="141414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31" name="Text 29"/>
          <p:cNvSpPr txBox="1"/>
          <p:nvPr/>
        </p:nvSpPr>
        <p:spPr>
          <a:xfrm>
            <a:off x="3374136" y="4718304"/>
            <a:ext cx="2395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BFB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2027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3374136" y="4956048"/>
            <a:ext cx="2395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~50–120k</a:t>
            </a:r>
            <a:endParaRPr lang="en-US" sz="1900" dirty="0"/>
          </a:p>
        </p:txBody>
      </p:sp>
      <p:sp>
        <p:nvSpPr>
          <p:cNvPr id="33" name="Shape 31"/>
          <p:cNvSpPr/>
          <p:nvPr/>
        </p:nvSpPr>
        <p:spPr>
          <a:xfrm>
            <a:off x="6062472" y="4617720"/>
            <a:ext cx="2395728" cy="896112"/>
          </a:xfrm>
          <a:prstGeom prst="rect">
            <a:avLst/>
          </a:prstGeom>
          <a:solidFill>
            <a:srgbClr val="141414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34" name="Text 32"/>
          <p:cNvSpPr txBox="1"/>
          <p:nvPr/>
        </p:nvSpPr>
        <p:spPr>
          <a:xfrm>
            <a:off x="6062472" y="4718304"/>
            <a:ext cx="2395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BFB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2028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6062472" y="4956048"/>
            <a:ext cx="2395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~120–300k</a:t>
            </a:r>
            <a:endParaRPr lang="en-US" sz="1900" dirty="0"/>
          </a:p>
        </p:txBody>
      </p:sp>
      <p:sp>
        <p:nvSpPr>
          <p:cNvPr id="36" name="Shape 34"/>
          <p:cNvSpPr/>
          <p:nvPr/>
        </p:nvSpPr>
        <p:spPr>
          <a:xfrm>
            <a:off x="8750808" y="4617720"/>
            <a:ext cx="2395728" cy="896112"/>
          </a:xfrm>
          <a:prstGeom prst="rect">
            <a:avLst/>
          </a:prstGeom>
          <a:solidFill>
            <a:srgbClr val="141414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37" name="Text 35"/>
          <p:cNvSpPr txBox="1"/>
          <p:nvPr/>
        </p:nvSpPr>
        <p:spPr>
          <a:xfrm>
            <a:off x="8750808" y="4718304"/>
            <a:ext cx="2395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BFB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2029</a:t>
            </a:r>
            <a:endParaRPr lang="en-US" sz="1200" dirty="0"/>
          </a:p>
        </p:txBody>
      </p:sp>
      <p:sp>
        <p:nvSpPr>
          <p:cNvPr id="38" name="Text 36"/>
          <p:cNvSpPr txBox="1"/>
          <p:nvPr/>
        </p:nvSpPr>
        <p:spPr>
          <a:xfrm>
            <a:off x="8750808" y="4956048"/>
            <a:ext cx="2395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~240–600k</a:t>
            </a:r>
            <a:endParaRPr lang="en-US" sz="1900" dirty="0"/>
          </a:p>
        </p:txBody>
      </p:sp>
      <p:sp>
        <p:nvSpPr>
          <p:cNvPr id="39" name="Text 37"/>
          <p:cNvSpPr txBox="1"/>
          <p:nvPr/>
        </p:nvSpPr>
        <p:spPr>
          <a:xfrm>
            <a:off x="3118104" y="4617720"/>
            <a:ext cx="25603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40" name="Text 38"/>
          <p:cNvSpPr txBox="1"/>
          <p:nvPr/>
        </p:nvSpPr>
        <p:spPr>
          <a:xfrm>
            <a:off x="5806440" y="4617720"/>
            <a:ext cx="25603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41" name="Text 39"/>
          <p:cNvSpPr txBox="1"/>
          <p:nvPr/>
        </p:nvSpPr>
        <p:spPr>
          <a:xfrm>
            <a:off x="8494776" y="4617720"/>
            <a:ext cx="25603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42" name="Text 40"/>
          <p:cNvSpPr txBox="1"/>
          <p:nvPr/>
        </p:nvSpPr>
        <p:spPr>
          <a:xfrm>
            <a:off x="685800" y="5925312"/>
            <a:ext cx="10817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 </a:t>
            </a:r>
            <a:r>
              <a:rPr lang="en-US" sz="1250" i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Ownership is a license, not a transfer. Break-even at ~6–8 clients. Bootstrap-first.</a:t>
            </a:r>
            <a:endParaRPr lang="en-US" sz="1250" dirty="0"/>
          </a:p>
        </p:txBody>
      </p:sp>
      <p:sp>
        <p:nvSpPr>
          <p:cNvPr id="43" name="Shape 41"/>
          <p:cNvSpPr/>
          <p:nvPr/>
        </p:nvSpPr>
        <p:spPr>
          <a:xfrm>
            <a:off x="685800" y="6327648"/>
            <a:ext cx="10817352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44" name="Text 42"/>
          <p:cNvSpPr txBox="1"/>
          <p:nvPr/>
        </p:nvSpPr>
        <p:spPr>
          <a:xfrm>
            <a:off x="685800" y="636422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vortexdeep.ch  ·  info@vortexdeep.ch</a:t>
            </a:r>
            <a:endParaRPr lang="en-US" sz="900" dirty="0"/>
          </a:p>
        </p:txBody>
      </p:sp>
      <p:sp>
        <p:nvSpPr>
          <p:cNvPr id="45" name="Text 43"/>
          <p:cNvSpPr txBox="1"/>
          <p:nvPr/>
        </p:nvSpPr>
        <p:spPr>
          <a:xfrm>
            <a:off x="10131552" y="636422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/ 11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274320"/>
            <a:ext cx="402336" cy="402336"/>
          </a:xfrm>
          <a:prstGeom prst="rect">
            <a:avLst/>
          </a:prstGeom>
          <a:solidFill>
            <a:srgbClr val="141414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3" name="Text 1"/>
          <p:cNvSpPr txBox="1"/>
          <p:nvPr/>
        </p:nvSpPr>
        <p:spPr>
          <a:xfrm>
            <a:off x="685800" y="2743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VD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274320"/>
            <a:ext cx="4114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VortexDeep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85800" y="841248"/>
            <a:ext cx="10817352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6" name="Text 4"/>
          <p:cNvSpPr txBox="1"/>
          <p:nvPr/>
        </p:nvSpPr>
        <p:spPr>
          <a:xfrm>
            <a:off x="685800" y="905256"/>
            <a:ext cx="10817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C7C7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</a:t>
            </a: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</a:t>
            </a:r>
            <a:r>
              <a:rPr lang="en-US" sz="900" kern="0" spc="100" dirty="0">
                <a:solidFill>
                  <a:srgbClr val="C7C7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</a:t>
            </a: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</a:t>
            </a:r>
            <a:r>
              <a:rPr lang="en-US" sz="900" kern="0" spc="100" dirty="0">
                <a:solidFill>
                  <a:srgbClr val="C7C7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</a:t>
            </a: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</a:t>
            </a:r>
            <a:r>
              <a:rPr lang="en-US" sz="900" kern="0" spc="100" dirty="0">
                <a:solidFill>
                  <a:srgbClr val="C7C7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COMPETITION</a:t>
            </a: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</a:t>
            </a:r>
            <a:r>
              <a:rPr lang="en-US" sz="900" kern="0" spc="100" dirty="0">
                <a:solidFill>
                  <a:srgbClr val="C7C7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</a:t>
            </a: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</a:t>
            </a:r>
            <a:r>
              <a:rPr lang="en-US" sz="900" kern="0" spc="100" dirty="0">
                <a:solidFill>
                  <a:srgbClr val="C7C7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FINANCIALS</a:t>
            </a: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</a:t>
            </a:r>
            <a:r>
              <a:rPr lang="en-US" sz="900" b="1" kern="0" spc="10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</a:t>
            </a: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</a:t>
            </a:r>
            <a:r>
              <a:rPr lang="en-US" sz="900" kern="0" spc="100" dirty="0">
                <a:solidFill>
                  <a:srgbClr val="C7C7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BOARD</a:t>
            </a: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</a:t>
            </a:r>
            <a:r>
              <a:rPr lang="en-US" sz="900" kern="0" spc="100" dirty="0">
                <a:solidFill>
                  <a:srgbClr val="C7C7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TRACTION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316736"/>
            <a:ext cx="10817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operator today — the team the roadmap will need.</a:t>
            </a:r>
            <a:endParaRPr lang="en-US" sz="23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1810512"/>
            <a:ext cx="10817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role is added only when revenue covers it. We hire from cashflow, not speculation.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2267712"/>
            <a:ext cx="10817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HAVE NOW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85800" y="2542032"/>
            <a:ext cx="10817352" cy="676656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11" name="Text 9"/>
          <p:cNvSpPr txBox="1"/>
          <p:nvPr/>
        </p:nvSpPr>
        <p:spPr>
          <a:xfrm>
            <a:off x="886968" y="2542032"/>
            <a:ext cx="31089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Maciek Szczech — Founder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023360" y="2542032"/>
            <a:ext cx="72237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years in industrial operations. Covers all four work packages today. Targets the real pain, not a demo.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685800" y="3419856"/>
            <a:ext cx="10817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STILL MISSING — ADDED AS THE CLIENT LOAD (AND REVENUE) GROWS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85800" y="3694176"/>
            <a:ext cx="5294376" cy="768096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15" name="Text 13"/>
          <p:cNvSpPr txBox="1"/>
          <p:nvPr/>
        </p:nvSpPr>
        <p:spPr>
          <a:xfrm>
            <a:off x="886968" y="38404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1435608" y="3840480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Automation / delivery engineer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1435608" y="4151376"/>
            <a:ext cx="4434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hire, 2027/28 — scale the build beyond founder capacity. (WP2)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208776" y="3694176"/>
            <a:ext cx="5294376" cy="768096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19" name="Text 17"/>
          <p:cNvSpPr txBox="1"/>
          <p:nvPr/>
        </p:nvSpPr>
        <p:spPr>
          <a:xfrm>
            <a:off x="6409944" y="38404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6958584" y="3840480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/ business development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6958584" y="4151376"/>
            <a:ext cx="4434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2028, as clients reach 15–20 — frees the founder from outreach. (WP1)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85800" y="4553712"/>
            <a:ext cx="5294376" cy="768096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23" name="Text 21"/>
          <p:cNvSpPr txBox="1"/>
          <p:nvPr/>
        </p:nvSpPr>
        <p:spPr>
          <a:xfrm>
            <a:off x="886968" y="4700016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1435608" y="4700016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success / operations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1435608" y="5010912"/>
            <a:ext cx="4434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Protect managed-service quality as the recurring base grows.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208776" y="4553712"/>
            <a:ext cx="5294376" cy="768096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27" name="Text 25"/>
          <p:cNvSpPr txBox="1"/>
          <p:nvPr/>
        </p:nvSpPr>
        <p:spPr>
          <a:xfrm>
            <a:off x="6409944" y="4700016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6958584" y="4700016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 → EU expansion lead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6958584" y="5010912"/>
            <a:ext cx="4434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2028+, to open the first EU market. (WP4)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685800" y="5541264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Bought in now, not hired:  </a:t>
            </a:r>
            <a:r>
              <a:rPr lang="en-US" sz="1050" i="1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legal &amp; IP counsel (contracts, licences, NDAs, data agreements) and accounting / fiduciary — fractional, not headcount.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85800" y="6327648"/>
            <a:ext cx="10817352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32" name="Text 30"/>
          <p:cNvSpPr txBox="1"/>
          <p:nvPr/>
        </p:nvSpPr>
        <p:spPr>
          <a:xfrm>
            <a:off x="685800" y="636422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vortexdeep.ch  ·  info@vortexdeep.ch</a:t>
            </a:r>
            <a:endParaRPr lang="en-US" sz="900" dirty="0"/>
          </a:p>
        </p:txBody>
      </p:sp>
      <p:sp>
        <p:nvSpPr>
          <p:cNvPr id="33" name="Text 31"/>
          <p:cNvSpPr txBox="1"/>
          <p:nvPr/>
        </p:nvSpPr>
        <p:spPr>
          <a:xfrm>
            <a:off x="10131552" y="636422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/ 11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274320"/>
            <a:ext cx="402336" cy="402336"/>
          </a:xfrm>
          <a:prstGeom prst="rect">
            <a:avLst/>
          </a:prstGeom>
          <a:solidFill>
            <a:srgbClr val="141414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3" name="Text 1"/>
          <p:cNvSpPr txBox="1"/>
          <p:nvPr/>
        </p:nvSpPr>
        <p:spPr>
          <a:xfrm>
            <a:off x="685800" y="2743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VD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274320"/>
            <a:ext cx="4114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VortexDeep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85800" y="841248"/>
            <a:ext cx="10817352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6" name="Text 4"/>
          <p:cNvSpPr txBox="1"/>
          <p:nvPr/>
        </p:nvSpPr>
        <p:spPr>
          <a:xfrm>
            <a:off x="685800" y="905256"/>
            <a:ext cx="10817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C7C7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</a:t>
            </a: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</a:t>
            </a:r>
            <a:r>
              <a:rPr lang="en-US" sz="900" kern="0" spc="100" dirty="0">
                <a:solidFill>
                  <a:srgbClr val="C7C7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</a:t>
            </a: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</a:t>
            </a:r>
            <a:r>
              <a:rPr lang="en-US" sz="900" kern="0" spc="100" dirty="0">
                <a:solidFill>
                  <a:srgbClr val="C7C7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</a:t>
            </a: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</a:t>
            </a:r>
            <a:r>
              <a:rPr lang="en-US" sz="900" kern="0" spc="100" dirty="0">
                <a:solidFill>
                  <a:srgbClr val="C7C7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COMPETITION</a:t>
            </a: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</a:t>
            </a:r>
            <a:r>
              <a:rPr lang="en-US" sz="900" kern="0" spc="100" dirty="0">
                <a:solidFill>
                  <a:srgbClr val="C7C7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</a:t>
            </a: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</a:t>
            </a:r>
            <a:r>
              <a:rPr lang="en-US" sz="900" kern="0" spc="100" dirty="0">
                <a:solidFill>
                  <a:srgbClr val="C7C7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FINANCIALS</a:t>
            </a: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</a:t>
            </a:r>
            <a:r>
              <a:rPr lang="en-US" sz="900" kern="0" spc="100" dirty="0">
                <a:solidFill>
                  <a:srgbClr val="C7C7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</a:t>
            </a: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</a:t>
            </a:r>
            <a:r>
              <a:rPr lang="en-US" sz="900" b="1" kern="0" spc="10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BOARD</a:t>
            </a: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</a:t>
            </a:r>
            <a:r>
              <a:rPr lang="en-US" sz="900" kern="0" spc="100" dirty="0">
                <a:solidFill>
                  <a:srgbClr val="C7C7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TRACTION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316736"/>
            <a:ext cx="10817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board yet — the advisors we'd bring in as we scale.</a:t>
            </a:r>
            <a:endParaRPr lang="en-US" sz="23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1810512"/>
            <a:ext cx="10817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Advisory-first while founder-led. A formal board comes with funding — chosen for credibility, introductions and governance, not titles.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2395728"/>
            <a:ext cx="10817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DREAM ADVISORY BOARD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85800" y="2688336"/>
            <a:ext cx="5294376" cy="1188720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11" name="Text 9"/>
          <p:cNvSpPr txBox="1"/>
          <p:nvPr/>
        </p:nvSpPr>
        <p:spPr>
          <a:xfrm>
            <a:off x="886968" y="283464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435608" y="2834640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SME / industry operator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435608" y="3145536"/>
            <a:ext cx="4434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manufacturing or Treuhand veteran who knows the beachhead — validates we target real pain and opens doors.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208776" y="2688336"/>
            <a:ext cx="5294376" cy="1188720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15" name="Text 13"/>
          <p:cNvSpPr txBox="1"/>
          <p:nvPr/>
        </p:nvSpPr>
        <p:spPr>
          <a:xfrm>
            <a:off x="6409944" y="283464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958584" y="2834640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/ automation technical advisor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958584" y="3145536"/>
            <a:ext cx="4434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Keeps the build current and credible on safety and human-in-the-loop; sanity-checks the tech as it scales.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85800" y="4023360"/>
            <a:ext cx="5294376" cy="1188720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19" name="Text 17"/>
          <p:cNvSpPr txBox="1"/>
          <p:nvPr/>
        </p:nvSpPr>
        <p:spPr>
          <a:xfrm>
            <a:off x="886968" y="4169664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1435608" y="4169664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Go-to-market advisor (DACH B2B)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1435608" y="4480560"/>
            <a:ext cx="4434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Sharpens the positioning and the sales motion; referrals into high-trust niches.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208776" y="4023360"/>
            <a:ext cx="5294376" cy="1188720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23" name="Text 21"/>
          <p:cNvSpPr txBox="1"/>
          <p:nvPr/>
        </p:nvSpPr>
        <p:spPr>
          <a:xfrm>
            <a:off x="6409944" y="4169664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6958584" y="4169664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Legal / IP &amp; governance advisor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6958584" y="4480560"/>
            <a:ext cx="4434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Swiss company law, IP licensing, data agreements, term sheets — matters more as licensing and any raise grow.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685800" y="5925312"/>
            <a:ext cx="10817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 </a:t>
            </a:r>
            <a:r>
              <a:rPr lang="en-US" sz="1250" i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Optional fifth seat — a first design-partner client, to keep us honest.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685800" y="6327648"/>
            <a:ext cx="10817352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28" name="Text 26"/>
          <p:cNvSpPr txBox="1"/>
          <p:nvPr/>
        </p:nvSpPr>
        <p:spPr>
          <a:xfrm>
            <a:off x="685800" y="636422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vortexdeep.ch  ·  info@vortexdeep.ch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10131552" y="636422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/ 11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274320"/>
            <a:ext cx="402336" cy="402336"/>
          </a:xfrm>
          <a:prstGeom prst="rect">
            <a:avLst/>
          </a:prstGeom>
          <a:solidFill>
            <a:srgbClr val="141414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3" name="Text 1"/>
          <p:cNvSpPr txBox="1"/>
          <p:nvPr/>
        </p:nvSpPr>
        <p:spPr>
          <a:xfrm>
            <a:off x="685800" y="2743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VD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274320"/>
            <a:ext cx="4114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VortexDeep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85800" y="841248"/>
            <a:ext cx="10817352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6" name="Text 4"/>
          <p:cNvSpPr txBox="1"/>
          <p:nvPr/>
        </p:nvSpPr>
        <p:spPr>
          <a:xfrm>
            <a:off x="685800" y="905256"/>
            <a:ext cx="10817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C7C7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</a:t>
            </a: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</a:t>
            </a:r>
            <a:r>
              <a:rPr lang="en-US" sz="900" kern="0" spc="100" dirty="0">
                <a:solidFill>
                  <a:srgbClr val="C7C7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</a:t>
            </a: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</a:t>
            </a:r>
            <a:r>
              <a:rPr lang="en-US" sz="900" kern="0" spc="100" dirty="0">
                <a:solidFill>
                  <a:srgbClr val="C7C7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</a:t>
            </a: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</a:t>
            </a:r>
            <a:r>
              <a:rPr lang="en-US" sz="900" kern="0" spc="100" dirty="0">
                <a:solidFill>
                  <a:srgbClr val="C7C7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COMPETITION</a:t>
            </a: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</a:t>
            </a:r>
            <a:r>
              <a:rPr lang="en-US" sz="900" kern="0" spc="100" dirty="0">
                <a:solidFill>
                  <a:srgbClr val="C7C7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</a:t>
            </a: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</a:t>
            </a:r>
            <a:r>
              <a:rPr lang="en-US" sz="900" kern="0" spc="100" dirty="0">
                <a:solidFill>
                  <a:srgbClr val="C7C7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FINANCIALS</a:t>
            </a: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</a:t>
            </a:r>
            <a:r>
              <a:rPr lang="en-US" sz="900" kern="0" spc="100" dirty="0">
                <a:solidFill>
                  <a:srgbClr val="C7C7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</a:t>
            </a: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</a:t>
            </a:r>
            <a:r>
              <a:rPr lang="en-US" sz="900" kern="0" spc="100" dirty="0">
                <a:solidFill>
                  <a:srgbClr val="C7C7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BOARD</a:t>
            </a: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</a:t>
            </a:r>
            <a:r>
              <a:rPr lang="en-US" sz="900" b="1" kern="0" spc="10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TRACTION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316736"/>
            <a:ext cx="10817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isn't just a plan — it's already running.</a:t>
            </a:r>
            <a:endParaRPr lang="en-US" sz="23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1810512"/>
            <a:ext cx="10817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Pre-revenue, but not pre-proof. Three things are live today.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85800" y="2468880"/>
            <a:ext cx="3419856" cy="2606040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10" name="Text 8"/>
          <p:cNvSpPr txBox="1"/>
          <p:nvPr/>
        </p:nvSpPr>
        <p:spPr>
          <a:xfrm>
            <a:off x="905256" y="2670048"/>
            <a:ext cx="3054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905256" y="3108960"/>
            <a:ext cx="3054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pilot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905256" y="3566160"/>
            <a:ext cx="2980944" cy="0"/>
          </a:xfrm>
          <a:prstGeom prst="line">
            <a:avLst/>
          </a:prstGeom>
          <a:noFill/>
          <a:ln w="9525">
            <a:solidFill>
              <a:srgbClr val="D2D2D2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3" name="Text 11"/>
          <p:cNvSpPr txBox="1"/>
          <p:nvPr/>
        </p:nvSpPr>
        <p:spPr>
          <a:xfrm>
            <a:off x="905256" y="3730752"/>
            <a:ext cx="299923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unpaid email-handling automation with a Swiss SME. Our first real implementation and reference case, in progress — a build we can point to, not just a claim.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379976" y="2468880"/>
            <a:ext cx="3419856" cy="2606040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15" name="Text 13"/>
          <p:cNvSpPr txBox="1"/>
          <p:nvPr/>
        </p:nvSpPr>
        <p:spPr>
          <a:xfrm>
            <a:off x="4599432" y="2670048"/>
            <a:ext cx="3054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4599432" y="3108960"/>
            <a:ext cx="3054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Fit Check live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4599432" y="3566160"/>
            <a:ext cx="2980944" cy="0"/>
          </a:xfrm>
          <a:prstGeom prst="line">
            <a:avLst/>
          </a:prstGeom>
          <a:noFill/>
          <a:ln w="9525">
            <a:solidFill>
              <a:srgbClr val="D2D2D2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8" name="Text 16"/>
          <p:cNvSpPr txBox="1"/>
          <p:nvPr/>
        </p:nvSpPr>
        <p:spPr>
          <a:xfrm>
            <a:off x="4599432" y="3730752"/>
            <a:ext cx="299923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short self-check live on vortexdeep.ch — the low-pressure front door that collects real data on who fits this kind of automation.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074152" y="2468880"/>
            <a:ext cx="3419856" cy="2606040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20" name="Text 18"/>
          <p:cNvSpPr txBox="1"/>
          <p:nvPr/>
        </p:nvSpPr>
        <p:spPr>
          <a:xfrm>
            <a:off x="8293608" y="2670048"/>
            <a:ext cx="3054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8293608" y="3108960"/>
            <a:ext cx="3054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ROI on the table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8293608" y="3566160"/>
            <a:ext cx="2980944" cy="0"/>
          </a:xfrm>
          <a:prstGeom prst="line">
            <a:avLst/>
          </a:prstGeom>
          <a:noFill/>
          <a:ln w="9525">
            <a:solidFill>
              <a:srgbClr val="D2D2D2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23" name="Text 21"/>
          <p:cNvSpPr txBox="1"/>
          <p:nvPr/>
        </p:nvSpPr>
        <p:spPr>
          <a:xfrm>
            <a:off x="8293608" y="3730752"/>
            <a:ext cx="299923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quantify a prospect's cost of doing nothing — time, errors, lost leads — against our fee. Payback typically in a couple of months.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685800" y="5925312"/>
            <a:ext cx="10817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 </a:t>
            </a:r>
            <a:r>
              <a:rPr lang="en-US" sz="1250" i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Narrow, but real — proof, not a demo.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85800" y="6327648"/>
            <a:ext cx="10817352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26" name="Text 24"/>
          <p:cNvSpPr txBox="1"/>
          <p:nvPr/>
        </p:nvSpPr>
        <p:spPr>
          <a:xfrm>
            <a:off x="685800" y="636422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vortexdeep.ch  ·  info@vortexdeep.ch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10131552" y="636422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11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274320"/>
            <a:ext cx="402336" cy="40233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3" name="Text 1"/>
          <p:cNvSpPr txBox="1"/>
          <p:nvPr/>
        </p:nvSpPr>
        <p:spPr>
          <a:xfrm>
            <a:off x="685800" y="2743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VD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274320"/>
            <a:ext cx="4114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VortexDeep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78308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ASK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194560"/>
            <a:ext cx="1081735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 a small company drowning in</a:t>
            </a:r>
            <a:endParaRPr lang="en-US" sz="3400" dirty="0"/>
          </a:p>
          <a:p>
            <a:pPr marL="0" indent="0">
              <a:lnSpc>
                <a:spcPct val="104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repetitive admin? That's exactly who we help.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3703320"/>
            <a:ext cx="108173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C7C7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Introductions to SMEs in the beachhead are our best next step.  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C7C7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Funding is optional — only to go faster: earlier hire, quicker CH → EU.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4709160"/>
            <a:ext cx="10817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you.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685800" y="5760720"/>
            <a:ext cx="10817352" cy="0"/>
          </a:xfrm>
          <a:prstGeom prst="line">
            <a:avLst/>
          </a:prstGeom>
          <a:noFill/>
          <a:ln w="9525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0" name="Text 8"/>
          <p:cNvSpPr txBox="1"/>
          <p:nvPr/>
        </p:nvSpPr>
        <p:spPr>
          <a:xfrm>
            <a:off x="685800" y="585216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CREATION ICT  ·  VENTURELAB  ·  AUG-SEP 2026  ·  ZÜRICH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617220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Maciek Szczech, Founder  ·  vortexdeep.ch  ·  info@vortexdeep.ch  ·  Claridapark 4, 8636 Wald ZH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1558</Words>
  <Application>Microsoft Macintosh PowerPoint</Application>
  <PresentationFormat>Widescreen</PresentationFormat>
  <Paragraphs>244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3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maciek szczech</cp:lastModifiedBy>
  <cp:revision>2</cp:revision>
  <dcterms:created xsi:type="dcterms:W3CDTF">2026-08-29T16:45:14Z</dcterms:created>
  <dcterms:modified xsi:type="dcterms:W3CDTF">2026-08-29T16:48:43Z</dcterms:modified>
</cp:coreProperties>
</file>