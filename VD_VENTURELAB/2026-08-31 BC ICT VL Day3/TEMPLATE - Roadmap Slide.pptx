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3"/>
  </p:notesMasterIdLst>
  <p:sldIdLst>
    <p:sldId id="582" r:id="rId2"/>
  </p:sldIdLst>
  <p:sldSz cx="12192000" cy="6858000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usammann Kathrin KTI" initials="HAK" lastIdx="7" clrIdx="0">
    <p:extLst>
      <p:ext uri="{19B8F6BF-5375-455C-9EA6-DF929625EA0E}">
        <p15:presenceInfo xmlns:p15="http://schemas.microsoft.com/office/powerpoint/2012/main" userId="Hausammann Kathrin K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674"/>
    <a:srgbClr val="06F7DA"/>
    <a:srgbClr val="D9D9D6"/>
    <a:srgbClr val="53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Mittlere Formatvorlage 1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1688" autoAdjust="0"/>
    <p:restoredTop sz="96076" autoAdjust="0"/>
  </p:normalViewPr>
  <p:slideViewPr>
    <p:cSldViewPr snapToGrid="0" snapToObjects="1">
      <p:cViewPr varScale="1">
        <p:scale>
          <a:sx n="112" d="100"/>
          <a:sy n="112" d="100"/>
        </p:scale>
        <p:origin x="232" y="352"/>
      </p:cViewPr>
      <p:guideLst>
        <p:guide orient="horz" pos="218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9901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0" cy="49901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r">
              <a:defRPr sz="1200"/>
            </a:lvl1pPr>
          </a:lstStyle>
          <a:p>
            <a:fld id="{FD43AE6F-235B-48E6-A2BE-396363BF7899}" type="datetimeFigureOut">
              <a:rPr lang="de-CH" smtClean="0"/>
              <a:t>25.06.18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46088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61" tIns="45930" rIns="91861" bIns="4593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1" y="4786363"/>
            <a:ext cx="5486400" cy="3916115"/>
          </a:xfrm>
          <a:prstGeom prst="rect">
            <a:avLst/>
          </a:prstGeom>
        </p:spPr>
        <p:txBody>
          <a:bodyPr vert="horz" lIns="91861" tIns="45930" rIns="91861" bIns="4593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0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4" y="9446678"/>
            <a:ext cx="2971800" cy="499010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r">
              <a:defRPr sz="1200"/>
            </a:lvl1pPr>
          </a:lstStyle>
          <a:p>
            <a:fld id="{6892633D-9D41-41BA-8548-AD7FB5C1F91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09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62CBE6-50D3-44F3-88C3-790E9F25CBCA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50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2AD527-D521-4BFD-9B96-50D80D5E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19CAC2-0EC2-4764-938E-B3F2AE5B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535" y="1126156"/>
            <a:ext cx="10543499" cy="5050807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433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iner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 err="1"/>
              <a:t>Your</a:t>
            </a:r>
            <a:r>
              <a:rPr lang="de-DE" dirty="0"/>
              <a:t> Trainer</a:t>
            </a:r>
            <a:endParaRPr lang="de-CH" dirty="0"/>
          </a:p>
        </p:txBody>
      </p:sp>
      <p:sp>
        <p:nvSpPr>
          <p:cNvPr id="3" name="Inhaltsplatzhalter 3">
            <a:extLst>
              <a:ext uri="{FF2B5EF4-FFF2-40B4-BE49-F238E27FC236}">
                <a16:creationId xmlns:a16="http://schemas.microsoft.com/office/drawing/2014/main" id="{4397275A-226A-43DF-B5EA-18189CD5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84345" y="1126156"/>
            <a:ext cx="8350715" cy="5050807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97275A-226A-43DF-B5EA-18189CD5B20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1270534" y="1126155"/>
            <a:ext cx="1799925" cy="5050807"/>
          </a:xfrm>
        </p:spPr>
        <p:txBody>
          <a:bodyPr/>
          <a:lstStyle>
            <a:lvl1pPr marL="0" indent="0">
              <a:buNone/>
              <a:defRPr b="1" baseline="0"/>
            </a:lvl1pPr>
          </a:lstStyle>
          <a:p>
            <a:pPr lvl="0"/>
            <a:r>
              <a:rPr lang="de-DE" dirty="0"/>
              <a:t>Picture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60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73A0F2-8258-4677-A2BC-8F964783F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CBEF1B-1E7A-4CE6-AC07-545540528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43097C1-0F60-4C69-BB16-BA8F80ABA59D}"/>
              </a:ext>
            </a:extLst>
          </p:cNvPr>
          <p:cNvSpPr/>
          <p:nvPr userDrawn="1"/>
        </p:nvSpPr>
        <p:spPr>
          <a:xfrm>
            <a:off x="404261" y="6362299"/>
            <a:ext cx="11473314" cy="375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4843FA4-A63E-4EC0-A390-8745419F41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97"/>
          <a:stretch/>
        </p:blipFill>
        <p:spPr>
          <a:xfrm>
            <a:off x="8014662" y="1071611"/>
            <a:ext cx="3332788" cy="151758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AA8B2E4-A7AB-4CEB-9785-1751BAC3AA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266" y="1233083"/>
            <a:ext cx="1827640" cy="117432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10E914D-3886-4AFF-A410-72BA4A40B29B}"/>
              </a:ext>
            </a:extLst>
          </p:cNvPr>
          <p:cNvSpPr txBox="1"/>
          <p:nvPr userDrawn="1"/>
        </p:nvSpPr>
        <p:spPr>
          <a:xfrm>
            <a:off x="8547234" y="882980"/>
            <a:ext cx="264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Commissioned</a:t>
            </a:r>
            <a:r>
              <a:rPr lang="de-CH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endParaRPr lang="de-CH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D9A9FCD-4F1A-4DDA-B0D7-AD233583B1E6}"/>
              </a:ext>
            </a:extLst>
          </p:cNvPr>
          <p:cNvSpPr/>
          <p:nvPr userDrawn="1"/>
        </p:nvSpPr>
        <p:spPr>
          <a:xfrm>
            <a:off x="10810240" y="0"/>
            <a:ext cx="1249680" cy="882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40E1950-B460-430D-A4DE-E3E16AF87928}"/>
              </a:ext>
            </a:extLst>
          </p:cNvPr>
          <p:cNvSpPr/>
          <p:nvPr userDrawn="1"/>
        </p:nvSpPr>
        <p:spPr>
          <a:xfrm>
            <a:off x="207010" y="31040"/>
            <a:ext cx="1249680" cy="8829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5354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BEDFF-AF65-46D8-A992-54AE71DE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0B3664-2B28-4E07-BEFE-084BBA885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70535" y="1126156"/>
            <a:ext cx="4749265" cy="5050807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97275A-226A-43DF-B5EA-18189CD5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156"/>
            <a:ext cx="4588846" cy="5050807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3315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6457475"/>
            <a:ext cx="12192000" cy="400529"/>
          </a:xfrm>
          <a:prstGeom prst="rect">
            <a:avLst/>
          </a:prstGeom>
          <a:solidFill>
            <a:srgbClr val="C20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78" tIns="60038" rIns="120078" bIns="60038" rtlCol="0" anchor="ctr"/>
          <a:lstStyle/>
          <a:p>
            <a:pPr algn="ctr"/>
            <a:endParaRPr lang="pt-BR" sz="618"/>
          </a:p>
        </p:txBody>
      </p:sp>
      <p:sp>
        <p:nvSpPr>
          <p:cNvPr id="10" name="Rectangle 9"/>
          <p:cNvSpPr/>
          <p:nvPr userDrawn="1"/>
        </p:nvSpPr>
        <p:spPr>
          <a:xfrm>
            <a:off x="10825720" y="6457474"/>
            <a:ext cx="572394" cy="131545"/>
          </a:xfrm>
          <a:prstGeom prst="rect">
            <a:avLst/>
          </a:prstGeom>
        </p:spPr>
        <p:txBody>
          <a:bodyPr wrap="none" lIns="120078" tIns="60038" rIns="120213" bIns="60038" anchor="ctr">
            <a:noAutofit/>
          </a:bodyPr>
          <a:lstStyle/>
          <a:p>
            <a:pPr marL="0" marR="0" indent="0" algn="r" defTabSz="12006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E2588-17B4-4B72-8C78-BD0C5EF3130C}" type="slidenum">
              <a:rPr lang="pt-BR" sz="866" smtClean="0">
                <a:solidFill>
                  <a:schemeClr val="bg1"/>
                </a:solidFill>
              </a:rPr>
              <a:pPr marL="0" marR="0" indent="0" algn="r" defTabSz="120065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pt-BR" sz="866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 flipH="1">
            <a:off x="10780031" y="6475398"/>
            <a:ext cx="2" cy="9569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/>
          <p:nvPr userDrawn="1"/>
        </p:nvSpPr>
        <p:spPr>
          <a:xfrm>
            <a:off x="4719" y="288848"/>
            <a:ext cx="12188780" cy="690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78" tIns="60038" rIns="120078" bIns="60038" rtlCol="0" anchor="ctr"/>
          <a:lstStyle/>
          <a:p>
            <a:pPr algn="ctr"/>
            <a:endParaRPr lang="en-GB" sz="2226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6422" y="428486"/>
            <a:ext cx="9819755" cy="411680"/>
          </a:xfrm>
        </p:spPr>
        <p:txBody>
          <a:bodyPr>
            <a:noAutofit/>
          </a:bodyPr>
          <a:lstStyle>
            <a:lvl1pPr>
              <a:defRPr sz="2226" b="1">
                <a:solidFill>
                  <a:srgbClr val="C20D3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6"/>
          <p:cNvSpPr/>
          <p:nvPr userDrawn="1"/>
        </p:nvSpPr>
        <p:spPr>
          <a:xfrm>
            <a:off x="-12522" y="428486"/>
            <a:ext cx="520211" cy="411681"/>
          </a:xfrm>
          <a:prstGeom prst="rect">
            <a:avLst/>
          </a:prstGeom>
          <a:solidFill>
            <a:srgbClr val="C20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0078" tIns="60038" rIns="120078" bIns="60038" rtlCol="0" anchor="ctr"/>
          <a:lstStyle/>
          <a:p>
            <a:pPr algn="ctr"/>
            <a:endParaRPr lang="pt-BR" sz="2226"/>
          </a:p>
        </p:txBody>
      </p:sp>
      <p:pic>
        <p:nvPicPr>
          <p:cNvPr id="4" name="Grafi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176" y="387221"/>
            <a:ext cx="626440" cy="494209"/>
          </a:xfrm>
          <a:prstGeom prst="rect">
            <a:avLst/>
          </a:prstGeom>
        </p:spPr>
      </p:pic>
      <p:cxnSp>
        <p:nvCxnSpPr>
          <p:cNvPr id="16" name="Straight Connector 9"/>
          <p:cNvCxnSpPr/>
          <p:nvPr userDrawn="1"/>
        </p:nvCxnSpPr>
        <p:spPr>
          <a:xfrm>
            <a:off x="965605" y="872087"/>
            <a:ext cx="10267012" cy="0"/>
          </a:xfrm>
          <a:prstGeom prst="line">
            <a:avLst/>
          </a:prstGeom>
          <a:ln>
            <a:solidFill>
              <a:srgbClr val="B000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2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96A0881-D52D-4998-B821-6B51637AF321}"/>
              </a:ext>
            </a:extLst>
          </p:cNvPr>
          <p:cNvGrpSpPr/>
          <p:nvPr userDrawn="1"/>
        </p:nvGrpSpPr>
        <p:grpSpPr>
          <a:xfrm>
            <a:off x="10868599" y="82940"/>
            <a:ext cx="1102016" cy="632684"/>
            <a:chOff x="11089984" y="25190"/>
            <a:chExt cx="1102016" cy="632684"/>
          </a:xfrm>
        </p:grpSpPr>
        <p:sp>
          <p:nvSpPr>
            <p:cNvPr id="8" name="Textfeld 7"/>
            <p:cNvSpPr txBox="1"/>
            <p:nvPr userDrawn="1"/>
          </p:nvSpPr>
          <p:spPr>
            <a:xfrm>
              <a:off x="11209650" y="25190"/>
              <a:ext cx="825770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Commissioned</a:t>
              </a:r>
              <a:r>
                <a:rPr lang="de-CH" sz="4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CH" sz="4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endParaRPr lang="de-CH" sz="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Grafik 11"/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097"/>
            <a:stretch/>
          </p:blipFill>
          <p:spPr>
            <a:xfrm>
              <a:off x="11089984" y="156071"/>
              <a:ext cx="1102016" cy="501803"/>
            </a:xfrm>
            <a:prstGeom prst="rect">
              <a:avLst/>
            </a:prstGeom>
          </p:spPr>
        </p:pic>
      </p:grp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29" y="267568"/>
            <a:ext cx="618265" cy="397256"/>
          </a:xfrm>
          <a:prstGeom prst="rect">
            <a:avLst/>
          </a:prstGeom>
        </p:spPr>
      </p:pic>
      <p:sp>
        <p:nvSpPr>
          <p:cNvPr id="14" name="Titelplatzhalter 1">
            <a:extLst>
              <a:ext uri="{FF2B5EF4-FFF2-40B4-BE49-F238E27FC236}">
                <a16:creationId xmlns:a16="http://schemas.microsoft.com/office/drawing/2014/main" id="{6AD3E13F-54F0-4CD3-9B01-2469C9ED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535" y="267568"/>
            <a:ext cx="9490510" cy="497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E58B2417-0A1C-495D-A6BE-263DAEC14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229" y="1126156"/>
            <a:ext cx="11405805" cy="5050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1351CA0B-74C1-48CA-B9AA-F97B8027D068}"/>
              </a:ext>
            </a:extLst>
          </p:cNvPr>
          <p:cNvSpPr txBox="1">
            <a:spLocks/>
          </p:cNvSpPr>
          <p:nvPr userDrawn="1"/>
        </p:nvSpPr>
        <p:spPr>
          <a:xfrm>
            <a:off x="414689" y="6356350"/>
            <a:ext cx="10346356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1100" dirty="0">
                <a:solidFill>
                  <a:schemeClr val="tx1"/>
                </a:solidFill>
                <a:latin typeface="Aria Bold"/>
              </a:rPr>
              <a:t>Business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Creation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 in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Biotech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, Day 5: Secure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funding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for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the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start</a:t>
            </a:r>
            <a:r>
              <a:rPr lang="de-CH" sz="1100" dirty="0">
                <a:solidFill>
                  <a:schemeClr val="tx1"/>
                </a:solidFill>
                <a:latin typeface="Aria Bold"/>
              </a:rPr>
              <a:t> </a:t>
            </a:r>
            <a:r>
              <a:rPr lang="de-CH" sz="1100" dirty="0" err="1">
                <a:solidFill>
                  <a:schemeClr val="tx1"/>
                </a:solidFill>
                <a:latin typeface="Aria Bold"/>
              </a:rPr>
              <a:t>phase</a:t>
            </a:r>
            <a:endParaRPr lang="de-CH" sz="1100" dirty="0">
              <a:solidFill>
                <a:schemeClr val="tx1"/>
              </a:solidFill>
              <a:latin typeface="Aria Bold"/>
            </a:endParaRPr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E9FFFD59-4F2C-4736-9168-5C020CE0A251}"/>
              </a:ext>
            </a:extLst>
          </p:cNvPr>
          <p:cNvSpPr txBox="1">
            <a:spLocks/>
          </p:cNvSpPr>
          <p:nvPr userDrawn="1"/>
        </p:nvSpPr>
        <p:spPr>
          <a:xfrm>
            <a:off x="10868599" y="6356350"/>
            <a:ext cx="966462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16B96E-1AD2-4F83-80AA-3BD2EC98D263}" type="slidenum">
              <a:rPr lang="de-CH" sz="1100" smtClean="0">
                <a:solidFill>
                  <a:schemeClr val="tx1"/>
                </a:solidFill>
                <a:latin typeface="Aria Bold"/>
              </a:rPr>
              <a:pPr/>
              <a:t>‹Nr.›</a:t>
            </a:fld>
            <a:endParaRPr lang="de-CH" sz="1100" dirty="0">
              <a:solidFill>
                <a:schemeClr val="tx1"/>
              </a:solidFill>
              <a:latin typeface="Aria Bold"/>
            </a:endParaRPr>
          </a:p>
        </p:txBody>
      </p:sp>
    </p:spTree>
    <p:extLst>
      <p:ext uri="{BB962C8B-B14F-4D97-AF65-F5344CB8AC3E}">
        <p14:creationId xmlns:p14="http://schemas.microsoft.com/office/powerpoint/2010/main" val="400983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87" r:id="rId3"/>
    <p:sldLayoutId id="2147483688" r:id="rId4"/>
    <p:sldLayoutId id="2147483707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accent1"/>
          </a:solidFill>
          <a:latin typeface="Aria Bold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404664"/>
            <a:ext cx="8931000" cy="710952"/>
          </a:xfrm>
        </p:spPr>
        <p:txBody>
          <a:bodyPr/>
          <a:lstStyle/>
          <a:p>
            <a:r>
              <a:rPr lang="fr-CH" dirty="0" err="1"/>
              <a:t>Your</a:t>
            </a:r>
            <a:r>
              <a:rPr lang="fr-CH" dirty="0"/>
              <a:t> </a:t>
            </a:r>
            <a:r>
              <a:rPr lang="fr-CH" dirty="0" err="1"/>
              <a:t>own</a:t>
            </a:r>
            <a:r>
              <a:rPr lang="fr-CH" dirty="0"/>
              <a:t> </a:t>
            </a:r>
            <a:r>
              <a:rPr lang="fr-CH" dirty="0" err="1"/>
              <a:t>financing</a:t>
            </a:r>
            <a:r>
              <a:rPr lang="fr-CH" dirty="0"/>
              <a:t> roadmap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679621"/>
              </p:ext>
            </p:extLst>
          </p:nvPr>
        </p:nvGraphicFramePr>
        <p:xfrm>
          <a:off x="658221" y="1251049"/>
          <a:ext cx="10891158" cy="495380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5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2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9911">
                <a:tc>
                  <a:txBody>
                    <a:bodyPr/>
                    <a:lstStyle/>
                    <a:p>
                      <a:r>
                        <a:rPr lang="fr-CH" dirty="0"/>
                        <a:t>How </a:t>
                      </a:r>
                      <a:r>
                        <a:rPr lang="fr-CH" dirty="0" err="1"/>
                        <a:t>much</a:t>
                      </a:r>
                      <a:r>
                        <a:rPr lang="fr-CH" dirty="0"/>
                        <a:t> ?</a:t>
                      </a:r>
                    </a:p>
                  </a:txBody>
                  <a:tcPr marL="99060" marR="990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CH" dirty="0" err="1"/>
                        <a:t>From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whom</a:t>
                      </a:r>
                      <a:r>
                        <a:rPr lang="fr-CH" dirty="0"/>
                        <a:t> ?</a:t>
                      </a:r>
                    </a:p>
                  </a:txBody>
                  <a:tcPr marL="99060" marR="990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 err="1"/>
                        <a:t>When</a:t>
                      </a:r>
                      <a:r>
                        <a:rPr lang="fr-CH" dirty="0"/>
                        <a:t> ?</a:t>
                      </a:r>
                    </a:p>
                  </a:txBody>
                  <a:tcPr marL="99060" marR="990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To </a:t>
                      </a:r>
                      <a:r>
                        <a:rPr lang="fr-CH" dirty="0" err="1"/>
                        <a:t>get</a:t>
                      </a:r>
                      <a:r>
                        <a:rPr lang="fr-CH" baseline="0" dirty="0"/>
                        <a:t> </a:t>
                      </a:r>
                      <a:r>
                        <a:rPr lang="fr-CH" baseline="0" dirty="0" err="1"/>
                        <a:t>where</a:t>
                      </a:r>
                      <a:r>
                        <a:rPr lang="fr-CH" baseline="0" dirty="0"/>
                        <a:t> and Use of </a:t>
                      </a:r>
                      <a:r>
                        <a:rPr lang="fr-CH" baseline="0" dirty="0" err="1"/>
                        <a:t>Funds</a:t>
                      </a:r>
                      <a:r>
                        <a:rPr lang="fr-CH" baseline="0" dirty="0"/>
                        <a:t> ?</a:t>
                      </a:r>
                      <a:endParaRPr lang="fr-CH" dirty="0"/>
                    </a:p>
                  </a:txBody>
                  <a:tcPr marL="99060" marR="990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 err="1"/>
                        <a:t>Valuation</a:t>
                      </a:r>
                      <a:r>
                        <a:rPr lang="fr-CH" dirty="0"/>
                        <a:t> ?</a:t>
                      </a:r>
                    </a:p>
                  </a:txBody>
                  <a:tcPr marL="99060" marR="9906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264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264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264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7264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575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7264"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CH" dirty="0"/>
                    </a:p>
                  </a:txBody>
                  <a:tcPr marL="99060" marR="990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42861"/>
      </p:ext>
    </p:extLst>
  </p:cSld>
  <p:clrMapOvr>
    <a:masterClrMapping/>
  </p:clrMapOvr>
</p:sld>
</file>

<file path=ppt/theme/theme1.xml><?xml version="1.0" encoding="utf-8"?>
<a:theme xmlns:a="http://schemas.openxmlformats.org/drawingml/2006/main" name="Layoutfolie">
  <a:themeElements>
    <a:clrScheme name="Innosuisse">
      <a:dk1>
        <a:sysClr val="windowText" lastClr="000000"/>
      </a:dk1>
      <a:lt1>
        <a:sysClr val="window" lastClr="FFFFFF"/>
      </a:lt1>
      <a:dk2>
        <a:srgbClr val="343741"/>
      </a:dk2>
      <a:lt2>
        <a:srgbClr val="06F7DA"/>
      </a:lt2>
      <a:accent1>
        <a:srgbClr val="84D0D4"/>
      </a:accent1>
      <a:accent2>
        <a:srgbClr val="FF8674"/>
      </a:accent2>
      <a:accent3>
        <a:srgbClr val="53565A"/>
      </a:accent3>
      <a:accent4>
        <a:srgbClr val="06F7DA"/>
      </a:accent4>
      <a:accent5>
        <a:srgbClr val="F79880"/>
      </a:accent5>
      <a:accent6>
        <a:srgbClr val="343741"/>
      </a:accent6>
      <a:hlink>
        <a:srgbClr val="000000"/>
      </a:hlink>
      <a:folHlink>
        <a:srgbClr val="84D0D4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</Words>
  <Application>Microsoft Macintosh PowerPoint</Application>
  <PresentationFormat>Breitbild</PresentationFormat>
  <Paragraphs>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 Bold</vt:lpstr>
      <vt:lpstr>Arial</vt:lpstr>
      <vt:lpstr>Calibri</vt:lpstr>
      <vt:lpstr>Layoutfolie</vt:lpstr>
      <vt:lpstr>Your own financing roadmap</vt:lpstr>
    </vt:vector>
  </TitlesOfParts>
  <Company>ENIGMA</Company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kathrin.hausammann@kti.admin.ch</dc:creator>
  <cp:lastModifiedBy>Michael Sidler</cp:lastModifiedBy>
  <cp:revision>213</cp:revision>
  <cp:lastPrinted>2018-06-25T18:23:47Z</cp:lastPrinted>
  <dcterms:created xsi:type="dcterms:W3CDTF">2017-10-06T14:13:07Z</dcterms:created>
  <dcterms:modified xsi:type="dcterms:W3CDTF">2018-06-28T05:44:33Z</dcterms:modified>
</cp:coreProperties>
</file>