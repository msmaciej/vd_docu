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462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8862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5943600"/>
            <a:ext cx="10820095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task is easy once. The cost is that it never stops.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905256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sorted and answered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6461608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extracted, checked and filed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 and renewals chased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assembled and sent every week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isn't one task — it's the repetition.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905256" y="247802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09928" y="250545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709928" y="288950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message, a form, a document,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2152" y="233172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6461608" y="247802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66280" y="250545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 → output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266280" y="288950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repetitive part of the work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0233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905256" y="4169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09928" y="4197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for your approval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709928" y="45811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sent, paid or filed on its own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2152" y="40233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6461608" y="4169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66280" y="4197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266280" y="45811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and sign-off stay yours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one task costing you the most hours, then add more.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 ·  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repetitive tasks in — resolved work out.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absorbs the volume. What surfaces to you is only the decision.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3200400" cy="2468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86968" y="2953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TASKS  ·  1 … 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" y="335584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996696" y="33558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52728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" y="372160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996696" y="37216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52728" y="3721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6968" y="408736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96696" y="4087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52728" y="40873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entry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6968" y="445312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996696" y="4453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52728" y="4453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due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6968" y="4818888"/>
            <a:ext cx="2798064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96696" y="48188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52728" y="4818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3291840"/>
            <a:ext cx="2377440" cy="146304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512064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12064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human approval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37033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543800" y="3703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8869680" y="2788920"/>
            <a:ext cx="2606040" cy="2468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9070848" y="2953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70848" y="3355848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decisions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you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70848" y="416052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cleared automatically
•  held for your sign-off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volume never reaches your desk — only the choices that need you.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85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E861F6E-0A18-28AC-E6A1-DFC9B2C82367}"/>
              </a:ext>
            </a:extLst>
          </p:cNvPr>
          <p:cNvGrpSpPr>
            <a:grpSpLocks noChangeAspect="1"/>
          </p:cNvGrpSpPr>
          <p:nvPr/>
        </p:nvGrpSpPr>
        <p:grpSpPr>
          <a:xfrm>
            <a:off x="5883837" y="3484988"/>
            <a:ext cx="859805" cy="776861"/>
            <a:chOff x="568280" y="1252445"/>
            <a:chExt cx="553430" cy="50003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F91A608-0E40-3D4D-1563-9859D4BB17CB}"/>
                </a:ext>
              </a:extLst>
            </p:cNvPr>
            <p:cNvSpPr txBox="1"/>
            <p:nvPr/>
          </p:nvSpPr>
          <p:spPr>
            <a:xfrm>
              <a:off x="568280" y="1317644"/>
              <a:ext cx="553430" cy="313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CH" sz="1000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3700F9A-A6E3-5FBA-9A6F-02B37BF218C2}"/>
                </a:ext>
              </a:extLst>
            </p:cNvPr>
            <p:cNvGrpSpPr/>
            <p:nvPr/>
          </p:nvGrpSpPr>
          <p:grpSpPr>
            <a:xfrm>
              <a:off x="596468" y="1252445"/>
              <a:ext cx="489560" cy="500035"/>
              <a:chOff x="596468" y="1252445"/>
              <a:chExt cx="489560" cy="500035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AFB95776-D1B4-9F67-ECD3-1064E8D4660E}"/>
                  </a:ext>
                </a:extLst>
              </p:cNvPr>
              <p:cNvGrpSpPr/>
              <p:nvPr/>
            </p:nvGrpSpPr>
            <p:grpSpPr>
              <a:xfrm>
                <a:off x="596468" y="1293170"/>
                <a:ext cx="489560" cy="422035"/>
                <a:chOff x="1044524" y="559454"/>
                <a:chExt cx="489560" cy="422035"/>
              </a:xfrm>
            </p:grpSpPr>
            <p:sp>
              <p:nvSpPr>
                <p:cNvPr id="62" name="Hexagon 61">
                  <a:extLst>
                    <a:ext uri="{FF2B5EF4-FFF2-40B4-BE49-F238E27FC236}">
                      <a16:creationId xmlns:a16="http://schemas.microsoft.com/office/drawing/2014/main" id="{4D34CC50-B2EE-0FBF-55CC-A07AE11494F4}"/>
                    </a:ext>
                  </a:extLst>
                </p:cNvPr>
                <p:cNvSpPr/>
                <p:nvPr/>
              </p:nvSpPr>
              <p:spPr>
                <a:xfrm rot="1800000">
                  <a:off x="1075966" y="588911"/>
                  <a:ext cx="426678" cy="367826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sp>
              <p:nvSpPr>
                <p:cNvPr id="63" name="Hexagon 62">
                  <a:extLst>
                    <a:ext uri="{FF2B5EF4-FFF2-40B4-BE49-F238E27FC236}">
                      <a16:creationId xmlns:a16="http://schemas.microsoft.com/office/drawing/2014/main" id="{A6307380-317B-5C74-0304-7797F11E885D}"/>
                    </a:ext>
                  </a:extLst>
                </p:cNvPr>
                <p:cNvSpPr/>
                <p:nvPr/>
              </p:nvSpPr>
              <p:spPr>
                <a:xfrm rot="1800000">
                  <a:off x="1044524" y="559454"/>
                  <a:ext cx="489560" cy="422035"/>
                </a:xfrm>
                <a:prstGeom prst="hexagon">
                  <a:avLst>
                    <a:gd name="adj" fmla="val 29124"/>
                    <a:gd name="vf" fmla="val 115470"/>
                  </a:avLst>
                </a:prstGeom>
                <a:noFill/>
                <a:ln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/>
                </a:p>
              </p:txBody>
            </p:sp>
          </p:grp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12EF82E-EAEA-8833-F9F1-4E36623E0822}"/>
                  </a:ext>
                </a:extLst>
              </p:cNvPr>
              <p:cNvSpPr/>
              <p:nvPr/>
            </p:nvSpPr>
            <p:spPr>
              <a:xfrm>
                <a:off x="812028" y="1252445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3FC86B80-551A-4FB3-F96F-262A93B05417}"/>
                  </a:ext>
                </a:extLst>
              </p:cNvPr>
              <p:cNvSpPr/>
              <p:nvPr/>
            </p:nvSpPr>
            <p:spPr>
              <a:xfrm>
                <a:off x="610860" y="1365834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6B11477-0876-F658-5B45-CA94E017F557}"/>
                  </a:ext>
                </a:extLst>
              </p:cNvPr>
              <p:cNvSpPr/>
              <p:nvPr/>
            </p:nvSpPr>
            <p:spPr>
              <a:xfrm>
                <a:off x="1013196" y="1365833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62B8C0F-B650-ADA9-DE2E-08382F7FBBCF}"/>
                  </a:ext>
                </a:extLst>
              </p:cNvPr>
              <p:cNvSpPr/>
              <p:nvPr/>
            </p:nvSpPr>
            <p:spPr>
              <a:xfrm>
                <a:off x="610859" y="1585289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995DD0D0-994D-A8B3-2018-F5FC1E54B4E1}"/>
                  </a:ext>
                </a:extLst>
              </p:cNvPr>
              <p:cNvSpPr/>
              <p:nvPr/>
            </p:nvSpPr>
            <p:spPr>
              <a:xfrm>
                <a:off x="1013195" y="1588726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5050F3C-5D2B-901C-9A0C-C2F9846F9842}"/>
                  </a:ext>
                </a:extLst>
              </p:cNvPr>
              <p:cNvSpPr/>
              <p:nvPr/>
            </p:nvSpPr>
            <p:spPr>
              <a:xfrm>
                <a:off x="812028" y="1694041"/>
                <a:ext cx="58439" cy="5843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H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defines our market, not the industry. Any SME with the same admin repeating every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 ·  start 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6946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4414418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 ·  expand</a:t>
            </a:r>
            <a:endParaRPr lang="en-US"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95565" y="269748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8143037" y="269748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 ·  scale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349300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WORKFLOWS WE SERVE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76732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05256" y="391363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394106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Customers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432511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triage, replies, support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376732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61608" y="391363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394106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Growth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432511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quotes, follow-ups, renewals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86460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05256" y="501091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709928" y="503834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Finance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709928" y="542239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extraction, checks, filing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42152" y="4864608"/>
            <a:ext cx="5263744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6461608" y="501091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66280" y="5038344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Insight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266280" y="5422392"/>
            <a:ext cx="403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and weekly updates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slice: teams who want AI's help but not its autonomy.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7" name="Text 35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automation, with a person approving every step.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Alternatives: DIY tools, full-autonomy AI, hiring an ops person, or doing nothing. Our approach: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905256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 or done on its 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60604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6461608" y="275234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77977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16382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you have to learn or maintain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 — not the person doing it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clients at a time, on a fixed agreed scope — while small and founder-led.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886968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6968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886968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3976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665144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65144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65144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3665144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2152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43320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3320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3320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43320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20327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221495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21495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21495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221495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587044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then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revenue lines: a one-time setup that funds the build, plus a monthly managed service — the recurring base. Five packages, priced by complexity and control.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32104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95539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3041843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41843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05278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251582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1582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017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7461321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61321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24756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671060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71060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Monthly  ~CHF 150 → 6'000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(ARR) — INDICATIVE, BLENDED ~CHF 12–17K PER ACTIVE CLIENT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434840"/>
            <a:ext cx="2485568" cy="960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80512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63976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3463976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63976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80–140k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958688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42152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6242152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42152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200–340k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736863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20327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9020327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20327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400–680k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85800" y="566928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licence, not a transfer — break-even at ~6–8 managed clients; bootstrap-first.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4" name="Text 42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while small, by design. Each role is added only when recurring revenue covers it — we hire from cashflow, not on speculation.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10820095" cy="8686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29626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962656"/>
            <a:ext cx="6933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 &amp; engineering. Today spans all four work packages — build &amp; automation, delivery &amp; managed service, go-to-market, and the client relationship. Ops-native credibility: targets the real pain, not a demo.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85876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905256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2152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61608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19392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19392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905256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463040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463040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42152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461608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019392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19392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59436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and lightweight while founder-led. A formal board comes with external funding (Day 5). Chosen for credibility, introductions and governance — not titles — protecting trust, data discipline and IP rather than taking decisions from the founder or the client.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09928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709928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2152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6461608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6280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66280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05256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61608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5800" y="6016752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 to buyer reality.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685800" y="6382512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1331</Words>
  <Application>Microsoft Macintosh PowerPoint</Application>
  <PresentationFormat>Widescreen</PresentationFormat>
  <Paragraphs>242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5</cp:revision>
  <dcterms:created xsi:type="dcterms:W3CDTF">2026-08-21T17:52:27Z</dcterms:created>
  <dcterms:modified xsi:type="dcterms:W3CDTF">2026-08-21T19:11:39Z</dcterms:modified>
</cp:coreProperties>
</file>