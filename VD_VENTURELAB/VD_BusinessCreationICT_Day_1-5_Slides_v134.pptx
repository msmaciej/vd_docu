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One sentence on what we do and who keeps control. Swiss SMEs, AI-assisted, human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unchanged from v11-1. Same flow grid as slide 3: identical incoming column, identical resolved column. The difference is the middle (one person, sequential) and the staircase on the right (one after another) versus slide 3 (all at once).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"AI does the work / you approve each" softened to routine steps + defined control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figures unchanged. Only the source line now separates official data from our own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"approves every step" -&gt; defined control points; "black box" -&gt; less direct oversight; "no lock-in" -&gt; documented access, export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milestones unchanged from v11-1, now explicitly labelled as working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pricing and ARR band unchanged; the ownership line now matches the pricing catalogue, which does include Build-Transfer at the top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 rewrite. Day 4: founders -&gt; key hires -&gt; board &amp; advisors. This slide covers the inner two layers only; advisors and board move to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 rewrite. Day 4 distinction: advisor = expertise + network, light, small equity. Board = governance, formal, post-funding. v11-1 conflated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"live pilot" -&gt; pilot in progress, unpaid; payback claim now framed as a model to be confirmed with the first paid client. BEFORE PRESENTING: confirm the Fit Check is actually live on vortexdeep.ch. If it is not, replace card 02 with "Discovery &amp; pricing tools - catalogue, discovery scripts and pricing logic, ready to scope consistently."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combines the v11-1 funding ask with the design-partner validation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work.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keeps the decisions.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66928" y="3913632"/>
            <a:ext cx="100584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 designs and runs AI-assisted workflows for Swiss SMEs.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  ·  vortexdeep.ch  ·  info@vortexdeep.ch  ·  Claridapark 4, 8636 Wald ZH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easy once. The cost is that it never stops.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· TASKS 1…N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26517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33101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39684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" y="462686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35808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5888" y="2651760"/>
            <a:ext cx="4837176" cy="2505456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75888" y="352958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675888" y="393192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at a time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858768" y="4261104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 capacity  ·  no review point, because there is no second pair of eyes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95944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36024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· ONE AFTER ANOTHER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36024" y="2651760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64040" y="26517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18904" y="3310128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46920" y="331012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2 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701784" y="3968496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29800" y="396849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3 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84664" y="4626864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12680" y="462686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4 …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36024" y="5248656"/>
            <a:ext cx="2286000" cy="18288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36024" y="5285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55046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pair of hands. The queue only clears as fast as you do.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isn't any one task. It's that they never stop.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workflows, with a human in control.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workflows handle the routine steps in parallel. Your team reviews decisions and exceptions at defined control points.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· TASKS 1…N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26517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33101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39684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" y="462686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35808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5888" y="2651760"/>
            <a:ext cx="2240280" cy="2505456"/>
          </a:xfrm>
          <a:prstGeom prst="roundRect">
            <a:avLst>
              <a:gd name="adj" fmla="val 163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75888" y="35295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67328" y="38953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classifies, checks and drafts,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3758184"/>
            <a:ext cx="384048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74536" y="2651760"/>
            <a:ext cx="1938528" cy="2505456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74536" y="35661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74536" y="3913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08776" y="524865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point · human-in-the-loop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695944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36024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RESOLVED · IN PARALLEL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36024" y="2651760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64040" y="26517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36024" y="3310128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64040" y="331012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36024" y="3968496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64040" y="396849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336024" y="4626864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464040" y="462686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✓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55046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prepares; your team decides. Nothing consequential goes out unreviewed.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defined by industry. By the admin that repeats every day.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212848"/>
            <a:ext cx="1133856" cy="402336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2128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00784" y="2212848"/>
            <a:ext cx="237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38528" y="2212848"/>
            <a:ext cx="1133856" cy="402336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38528" y="22128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72384" y="2212848"/>
            <a:ext cx="237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2212848"/>
            <a:ext cx="1133856" cy="402336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10128" y="22128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9260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· SWISS BEACHHEAD · WORKING ESTIMATES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218688"/>
            <a:ext cx="3529584" cy="3200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649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6027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2976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SMEs with repetitive admin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5720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has the problem. Mostly micro firms; a lighter tier could open them.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218688"/>
            <a:ext cx="3529584" cy="3200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97680" y="33649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6027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42976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firms, 10–49 employees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45720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we can serve with this model. CHF 400–750M ARR.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28432" y="3218688"/>
            <a:ext cx="3529584" cy="32004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28432" y="33649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028432" y="36027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8028432" y="42976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clients by 2029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028432" y="45720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realistically win. CHF 0.25–0.6M ARR · under 0.1% of SAM.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3583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SECO / FSO (STATENT 2023) for company counts. SAM and SOM are VortexDeep estimates from stated targeting and pricing assumptions.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slice is the cautious middle: AI's help, not its autonomy.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&amp; ADVANTAGE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automation. Human control where it matters.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handle the repetition, each with a catch, and our fifth.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OPTIONS · EACH WITH A CATCH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521208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6151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tools: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but you build and maintain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401568"/>
            <a:ext cx="521208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40156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less direct oversight.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187952"/>
            <a:ext cx="521208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18795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cost, and still manual.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974336"/>
            <a:ext cx="521208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9743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quietly compounds every day.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3042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FIFTH 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27648" y="2615184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73952" y="261518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12864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at defined control points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2953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consequential goes out unreviewed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7648" y="3401568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73952" y="340156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3483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and run it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12864" y="3739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27648" y="4187952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73952" y="41879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12864" y="4270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yours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12864" y="4526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access, export on request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27648" y="4974336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73952" y="497433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12864" y="5056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not replaced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912864" y="53126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cautious middle: a few clients at a time, fixed scope.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targets, based on current pricing and delivery assumptions.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11057839" cy="18288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505456"/>
            <a:ext cx="237744" cy="237744"/>
          </a:xfrm>
          <a:prstGeom prst="ellipse">
            <a:avLst/>
          </a:prstGeom>
          <a:solidFill>
            <a:srgbClr val="141414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Swiss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automation live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64992" y="25054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64992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364992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managed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64992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64992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50–120k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63056" y="25054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63056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widen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→ EU expansion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63056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63056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120–300k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61120" y="25054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30–40+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~6–8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961120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61120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240–600k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51023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ARR scenario, not a forecast.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one process, expand within the account. Each stage funds the next.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choose. Recurring by design.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setup funds the build; a monthly managed service is the recurring base. Five packages, priced by complexity and control.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Intake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98064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4368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Basic+ AI Triage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75504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Multi-Channel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60336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Operations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91472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37776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637776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Automation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321868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" y="321868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</a:t>
            </a:r>
            <a:pPr indent="0" marL="0">
              <a:buNone/>
            </a:pP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750 → 30’000</a:t>
            </a:r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Monthly  </a:t>
            </a:r>
            <a:pPr indent="0" marL="0">
              <a:buNone/>
            </a:pP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150 → 6’000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38404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· INDICATIVE SCENARIO, NOT A FORECAST · BLENDED ~CHF 8–15K PER ACTIVE CLIENT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5230368"/>
            <a:ext cx="2148840" cy="20116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956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64992" y="5047488"/>
            <a:ext cx="214884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64992" y="47731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~50–120k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364992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63056" y="4718304"/>
            <a:ext cx="2148840" cy="713232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63056" y="4443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~120–300k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163056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961120" y="4297680"/>
            <a:ext cx="2148840" cy="1133856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61120" y="40233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~240–600k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by default; build-transfer only in the highest tier. Break-even at ~6–8 clients on current assumptions. Bootstrap-first.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founder today. A hiring plan, not a wish list.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Sell + Run all have to be covered. Each seat opens when revenue covers it — we hire from cashflow, not speculation.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231136"/>
            <a:ext cx="11057839" cy="950976"/>
          </a:xfrm>
          <a:prstGeom prst="roundRect">
            <a:avLst>
              <a:gd name="adj" fmla="val 3846"/>
            </a:avLst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2340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</a:t>
            </a:r>
            <a:pPr indent="0" marL="0">
              <a:buNone/>
            </a:pPr>
            <a:r>
              <a:rPr lang="en-US" sz="9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SELL + RUN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798064"/>
            <a:ext cx="10618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in industrial operations, engineering, process and automation. Covers SELL and RUN today, and BUILD as far as one person can. I have sat on the customer’s side of exactly the admin queue we automate.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3467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 · EACH SEAT OPENS WHEN ITS TRIGGER IS MET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63931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7398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739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co-founder</a:t>
            </a:r>
            <a:pPr indent="0" marL="0">
              <a:buNone/>
            </a:pPr>
            <a:r>
              <a:rPr lang="en-US" sz="9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397764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integrations, security, reusable workflows. Equity, not salary. Trigger: the first paid pilots, 2027 — or earlier, if the right person appears. (WP2)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9632" y="363931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64224" y="37398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739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Managed operations</a:t>
            </a:r>
            <a:pPr indent="0" marL="0">
              <a:buNone/>
            </a:pPr>
            <a:r>
              <a:rPr lang="en-US" sz="9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97764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monitoring, support, reporting, improvement. Trigger: the recurring base outgrows one pair of hands, 2028.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73659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8371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48371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B2B solution seller</a:t>
            </a:r>
            <a:pPr indent="0" marL="0">
              <a:buNone/>
            </a:pPr>
            <a:r>
              <a:rPr lang="en-US" sz="9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" y="507492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with SME owners, scoping, quoting, renewals and account growth. Trigger: 15–20 clients. (WP1)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9632" y="473659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64224" y="48371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48371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in, not hired</a:t>
            </a:r>
            <a:pPr indent="0" marL="0">
              <a:buNone/>
            </a:pPr>
            <a:r>
              <a:rPr lang="en-US" sz="9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EXTERNAL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507492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IP counsel, accounting / fiduciary, data protection, and marketing as a service. Fractional — not headcount.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hiring: BUILD first, then RUN, then SELL. Sales is the function I already cover; delivery capacity breaks before demand does.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ADVISORS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and that's the honest answer.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fill specific gaps; a board holds me accountable. None of these seats is filled today — these are profiles, not people.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· SPECIFIC GAPS · LIGHT ENGAGEMENT, 2–4 H/MONTH, SMALL EQUITY WITH VESTING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3529584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/ industry operator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manufacturing or Treuhand veteran who knows the beachhead. Validates we target real pain, and opens doors.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2615184"/>
            <a:ext cx="3529584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automation &amp; data governance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build credible on security, privacy and human-in-the-loop as it scales. Sanity-checks the tech.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28432" y="2615184"/>
            <a:ext cx="3529584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1312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B2B go-to-market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11312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Sharpens positioning and the sales motion; referrals into high-trust niches.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26110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· LATER, WITH FUNDING · FORMAL, QUARTERLY, ACCOUNTABLE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" y="4553712"/>
            <a:ext cx="11057839" cy="109728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chair / B2B services operator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" y="4956048"/>
            <a:ext cx="10143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accountability and strategic challenge; someone who has scaled a Swiss services business. Finance &amp; legal joins the board only when a raise makes it necessary — until then it is bought in (see Team).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advisors, and not listed as such: a first design-partner client. We name advisors only once they are actually engaged.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today — and what still needs proof.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Pre-revenue, but not pre-proof. Three things exist right now.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15184"/>
            <a:ext cx="3529584" cy="32004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progress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unpaid email-handling automation with a Swiss SME, built around a real process. Technical proof and our first reference case — not yet a paid customer case.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615184"/>
            <a:ext cx="3529584" cy="32004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17136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17136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17136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self-check on vortexdeep.ch. The low-pressure front door that collects real data on who fits.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28432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28432" y="2615184"/>
            <a:ext cx="3529584" cy="32004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47888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47888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quantify a prospect's cost of doing nothing — time, errors, lost leads — against our fee. We model payback; the figure gets confirmed with the first paid client.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but real. Technical proof is done; commercial proof is next.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659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That’s exactly who we help.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66928" y="3675888"/>
            <a:ext cx="100584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91363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SMEs in the beachhead — ideally one design partner willing to map and test a process — and early capital to compress the timeline: earlier delivery hire, faster CH → EU. The model is built to stand on its own revenue; funding makes it faster.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0292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  ·  vortexdeep.ch  ·  info@vortexdeep.ch  ·  Claridapark 4, 8636 Wald ZH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VortexDeep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VortexDeep - Business Creation ICT - v13</dc:title>
  <dc:subject>PptxGenJS Presentation</dc:subject>
  <dc:creator>Maciek Szczech</dc:creator>
  <cp:lastModifiedBy>Maciek Szczech</cp:lastModifiedBy>
  <cp:revision>1</cp:revision>
  <dcterms:created xsi:type="dcterms:W3CDTF">2026-09-01T17:30:29Z</dcterms:created>
  <dcterms:modified xsi:type="dcterms:W3CDTF">2026-09-01T17:30:29Z</dcterms:modified>
</cp:coreProperties>
</file>