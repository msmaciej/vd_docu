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One sentence on what we do and who keeps control. Swiss SMEs, AI-assisted, human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Unchanged from v11-1. The strongest line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"AI does the work / you approve each" softened to routine steps + defined control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figures unchanged. Only the source line now separates official data from our own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"approves every step" -&gt; defined control points; "black box" -&gt; less direct oversight; "no lock-in" -&gt; documented access, export on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milestones unchanged from v11-1, now explicitly labelled as working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pricing and ARR band unchanged; the ownership line now matches the pricing catalogue, which does include Build-Transfer at the top 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 rewrite. Day 4: founders -&gt; key hires -&gt; board &amp; advisors. This slide covers the inner two layers only; advisors and board move to slide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 rewrite. Day 4 distinction: advisor = expertise + network, light, small equity. Board = governance, formal, post-funding. v11-1 conflated the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"live pilot" -&gt; pilot in progress, unpaid; payback claim now framed as a model to be confirmed with the first paid client. BEFORE PRESENTING: confirm the Fit Check is actually live on vortexdeep.ch. If it is not, replace card 02 with "Discovery &amp; pricing tools - catalogue, discovery scripts and pricing logic, ready to scope consistently."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combines the v11-1 funding ask with the design-partner validation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C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55487" y="274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6E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96596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repetitive work.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keeps the decisions.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66928" y="3913632"/>
            <a:ext cx="1005840" cy="32004"/>
          </a:xfrm>
          <a:prstGeom prst="rect">
            <a:avLst/>
          </a:prstGeom>
          <a:solidFill>
            <a:srgbClr val="5CC4D0"/>
          </a:solidFill>
          <a:ln w="12700">
            <a:solidFill>
              <a:srgbClr val="5CC4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4160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 designs and runs AI-assisted workflows for Swiss SMEs.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600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5C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619963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9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Maciek Szczech, Founder  ·  vortexdeep.ch  ·  info@vortexdeep.ch  ·  Claridapark 4, 8636 Wald ZH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2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55487" y="274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987552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645920"/>
            <a:ext cx="99605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easy once. The cost is that it never stops.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2128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 · 1…N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2743200" cy="530352"/>
          </a:xfrm>
          <a:prstGeom prst="roundRect">
            <a:avLst>
              <a:gd name="adj" fmla="val 6897"/>
            </a:avLst>
          </a:prstGeom>
          <a:solidFill>
            <a:srgbClr val="F1F5F6"/>
          </a:solidFill>
          <a:ln w="12700">
            <a:solidFill>
              <a:srgbClr val="E6ED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" y="2505456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163824"/>
            <a:ext cx="2743200" cy="530352"/>
          </a:xfrm>
          <a:prstGeom prst="roundRect">
            <a:avLst>
              <a:gd name="adj" fmla="val 6897"/>
            </a:avLst>
          </a:prstGeom>
          <a:solidFill>
            <a:srgbClr val="F1F5F6"/>
          </a:solidFill>
          <a:ln w="12700">
            <a:solidFill>
              <a:srgbClr val="E6ED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" y="3163824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Data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822192"/>
            <a:ext cx="2743200" cy="530352"/>
          </a:xfrm>
          <a:prstGeom prst="roundRect">
            <a:avLst>
              <a:gd name="adj" fmla="val 6897"/>
            </a:avLst>
          </a:prstGeom>
          <a:solidFill>
            <a:srgbClr val="F1F5F6"/>
          </a:solidFill>
          <a:ln w="12700">
            <a:solidFill>
              <a:srgbClr val="E6ED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" y="3822192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&amp; Renewals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480560"/>
            <a:ext cx="2743200" cy="530352"/>
          </a:xfrm>
          <a:prstGeom prst="roundRect">
            <a:avLst>
              <a:gd name="adj" fmla="val 6897"/>
            </a:avLst>
          </a:prstGeom>
          <a:solidFill>
            <a:srgbClr val="F1F5F6"/>
          </a:solidFill>
          <a:ln w="12700">
            <a:solidFill>
              <a:srgbClr val="E6ED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" y="4480560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74720" y="3703320"/>
            <a:ext cx="566928" cy="146304"/>
          </a:xfrm>
          <a:prstGeom prst="rightArrow">
            <a:avLst/>
          </a:prstGeom>
          <a:solidFill>
            <a:srgbClr val="D9E2E4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87952" y="2505456"/>
            <a:ext cx="2011680" cy="2615184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12707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87952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187952" y="3621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 a time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64224" y="3703320"/>
            <a:ext cx="566928" cy="146304"/>
          </a:xfrm>
          <a:prstGeom prst="rightArrow">
            <a:avLst/>
          </a:prstGeom>
          <a:solidFill>
            <a:srgbClr val="D9E2E4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77456" y="221284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RESOLVED, ONE AFTER ANOTHER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77456" y="2505456"/>
            <a:ext cx="14173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05472" y="2505456"/>
            <a:ext cx="1161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70064" y="3163824"/>
            <a:ext cx="14173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0" y="3163824"/>
            <a:ext cx="1161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62672" y="3822192"/>
            <a:ext cx="14173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90688" y="3822192"/>
            <a:ext cx="1161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55280" y="4480560"/>
            <a:ext cx="14173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83296" y="4480560"/>
            <a:ext cx="1161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4 …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77456" y="5138928"/>
            <a:ext cx="4023360" cy="18288"/>
          </a:xfrm>
          <a:prstGeom prst="rect">
            <a:avLst/>
          </a:prstGeom>
          <a:solidFill>
            <a:srgbClr val="D9E2E4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077456" y="517550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5358384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pair of hands. The queue only clears as fast as you do.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isn't any one task. It's that they never stop.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2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55487" y="274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987552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5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repetitive tasks into AI workflows, with a human in control.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700784"/>
            <a:ext cx="99605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workflows handle the routine steps in parallel. Your team reviews decisions and exceptions at defined control points.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304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· 1…N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2596896"/>
            <a:ext cx="2286000" cy="502920"/>
          </a:xfrm>
          <a:prstGeom prst="roundRect">
            <a:avLst>
              <a:gd name="adj" fmla="val 7273"/>
            </a:avLst>
          </a:prstGeom>
          <a:solidFill>
            <a:srgbClr val="F1F5F6"/>
          </a:solidFill>
          <a:ln w="12700">
            <a:solidFill>
              <a:srgbClr val="E6ED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" y="2596896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218688"/>
            <a:ext cx="2286000" cy="502920"/>
          </a:xfrm>
          <a:prstGeom prst="roundRect">
            <a:avLst>
              <a:gd name="adj" fmla="val 7273"/>
            </a:avLst>
          </a:prstGeom>
          <a:solidFill>
            <a:srgbClr val="F1F5F6"/>
          </a:solidFill>
          <a:ln w="12700">
            <a:solidFill>
              <a:srgbClr val="E6ED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" y="3218688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840480"/>
            <a:ext cx="2286000" cy="502920"/>
          </a:xfrm>
          <a:prstGeom prst="roundRect">
            <a:avLst>
              <a:gd name="adj" fmla="val 7273"/>
            </a:avLst>
          </a:prstGeom>
          <a:solidFill>
            <a:srgbClr val="F1F5F6"/>
          </a:solidFill>
          <a:ln w="12700">
            <a:solidFill>
              <a:srgbClr val="E6ED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" y="384048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462272"/>
            <a:ext cx="2286000" cy="502920"/>
          </a:xfrm>
          <a:prstGeom prst="roundRect">
            <a:avLst>
              <a:gd name="adj" fmla="val 7273"/>
            </a:avLst>
          </a:prstGeom>
          <a:solidFill>
            <a:srgbClr val="F1F5F6"/>
          </a:solidFill>
          <a:ln w="12700">
            <a:solidFill>
              <a:srgbClr val="E6ED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" y="4462272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17520" y="3703320"/>
            <a:ext cx="457200" cy="146304"/>
          </a:xfrm>
          <a:prstGeom prst="rightArrow">
            <a:avLst/>
          </a:prstGeom>
          <a:solidFill>
            <a:srgbClr val="D9E2E4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21024" y="2596896"/>
            <a:ext cx="2377440" cy="2395728"/>
          </a:xfrm>
          <a:prstGeom prst="roundRect">
            <a:avLst>
              <a:gd name="adj" fmla="val 1538"/>
            </a:avLst>
          </a:prstGeom>
          <a:solidFill>
            <a:srgbClr val="12707E"/>
          </a:solidFill>
          <a:ln w="12700">
            <a:solidFill>
              <a:srgbClr val="12707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21024" y="32461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712464" y="35844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classifies, checks and drafts,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63056" y="3703320"/>
            <a:ext cx="457200" cy="146304"/>
          </a:xfrm>
          <a:prstGeom prst="rightArrow">
            <a:avLst/>
          </a:prstGeom>
          <a:solidFill>
            <a:srgbClr val="D9E2E4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2596896"/>
            <a:ext cx="1920240" cy="2395728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9050">
            <a:solidFill>
              <a:srgbClr val="12707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0" y="3291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36027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19088" y="504748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point · human-in-the-loop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851392" y="3703320"/>
            <a:ext cx="457200" cy="146304"/>
          </a:xfrm>
          <a:prstGeom prst="rightArrow">
            <a:avLst/>
          </a:prstGeom>
          <a:solidFill>
            <a:srgbClr val="D9E2E4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454896" y="23042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1…N RESOLVED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454896" y="2596896"/>
            <a:ext cx="1316736" cy="502920"/>
          </a:xfrm>
          <a:prstGeom prst="roundRect">
            <a:avLst>
              <a:gd name="adj" fmla="val 7273"/>
            </a:avLst>
          </a:prstGeom>
          <a:solidFill>
            <a:srgbClr val="E9F3F4"/>
          </a:solidFill>
          <a:ln w="12700">
            <a:solidFill>
              <a:srgbClr val="CBE0E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582912" y="2596896"/>
            <a:ext cx="106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454896" y="3218688"/>
            <a:ext cx="1316736" cy="502920"/>
          </a:xfrm>
          <a:prstGeom prst="roundRect">
            <a:avLst>
              <a:gd name="adj" fmla="val 7273"/>
            </a:avLst>
          </a:prstGeom>
          <a:solidFill>
            <a:srgbClr val="E9F3F4"/>
          </a:solidFill>
          <a:ln w="12700">
            <a:solidFill>
              <a:srgbClr val="CBE0E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582912" y="3218688"/>
            <a:ext cx="106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454896" y="3840480"/>
            <a:ext cx="1316736" cy="502920"/>
          </a:xfrm>
          <a:prstGeom prst="roundRect">
            <a:avLst>
              <a:gd name="adj" fmla="val 7273"/>
            </a:avLst>
          </a:prstGeom>
          <a:solidFill>
            <a:srgbClr val="E9F3F4"/>
          </a:solidFill>
          <a:ln w="12700">
            <a:solidFill>
              <a:srgbClr val="CBE0E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582912" y="3840480"/>
            <a:ext cx="106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454896" y="4462272"/>
            <a:ext cx="1316736" cy="502920"/>
          </a:xfrm>
          <a:prstGeom prst="roundRect">
            <a:avLst>
              <a:gd name="adj" fmla="val 7273"/>
            </a:avLst>
          </a:prstGeom>
          <a:solidFill>
            <a:srgbClr val="E9F3F4"/>
          </a:solidFill>
          <a:ln w="12700">
            <a:solidFill>
              <a:srgbClr val="CBE0E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582912" y="4462272"/>
            <a:ext cx="106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task costing you the most hours. Add from there.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2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55487" y="274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987552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mid-sized companies — starting in Switzerland.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645920"/>
            <a:ext cx="99605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defined by industry. By the admin that repeats every day.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212848"/>
            <a:ext cx="1133856" cy="402336"/>
          </a:xfrm>
          <a:prstGeom prst="roundRect">
            <a:avLst>
              <a:gd name="adj" fmla="val 9091"/>
            </a:avLst>
          </a:prstGeom>
          <a:solidFill>
            <a:srgbClr val="12707E"/>
          </a:solidFill>
          <a:ln w="12700">
            <a:solidFill>
              <a:srgbClr val="1270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2212848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700784" y="2212848"/>
            <a:ext cx="237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38528" y="2212848"/>
            <a:ext cx="1133856" cy="402336"/>
          </a:xfrm>
          <a:prstGeom prst="roundRect">
            <a:avLst>
              <a:gd name="adj" fmla="val 9091"/>
            </a:avLst>
          </a:prstGeom>
          <a:solidFill>
            <a:srgbClr val="F1F5F6"/>
          </a:solidFill>
          <a:ln w="12700">
            <a:solidFill>
              <a:srgbClr val="E6ED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38528" y="2212848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072384" y="2212848"/>
            <a:ext cx="237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10128" y="2212848"/>
            <a:ext cx="1133856" cy="402336"/>
          </a:xfrm>
          <a:prstGeom prst="roundRect">
            <a:avLst>
              <a:gd name="adj" fmla="val 9091"/>
            </a:avLst>
          </a:prstGeom>
          <a:solidFill>
            <a:srgbClr val="F1F5F6"/>
          </a:solidFill>
          <a:ln w="12700">
            <a:solidFill>
              <a:srgbClr val="E6ED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10128" y="2212848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29260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· SWISS BEACHHEAD · WORKING ESTIMATES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" y="3218688"/>
            <a:ext cx="3529584" cy="32004"/>
          </a:xfrm>
          <a:prstGeom prst="rect">
            <a:avLst/>
          </a:prstGeom>
          <a:solidFill>
            <a:srgbClr val="D9E2E4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3364992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3602736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~600k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429768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SMEs with repetitive admin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45720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who has the problem. Mostly micro firms; a lighter tier could open them.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218688"/>
            <a:ext cx="3529584" cy="32004"/>
          </a:xfrm>
          <a:prstGeom prst="rect">
            <a:avLst/>
          </a:prstGeom>
          <a:solidFill>
            <a:srgbClr val="D9E2E4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97680" y="3364992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297680" y="3602736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~50k</a:t>
            </a:r>
            <a:endParaRPr lang="en-US" sz="4000" dirty="0"/>
          </a:p>
        </p:txBody>
      </p:sp>
      <p:sp>
        <p:nvSpPr>
          <p:cNvPr id="27" name="Text 25"/>
          <p:cNvSpPr txBox="1"/>
          <p:nvPr/>
        </p:nvSpPr>
        <p:spPr>
          <a:xfrm>
            <a:off x="4297680" y="429768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firms, 10–49 employees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297680" y="45720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slice we can serve with this model. CHF 400–750M ARR.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28432" y="3218688"/>
            <a:ext cx="3529584" cy="32004"/>
          </a:xfrm>
          <a:prstGeom prst="rect">
            <a:avLst/>
          </a:prstGeom>
          <a:solidFill>
            <a:srgbClr val="12707E"/>
          </a:solidFill>
          <a:ln w="12700">
            <a:solidFill>
              <a:srgbClr val="12707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28432" y="3364992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028432" y="3602736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</a:t>
            </a:r>
            <a:endParaRPr lang="en-US" sz="4000" dirty="0"/>
          </a:p>
        </p:txBody>
      </p:sp>
      <p:sp>
        <p:nvSpPr>
          <p:cNvPr id="32" name="Text 30"/>
          <p:cNvSpPr txBox="1"/>
          <p:nvPr/>
        </p:nvSpPr>
        <p:spPr>
          <a:xfrm>
            <a:off x="8028432" y="429768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clients by 2029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028432" y="45720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realistically win. CHF 0.25–0.6M ARR · under 0.1% of SAM.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53583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SECO / FSO (STATENT 2023) for company counts. SAM and SOM are VortexDeep estimates from stated targeting and pricing assumptions.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slice is the cautious middle: AI's help, not its autonomy.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2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&amp; ADVANTAGE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55487" y="274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987552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automation. Human control where it matters.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645920"/>
            <a:ext cx="99605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handle the repetition, each with a catch, and our fifth.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24942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OPTIONS · EACH WITH A CATCH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2560320"/>
            <a:ext cx="5212080" cy="658368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56032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tools:  </a:t>
            </a:r>
            <a:pPr indent="0" marL="0">
              <a:buNone/>
            </a:pPr>
            <a:r>
              <a:rPr lang="en-US" sz="12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but you build and maintain 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346704"/>
            <a:ext cx="5212080" cy="658368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34670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autonomy:  </a:t>
            </a:r>
            <a:pPr indent="0" marL="0">
              <a:buNone/>
            </a:pPr>
            <a:r>
              <a:rPr lang="en-US" sz="12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but less direct oversight.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4133088"/>
            <a:ext cx="5212080" cy="658368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413308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Hire:  </a:t>
            </a:r>
            <a:pPr indent="0" marL="0">
              <a:buNone/>
            </a:pPr>
            <a:r>
              <a:rPr lang="en-US" sz="12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cost, and still manual.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919472"/>
            <a:ext cx="5212080" cy="658368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491947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nothing:  </a:t>
            </a:r>
            <a:pPr indent="0" marL="0">
              <a:buNone/>
            </a:pPr>
            <a:r>
              <a:rPr lang="en-US" sz="12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quietly compounds every day.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27648" y="224942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FIFTH WAY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27648" y="2560320"/>
            <a:ext cx="529437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73952" y="2560320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912864" y="26426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approve at defined control points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12864" y="2898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consequential goes out unreviewed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27648" y="3346704"/>
            <a:ext cx="529437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73952" y="334670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912864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and run it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912864" y="3685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tool to learn or maintain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27648" y="4133088"/>
            <a:ext cx="529437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73952" y="4133088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912864" y="4215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stays yours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912864" y="44714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access, export on request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27648" y="4919472"/>
            <a:ext cx="5294376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73952" y="491947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912864" y="5001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not replaced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912864" y="5257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automate the work, not the person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cautious middle: a few clients at a time, fixed scope.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2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55487" y="274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987552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narrow, prove it, then widen.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645920"/>
            <a:ext cx="99605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targets, based on current pricing and delivery assumptions.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615184"/>
            <a:ext cx="11057839" cy="18288"/>
          </a:xfrm>
          <a:prstGeom prst="rect">
            <a:avLst/>
          </a:prstGeom>
          <a:solidFill>
            <a:srgbClr val="D9E2E4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505456"/>
            <a:ext cx="237744" cy="237744"/>
          </a:xfrm>
          <a:prstGeom prst="ellipse">
            <a:avLst/>
          </a:prstGeom>
          <a:solidFill>
            <a:srgbClr val="12707E"/>
          </a:solidFill>
          <a:ln w="19050">
            <a:solidFill>
              <a:srgbClr val="12707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456432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Swiss clients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automation live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reference case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4626864"/>
            <a:ext cx="2148840" cy="402336"/>
          </a:xfrm>
          <a:prstGeom prst="roundRect">
            <a:avLst>
              <a:gd name="adj" fmla="val 9091"/>
            </a:avLst>
          </a:prstGeom>
          <a:solidFill>
            <a:srgbClr val="F1F5F6"/>
          </a:solidFill>
          <a:ln w="12700">
            <a:solidFill>
              <a:srgbClr val="E6ED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462686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64992" y="250545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707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64992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364992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364992" y="3456432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managed clients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hire decided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64992" y="4626864"/>
            <a:ext cx="2148840" cy="402336"/>
          </a:xfrm>
          <a:prstGeom prst="roundRect">
            <a:avLst>
              <a:gd name="adj" fmla="val 9091"/>
            </a:avLst>
          </a:prstGeom>
          <a:solidFill>
            <a:srgbClr val="E9F3F4"/>
          </a:solidFill>
          <a:ln w="12700">
            <a:solidFill>
              <a:srgbClr val="CBE0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64992" y="462686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4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50–120k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63056" y="250545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707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63056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163056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widen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163056" y="3456432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clients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→ EU expansion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Productise workflows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63056" y="4626864"/>
            <a:ext cx="2148840" cy="402336"/>
          </a:xfrm>
          <a:prstGeom prst="roundRect">
            <a:avLst>
              <a:gd name="adj" fmla="val 9091"/>
            </a:avLst>
          </a:prstGeom>
          <a:solidFill>
            <a:srgbClr val="E9F3F4"/>
          </a:solidFill>
          <a:ln w="12700">
            <a:solidFill>
              <a:srgbClr val="CBE0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63056" y="462686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4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120–300k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961120" y="250545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707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61120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0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961120" y="3456432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30–40+ clients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~6–8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IP, licensed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961120" y="4626864"/>
            <a:ext cx="2148840" cy="402336"/>
          </a:xfrm>
          <a:prstGeom prst="roundRect">
            <a:avLst>
              <a:gd name="adj" fmla="val 9091"/>
            </a:avLst>
          </a:prstGeom>
          <a:solidFill>
            <a:srgbClr val="E9F3F4"/>
          </a:solidFill>
          <a:ln w="12700">
            <a:solidFill>
              <a:srgbClr val="CBE0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961120" y="462686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4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240–600k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510235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ARR scenario, not a forecast.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one process, expand within the account. Each stage funds the next.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2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55487" y="274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987552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to the scope you choose. Recurring by design.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645920"/>
            <a:ext cx="99605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one-time setup funds the build; a monthly managed service is the recurring base. Five packages, priced by complexity and control.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304288"/>
            <a:ext cx="2084832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377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261518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Intake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98064" y="2304288"/>
            <a:ext cx="2084832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44368" y="2377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944368" y="261518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Basic+ AI Triage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0" y="2304288"/>
            <a:ext cx="2084832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75504" y="2377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175504" y="261518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Multi-Channel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60336" y="2304288"/>
            <a:ext cx="2084832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06640" y="2377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261518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Operations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491472" y="2304288"/>
            <a:ext cx="2084832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37776" y="2377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637776" y="261518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Automation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3218688"/>
            <a:ext cx="11057839" cy="420624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8096" y="321868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</a:t>
            </a:r>
            <a:pPr indent="0" marL="0">
              <a:buNone/>
            </a:pPr>
            <a:r>
              <a:rPr lang="en-US" sz="12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~CHF 750 → 30’000</a:t>
            </a:r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Monthly  </a:t>
            </a:r>
            <a:pPr indent="0" marL="0">
              <a:buNone/>
            </a:pPr>
            <a:r>
              <a:rPr lang="en-US" sz="12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~CHF 150 → 6’000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3840480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 · INDICATIVE SCENARIO, NOT A FORECAST · BLENDED ~CHF 8–15K PER ACTIVE CLIENT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6928" y="5230368"/>
            <a:ext cx="2148840" cy="201168"/>
          </a:xfrm>
          <a:prstGeom prst="rect">
            <a:avLst/>
          </a:prstGeom>
          <a:solidFill>
            <a:srgbClr val="E6EDEE"/>
          </a:solidFill>
          <a:ln w="12700">
            <a:solidFill>
              <a:srgbClr val="E6ED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49560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54681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64992" y="5047488"/>
            <a:ext cx="2148840" cy="384048"/>
          </a:xfrm>
          <a:prstGeom prst="rect">
            <a:avLst/>
          </a:prstGeom>
          <a:solidFill>
            <a:srgbClr val="12707E"/>
          </a:solidFill>
          <a:ln w="12700">
            <a:solidFill>
              <a:srgbClr val="12707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364992" y="47731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~50–120k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3364992" y="54681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63056" y="4718304"/>
            <a:ext cx="2148840" cy="713232"/>
          </a:xfrm>
          <a:prstGeom prst="rect">
            <a:avLst/>
          </a:prstGeom>
          <a:solidFill>
            <a:srgbClr val="12707E"/>
          </a:solidFill>
          <a:ln w="12700">
            <a:solidFill>
              <a:srgbClr val="12707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163056" y="44439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~120–300k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163056" y="54681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961120" y="4297680"/>
            <a:ext cx="2148840" cy="1133856"/>
          </a:xfrm>
          <a:prstGeom prst="rect">
            <a:avLst/>
          </a:prstGeom>
          <a:solidFill>
            <a:srgbClr val="12707E"/>
          </a:solidFill>
          <a:ln w="12700">
            <a:solidFill>
              <a:srgbClr val="12707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961120" y="40233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~240–600k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8961120" y="54681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by default; build-transfer only in the highest tier. Break-even at ~6–8 clients on current assumptions. Bootstrap-first.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2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55487" y="274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987552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founder today. A hiring plan, not a wish list.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645920"/>
            <a:ext cx="99605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Sell + Run all have to be covered. Today I cover them thinly. Each role is added when revenue covers it — we hire from cashflow, not speculation.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231136"/>
            <a:ext cx="11057839" cy="950976"/>
          </a:xfrm>
          <a:prstGeom prst="roundRect">
            <a:avLst>
              <a:gd name="adj" fmla="val 3846"/>
            </a:avLst>
          </a:prstGeom>
          <a:solidFill>
            <a:srgbClr val="E9F3F4"/>
          </a:solidFill>
          <a:ln w="12700">
            <a:solidFill>
              <a:srgbClr val="CBE0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3408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NOW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2560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Maciek Szczech, Founder</a:t>
            </a:r>
            <a:pPr indent="0" marL="0">
              <a:buNone/>
            </a:pPr>
            <a:r>
              <a:rPr lang="en-US" sz="9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SELL + RUN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" y="2798064"/>
            <a:ext cx="106189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 in industrial operations, engineering, process and automation. I have sat on the customer’s side of exactly the admin queue we automate. Today: discovery, scope, pricing, build and delivery.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3467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MISSING · ADDED AS CLIENT LOAD AND REVENUE GROW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" y="3639312"/>
            <a:ext cx="5422392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73989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" y="37398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co-founder</a:t>
            </a:r>
            <a:pPr indent="0" marL="0">
              <a:buNone/>
            </a:pPr>
            <a:r>
              <a:rPr lang="en-US" sz="9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BUILD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3977640"/>
            <a:ext cx="4681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integrations, security, reusable workflows. Equity, not salary. Recruited around the first paid pilots (2027) — or earlier, if the right person appears. (WP2)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99632" y="3639312"/>
            <a:ext cx="5422392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64224" y="373989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37398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hire — Client success / managed operations</a:t>
            </a:r>
            <a:pPr indent="0" marL="0">
              <a:buNone/>
            </a:pPr>
            <a:r>
              <a:rPr lang="en-US" sz="9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RUN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977640"/>
            <a:ext cx="4681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monitoring, support, reporting. Added when the recurring base outgrows one pair of hands (~2028).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4736592"/>
            <a:ext cx="5422392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483717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" y="48371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hire — B2B sales &amp; partnerships</a:t>
            </a:r>
            <a:pPr indent="0" marL="0">
              <a:buNone/>
            </a:pPr>
            <a:r>
              <a:rPr lang="en-US" sz="9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SELL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" y="5074920"/>
            <a:ext cx="4681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acquisition and partner channels. Added at 15–20 clients, to free the founder from outreach. (WP1)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99632" y="4736592"/>
            <a:ext cx="5422392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64224" y="483717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48371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in, not hired</a:t>
            </a:r>
            <a:pPr indent="0" marL="0">
              <a:buNone/>
            </a:pPr>
            <a:r>
              <a:rPr lang="en-US" sz="9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EXTERNAL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5074920"/>
            <a:ext cx="4681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IP counsel (contracts, licences, NDAs, data agreements), accounting / fiduciary, data protection. Fractional. Not headcount.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gap is a technical co-founder: validate paid demand first, then add build capacity before it becomes the bottleneck.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2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 ADVISORS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55487" y="274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987552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board yet — and that's the honest answer.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645920"/>
            <a:ext cx="99605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fill specific gaps; a board holds me accountable. None of these seats is filled today — these are profiles, not people.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28600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· SPECIFIC GAPS · LIGHT ENGAGEMENT, 2–4 H/MONTH, SMALL EQUITY WITH VESTING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2578608"/>
            <a:ext cx="3529584" cy="1517904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6883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2944368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/ industry operator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3401568"/>
            <a:ext cx="3163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manufacturing or Treuhand veteran who knows the beachhead. Validates we target real pain, and opens doors.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2578608"/>
            <a:ext cx="3529584" cy="1517904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26883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2944368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automation &amp; data governance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401568"/>
            <a:ext cx="3163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build credible on security, privacy and human-in-the-loop as it scales. Sanity-checks the tech.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28432" y="2578608"/>
            <a:ext cx="3529584" cy="1517904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11312" y="26883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11312" y="2944368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DACH B2B go-to-market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11312" y="3401568"/>
            <a:ext cx="3163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Sharpens positioning and the sales motion; referrals into high-trust niches.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4261104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· LATER, WITH FUNDING · FORMAL, QUARTERLY, ACCOUNTABLE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" y="4553712"/>
            <a:ext cx="11057839" cy="1097280"/>
          </a:xfrm>
          <a:prstGeom prst="roundRect">
            <a:avLst>
              <a:gd name="adj" fmla="val 3333"/>
            </a:avLst>
          </a:prstGeom>
          <a:solidFill>
            <a:srgbClr val="E9F3F4"/>
          </a:solidFill>
          <a:ln w="12700">
            <a:solidFill>
              <a:srgbClr val="CBE0E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46634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chair / B2B services operator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" y="4956048"/>
            <a:ext cx="101434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accountability and strategic challenge; someone who has scaled a Swiss services business. Finance &amp; legal joins the board only when a raise makes it necessary — until then it is bought in (see Team).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advisors, and not listed as such: a first design-partner client. We name advisors only once they are actually engaged.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27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5836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55487" y="274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987552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real today — and what still needs proof.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645920"/>
            <a:ext cx="99605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Pre-revenue, but not pre-proof. Three things exist right now.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340864"/>
            <a:ext cx="3529584" cy="2395728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340864"/>
            <a:ext cx="3529584" cy="32004"/>
          </a:xfrm>
          <a:prstGeom prst="rect">
            <a:avLst/>
          </a:prstGeom>
          <a:solidFill>
            <a:srgbClr val="12707E"/>
          </a:solidFill>
          <a:ln w="12700">
            <a:solidFill>
              <a:srgbClr val="12707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25237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" y="277977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in progress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3200400"/>
            <a:ext cx="3090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unpaid email-handling automation with a Swiss SME, built around a real process. Technical proof and our first reference case — not yet a paid customer case.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2340864"/>
            <a:ext cx="3529584" cy="2395728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2340864"/>
            <a:ext cx="3529584" cy="32004"/>
          </a:xfrm>
          <a:prstGeom prst="rect">
            <a:avLst/>
          </a:prstGeom>
          <a:solidFill>
            <a:srgbClr val="12707E"/>
          </a:solidFill>
          <a:ln w="12700">
            <a:solidFill>
              <a:srgbClr val="1270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17136" y="25237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17136" y="277977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Check live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17136" y="3200400"/>
            <a:ext cx="3090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self-check on vortexdeep.ch. The low-pressure front door that collects real data on who fits.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28432" y="2340864"/>
            <a:ext cx="3529584" cy="2395728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8432" y="2340864"/>
            <a:ext cx="3529584" cy="32004"/>
          </a:xfrm>
          <a:prstGeom prst="rect">
            <a:avLst/>
          </a:prstGeom>
          <a:solidFill>
            <a:srgbClr val="12707E"/>
          </a:solidFill>
          <a:ln w="12700">
            <a:solidFill>
              <a:srgbClr val="12707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47888" y="25237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47888" y="277977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on the table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247888" y="3200400"/>
            <a:ext cx="3090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quantify a prospect's cost of doing nothing — time, errors, lost leads — against our fee. We model payback; the figure gets confirmed with the first paid client.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1F5F6"/>
          </a:solidFill>
          <a:ln w="12700">
            <a:solidFill>
              <a:srgbClr val="F1F5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b="1" dirty="0">
                <a:solidFill>
                  <a:srgbClr val="0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Narrow, but real. Technical proof is done; commercial proof is next.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C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55487" y="274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80" kern="0" dirty="0">
                <a:solidFill>
                  <a:srgbClr val="6E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5C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a small company drowning in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admin? That’s exactly who we help.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66928" y="3675888"/>
            <a:ext cx="1005840" cy="32004"/>
          </a:xfrm>
          <a:prstGeom prst="rect">
            <a:avLst/>
          </a:prstGeom>
          <a:solidFill>
            <a:srgbClr val="5CC4D0"/>
          </a:solidFill>
          <a:ln w="12700">
            <a:solidFill>
              <a:srgbClr val="5CC4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3913632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BF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SMEs in the beachhead — ideally one design partner willing to map and test a process — and early capital to compress the timeline: earlier delivery hire, faster CH → EU. The model is built to stand on its own revenue; funding makes it faster.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02920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C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619963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9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Maciek Szczech, Founder  ·  vortexdeep.ch  ·  info@vortexdeep.ch  ·  Claridapark 4, 8636 Wald ZH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VortexDeep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VortexDeep - Business Creation ICT - v13</dc:title>
  <dc:subject>PptxGenJS Presentation</dc:subject>
  <dc:creator>Maciek Szczech</dc:creator>
  <cp:lastModifiedBy>Maciek Szczech</cp:lastModifiedBy>
  <cp:revision>1</cp:revision>
  <dcterms:created xsi:type="dcterms:W3CDTF">2026-09-01T16:10:12Z</dcterms:created>
  <dcterms:modified xsi:type="dcterms:W3CDTF">2026-09-01T16:10:12Z</dcterms:modified>
</cp:coreProperties>
</file>