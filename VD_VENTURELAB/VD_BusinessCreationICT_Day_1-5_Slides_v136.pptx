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337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288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13062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Opening. One sentence on what we do and who keeps control. Swiss SMEs, AI-assisted, human decisions.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Wording unchanged from v11-1. Same flow grid as slide 3: identical incoming column, identical resolved column. The difference is the middle (one person, sequential) and the staircase on the right (one after another) versus slide 3 (all at once).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v13: "AI does the work / you approve each" softened to routine steps + defined control 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v13: figures unchanged. Only the source line now separates official data from our own estimates.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v13: "approves every step" -&gt; defined control points; "black box" -&gt; less direct oversight; "no lock-in" -&gt; documented access, export on request.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v13: milestones unchanged from v11-1, now explicitly labelled as working targets.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v13: pricing and ARR band unchanged; the ownership line now matches the pricing catalogue, which does include Build-Transfer at the top tier.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v13 rewrite. Day 4: founders -&gt; key hires -&gt; board &amp; advisors. This slide covers the inner two layers only; advisors and board move to slide 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v13 rewrite. Day 4 distinction: advisor = expertise + network, light, small equity. Board = governance, formal, post-funding. v11-1 conflated the two.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v13: "live pilot" -&gt; pilot in progress, unpaid; payback claim now framed as a model to be confirmed with the first paid client. BEFORE PRESENTING: confirm the Fit Check is actually live on vortexdeep.ch. If it is not, replace card 02 with "Discovery &amp; pricing tools - catalogue, discovery scripts and pricing logic, ready to scope consistently."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v13: combines the v11-1 funding ask with the design-partner validation ask.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3774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" name="Text 1"/>
          <p:cNvSpPr txBox="1"/>
          <p:nvPr/>
        </p:nvSpPr>
        <p:spPr>
          <a:xfrm>
            <a:off x="566928" y="237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060704" y="237744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965960"/>
            <a:ext cx="9692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8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automate the repetitive work.</a:t>
            </a:r>
            <a:endParaRPr lang="en-US" sz="4000" dirty="0"/>
          </a:p>
          <a:p>
            <a:pPr marL="0" indent="0">
              <a:lnSpc>
                <a:spcPts val="48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team keeps the decisions.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566928" y="3913632"/>
            <a:ext cx="1005840" cy="320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8" name="Text 6"/>
          <p:cNvSpPr txBox="1"/>
          <p:nvPr/>
        </p:nvSpPr>
        <p:spPr>
          <a:xfrm>
            <a:off x="566928" y="41605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4B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VortexDeep designs and runs AI-assisted workflows for Swiss SMEs.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16002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000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DAB0355-7313-1F86-4276-365B5BEB0E04}"/>
              </a:ext>
            </a:extLst>
          </p:cNvPr>
          <p:cNvGrpSpPr/>
          <p:nvPr/>
        </p:nvGrpSpPr>
        <p:grpSpPr>
          <a:xfrm>
            <a:off x="685800" y="5760720"/>
            <a:ext cx="10817352" cy="685800"/>
            <a:chOff x="685800" y="5760720"/>
            <a:chExt cx="10817352" cy="685800"/>
          </a:xfrm>
        </p:grpSpPr>
        <p:sp>
          <p:nvSpPr>
            <p:cNvPr id="12" name="Shape 7">
              <a:extLst>
                <a:ext uri="{FF2B5EF4-FFF2-40B4-BE49-F238E27FC236}">
                  <a16:creationId xmlns:a16="http://schemas.microsoft.com/office/drawing/2014/main" id="{00FAA246-E12C-74D3-393D-A85185003C28}"/>
                </a:ext>
              </a:extLst>
            </p:cNvPr>
            <p:cNvSpPr/>
            <p:nvPr/>
          </p:nvSpPr>
          <p:spPr>
            <a:xfrm>
              <a:off x="685800" y="5760720"/>
              <a:ext cx="10817352" cy="0"/>
            </a:xfrm>
            <a:prstGeom prst="line">
              <a:avLst/>
            </a:prstGeom>
            <a:noFill/>
            <a:ln w="9525">
              <a:solidFill>
                <a:srgbClr val="3A3A3A"/>
              </a:solidFill>
              <a:prstDash val="solid"/>
            </a:ln>
          </p:spPr>
          <p:txBody>
            <a:bodyPr/>
            <a:lstStyle/>
            <a:p>
              <a:endParaRPr lang="en-CH"/>
            </a:p>
          </p:txBody>
        </p:sp>
        <p:sp>
          <p:nvSpPr>
            <p:cNvPr id="13" name="Text 8">
              <a:extLst>
                <a:ext uri="{FF2B5EF4-FFF2-40B4-BE49-F238E27FC236}">
                  <a16:creationId xmlns:a16="http://schemas.microsoft.com/office/drawing/2014/main" id="{25E5FB2C-2929-BFDA-34EC-7ABC245F32DC}"/>
                </a:ext>
              </a:extLst>
            </p:cNvPr>
            <p:cNvSpPr txBox="1"/>
            <p:nvPr/>
          </p:nvSpPr>
          <p:spPr>
            <a:xfrm>
              <a:off x="685800" y="5852160"/>
              <a:ext cx="10817352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kern="0" spc="200" dirty="0">
                  <a:solidFill>
                    <a:srgbClr val="8C8C8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BUSINESS CREATION ICT  ·  VENTURELAB  ·  AUG-SEP 2026  ·  ZÜRICH</a:t>
              </a:r>
              <a:endParaRPr lang="en-US" sz="900" dirty="0"/>
            </a:p>
          </p:txBody>
        </p:sp>
        <p:sp>
          <p:nvSpPr>
            <p:cNvPr id="14" name="Text 9">
              <a:extLst>
                <a:ext uri="{FF2B5EF4-FFF2-40B4-BE49-F238E27FC236}">
                  <a16:creationId xmlns:a16="http://schemas.microsoft.com/office/drawing/2014/main" id="{A1A4A7D1-76FA-D9B3-C822-37CBD70AFA48}"/>
                </a:ext>
              </a:extLst>
            </p:cNvPr>
            <p:cNvSpPr txBox="1"/>
            <p:nvPr/>
          </p:nvSpPr>
          <p:spPr>
            <a:xfrm>
              <a:off x="685800" y="6172200"/>
              <a:ext cx="10817352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7A7A7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Maciek Szczech, Founder  ·  vortexdeep.ch  ·  info@vortexdeep.ch  ·  Claridapark 4, 8636 Wald ZH</a:t>
              </a:r>
              <a:endParaRPr lang="en-US" sz="900" dirty="0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3774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" name="Text 1"/>
          <p:cNvSpPr txBox="1"/>
          <p:nvPr/>
        </p:nvSpPr>
        <p:spPr>
          <a:xfrm>
            <a:off x="566928" y="237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060704" y="237744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629107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vortexdeep.ch  ·  info@vortexdeep.ch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9795967" y="62910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11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969264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tasks, repeated every day.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1664208"/>
            <a:ext cx="1050919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is easy once. The cost is that it never stops.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230428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INCOMING · TASKS 1…N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66928" y="2651760"/>
            <a:ext cx="2286000" cy="530352"/>
          </a:xfrm>
          <a:prstGeom prst="roundRect">
            <a:avLst>
              <a:gd name="adj" fmla="val 6897"/>
            </a:avLst>
          </a:prstGeom>
          <a:solidFill>
            <a:srgbClr val="F2F2F2"/>
          </a:solidFill>
          <a:ln w="1270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3" name="Text 11"/>
          <p:cNvSpPr txBox="1"/>
          <p:nvPr/>
        </p:nvSpPr>
        <p:spPr>
          <a:xfrm>
            <a:off x="694944" y="2651760"/>
            <a:ext cx="20299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66928" y="3310128"/>
            <a:ext cx="2286000" cy="530352"/>
          </a:xfrm>
          <a:prstGeom prst="roundRect">
            <a:avLst>
              <a:gd name="adj" fmla="val 6897"/>
            </a:avLst>
          </a:prstGeom>
          <a:solidFill>
            <a:srgbClr val="F2F2F2"/>
          </a:solidFill>
          <a:ln w="1270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5" name="Text 13"/>
          <p:cNvSpPr txBox="1"/>
          <p:nvPr/>
        </p:nvSpPr>
        <p:spPr>
          <a:xfrm>
            <a:off x="694944" y="3310128"/>
            <a:ext cx="20299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66928" y="3968496"/>
            <a:ext cx="2286000" cy="530352"/>
          </a:xfrm>
          <a:prstGeom prst="roundRect">
            <a:avLst>
              <a:gd name="adj" fmla="val 6897"/>
            </a:avLst>
          </a:prstGeom>
          <a:solidFill>
            <a:srgbClr val="F2F2F2"/>
          </a:solidFill>
          <a:ln w="1270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7" name="Text 15"/>
          <p:cNvSpPr txBox="1"/>
          <p:nvPr/>
        </p:nvSpPr>
        <p:spPr>
          <a:xfrm>
            <a:off x="694944" y="3968496"/>
            <a:ext cx="20299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66928" y="4626864"/>
            <a:ext cx="2286000" cy="530352"/>
          </a:xfrm>
          <a:prstGeom prst="roundRect">
            <a:avLst>
              <a:gd name="adj" fmla="val 6897"/>
            </a:avLst>
          </a:prstGeom>
          <a:solidFill>
            <a:srgbClr val="F2F2F2"/>
          </a:solidFill>
          <a:ln w="1270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9" name="Text 17"/>
          <p:cNvSpPr txBox="1"/>
          <p:nvPr/>
        </p:nvSpPr>
        <p:spPr>
          <a:xfrm>
            <a:off x="694944" y="4626864"/>
            <a:ext cx="20299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4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035808" y="3758184"/>
            <a:ext cx="457200" cy="146304"/>
          </a:xfrm>
          <a:prstGeom prst="rightArrow">
            <a:avLst/>
          </a:prstGeom>
          <a:solidFill>
            <a:srgbClr val="DADADA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1" name="Shape 19"/>
          <p:cNvSpPr/>
          <p:nvPr/>
        </p:nvSpPr>
        <p:spPr>
          <a:xfrm>
            <a:off x="3675888" y="2651760"/>
            <a:ext cx="4837176" cy="2505456"/>
          </a:xfrm>
          <a:prstGeom prst="roundRect">
            <a:avLst>
              <a:gd name="adj" fmla="val 1460"/>
            </a:avLst>
          </a:prstGeom>
          <a:solidFill>
            <a:srgbClr val="FFFFFF"/>
          </a:solidFill>
          <a:ln w="19050">
            <a:solidFill>
              <a:srgbClr val="141414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2" name="Text 20"/>
          <p:cNvSpPr txBox="1"/>
          <p:nvPr/>
        </p:nvSpPr>
        <p:spPr>
          <a:xfrm>
            <a:off x="3675888" y="3529584"/>
            <a:ext cx="4837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3675888" y="3931920"/>
            <a:ext cx="4837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task at a time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3858768" y="4297680"/>
            <a:ext cx="4471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runs in parallel · every task waits its turn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695944" y="3758184"/>
            <a:ext cx="457200" cy="146304"/>
          </a:xfrm>
          <a:prstGeom prst="rightArrow">
            <a:avLst/>
          </a:prstGeom>
          <a:solidFill>
            <a:srgbClr val="DADADA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6" name="Text 24"/>
          <p:cNvSpPr txBox="1"/>
          <p:nvPr/>
        </p:nvSpPr>
        <p:spPr>
          <a:xfrm>
            <a:off x="9336024" y="230428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 · ONE AFTER ANOTHER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9336024" y="2651760"/>
            <a:ext cx="900000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</p:spPr>
        <p:txBody>
          <a:bodyPr anchor="ctr" anchorCtr="0"/>
          <a:lstStyle/>
          <a:p>
            <a:pPr algn="ctr"/>
            <a:r>
              <a:rPr lang="en-US" sz="1300" dirty="0">
                <a:solidFill>
                  <a:srgbClr val="5F5F5F"/>
                </a:solidFill>
                <a:ea typeface="Calibri" pitchFamily="34" charset="-122"/>
                <a:cs typeface="Calibri" pitchFamily="34" charset="-120"/>
              </a:rPr>
              <a:t>task 1 ✓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9336024" y="5248656"/>
            <a:ext cx="2286000" cy="18288"/>
          </a:xfrm>
          <a:prstGeom prst="rect">
            <a:avLst/>
          </a:prstGeom>
          <a:solidFill>
            <a:srgbClr val="DADADA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6" name="Text 34"/>
          <p:cNvSpPr txBox="1"/>
          <p:nvPr/>
        </p:nvSpPr>
        <p:spPr>
          <a:xfrm>
            <a:off x="9336024" y="528523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i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566928" y="5504688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head and pair of hands. The queue only clears as fast as you do.</a:t>
            </a:r>
            <a:endParaRPr lang="en-US" sz="1350" dirty="0"/>
          </a:p>
        </p:txBody>
      </p:sp>
      <p:sp>
        <p:nvSpPr>
          <p:cNvPr id="38" name="Shape 36"/>
          <p:cNvSpPr/>
          <p:nvPr/>
        </p:nvSpPr>
        <p:spPr>
          <a:xfrm>
            <a:off x="566928" y="5870448"/>
            <a:ext cx="11057839" cy="420624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9" name="Text 37"/>
          <p:cNvSpPr txBox="1"/>
          <p:nvPr/>
        </p:nvSpPr>
        <p:spPr>
          <a:xfrm>
            <a:off x="768096" y="5870448"/>
            <a:ext cx="1065550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 The bottleneck isn't any one task. It's that they never stop.</a:t>
            </a:r>
            <a:endParaRPr lang="en-US" sz="1400" dirty="0"/>
          </a:p>
        </p:txBody>
      </p:sp>
      <p:sp>
        <p:nvSpPr>
          <p:cNvPr id="40" name="Shape 25">
            <a:extLst>
              <a:ext uri="{FF2B5EF4-FFF2-40B4-BE49-F238E27FC236}">
                <a16:creationId xmlns:a16="http://schemas.microsoft.com/office/drawing/2014/main" id="{AC489B24-5477-A173-B2EA-BB49263D0D77}"/>
              </a:ext>
            </a:extLst>
          </p:cNvPr>
          <p:cNvSpPr/>
          <p:nvPr/>
        </p:nvSpPr>
        <p:spPr>
          <a:xfrm>
            <a:off x="9786024" y="3313530"/>
            <a:ext cx="900000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</p:spPr>
        <p:txBody>
          <a:bodyPr anchor="ctr" anchorCtr="0"/>
          <a:lstStyle/>
          <a:p>
            <a:pPr algn="ctr"/>
            <a:r>
              <a:rPr lang="en-US" sz="1300" dirty="0">
                <a:solidFill>
                  <a:srgbClr val="5F5F5F"/>
                </a:solidFill>
                <a:ea typeface="Calibri" pitchFamily="34" charset="-122"/>
                <a:cs typeface="Calibri" pitchFamily="34" charset="-120"/>
              </a:rPr>
              <a:t>then 2 …</a:t>
            </a:r>
            <a:endParaRPr lang="en-US" sz="1300" dirty="0"/>
          </a:p>
        </p:txBody>
      </p:sp>
      <p:sp>
        <p:nvSpPr>
          <p:cNvPr id="41" name="Shape 25">
            <a:extLst>
              <a:ext uri="{FF2B5EF4-FFF2-40B4-BE49-F238E27FC236}">
                <a16:creationId xmlns:a16="http://schemas.microsoft.com/office/drawing/2014/main" id="{B698A649-9B27-6C04-2AE2-7B436F917D07}"/>
              </a:ext>
            </a:extLst>
          </p:cNvPr>
          <p:cNvSpPr/>
          <p:nvPr/>
        </p:nvSpPr>
        <p:spPr>
          <a:xfrm>
            <a:off x="10236024" y="3968496"/>
            <a:ext cx="900000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</p:spPr>
        <p:txBody>
          <a:bodyPr anchor="ctr" anchorCtr="0"/>
          <a:lstStyle/>
          <a:p>
            <a:pPr algn="ctr"/>
            <a:r>
              <a:rPr lang="en-US" sz="1300" dirty="0">
                <a:solidFill>
                  <a:srgbClr val="5F5F5F"/>
                </a:solidFill>
                <a:ea typeface="Calibri" pitchFamily="34" charset="-122"/>
                <a:cs typeface="Calibri" pitchFamily="34" charset="-120"/>
              </a:rPr>
              <a:t>then 3 …</a:t>
            </a:r>
            <a:endParaRPr lang="en-US" sz="1300" dirty="0"/>
          </a:p>
        </p:txBody>
      </p:sp>
      <p:sp>
        <p:nvSpPr>
          <p:cNvPr id="42" name="Shape 25">
            <a:extLst>
              <a:ext uri="{FF2B5EF4-FFF2-40B4-BE49-F238E27FC236}">
                <a16:creationId xmlns:a16="http://schemas.microsoft.com/office/drawing/2014/main" id="{95955942-CF4C-67DA-CCA5-4B7E4AEA5214}"/>
              </a:ext>
            </a:extLst>
          </p:cNvPr>
          <p:cNvSpPr/>
          <p:nvPr/>
        </p:nvSpPr>
        <p:spPr>
          <a:xfrm>
            <a:off x="10686024" y="4623462"/>
            <a:ext cx="900000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</p:spPr>
        <p:txBody>
          <a:bodyPr anchor="ctr" anchorCtr="0"/>
          <a:lstStyle/>
          <a:p>
            <a:pPr algn="ctr"/>
            <a:r>
              <a:rPr lang="en-US" sz="1300" dirty="0">
                <a:solidFill>
                  <a:srgbClr val="5F5F5F"/>
                </a:solidFill>
                <a:ea typeface="Calibri" pitchFamily="34" charset="-122"/>
                <a:cs typeface="Calibri" pitchFamily="34" charset="-120"/>
              </a:rPr>
              <a:t>then 4 …</a:t>
            </a:r>
            <a:endParaRPr lang="en-US" sz="1300" dirty="0"/>
          </a:p>
        </p:txBody>
      </p:sp>
      <p:cxnSp>
        <p:nvCxnSpPr>
          <p:cNvPr id="44" name="Elbow Connector 43">
            <a:extLst>
              <a:ext uri="{FF2B5EF4-FFF2-40B4-BE49-F238E27FC236}">
                <a16:creationId xmlns:a16="http://schemas.microsoft.com/office/drawing/2014/main" id="{4C8BF497-B254-8014-18E0-95C07FCC2E1B}"/>
              </a:ext>
            </a:extLst>
          </p:cNvPr>
          <p:cNvCxnSpPr>
            <a:stCxn id="27" idx="3"/>
            <a:endCxn id="40" idx="1"/>
          </p:cNvCxnSpPr>
          <p:nvPr/>
        </p:nvCxnSpPr>
        <p:spPr>
          <a:xfrm flipH="1">
            <a:off x="9786024" y="2916936"/>
            <a:ext cx="450000" cy="661770"/>
          </a:xfrm>
          <a:prstGeom prst="bentConnector5">
            <a:avLst>
              <a:gd name="adj1" fmla="val -50800"/>
              <a:gd name="adj2" fmla="val 50000"/>
              <a:gd name="adj3" fmla="val 1508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Elbow Connector 45">
            <a:extLst>
              <a:ext uri="{FF2B5EF4-FFF2-40B4-BE49-F238E27FC236}">
                <a16:creationId xmlns:a16="http://schemas.microsoft.com/office/drawing/2014/main" id="{B2ACE220-E858-F631-C711-0071E6DF038A}"/>
              </a:ext>
            </a:extLst>
          </p:cNvPr>
          <p:cNvCxnSpPr>
            <a:stCxn id="40" idx="3"/>
            <a:endCxn id="41" idx="1"/>
          </p:cNvCxnSpPr>
          <p:nvPr/>
        </p:nvCxnSpPr>
        <p:spPr>
          <a:xfrm flipH="1">
            <a:off x="10236024" y="3578706"/>
            <a:ext cx="450000" cy="654966"/>
          </a:xfrm>
          <a:prstGeom prst="bentConnector5">
            <a:avLst>
              <a:gd name="adj1" fmla="val -50800"/>
              <a:gd name="adj2" fmla="val 50000"/>
              <a:gd name="adj3" fmla="val 1508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Elbow Connector 47">
            <a:extLst>
              <a:ext uri="{FF2B5EF4-FFF2-40B4-BE49-F238E27FC236}">
                <a16:creationId xmlns:a16="http://schemas.microsoft.com/office/drawing/2014/main" id="{C9CDFD2E-A259-B3EB-D665-4A93C42FA4A2}"/>
              </a:ext>
            </a:extLst>
          </p:cNvPr>
          <p:cNvCxnSpPr>
            <a:stCxn id="41" idx="3"/>
            <a:endCxn id="42" idx="1"/>
          </p:cNvCxnSpPr>
          <p:nvPr/>
        </p:nvCxnSpPr>
        <p:spPr>
          <a:xfrm flipH="1">
            <a:off x="10686024" y="4233672"/>
            <a:ext cx="450000" cy="654966"/>
          </a:xfrm>
          <a:prstGeom prst="bentConnector5">
            <a:avLst>
              <a:gd name="adj1" fmla="val -50800"/>
              <a:gd name="adj2" fmla="val 50000"/>
              <a:gd name="adj3" fmla="val 1508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 9">
            <a:extLst>
              <a:ext uri="{FF2B5EF4-FFF2-40B4-BE49-F238E27FC236}">
                <a16:creationId xmlns:a16="http://schemas.microsoft.com/office/drawing/2014/main" id="{A231185E-686C-D9BE-F65B-C4CA2440AFC2}"/>
              </a:ext>
            </a:extLst>
          </p:cNvPr>
          <p:cNvSpPr txBox="1"/>
          <p:nvPr/>
        </p:nvSpPr>
        <p:spPr>
          <a:xfrm>
            <a:off x="3675888" y="2307903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TASK AT A TIME</a:t>
            </a:r>
            <a:endParaRPr lang="en-US" sz="1000" dirty="0">
              <a:solidFill>
                <a:srgbClr val="C00000"/>
              </a:solidFill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566928" y="731520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2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000" dirty="0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0F24F582-671A-8844-4BE3-08FB1771931B}"/>
              </a:ext>
            </a:extLst>
          </p:cNvPr>
          <p:cNvGrpSpPr/>
          <p:nvPr/>
        </p:nvGrpSpPr>
        <p:grpSpPr>
          <a:xfrm>
            <a:off x="685800" y="715128"/>
            <a:ext cx="10817352" cy="293556"/>
            <a:chOff x="685800" y="841248"/>
            <a:chExt cx="10817352" cy="293556"/>
          </a:xfrm>
        </p:grpSpPr>
        <p:sp>
          <p:nvSpPr>
            <p:cNvPr id="34" name="Shape 3">
              <a:extLst>
                <a:ext uri="{FF2B5EF4-FFF2-40B4-BE49-F238E27FC236}">
                  <a16:creationId xmlns:a16="http://schemas.microsoft.com/office/drawing/2014/main" id="{624F74B0-58E3-0341-F35A-EBEFB4D649FF}"/>
                </a:ext>
              </a:extLst>
            </p:cNvPr>
            <p:cNvSpPr/>
            <p:nvPr/>
          </p:nvSpPr>
          <p:spPr>
            <a:xfrm>
              <a:off x="685800" y="841248"/>
              <a:ext cx="10817352" cy="0"/>
            </a:xfrm>
            <a:prstGeom prst="line">
              <a:avLst/>
            </a:prstGeom>
            <a:noFill/>
            <a:ln w="9525">
              <a:solidFill>
                <a:srgbClr val="DADADA"/>
              </a:solidFill>
              <a:prstDash val="solid"/>
            </a:ln>
          </p:spPr>
          <p:txBody>
            <a:bodyPr/>
            <a:lstStyle/>
            <a:p>
              <a:endParaRPr lang="en-CH"/>
            </a:p>
          </p:txBody>
        </p:sp>
        <p:sp>
          <p:nvSpPr>
            <p:cNvPr id="43" name="Text 5">
              <a:extLst>
                <a:ext uri="{FF2B5EF4-FFF2-40B4-BE49-F238E27FC236}">
                  <a16:creationId xmlns:a16="http://schemas.microsoft.com/office/drawing/2014/main" id="{50A3EC4E-7486-EF3C-5C75-2EB385B29D47}"/>
                </a:ext>
              </a:extLst>
            </p:cNvPr>
            <p:cNvSpPr txBox="1"/>
            <p:nvPr/>
          </p:nvSpPr>
          <p:spPr>
            <a:xfrm>
              <a:off x="6016752" y="842196"/>
              <a:ext cx="548640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850" kern="0" spc="150" dirty="0">
                  <a:solidFill>
                    <a:srgbClr val="8C8C8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BUSINESS CREATION ICT  ·  VENTURELAB  ·  AUG-SEP 2026  ·  ZÜRICH</a:t>
              </a:r>
              <a:endParaRPr lang="en-US" sz="850" dirty="0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3774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" name="Text 1"/>
          <p:cNvSpPr txBox="1"/>
          <p:nvPr/>
        </p:nvSpPr>
        <p:spPr>
          <a:xfrm>
            <a:off x="566928" y="237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060704" y="237744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731520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2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629107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vortexdeep.ch  ·  info@vortexdeep.ch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9795967" y="62910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11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969264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24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turn repetitive tasks into AI workflows, with a human in control.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1664208"/>
            <a:ext cx="1050919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workflows handle the routine steps in parallel. Your team reviews decisions and exceptions at defined control points.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230428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INCOMING · TASKS 1…N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66928" y="2651760"/>
            <a:ext cx="2286000" cy="530352"/>
          </a:xfrm>
          <a:prstGeom prst="roundRect">
            <a:avLst>
              <a:gd name="adj" fmla="val 6897"/>
            </a:avLst>
          </a:prstGeom>
          <a:solidFill>
            <a:srgbClr val="F2F2F2"/>
          </a:solidFill>
          <a:ln w="1270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3" name="Text 11"/>
          <p:cNvSpPr txBox="1"/>
          <p:nvPr/>
        </p:nvSpPr>
        <p:spPr>
          <a:xfrm>
            <a:off x="694944" y="2651760"/>
            <a:ext cx="20299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66928" y="3310128"/>
            <a:ext cx="2286000" cy="530352"/>
          </a:xfrm>
          <a:prstGeom prst="roundRect">
            <a:avLst>
              <a:gd name="adj" fmla="val 6897"/>
            </a:avLst>
          </a:prstGeom>
          <a:solidFill>
            <a:srgbClr val="F2F2F2"/>
          </a:solidFill>
          <a:ln w="1270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5" name="Text 13"/>
          <p:cNvSpPr txBox="1"/>
          <p:nvPr/>
        </p:nvSpPr>
        <p:spPr>
          <a:xfrm>
            <a:off x="694944" y="3310128"/>
            <a:ext cx="20299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66928" y="3968496"/>
            <a:ext cx="2286000" cy="530352"/>
          </a:xfrm>
          <a:prstGeom prst="roundRect">
            <a:avLst>
              <a:gd name="adj" fmla="val 6897"/>
            </a:avLst>
          </a:prstGeom>
          <a:solidFill>
            <a:srgbClr val="F2F2F2"/>
          </a:solidFill>
          <a:ln w="1270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7" name="Text 15"/>
          <p:cNvSpPr txBox="1"/>
          <p:nvPr/>
        </p:nvSpPr>
        <p:spPr>
          <a:xfrm>
            <a:off x="694944" y="3968496"/>
            <a:ext cx="20299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66928" y="4626864"/>
            <a:ext cx="2286000" cy="530352"/>
          </a:xfrm>
          <a:prstGeom prst="roundRect">
            <a:avLst>
              <a:gd name="adj" fmla="val 6897"/>
            </a:avLst>
          </a:prstGeom>
          <a:solidFill>
            <a:srgbClr val="F2F2F2"/>
          </a:solidFill>
          <a:ln w="1270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9" name="Text 17"/>
          <p:cNvSpPr txBox="1"/>
          <p:nvPr/>
        </p:nvSpPr>
        <p:spPr>
          <a:xfrm>
            <a:off x="694944" y="4626864"/>
            <a:ext cx="20299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4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035808" y="3758184"/>
            <a:ext cx="457200" cy="146304"/>
          </a:xfrm>
          <a:prstGeom prst="rightArrow">
            <a:avLst/>
          </a:prstGeom>
          <a:solidFill>
            <a:srgbClr val="DADADA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1" name="Shape 19"/>
          <p:cNvSpPr/>
          <p:nvPr/>
        </p:nvSpPr>
        <p:spPr>
          <a:xfrm>
            <a:off x="3675888" y="2651760"/>
            <a:ext cx="2240280" cy="2505456"/>
          </a:xfrm>
          <a:prstGeom prst="roundRect">
            <a:avLst>
              <a:gd name="adj" fmla="val 1633"/>
            </a:avLst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2" name="Text 20"/>
          <p:cNvSpPr txBox="1"/>
          <p:nvPr/>
        </p:nvSpPr>
        <p:spPr>
          <a:xfrm>
            <a:off x="3675888" y="3529584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WORKFLOW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3767328" y="3895344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CB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classifies, </a:t>
            </a:r>
          </a:p>
          <a:p>
            <a:pPr marL="0" indent="0" algn="ctr">
              <a:buNone/>
            </a:pPr>
            <a:r>
              <a:rPr lang="en-US" sz="1100" dirty="0">
                <a:solidFill>
                  <a:srgbClr val="CBCB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and drafts,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BCB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parallel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053328" y="3758184"/>
            <a:ext cx="384048" cy="146304"/>
          </a:xfrm>
          <a:prstGeom prst="rightArrow">
            <a:avLst/>
          </a:prstGeom>
          <a:solidFill>
            <a:srgbClr val="DADADA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5" name="Shape 23"/>
          <p:cNvSpPr/>
          <p:nvPr/>
        </p:nvSpPr>
        <p:spPr>
          <a:xfrm>
            <a:off x="6574536" y="2651760"/>
            <a:ext cx="1938528" cy="2505456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 w="19050">
            <a:solidFill>
              <a:srgbClr val="141414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6" name="Text 24"/>
          <p:cNvSpPr txBox="1"/>
          <p:nvPr/>
        </p:nvSpPr>
        <p:spPr>
          <a:xfrm>
            <a:off x="6574536" y="3566160"/>
            <a:ext cx="1938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574536" y="3913632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6208776" y="5248656"/>
            <a:ext cx="2670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point · human-in-the-loop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695944" y="3758184"/>
            <a:ext cx="457200" cy="146304"/>
          </a:xfrm>
          <a:prstGeom prst="rightArrow">
            <a:avLst/>
          </a:prstGeom>
          <a:solidFill>
            <a:srgbClr val="DADADA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0" name="Text 28"/>
          <p:cNvSpPr txBox="1"/>
          <p:nvPr/>
        </p:nvSpPr>
        <p:spPr>
          <a:xfrm>
            <a:off x="9336024" y="230428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RESOLVED · IN PARALLEL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9336024" y="2651760"/>
            <a:ext cx="1737360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2" name="Text 30"/>
          <p:cNvSpPr txBox="1"/>
          <p:nvPr/>
        </p:nvSpPr>
        <p:spPr>
          <a:xfrm>
            <a:off x="9464040" y="2651760"/>
            <a:ext cx="1481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 ✓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9336024" y="3310128"/>
            <a:ext cx="1737360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4" name="Text 32"/>
          <p:cNvSpPr txBox="1"/>
          <p:nvPr/>
        </p:nvSpPr>
        <p:spPr>
          <a:xfrm>
            <a:off x="9464040" y="3310128"/>
            <a:ext cx="1481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 ✓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9336024" y="3968496"/>
            <a:ext cx="1737360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6" name="Text 34"/>
          <p:cNvSpPr txBox="1"/>
          <p:nvPr/>
        </p:nvSpPr>
        <p:spPr>
          <a:xfrm>
            <a:off x="9464040" y="3968496"/>
            <a:ext cx="1481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 ✓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9336024" y="4626864"/>
            <a:ext cx="1737360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8" name="Text 36"/>
          <p:cNvSpPr txBox="1"/>
          <p:nvPr/>
        </p:nvSpPr>
        <p:spPr>
          <a:xfrm>
            <a:off x="9464040" y="4626864"/>
            <a:ext cx="1481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4 ✓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566928" y="5504688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workflow prepares; your team decides. Nothing consequential goes out unreviewed.</a:t>
            </a:r>
            <a:endParaRPr lang="en-US" sz="1350" dirty="0"/>
          </a:p>
        </p:txBody>
      </p:sp>
      <p:sp>
        <p:nvSpPr>
          <p:cNvPr id="40" name="Shape 38"/>
          <p:cNvSpPr/>
          <p:nvPr/>
        </p:nvSpPr>
        <p:spPr>
          <a:xfrm>
            <a:off x="566928" y="5870448"/>
            <a:ext cx="11057839" cy="420624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41" name="Text 39"/>
          <p:cNvSpPr txBox="1"/>
          <p:nvPr/>
        </p:nvSpPr>
        <p:spPr>
          <a:xfrm>
            <a:off x="768096" y="5870448"/>
            <a:ext cx="1065550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 Start with the task costing you the most hours. Add from there.</a:t>
            </a:r>
            <a:endParaRPr lang="en-US" sz="1400" dirty="0"/>
          </a:p>
        </p:txBody>
      </p:sp>
      <p:sp>
        <p:nvSpPr>
          <p:cNvPr id="42" name="Text 28">
            <a:extLst>
              <a:ext uri="{FF2B5EF4-FFF2-40B4-BE49-F238E27FC236}">
                <a16:creationId xmlns:a16="http://schemas.microsoft.com/office/drawing/2014/main" id="{14D37515-F2C8-3635-70D8-8F5B8061790D}"/>
              </a:ext>
            </a:extLst>
          </p:cNvPr>
          <p:cNvSpPr txBox="1"/>
          <p:nvPr/>
        </p:nvSpPr>
        <p:spPr>
          <a:xfrm>
            <a:off x="6574536" y="230428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1000" dirty="0"/>
          </a:p>
        </p:txBody>
      </p:sp>
      <p:sp>
        <p:nvSpPr>
          <p:cNvPr id="43" name="Text 28">
            <a:extLst>
              <a:ext uri="{FF2B5EF4-FFF2-40B4-BE49-F238E27FC236}">
                <a16:creationId xmlns:a16="http://schemas.microsoft.com/office/drawing/2014/main" id="{EC32A61C-70B5-D1FC-72D8-C86603B3B908}"/>
              </a:ext>
            </a:extLst>
          </p:cNvPr>
          <p:cNvSpPr txBox="1"/>
          <p:nvPr/>
        </p:nvSpPr>
        <p:spPr>
          <a:xfrm>
            <a:off x="3675888" y="230428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TASKS AT THE SAME TIME</a:t>
            </a:r>
            <a:endParaRPr lang="en-US" sz="1000" dirty="0">
              <a:solidFill>
                <a:srgbClr val="00B050"/>
              </a:solidFill>
            </a:endParaRP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26166B44-F601-E5D0-323D-69D7182E00FF}"/>
              </a:ext>
            </a:extLst>
          </p:cNvPr>
          <p:cNvGrpSpPr/>
          <p:nvPr/>
        </p:nvGrpSpPr>
        <p:grpSpPr>
          <a:xfrm>
            <a:off x="685800" y="715128"/>
            <a:ext cx="10817352" cy="293556"/>
            <a:chOff x="685800" y="841248"/>
            <a:chExt cx="10817352" cy="293556"/>
          </a:xfrm>
        </p:grpSpPr>
        <p:sp>
          <p:nvSpPr>
            <p:cNvPr id="50" name="Shape 3">
              <a:extLst>
                <a:ext uri="{FF2B5EF4-FFF2-40B4-BE49-F238E27FC236}">
                  <a16:creationId xmlns:a16="http://schemas.microsoft.com/office/drawing/2014/main" id="{6B504D93-201E-1448-6E00-7510CA72A6D4}"/>
                </a:ext>
              </a:extLst>
            </p:cNvPr>
            <p:cNvSpPr/>
            <p:nvPr/>
          </p:nvSpPr>
          <p:spPr>
            <a:xfrm>
              <a:off x="685800" y="841248"/>
              <a:ext cx="10817352" cy="0"/>
            </a:xfrm>
            <a:prstGeom prst="line">
              <a:avLst/>
            </a:prstGeom>
            <a:noFill/>
            <a:ln w="9525">
              <a:solidFill>
                <a:srgbClr val="DADADA"/>
              </a:solidFill>
              <a:prstDash val="solid"/>
            </a:ln>
          </p:spPr>
          <p:txBody>
            <a:bodyPr/>
            <a:lstStyle/>
            <a:p>
              <a:endParaRPr lang="en-CH"/>
            </a:p>
          </p:txBody>
        </p:sp>
        <p:sp>
          <p:nvSpPr>
            <p:cNvPr id="51" name="Text 5">
              <a:extLst>
                <a:ext uri="{FF2B5EF4-FFF2-40B4-BE49-F238E27FC236}">
                  <a16:creationId xmlns:a16="http://schemas.microsoft.com/office/drawing/2014/main" id="{7261DB4C-616C-1DB3-8E1F-B6519D46BCEC}"/>
                </a:ext>
              </a:extLst>
            </p:cNvPr>
            <p:cNvSpPr txBox="1"/>
            <p:nvPr/>
          </p:nvSpPr>
          <p:spPr>
            <a:xfrm>
              <a:off x="6016752" y="842196"/>
              <a:ext cx="548640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850" kern="0" spc="150" dirty="0">
                  <a:solidFill>
                    <a:srgbClr val="8C8C8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BUSINESS CREATION ICT  ·  VENTURELAB  ·  AUG-SEP 2026  ·  ZÜRICH</a:t>
              </a:r>
              <a:endParaRPr lang="en-US" sz="850" dirty="0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3774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" name="Text 1"/>
          <p:cNvSpPr txBox="1"/>
          <p:nvPr/>
        </p:nvSpPr>
        <p:spPr>
          <a:xfrm>
            <a:off x="566928" y="237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060704" y="237744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731520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2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629107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vortexdeep.ch  ·  info@vortexdeep.ch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9795967" y="62910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11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969264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and mid-sized companies — starting in Switzerland.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1664208"/>
            <a:ext cx="1050919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defined by industry. By the admin that repeats every day.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230428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SIZE · SWISS BEACHHEAD · WORKING ESTIMATES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66928" y="2615184"/>
            <a:ext cx="3529584" cy="32004"/>
          </a:xfrm>
          <a:prstGeom prst="rect">
            <a:avLst/>
          </a:prstGeom>
          <a:solidFill>
            <a:srgbClr val="DADADA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3" name="Text 11"/>
          <p:cNvSpPr txBox="1"/>
          <p:nvPr/>
        </p:nvSpPr>
        <p:spPr>
          <a:xfrm>
            <a:off x="566928" y="2761488"/>
            <a:ext cx="3529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66928" y="3054096"/>
            <a:ext cx="35295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~600k</a:t>
            </a:r>
            <a:endParaRPr lang="en-US" sz="4600" dirty="0"/>
          </a:p>
        </p:txBody>
      </p:sp>
      <p:sp>
        <p:nvSpPr>
          <p:cNvPr id="15" name="Text 13"/>
          <p:cNvSpPr txBox="1"/>
          <p:nvPr/>
        </p:nvSpPr>
        <p:spPr>
          <a:xfrm>
            <a:off x="566928" y="3968496"/>
            <a:ext cx="3529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SMEs with repetitive admin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66928" y="4315968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who has the problem. Mostly micro firms; a lighter tier could open them.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297680" y="2615184"/>
            <a:ext cx="3529584" cy="32004"/>
          </a:xfrm>
          <a:prstGeom prst="rect">
            <a:avLst/>
          </a:prstGeom>
          <a:solidFill>
            <a:srgbClr val="DADADA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8" name="Text 16"/>
          <p:cNvSpPr txBox="1"/>
          <p:nvPr/>
        </p:nvSpPr>
        <p:spPr>
          <a:xfrm>
            <a:off x="4297680" y="2761488"/>
            <a:ext cx="3529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297680" y="3054096"/>
            <a:ext cx="35295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~50k</a:t>
            </a:r>
            <a:endParaRPr lang="en-US" sz="4600" dirty="0"/>
          </a:p>
        </p:txBody>
      </p:sp>
      <p:sp>
        <p:nvSpPr>
          <p:cNvPr id="20" name="Text 18"/>
          <p:cNvSpPr txBox="1"/>
          <p:nvPr/>
        </p:nvSpPr>
        <p:spPr>
          <a:xfrm>
            <a:off x="4297680" y="3968496"/>
            <a:ext cx="3529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firms, 10–49 employees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297680" y="4315968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slice we can serve with this model. CHF 400–750M ARR.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028432" y="2615184"/>
            <a:ext cx="3529584" cy="32004"/>
          </a:xfrm>
          <a:prstGeom prst="rect">
            <a:avLst/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3" name="Text 21"/>
          <p:cNvSpPr txBox="1"/>
          <p:nvPr/>
        </p:nvSpPr>
        <p:spPr>
          <a:xfrm>
            <a:off x="8028432" y="2761488"/>
            <a:ext cx="3529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8028432" y="3054096"/>
            <a:ext cx="35295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30–40</a:t>
            </a:r>
            <a:endParaRPr lang="en-US" sz="4600" dirty="0"/>
          </a:p>
        </p:txBody>
      </p:sp>
      <p:sp>
        <p:nvSpPr>
          <p:cNvPr id="25" name="Text 23"/>
          <p:cNvSpPr txBox="1"/>
          <p:nvPr/>
        </p:nvSpPr>
        <p:spPr>
          <a:xfrm>
            <a:off x="8028432" y="3968496"/>
            <a:ext cx="3529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clients by 2029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8028432" y="4315968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can realistically win. CHF 0.25–0.6M ARR · under 0.1% of SAM.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66928" y="5285232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SECO / FSO (STATENT 2023) for company counts. SAM and SOM are VortexDeep estimates from stated targeting and pricing assumptions.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66928" y="5870448"/>
            <a:ext cx="11057839" cy="420624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9" name="Text 27"/>
          <p:cNvSpPr txBox="1"/>
          <p:nvPr/>
        </p:nvSpPr>
        <p:spPr>
          <a:xfrm>
            <a:off x="768096" y="5870448"/>
            <a:ext cx="1065550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 Our slice is the cautious middle: AI's help, not its autonomy.</a:t>
            </a:r>
            <a:endParaRPr lang="en-US" sz="1400" dirty="0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545114E5-F30D-10CD-8107-890768CC7686}"/>
              </a:ext>
            </a:extLst>
          </p:cNvPr>
          <p:cNvGrpSpPr/>
          <p:nvPr/>
        </p:nvGrpSpPr>
        <p:grpSpPr>
          <a:xfrm>
            <a:off x="685800" y="715128"/>
            <a:ext cx="10817352" cy="293556"/>
            <a:chOff x="685800" y="841248"/>
            <a:chExt cx="10817352" cy="293556"/>
          </a:xfrm>
        </p:grpSpPr>
        <p:sp>
          <p:nvSpPr>
            <p:cNvPr id="31" name="Shape 3">
              <a:extLst>
                <a:ext uri="{FF2B5EF4-FFF2-40B4-BE49-F238E27FC236}">
                  <a16:creationId xmlns:a16="http://schemas.microsoft.com/office/drawing/2014/main" id="{5F35C3E2-5CF4-9D06-E11E-98BD10FFF4F2}"/>
                </a:ext>
              </a:extLst>
            </p:cNvPr>
            <p:cNvSpPr/>
            <p:nvPr/>
          </p:nvSpPr>
          <p:spPr>
            <a:xfrm>
              <a:off x="685800" y="841248"/>
              <a:ext cx="10817352" cy="0"/>
            </a:xfrm>
            <a:prstGeom prst="line">
              <a:avLst/>
            </a:prstGeom>
            <a:noFill/>
            <a:ln w="9525">
              <a:solidFill>
                <a:srgbClr val="DADADA"/>
              </a:solidFill>
              <a:prstDash val="solid"/>
            </a:ln>
          </p:spPr>
          <p:txBody>
            <a:bodyPr/>
            <a:lstStyle/>
            <a:p>
              <a:endParaRPr lang="en-CH"/>
            </a:p>
          </p:txBody>
        </p:sp>
        <p:sp>
          <p:nvSpPr>
            <p:cNvPr id="32" name="Text 5">
              <a:extLst>
                <a:ext uri="{FF2B5EF4-FFF2-40B4-BE49-F238E27FC236}">
                  <a16:creationId xmlns:a16="http://schemas.microsoft.com/office/drawing/2014/main" id="{411DCEB5-3969-F581-BA79-3CDE16A0BB6B}"/>
                </a:ext>
              </a:extLst>
            </p:cNvPr>
            <p:cNvSpPr txBox="1"/>
            <p:nvPr/>
          </p:nvSpPr>
          <p:spPr>
            <a:xfrm>
              <a:off x="6016752" y="842196"/>
              <a:ext cx="548640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850" kern="0" spc="150" dirty="0">
                  <a:solidFill>
                    <a:srgbClr val="8C8C8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BUSINESS CREATION ICT  ·  VENTURELAB  ·  AUG-SEP 2026  ·  ZÜRICH</a:t>
              </a:r>
              <a:endParaRPr lang="en-US" sz="850" dirty="0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3774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" name="Text 1"/>
          <p:cNvSpPr txBox="1"/>
          <p:nvPr/>
        </p:nvSpPr>
        <p:spPr>
          <a:xfrm>
            <a:off x="566928" y="237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060704" y="237744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731520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2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 &amp; ADVANTAGE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629107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vortexdeep.ch  ·  info@vortexdeep.ch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9795967" y="62910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11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969264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 automation. Human control where it matters.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1664208"/>
            <a:ext cx="1050919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ways to handle the repetition, each with a catch, and our fifth.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2304288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OPTIONS · EACH WITH A CATCH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66928" y="2615184"/>
            <a:ext cx="5212080" cy="713232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3" name="Text 11"/>
          <p:cNvSpPr txBox="1"/>
          <p:nvPr/>
        </p:nvSpPr>
        <p:spPr>
          <a:xfrm>
            <a:off x="749808" y="2615184"/>
            <a:ext cx="4846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DIY tools:  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cheap, but you build and maintain it.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66928" y="3419856"/>
            <a:ext cx="5212080" cy="713232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5" name="Text 13"/>
          <p:cNvSpPr txBox="1"/>
          <p:nvPr/>
        </p:nvSpPr>
        <p:spPr>
          <a:xfrm>
            <a:off x="749808" y="3419856"/>
            <a:ext cx="4846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autonomy:  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but less direct oversight.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66928" y="4224528"/>
            <a:ext cx="5212080" cy="713232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7" name="Text 15"/>
          <p:cNvSpPr txBox="1"/>
          <p:nvPr/>
        </p:nvSpPr>
        <p:spPr>
          <a:xfrm>
            <a:off x="749808" y="4224528"/>
            <a:ext cx="4846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Hire:  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headcount cost, and still manual.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66928" y="5029200"/>
            <a:ext cx="5212080" cy="713232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9" name="Text 17"/>
          <p:cNvSpPr txBox="1"/>
          <p:nvPr/>
        </p:nvSpPr>
        <p:spPr>
          <a:xfrm>
            <a:off x="749808" y="5029200"/>
            <a:ext cx="4846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nothing:  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 quietly compounds every day.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327648" y="230428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FIFTH WAY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327648" y="2615184"/>
            <a:ext cx="5294376" cy="713232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2" name="Text 20"/>
          <p:cNvSpPr txBox="1"/>
          <p:nvPr/>
        </p:nvSpPr>
        <p:spPr>
          <a:xfrm>
            <a:off x="6473952" y="2615184"/>
            <a:ext cx="3840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4B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912864" y="268833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approve at defined control points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912864" y="298094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consequential goes out unreviewed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327648" y="3419856"/>
            <a:ext cx="5294376" cy="713232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6" name="Text 24"/>
          <p:cNvSpPr txBox="1"/>
          <p:nvPr/>
        </p:nvSpPr>
        <p:spPr>
          <a:xfrm>
            <a:off x="6473952" y="3419856"/>
            <a:ext cx="3840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4B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912864" y="349300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build and run it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912864" y="37856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tool to learn or maintain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327648" y="4224528"/>
            <a:ext cx="5294376" cy="713232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0" name="Text 28"/>
          <p:cNvSpPr txBox="1"/>
          <p:nvPr/>
        </p:nvSpPr>
        <p:spPr>
          <a:xfrm>
            <a:off x="6473952" y="4224528"/>
            <a:ext cx="3840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4B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912864" y="429768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data stays yours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6912864" y="45902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access, export on request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327648" y="5029200"/>
            <a:ext cx="5294376" cy="713232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4" name="Text 32"/>
          <p:cNvSpPr txBox="1"/>
          <p:nvPr/>
        </p:nvSpPr>
        <p:spPr>
          <a:xfrm>
            <a:off x="6473952" y="5029200"/>
            <a:ext cx="3840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4B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6912864" y="510235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not replaced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6912864" y="5394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automate the work, not the person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566928" y="5870448"/>
            <a:ext cx="11057839" cy="420624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8" name="Text 36"/>
          <p:cNvSpPr txBox="1"/>
          <p:nvPr/>
        </p:nvSpPr>
        <p:spPr>
          <a:xfrm>
            <a:off x="768096" y="5870448"/>
            <a:ext cx="1065550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 Built for the cautious middle: a few clients at a time, fixed scope.</a:t>
            </a:r>
            <a:endParaRPr lang="en-US" sz="1400" dirty="0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16E11FB9-BA7B-84D8-8DA5-B0DDF08EE8B1}"/>
              </a:ext>
            </a:extLst>
          </p:cNvPr>
          <p:cNvGrpSpPr/>
          <p:nvPr/>
        </p:nvGrpSpPr>
        <p:grpSpPr>
          <a:xfrm>
            <a:off x="685800" y="715128"/>
            <a:ext cx="10817352" cy="293556"/>
            <a:chOff x="685800" y="841248"/>
            <a:chExt cx="10817352" cy="293556"/>
          </a:xfrm>
        </p:grpSpPr>
        <p:sp>
          <p:nvSpPr>
            <p:cNvPr id="40" name="Shape 3">
              <a:extLst>
                <a:ext uri="{FF2B5EF4-FFF2-40B4-BE49-F238E27FC236}">
                  <a16:creationId xmlns:a16="http://schemas.microsoft.com/office/drawing/2014/main" id="{39BC5411-D964-8F45-7767-582648838E48}"/>
                </a:ext>
              </a:extLst>
            </p:cNvPr>
            <p:cNvSpPr/>
            <p:nvPr/>
          </p:nvSpPr>
          <p:spPr>
            <a:xfrm>
              <a:off x="685800" y="841248"/>
              <a:ext cx="10817352" cy="0"/>
            </a:xfrm>
            <a:prstGeom prst="line">
              <a:avLst/>
            </a:prstGeom>
            <a:noFill/>
            <a:ln w="9525">
              <a:solidFill>
                <a:srgbClr val="DADADA"/>
              </a:solidFill>
              <a:prstDash val="solid"/>
            </a:ln>
          </p:spPr>
          <p:txBody>
            <a:bodyPr/>
            <a:lstStyle/>
            <a:p>
              <a:endParaRPr lang="en-CH"/>
            </a:p>
          </p:txBody>
        </p:sp>
        <p:sp>
          <p:nvSpPr>
            <p:cNvPr id="41" name="Text 5">
              <a:extLst>
                <a:ext uri="{FF2B5EF4-FFF2-40B4-BE49-F238E27FC236}">
                  <a16:creationId xmlns:a16="http://schemas.microsoft.com/office/drawing/2014/main" id="{C683115F-DC73-17D3-C4ED-409405A582EF}"/>
                </a:ext>
              </a:extLst>
            </p:cNvPr>
            <p:cNvSpPr txBox="1"/>
            <p:nvPr/>
          </p:nvSpPr>
          <p:spPr>
            <a:xfrm>
              <a:off x="6016752" y="842196"/>
              <a:ext cx="548640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850" kern="0" spc="150" dirty="0">
                  <a:solidFill>
                    <a:srgbClr val="8C8C8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BUSINESS CREATION ICT  ·  VENTURELAB  ·  AUG-SEP 2026  ·  ZÜRICH</a:t>
              </a:r>
              <a:endParaRPr lang="en-US" sz="850" dirty="0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3774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" name="Text 1"/>
          <p:cNvSpPr txBox="1"/>
          <p:nvPr/>
        </p:nvSpPr>
        <p:spPr>
          <a:xfrm>
            <a:off x="566928" y="237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060704" y="237744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731520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2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629107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vortexdeep.ch  ·  info@vortexdeep.ch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9795967" y="62910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11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969264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narrow, prove it, then widen.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1664208"/>
            <a:ext cx="1050919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targets, based on current pricing and delivery assumptions.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66928" y="28529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H2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66928" y="31272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66928" y="3456432"/>
            <a:ext cx="24871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Swiss clients</a:t>
            </a:r>
            <a:endParaRPr lang="en-US" sz="13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automation live</a:t>
            </a:r>
            <a:endParaRPr lang="en-US" sz="13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reference case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66928" y="4623598"/>
            <a:ext cx="2148840" cy="402336"/>
          </a:xfrm>
          <a:prstGeom prst="rect">
            <a:avLst/>
          </a:prstGeom>
          <a:solidFill>
            <a:schemeClr val="bg1">
              <a:lumMod val="85000"/>
              <a:alpha val="4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PROJECT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3364992" y="28529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3364992" y="31272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it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3364992" y="3456432"/>
            <a:ext cx="24871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6–8 managed clients</a:t>
            </a:r>
            <a:endParaRPr lang="en-US" sz="13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</a:t>
            </a:r>
            <a:endParaRPr lang="en-US" sz="13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hire decided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3364992" y="4626864"/>
            <a:ext cx="2148840" cy="402336"/>
          </a:xfrm>
          <a:prstGeom prst="rect">
            <a:avLst/>
          </a:prstGeom>
          <a:solidFill>
            <a:schemeClr val="bg1">
              <a:lumMod val="85000"/>
              <a:alpha val="44663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CHF 50–120k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6163056" y="28529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6163056" y="31272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widen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163056" y="3456432"/>
            <a:ext cx="24871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15–20 clients</a:t>
            </a:r>
            <a:endParaRPr lang="en-US" sz="13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→ EU expansion</a:t>
            </a:r>
            <a:endParaRPr lang="en-US" sz="13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Productise workflows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6163056" y="4626864"/>
            <a:ext cx="2148840" cy="402336"/>
          </a:xfrm>
          <a:prstGeom prst="rect">
            <a:avLst/>
          </a:prstGeom>
          <a:solidFill>
            <a:schemeClr val="bg1">
              <a:lumMod val="85000"/>
              <a:alpha val="44663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CHF 120–300k</a:t>
            </a:r>
            <a:endParaRPr lang="en-US" sz="1100" dirty="0"/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BFD04C28-233D-204B-C8BA-4C943AC026F8}"/>
              </a:ext>
            </a:extLst>
          </p:cNvPr>
          <p:cNvGrpSpPr/>
          <p:nvPr/>
        </p:nvGrpSpPr>
        <p:grpSpPr>
          <a:xfrm>
            <a:off x="566928" y="2505456"/>
            <a:ext cx="11057839" cy="237744"/>
            <a:chOff x="566928" y="2505456"/>
            <a:chExt cx="11057839" cy="237744"/>
          </a:xfrm>
        </p:grpSpPr>
        <p:sp>
          <p:nvSpPr>
            <p:cNvPr id="11" name="Shape 9"/>
            <p:cNvSpPr/>
            <p:nvPr/>
          </p:nvSpPr>
          <p:spPr>
            <a:xfrm>
              <a:off x="566928" y="2615184"/>
              <a:ext cx="11057839" cy="18288"/>
            </a:xfrm>
            <a:prstGeom prst="rect">
              <a:avLst/>
            </a:prstGeom>
            <a:solidFill>
              <a:srgbClr val="DADADA"/>
            </a:solidFill>
            <a:ln w="12700">
              <a:solidFill>
                <a:srgbClr val="DADADA"/>
              </a:solidFill>
              <a:prstDash val="solid"/>
            </a:ln>
          </p:spPr>
          <p:txBody>
            <a:bodyPr/>
            <a:lstStyle/>
            <a:p>
              <a:endParaRPr lang="en-CH"/>
            </a:p>
          </p:txBody>
        </p:sp>
        <p:sp>
          <p:nvSpPr>
            <p:cNvPr id="12" name="Shape 10"/>
            <p:cNvSpPr/>
            <p:nvPr/>
          </p:nvSpPr>
          <p:spPr>
            <a:xfrm>
              <a:off x="566928" y="2505456"/>
              <a:ext cx="237744" cy="237744"/>
            </a:xfrm>
            <a:prstGeom prst="ellipse">
              <a:avLst/>
            </a:prstGeom>
            <a:solidFill>
              <a:srgbClr val="141414"/>
            </a:solidFill>
            <a:ln w="19050">
              <a:solidFill>
                <a:srgbClr val="141414"/>
              </a:solidFill>
              <a:prstDash val="solid"/>
            </a:ln>
          </p:spPr>
          <p:txBody>
            <a:bodyPr/>
            <a:lstStyle/>
            <a:p>
              <a:endParaRPr lang="en-CH"/>
            </a:p>
          </p:txBody>
        </p:sp>
        <p:sp>
          <p:nvSpPr>
            <p:cNvPr id="18" name="Shape 16"/>
            <p:cNvSpPr/>
            <p:nvPr/>
          </p:nvSpPr>
          <p:spPr>
            <a:xfrm>
              <a:off x="3364992" y="2505456"/>
              <a:ext cx="237744" cy="237744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bg1">
                  <a:lumMod val="65000"/>
                </a:schemeClr>
              </a:solidFill>
              <a:prstDash val="solid"/>
            </a:ln>
          </p:spPr>
          <p:txBody>
            <a:bodyPr/>
            <a:lstStyle/>
            <a:p>
              <a:endParaRPr lang="en-CH"/>
            </a:p>
          </p:txBody>
        </p:sp>
        <p:sp>
          <p:nvSpPr>
            <p:cNvPr id="24" name="Shape 22"/>
            <p:cNvSpPr/>
            <p:nvPr/>
          </p:nvSpPr>
          <p:spPr>
            <a:xfrm>
              <a:off x="6163056" y="2505456"/>
              <a:ext cx="237744" cy="23774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chemeClr val="bg1">
                  <a:lumMod val="75000"/>
                </a:schemeClr>
              </a:solidFill>
              <a:prstDash val="solid"/>
            </a:ln>
          </p:spPr>
          <p:txBody>
            <a:bodyPr/>
            <a:lstStyle/>
            <a:p>
              <a:endParaRPr lang="en-CH"/>
            </a:p>
          </p:txBody>
        </p:sp>
        <p:sp>
          <p:nvSpPr>
            <p:cNvPr id="30" name="Shape 28"/>
            <p:cNvSpPr/>
            <p:nvPr/>
          </p:nvSpPr>
          <p:spPr>
            <a:xfrm>
              <a:off x="8961120" y="2505456"/>
              <a:ext cx="237744" cy="237744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bg1">
                  <a:lumMod val="75000"/>
                </a:schemeClr>
              </a:solidFill>
              <a:prstDash val="solid"/>
            </a:ln>
          </p:spPr>
          <p:txBody>
            <a:bodyPr/>
            <a:lstStyle/>
            <a:p>
              <a:endParaRPr lang="en-CH"/>
            </a:p>
          </p:txBody>
        </p:sp>
      </p:grpSp>
      <p:sp>
        <p:nvSpPr>
          <p:cNvPr id="31" name="Text 29"/>
          <p:cNvSpPr txBox="1"/>
          <p:nvPr/>
        </p:nvSpPr>
        <p:spPr>
          <a:xfrm>
            <a:off x="8961120" y="28529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2029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8961120" y="31272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8961120" y="3456432"/>
            <a:ext cx="24871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30–40+ clients</a:t>
            </a:r>
            <a:endParaRPr lang="en-US" sz="13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of ~5–8</a:t>
            </a:r>
            <a:endParaRPr lang="en-US" sz="13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IP, licensed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8961120" y="4626864"/>
            <a:ext cx="2148840" cy="402336"/>
          </a:xfrm>
          <a:prstGeom prst="rect">
            <a:avLst/>
          </a:prstGeom>
          <a:solidFill>
            <a:schemeClr val="bg1">
              <a:lumMod val="85000"/>
              <a:alpha val="44663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CHF 240–600k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566928" y="5102352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Indicative ARR scenario, not a forecast.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66928" y="5870448"/>
            <a:ext cx="11057839" cy="420624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8" name="Text 36"/>
          <p:cNvSpPr txBox="1"/>
          <p:nvPr/>
        </p:nvSpPr>
        <p:spPr>
          <a:xfrm>
            <a:off x="768096" y="5870448"/>
            <a:ext cx="1065550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 Land one process, expand within the account. Each stage funds the next.</a:t>
            </a:r>
            <a:endParaRPr lang="en-US" sz="1400" dirty="0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652C60FA-BE15-4C28-EE6E-B3A3FEA28EB7}"/>
              </a:ext>
            </a:extLst>
          </p:cNvPr>
          <p:cNvGrpSpPr/>
          <p:nvPr/>
        </p:nvGrpSpPr>
        <p:grpSpPr>
          <a:xfrm>
            <a:off x="2172158" y="2531580"/>
            <a:ext cx="180000" cy="2176006"/>
            <a:chOff x="1960880" y="2531580"/>
            <a:chExt cx="180000" cy="2176006"/>
          </a:xfrm>
        </p:grpSpPr>
        <p:sp>
          <p:nvSpPr>
            <p:cNvPr id="39" name="Doughnut 38">
              <a:extLst>
                <a:ext uri="{FF2B5EF4-FFF2-40B4-BE49-F238E27FC236}">
                  <a16:creationId xmlns:a16="http://schemas.microsoft.com/office/drawing/2014/main" id="{CBD6D996-A57A-F657-A9B0-9A851B699005}"/>
                </a:ext>
              </a:extLst>
            </p:cNvPr>
            <p:cNvSpPr/>
            <p:nvPr/>
          </p:nvSpPr>
          <p:spPr>
            <a:xfrm>
              <a:off x="1960880" y="2531580"/>
              <a:ext cx="180000" cy="180000"/>
            </a:xfrm>
            <a:prstGeom prst="donut">
              <a:avLst>
                <a:gd name="adj" fmla="val 30865"/>
              </a:avLst>
            </a:prstGeom>
            <a:solidFill>
              <a:schemeClr val="bg1">
                <a:lumMod val="50000"/>
                <a:alpha val="45000"/>
              </a:schemeClr>
            </a:solidFill>
            <a:ln>
              <a:solidFill>
                <a:schemeClr val="bg1">
                  <a:lumMod val="85000"/>
                </a:schemeClr>
              </a:solidFill>
              <a:prstDash val="sysDot"/>
            </a:ln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>
                <a:solidFill>
                  <a:schemeClr val="tx1"/>
                </a:solidFill>
              </a:endParaRPr>
            </a:p>
          </p:txBody>
        </p:sp>
        <p:sp>
          <p:nvSpPr>
            <p:cNvPr id="40" name="Doughnut 39">
              <a:extLst>
                <a:ext uri="{FF2B5EF4-FFF2-40B4-BE49-F238E27FC236}">
                  <a16:creationId xmlns:a16="http://schemas.microsoft.com/office/drawing/2014/main" id="{97A0CF7B-2EAE-8BD8-D19F-BC6A2760CB3D}"/>
                </a:ext>
              </a:extLst>
            </p:cNvPr>
            <p:cNvSpPr/>
            <p:nvPr/>
          </p:nvSpPr>
          <p:spPr>
            <a:xfrm>
              <a:off x="1960880" y="4527586"/>
              <a:ext cx="180000" cy="180000"/>
            </a:xfrm>
            <a:prstGeom prst="donut">
              <a:avLst>
                <a:gd name="adj" fmla="val 30865"/>
              </a:avLst>
            </a:prstGeom>
            <a:solidFill>
              <a:schemeClr val="bg1">
                <a:lumMod val="50000"/>
                <a:alpha val="45000"/>
              </a:schemeClr>
            </a:solidFill>
            <a:ln>
              <a:solidFill>
                <a:schemeClr val="bg1">
                  <a:lumMod val="85000"/>
                </a:schemeClr>
              </a:solidFill>
              <a:prstDash val="sysDot"/>
            </a:ln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>
                <a:solidFill>
                  <a:schemeClr val="tx1"/>
                </a:solidFill>
              </a:endParaRPr>
            </a:p>
          </p:txBody>
        </p: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71070989-34B6-31ED-2959-770CD5934C60}"/>
                </a:ext>
              </a:extLst>
            </p:cNvPr>
            <p:cNvCxnSpPr>
              <a:stCxn id="39" idx="4"/>
              <a:endCxn id="40" idx="0"/>
            </p:cNvCxnSpPr>
            <p:nvPr/>
          </p:nvCxnSpPr>
          <p:spPr>
            <a:xfrm>
              <a:off x="2050880" y="2711580"/>
              <a:ext cx="0" cy="1816006"/>
            </a:xfrm>
            <a:prstGeom prst="line">
              <a:avLst/>
            </a:prstGeom>
            <a:ln w="6350"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23616A8C-09B7-9CB6-7668-456D4CC82EB7}"/>
              </a:ext>
            </a:extLst>
          </p:cNvPr>
          <p:cNvGrpSpPr/>
          <p:nvPr/>
        </p:nvGrpSpPr>
        <p:grpSpPr>
          <a:xfrm>
            <a:off x="2588177" y="2532330"/>
            <a:ext cx="180000" cy="899460"/>
            <a:chOff x="1960880" y="2531580"/>
            <a:chExt cx="180000" cy="899460"/>
          </a:xfrm>
        </p:grpSpPr>
        <p:sp>
          <p:nvSpPr>
            <p:cNvPr id="45" name="Doughnut 44">
              <a:extLst>
                <a:ext uri="{FF2B5EF4-FFF2-40B4-BE49-F238E27FC236}">
                  <a16:creationId xmlns:a16="http://schemas.microsoft.com/office/drawing/2014/main" id="{E96D8939-3A73-1D7F-96AE-151748A32BE8}"/>
                </a:ext>
              </a:extLst>
            </p:cNvPr>
            <p:cNvSpPr/>
            <p:nvPr/>
          </p:nvSpPr>
          <p:spPr>
            <a:xfrm>
              <a:off x="1960880" y="2531580"/>
              <a:ext cx="180000" cy="180000"/>
            </a:xfrm>
            <a:prstGeom prst="donut">
              <a:avLst>
                <a:gd name="adj" fmla="val 30865"/>
              </a:avLst>
            </a:prstGeom>
            <a:solidFill>
              <a:schemeClr val="accent1">
                <a:lumMod val="60000"/>
                <a:lumOff val="40000"/>
                <a:alpha val="45000"/>
              </a:schemeClr>
            </a:solidFill>
            <a:ln>
              <a:solidFill>
                <a:schemeClr val="accent1">
                  <a:lumMod val="60000"/>
                  <a:lumOff val="40000"/>
                </a:schemeClr>
              </a:solidFill>
              <a:prstDash val="sysDot"/>
            </a:ln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>
                <a:solidFill>
                  <a:schemeClr val="tx1"/>
                </a:solidFill>
              </a:endParaRPr>
            </a:p>
          </p:txBody>
        </p:sp>
        <p:sp>
          <p:nvSpPr>
            <p:cNvPr id="46" name="Doughnut 45">
              <a:extLst>
                <a:ext uri="{FF2B5EF4-FFF2-40B4-BE49-F238E27FC236}">
                  <a16:creationId xmlns:a16="http://schemas.microsoft.com/office/drawing/2014/main" id="{7BD287A4-FFA0-4575-C51C-057B15065B18}"/>
                </a:ext>
              </a:extLst>
            </p:cNvPr>
            <p:cNvSpPr/>
            <p:nvPr/>
          </p:nvSpPr>
          <p:spPr>
            <a:xfrm>
              <a:off x="1960880" y="3251040"/>
              <a:ext cx="180000" cy="180000"/>
            </a:xfrm>
            <a:prstGeom prst="donut">
              <a:avLst>
                <a:gd name="adj" fmla="val 30865"/>
              </a:avLst>
            </a:prstGeom>
            <a:solidFill>
              <a:schemeClr val="accent1">
                <a:lumMod val="60000"/>
                <a:lumOff val="40000"/>
                <a:alpha val="45000"/>
              </a:schemeClr>
            </a:solidFill>
            <a:ln>
              <a:solidFill>
                <a:schemeClr val="accent1">
                  <a:lumMod val="60000"/>
                  <a:lumOff val="40000"/>
                </a:schemeClr>
              </a:solidFill>
              <a:prstDash val="sysDot"/>
            </a:ln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>
                <a:solidFill>
                  <a:schemeClr val="tx1"/>
                </a:solidFill>
              </a:endParaRPr>
            </a:p>
          </p:txBody>
        </p: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1E2F281C-64C4-6D66-FDA5-BBF70FFDA313}"/>
                </a:ext>
              </a:extLst>
            </p:cNvPr>
            <p:cNvCxnSpPr>
              <a:cxnSpLocks/>
              <a:stCxn id="45" idx="4"/>
            </p:cNvCxnSpPr>
            <p:nvPr/>
          </p:nvCxnSpPr>
          <p:spPr>
            <a:xfrm>
              <a:off x="2050880" y="2711580"/>
              <a:ext cx="0" cy="565020"/>
            </a:xfrm>
            <a:prstGeom prst="line">
              <a:avLst/>
            </a:prstGeom>
            <a:ln w="6350">
              <a:solidFill>
                <a:schemeClr val="accent1">
                  <a:lumMod val="60000"/>
                  <a:lumOff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9" name="Text 15">
            <a:extLst>
              <a:ext uri="{FF2B5EF4-FFF2-40B4-BE49-F238E27FC236}">
                <a16:creationId xmlns:a16="http://schemas.microsoft.com/office/drawing/2014/main" id="{30324CA7-3571-EB75-A645-3A4C5A1DD74D}"/>
              </a:ext>
            </a:extLst>
          </p:cNvPr>
          <p:cNvSpPr txBox="1"/>
          <p:nvPr/>
        </p:nvSpPr>
        <p:spPr>
          <a:xfrm>
            <a:off x="2378177" y="3337560"/>
            <a:ext cx="581998" cy="402336"/>
          </a:xfrm>
          <a:prstGeom prst="rect">
            <a:avLst/>
          </a:prstGeom>
          <a:solidFill>
            <a:srgbClr val="0070C0">
              <a:alpha val="25029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 ICT</a:t>
            </a:r>
            <a:endParaRPr lang="en-US" sz="110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C0A237F-32C6-3341-6394-10175ABCEF1F}"/>
              </a:ext>
            </a:extLst>
          </p:cNvPr>
          <p:cNvGrpSpPr/>
          <p:nvPr/>
        </p:nvGrpSpPr>
        <p:grpSpPr>
          <a:xfrm>
            <a:off x="685800" y="715128"/>
            <a:ext cx="10817352" cy="293556"/>
            <a:chOff x="685800" y="841248"/>
            <a:chExt cx="10817352" cy="293556"/>
          </a:xfrm>
        </p:grpSpPr>
        <p:sp>
          <p:nvSpPr>
            <p:cNvPr id="22" name="Shape 3">
              <a:extLst>
                <a:ext uri="{FF2B5EF4-FFF2-40B4-BE49-F238E27FC236}">
                  <a16:creationId xmlns:a16="http://schemas.microsoft.com/office/drawing/2014/main" id="{8E6076EB-3FBD-BDE5-1249-962AFB87B70C}"/>
                </a:ext>
              </a:extLst>
            </p:cNvPr>
            <p:cNvSpPr/>
            <p:nvPr/>
          </p:nvSpPr>
          <p:spPr>
            <a:xfrm>
              <a:off x="685800" y="841248"/>
              <a:ext cx="10817352" cy="0"/>
            </a:xfrm>
            <a:prstGeom prst="line">
              <a:avLst/>
            </a:prstGeom>
            <a:noFill/>
            <a:ln w="9525">
              <a:solidFill>
                <a:srgbClr val="DADADA"/>
              </a:solidFill>
              <a:prstDash val="solid"/>
            </a:ln>
          </p:spPr>
          <p:txBody>
            <a:bodyPr/>
            <a:lstStyle/>
            <a:p>
              <a:endParaRPr lang="en-CH"/>
            </a:p>
          </p:txBody>
        </p:sp>
        <p:sp>
          <p:nvSpPr>
            <p:cNvPr id="28" name="Text 5">
              <a:extLst>
                <a:ext uri="{FF2B5EF4-FFF2-40B4-BE49-F238E27FC236}">
                  <a16:creationId xmlns:a16="http://schemas.microsoft.com/office/drawing/2014/main" id="{7B715B75-9A11-5D3B-95E9-C9FBDCBC1A14}"/>
                </a:ext>
              </a:extLst>
            </p:cNvPr>
            <p:cNvSpPr txBox="1"/>
            <p:nvPr/>
          </p:nvSpPr>
          <p:spPr>
            <a:xfrm>
              <a:off x="6016752" y="842196"/>
              <a:ext cx="548640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850" kern="0" spc="150" dirty="0">
                  <a:solidFill>
                    <a:srgbClr val="8C8C8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BUSINESS CREATION ICT  ·  VENTURELAB  ·  AUG-SEP 2026  ·  ZÜRICH</a:t>
              </a:r>
              <a:endParaRPr lang="en-US" sz="850" dirty="0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3774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" name="Text 1"/>
          <p:cNvSpPr txBox="1"/>
          <p:nvPr/>
        </p:nvSpPr>
        <p:spPr>
          <a:xfrm>
            <a:off x="566928" y="237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060704" y="237744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731520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2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PLAN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629107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vortexdeep.ch  ·  info@vortexdeep.ch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9795967" y="62910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11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969264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Priced to the scope you choose. Recurring by design.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1664208"/>
            <a:ext cx="1050919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one-time setup funds the build; a monthly managed service is the recurring base. Five packages, priced by complexity and control.</a:t>
            </a:r>
            <a:endParaRPr lang="en-US" sz="1500" dirty="0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0518C1EB-17A6-E289-343F-0334CB275D48}"/>
              </a:ext>
            </a:extLst>
          </p:cNvPr>
          <p:cNvGrpSpPr/>
          <p:nvPr/>
        </p:nvGrpSpPr>
        <p:grpSpPr>
          <a:xfrm>
            <a:off x="566928" y="2286000"/>
            <a:ext cx="10543032" cy="786384"/>
            <a:chOff x="566928" y="2304288"/>
            <a:chExt cx="11009376" cy="786384"/>
          </a:xfrm>
        </p:grpSpPr>
        <p:sp>
          <p:nvSpPr>
            <p:cNvPr id="11" name="Shape 9"/>
            <p:cNvSpPr/>
            <p:nvPr/>
          </p:nvSpPr>
          <p:spPr>
            <a:xfrm>
              <a:off x="566928" y="2304288"/>
              <a:ext cx="2084832" cy="786384"/>
            </a:xfrm>
            <a:prstGeom prst="roundRect">
              <a:avLst>
                <a:gd name="adj" fmla="val 4651"/>
              </a:avLst>
            </a:prstGeom>
            <a:solidFill>
              <a:srgbClr val="FFFFFF"/>
            </a:solidFill>
            <a:ln w="12700">
              <a:solidFill>
                <a:srgbClr val="DADADA"/>
              </a:solidFill>
              <a:prstDash val="solid"/>
            </a:ln>
          </p:spPr>
          <p:txBody>
            <a:bodyPr/>
            <a:lstStyle/>
            <a:p>
              <a:endParaRPr lang="en-CH"/>
            </a:p>
          </p:txBody>
        </p:sp>
        <p:sp>
          <p:nvSpPr>
            <p:cNvPr id="13" name="Shape 11"/>
            <p:cNvSpPr/>
            <p:nvPr/>
          </p:nvSpPr>
          <p:spPr>
            <a:xfrm>
              <a:off x="2798064" y="2304288"/>
              <a:ext cx="2084832" cy="786384"/>
            </a:xfrm>
            <a:prstGeom prst="roundRect">
              <a:avLst>
                <a:gd name="adj" fmla="val 4651"/>
              </a:avLst>
            </a:prstGeom>
            <a:solidFill>
              <a:srgbClr val="FFFFFF"/>
            </a:solidFill>
            <a:ln w="12700">
              <a:solidFill>
                <a:srgbClr val="DADADA"/>
              </a:solidFill>
              <a:prstDash val="solid"/>
            </a:ln>
          </p:spPr>
          <p:txBody>
            <a:bodyPr/>
            <a:lstStyle/>
            <a:p>
              <a:endParaRPr lang="en-CH"/>
            </a:p>
          </p:txBody>
        </p:sp>
        <p:sp>
          <p:nvSpPr>
            <p:cNvPr id="15" name="Shape 13"/>
            <p:cNvSpPr/>
            <p:nvPr/>
          </p:nvSpPr>
          <p:spPr>
            <a:xfrm>
              <a:off x="5029200" y="2304288"/>
              <a:ext cx="2084832" cy="786384"/>
            </a:xfrm>
            <a:prstGeom prst="roundRect">
              <a:avLst>
                <a:gd name="adj" fmla="val 4651"/>
              </a:avLst>
            </a:prstGeom>
            <a:solidFill>
              <a:srgbClr val="FFFFFF"/>
            </a:solidFill>
            <a:ln w="12700">
              <a:solidFill>
                <a:srgbClr val="DADADA"/>
              </a:solidFill>
              <a:prstDash val="solid"/>
            </a:ln>
          </p:spPr>
          <p:txBody>
            <a:bodyPr/>
            <a:lstStyle/>
            <a:p>
              <a:endParaRPr lang="en-CH"/>
            </a:p>
          </p:txBody>
        </p:sp>
        <p:sp>
          <p:nvSpPr>
            <p:cNvPr id="17" name="Shape 15"/>
            <p:cNvSpPr/>
            <p:nvPr/>
          </p:nvSpPr>
          <p:spPr>
            <a:xfrm>
              <a:off x="7260336" y="2304288"/>
              <a:ext cx="2084832" cy="786384"/>
            </a:xfrm>
            <a:prstGeom prst="roundRect">
              <a:avLst>
                <a:gd name="adj" fmla="val 4651"/>
              </a:avLst>
            </a:prstGeom>
            <a:solidFill>
              <a:srgbClr val="FFFFFF"/>
            </a:solidFill>
            <a:ln w="12700">
              <a:solidFill>
                <a:srgbClr val="DADADA"/>
              </a:solidFill>
              <a:prstDash val="solid"/>
            </a:ln>
          </p:spPr>
          <p:txBody>
            <a:bodyPr/>
            <a:lstStyle/>
            <a:p>
              <a:endParaRPr lang="en-CH"/>
            </a:p>
          </p:txBody>
        </p:sp>
        <p:sp>
          <p:nvSpPr>
            <p:cNvPr id="19" name="Shape 17"/>
            <p:cNvSpPr/>
            <p:nvPr/>
          </p:nvSpPr>
          <p:spPr>
            <a:xfrm>
              <a:off x="9491472" y="2304288"/>
              <a:ext cx="2084832" cy="786384"/>
            </a:xfrm>
            <a:prstGeom prst="roundRect">
              <a:avLst>
                <a:gd name="adj" fmla="val 4651"/>
              </a:avLst>
            </a:prstGeom>
            <a:solidFill>
              <a:srgbClr val="FFFFFF"/>
            </a:solidFill>
            <a:ln w="12700">
              <a:solidFill>
                <a:srgbClr val="DADADA"/>
              </a:solidFill>
              <a:prstDash val="solid"/>
            </a:ln>
          </p:spPr>
          <p:txBody>
            <a:bodyPr/>
            <a:lstStyle/>
            <a:p>
              <a:endParaRPr lang="en-CH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BC87EC80-52C1-3DAB-7A5E-AD7801D60357}"/>
              </a:ext>
            </a:extLst>
          </p:cNvPr>
          <p:cNvGrpSpPr/>
          <p:nvPr/>
        </p:nvGrpSpPr>
        <p:grpSpPr>
          <a:xfrm>
            <a:off x="731520" y="2304288"/>
            <a:ext cx="10378440" cy="786384"/>
            <a:chOff x="731520" y="2304288"/>
            <a:chExt cx="10698480" cy="786384"/>
          </a:xfrm>
        </p:grpSpPr>
        <p:sp>
          <p:nvSpPr>
            <p:cNvPr id="12" name="Text 10"/>
            <p:cNvSpPr txBox="1"/>
            <p:nvPr/>
          </p:nvSpPr>
          <p:spPr>
            <a:xfrm>
              <a:off x="731520" y="2304288"/>
              <a:ext cx="1773936" cy="7863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b="1" dirty="0">
                  <a:solidFill>
                    <a:srgbClr val="14141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Basic Intake</a:t>
              </a:r>
              <a:endParaRPr lang="en-US" sz="1150" dirty="0"/>
            </a:p>
          </p:txBody>
        </p:sp>
        <p:sp>
          <p:nvSpPr>
            <p:cNvPr id="14" name="Text 12"/>
            <p:cNvSpPr txBox="1"/>
            <p:nvPr/>
          </p:nvSpPr>
          <p:spPr>
            <a:xfrm>
              <a:off x="2962656" y="2304288"/>
              <a:ext cx="1773936" cy="7863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b="1" dirty="0">
                  <a:solidFill>
                    <a:srgbClr val="14141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Basic+ AI Triage</a:t>
              </a:r>
              <a:endParaRPr lang="en-US" sz="1150" dirty="0"/>
            </a:p>
          </p:txBody>
        </p:sp>
        <p:sp>
          <p:nvSpPr>
            <p:cNvPr id="16" name="Text 14"/>
            <p:cNvSpPr txBox="1"/>
            <p:nvPr/>
          </p:nvSpPr>
          <p:spPr>
            <a:xfrm>
              <a:off x="5193792" y="2304288"/>
              <a:ext cx="1773936" cy="7863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b="1" dirty="0">
                  <a:solidFill>
                    <a:srgbClr val="14141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Pro Multi-Channel</a:t>
              </a:r>
              <a:endParaRPr lang="en-US" sz="1150" dirty="0"/>
            </a:p>
          </p:txBody>
        </p:sp>
        <p:sp>
          <p:nvSpPr>
            <p:cNvPr id="18" name="Text 16"/>
            <p:cNvSpPr txBox="1"/>
            <p:nvPr/>
          </p:nvSpPr>
          <p:spPr>
            <a:xfrm>
              <a:off x="7424928" y="2304288"/>
              <a:ext cx="1773936" cy="7863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b="1" dirty="0">
                  <a:solidFill>
                    <a:srgbClr val="14141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Managed Operations</a:t>
              </a:r>
              <a:endParaRPr lang="en-US" sz="1150" dirty="0"/>
            </a:p>
          </p:txBody>
        </p:sp>
        <p:sp>
          <p:nvSpPr>
            <p:cNvPr id="20" name="Text 18"/>
            <p:cNvSpPr txBox="1"/>
            <p:nvPr/>
          </p:nvSpPr>
          <p:spPr>
            <a:xfrm>
              <a:off x="9656064" y="2304288"/>
              <a:ext cx="1773936" cy="7863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b="1" dirty="0">
                  <a:solidFill>
                    <a:srgbClr val="14141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Agentic Automation</a:t>
              </a:r>
              <a:endParaRPr lang="en-US" sz="1150" dirty="0"/>
            </a:p>
          </p:txBody>
        </p:sp>
      </p:grpSp>
      <p:sp>
        <p:nvSpPr>
          <p:cNvPr id="21" name="Shape 19"/>
          <p:cNvSpPr/>
          <p:nvPr/>
        </p:nvSpPr>
        <p:spPr>
          <a:xfrm>
            <a:off x="566928" y="3218688"/>
            <a:ext cx="11057839" cy="420624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2" name="Text 20"/>
          <p:cNvSpPr txBox="1"/>
          <p:nvPr/>
        </p:nvSpPr>
        <p:spPr>
          <a:xfrm>
            <a:off x="768096" y="3218688"/>
            <a:ext cx="1065550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 </a:t>
            </a:r>
            <a:r>
              <a:rPr lang="en-US" sz="125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~CHF 750 → 30’000</a:t>
            </a:r>
            <a:r>
              <a:rPr lang="en-US" sz="125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Monthly  </a:t>
            </a:r>
            <a:r>
              <a:rPr lang="en-US" sz="125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~CHF 150 → 6’000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566928" y="3840480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RECURRING REVENUE · INDICATIVE SCENARIO, NOT A FORECAST · BLENDED ~CHF 8–15K PER ACTIVE CLIENT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66928" y="5230368"/>
            <a:ext cx="2148840" cy="201168"/>
          </a:xfrm>
          <a:prstGeom prst="rect">
            <a:avLst/>
          </a:prstGeom>
          <a:solidFill>
            <a:srgbClr val="E4E4E4"/>
          </a:solidFill>
          <a:ln w="1270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5" name="Text 23"/>
          <p:cNvSpPr txBox="1"/>
          <p:nvPr/>
        </p:nvSpPr>
        <p:spPr>
          <a:xfrm>
            <a:off x="566928" y="495604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566928" y="5468112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364992" y="5047488"/>
            <a:ext cx="2148840" cy="384048"/>
          </a:xfrm>
          <a:prstGeom prst="rect">
            <a:avLst/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8" name="Text 26"/>
          <p:cNvSpPr txBox="1"/>
          <p:nvPr/>
        </p:nvSpPr>
        <p:spPr>
          <a:xfrm>
            <a:off x="3364992" y="477316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~50–120k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3364992" y="5468112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163056" y="4718304"/>
            <a:ext cx="2148840" cy="713232"/>
          </a:xfrm>
          <a:prstGeom prst="rect">
            <a:avLst/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1" name="Text 29"/>
          <p:cNvSpPr txBox="1"/>
          <p:nvPr/>
        </p:nvSpPr>
        <p:spPr>
          <a:xfrm>
            <a:off x="6163056" y="4443984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~120–300k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6163056" y="5468112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961120" y="4297680"/>
            <a:ext cx="2148840" cy="1133856"/>
          </a:xfrm>
          <a:prstGeom prst="rect">
            <a:avLst/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4" name="Text 32"/>
          <p:cNvSpPr txBox="1"/>
          <p:nvPr/>
        </p:nvSpPr>
        <p:spPr>
          <a:xfrm>
            <a:off x="8961120" y="402336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~240–600k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8961120" y="5468112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2029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66928" y="5870448"/>
            <a:ext cx="11057839" cy="420624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7" name="Text 35"/>
          <p:cNvSpPr txBox="1"/>
          <p:nvPr/>
        </p:nvSpPr>
        <p:spPr>
          <a:xfrm>
            <a:off x="768096" y="5870448"/>
            <a:ext cx="1065550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 Licence by default; build-transfer only in the highest tier. Break-even at ~6–8 clients on current assumptions. Bootstrap-first.</a:t>
            </a:r>
            <a:endParaRPr lang="en-US" sz="1400" dirty="0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121DDA44-8027-833B-CC32-70334202401A}"/>
              </a:ext>
            </a:extLst>
          </p:cNvPr>
          <p:cNvGrpSpPr/>
          <p:nvPr/>
        </p:nvGrpSpPr>
        <p:grpSpPr>
          <a:xfrm>
            <a:off x="685800" y="715128"/>
            <a:ext cx="10817352" cy="293556"/>
            <a:chOff x="685800" y="841248"/>
            <a:chExt cx="10817352" cy="293556"/>
          </a:xfrm>
        </p:grpSpPr>
        <p:sp>
          <p:nvSpPr>
            <p:cNvPr id="41" name="Shape 3">
              <a:extLst>
                <a:ext uri="{FF2B5EF4-FFF2-40B4-BE49-F238E27FC236}">
                  <a16:creationId xmlns:a16="http://schemas.microsoft.com/office/drawing/2014/main" id="{2C0F2312-0E1C-5983-52CD-08408E114695}"/>
                </a:ext>
              </a:extLst>
            </p:cNvPr>
            <p:cNvSpPr/>
            <p:nvPr/>
          </p:nvSpPr>
          <p:spPr>
            <a:xfrm>
              <a:off x="685800" y="841248"/>
              <a:ext cx="10817352" cy="0"/>
            </a:xfrm>
            <a:prstGeom prst="line">
              <a:avLst/>
            </a:prstGeom>
            <a:noFill/>
            <a:ln w="9525">
              <a:solidFill>
                <a:srgbClr val="DADADA"/>
              </a:solidFill>
              <a:prstDash val="solid"/>
            </a:ln>
          </p:spPr>
          <p:txBody>
            <a:bodyPr/>
            <a:lstStyle/>
            <a:p>
              <a:endParaRPr lang="en-CH"/>
            </a:p>
          </p:txBody>
        </p:sp>
        <p:sp>
          <p:nvSpPr>
            <p:cNvPr id="42" name="Text 5">
              <a:extLst>
                <a:ext uri="{FF2B5EF4-FFF2-40B4-BE49-F238E27FC236}">
                  <a16:creationId xmlns:a16="http://schemas.microsoft.com/office/drawing/2014/main" id="{C987FB0E-14BE-81C9-646B-5B8172C955C1}"/>
                </a:ext>
              </a:extLst>
            </p:cNvPr>
            <p:cNvSpPr txBox="1"/>
            <p:nvPr/>
          </p:nvSpPr>
          <p:spPr>
            <a:xfrm>
              <a:off x="6016752" y="842196"/>
              <a:ext cx="548640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850" kern="0" spc="150" dirty="0">
                  <a:solidFill>
                    <a:srgbClr val="8C8C8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BUSINESS CREATION ICT  ·  VENTURELAB  ·  AUG-SEP 2026  ·  ZÜRICH</a:t>
              </a:r>
              <a:endParaRPr lang="en-US" sz="850" dirty="0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3774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" name="Text 1"/>
          <p:cNvSpPr txBox="1"/>
          <p:nvPr/>
        </p:nvSpPr>
        <p:spPr>
          <a:xfrm>
            <a:off x="566928" y="237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060704" y="237744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731520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2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629107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vortexdeep.ch  ·  info@vortexdeep.ch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9795967" y="62910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11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969264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founder today. A hiring plan, not a wish list.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1664208"/>
            <a:ext cx="1050919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+ Sell + Run all have to be covered. Each seat opens when revenue covers it — plan: hire from cashflow.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66928" y="2212848"/>
            <a:ext cx="11057839" cy="1024128"/>
          </a:xfrm>
          <a:prstGeom prst="roundRect">
            <a:avLst>
              <a:gd name="adj" fmla="val 3571"/>
            </a:avLst>
          </a:prstGeom>
          <a:solidFill>
            <a:srgbClr val="F2F2F2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2" name="Text 10"/>
          <p:cNvSpPr txBox="1"/>
          <p:nvPr/>
        </p:nvSpPr>
        <p:spPr>
          <a:xfrm>
            <a:off x="786384" y="232257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8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NOW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786384" y="257860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Maciek Szczech, Founder</a:t>
            </a:r>
            <a:r>
              <a:rPr lang="en-US" sz="1100" b="1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BUILD + SELL + RUN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786384" y="2871216"/>
            <a:ext cx="1061892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 years in industrial operations, engineering, process and automation. 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566928" y="3401568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MISSING · EACH SEAT OPENS WHEN ITS TRIGGER IS MET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66928" y="3694176"/>
            <a:ext cx="5422392" cy="932688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7" name="Text 15"/>
          <p:cNvSpPr txBox="1"/>
          <p:nvPr/>
        </p:nvSpPr>
        <p:spPr>
          <a:xfrm>
            <a:off x="731520" y="381304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4B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133856" y="3803904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co-founder</a:t>
            </a:r>
            <a:r>
              <a:rPr lang="en-US" sz="1050" b="1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BUILD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133856" y="4114800"/>
            <a:ext cx="4681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integrations, security. Equity, not salary. 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paid clients, 2027/2028.</a:t>
            </a:r>
          </a:p>
        </p:txBody>
      </p:sp>
      <p:sp>
        <p:nvSpPr>
          <p:cNvPr id="20" name="Shape 18"/>
          <p:cNvSpPr/>
          <p:nvPr/>
        </p:nvSpPr>
        <p:spPr>
          <a:xfrm>
            <a:off x="6199632" y="3694176"/>
            <a:ext cx="5422392" cy="932688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1" name="Text 19"/>
          <p:cNvSpPr txBox="1"/>
          <p:nvPr/>
        </p:nvSpPr>
        <p:spPr>
          <a:xfrm>
            <a:off x="6364224" y="381304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4B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766560" y="3803904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hire — Managed operations</a:t>
            </a:r>
            <a:r>
              <a:rPr lang="en-US" sz="1050" b="1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RUN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766560" y="4114800"/>
            <a:ext cx="4681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Onboarding, monitoring, support, reporting. 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base outgrows one person, 2028.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66928" y="4736592"/>
            <a:ext cx="5422392" cy="932688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5" name="Text 23"/>
          <p:cNvSpPr txBox="1"/>
          <p:nvPr/>
        </p:nvSpPr>
        <p:spPr>
          <a:xfrm>
            <a:off x="731520" y="485546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4B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1133856" y="484632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hire — B2B solution seller</a:t>
            </a:r>
            <a:r>
              <a:rPr lang="en-US" sz="1050" b="1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SELL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1133856" y="5157216"/>
            <a:ext cx="4681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Discovery, scoping, quoting and renewals with SME owners. 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15–20 clients.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199632" y="4736592"/>
            <a:ext cx="5422392" cy="932688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9" name="Text 27"/>
          <p:cNvSpPr txBox="1"/>
          <p:nvPr/>
        </p:nvSpPr>
        <p:spPr>
          <a:xfrm>
            <a:off x="6364224" y="485546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4B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6766560" y="484632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Bought in, not hired</a:t>
            </a:r>
            <a:r>
              <a:rPr lang="en-US" sz="1050" b="1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EXTERNAL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6766560" y="5157216"/>
            <a:ext cx="4681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&amp; IP, accounting / fiduciary, data protection, 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as a service. Fractional.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66928" y="5870448"/>
            <a:ext cx="11057839" cy="420624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3" name="Text 31"/>
          <p:cNvSpPr txBox="1"/>
          <p:nvPr/>
        </p:nvSpPr>
        <p:spPr>
          <a:xfrm>
            <a:off x="768096" y="5870448"/>
            <a:ext cx="1065550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 Order of hiring: BUILD first, then RUN, then SELL. Sales is the function I already cover; delivery capacity breaks before demand does.</a:t>
            </a:r>
            <a:endParaRPr lang="en-US" sz="1400" dirty="0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A51B3C16-80BB-E525-5FC1-97A311594B65}"/>
              </a:ext>
            </a:extLst>
          </p:cNvPr>
          <p:cNvGrpSpPr/>
          <p:nvPr/>
        </p:nvGrpSpPr>
        <p:grpSpPr>
          <a:xfrm>
            <a:off x="685800" y="715128"/>
            <a:ext cx="10817352" cy="293556"/>
            <a:chOff x="685800" y="841248"/>
            <a:chExt cx="10817352" cy="293556"/>
          </a:xfrm>
        </p:grpSpPr>
        <p:sp>
          <p:nvSpPr>
            <p:cNvPr id="35" name="Shape 3">
              <a:extLst>
                <a:ext uri="{FF2B5EF4-FFF2-40B4-BE49-F238E27FC236}">
                  <a16:creationId xmlns:a16="http://schemas.microsoft.com/office/drawing/2014/main" id="{AF17D28B-E67E-1834-E966-C18911949CBF}"/>
                </a:ext>
              </a:extLst>
            </p:cNvPr>
            <p:cNvSpPr/>
            <p:nvPr/>
          </p:nvSpPr>
          <p:spPr>
            <a:xfrm>
              <a:off x="685800" y="841248"/>
              <a:ext cx="10817352" cy="0"/>
            </a:xfrm>
            <a:prstGeom prst="line">
              <a:avLst/>
            </a:prstGeom>
            <a:noFill/>
            <a:ln w="9525">
              <a:solidFill>
                <a:srgbClr val="DADADA"/>
              </a:solidFill>
              <a:prstDash val="solid"/>
            </a:ln>
          </p:spPr>
          <p:txBody>
            <a:bodyPr/>
            <a:lstStyle/>
            <a:p>
              <a:endParaRPr lang="en-CH"/>
            </a:p>
          </p:txBody>
        </p:sp>
        <p:sp>
          <p:nvSpPr>
            <p:cNvPr id="36" name="Text 5">
              <a:extLst>
                <a:ext uri="{FF2B5EF4-FFF2-40B4-BE49-F238E27FC236}">
                  <a16:creationId xmlns:a16="http://schemas.microsoft.com/office/drawing/2014/main" id="{B2FD6606-77AA-7E1F-88E2-CB3E6D033269}"/>
                </a:ext>
              </a:extLst>
            </p:cNvPr>
            <p:cNvSpPr txBox="1"/>
            <p:nvPr/>
          </p:nvSpPr>
          <p:spPr>
            <a:xfrm>
              <a:off x="6016752" y="842196"/>
              <a:ext cx="548640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850" kern="0" spc="150" dirty="0">
                  <a:solidFill>
                    <a:srgbClr val="8C8C8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BUSINESS CREATION ICT  ·  VENTURELAB  ·  AUG-SEP 2026  ·  ZÜRICH</a:t>
              </a:r>
              <a:endParaRPr lang="en-US" sz="850" dirty="0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3774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" name="Text 1"/>
          <p:cNvSpPr txBox="1"/>
          <p:nvPr/>
        </p:nvSpPr>
        <p:spPr>
          <a:xfrm>
            <a:off x="566928" y="237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060704" y="237744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731520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2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&amp; ADVISORS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629107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vortexdeep.ch  ·  info@vortexdeep.ch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9795967" y="62910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11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969264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board &amp; advisors.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1664208"/>
            <a:ext cx="1050919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Advisors fill specific gaps; a board holds me accountable. None of these seats is filled today — these are profiles, not people.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2304288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ADVISORS · SPECIFIC GAPS · LIGHT ENGAGEMENT, 2–4 H/MONTH, SMALL EQUITY WITH VESTING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66928" y="2615184"/>
            <a:ext cx="3529584" cy="1627632"/>
          </a:xfrm>
          <a:prstGeom prst="roundRect">
            <a:avLst>
              <a:gd name="adj" fmla="val 2247"/>
            </a:avLst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3" name="Text 11"/>
          <p:cNvSpPr txBox="1"/>
          <p:nvPr/>
        </p:nvSpPr>
        <p:spPr>
          <a:xfrm>
            <a:off x="749808" y="272491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4B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749808" y="2980944"/>
            <a:ext cx="3163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/ industry operator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49808" y="3438144"/>
            <a:ext cx="31638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manufacturing or Treuhand veteran who knows the beachhead. Validates we target real pain, 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opens doors.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297680" y="2615184"/>
            <a:ext cx="3529584" cy="1627632"/>
          </a:xfrm>
          <a:prstGeom prst="roundRect">
            <a:avLst>
              <a:gd name="adj" fmla="val 2247"/>
            </a:avLst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7" name="Text 15"/>
          <p:cNvSpPr txBox="1"/>
          <p:nvPr/>
        </p:nvSpPr>
        <p:spPr>
          <a:xfrm>
            <a:off x="4480560" y="272491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4B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480560" y="2980944"/>
            <a:ext cx="3163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automation &amp; data governance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480560" y="3438144"/>
            <a:ext cx="31638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build credible on security, privacy and human-in-the-loop as it scales. Sanity-checks the tech.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028432" y="2615184"/>
            <a:ext cx="3529584" cy="1627632"/>
          </a:xfrm>
          <a:prstGeom prst="roundRect">
            <a:avLst>
              <a:gd name="adj" fmla="val 2247"/>
            </a:avLst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1" name="Text 19"/>
          <p:cNvSpPr txBox="1"/>
          <p:nvPr/>
        </p:nvSpPr>
        <p:spPr>
          <a:xfrm>
            <a:off x="8211312" y="272491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4B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8211312" y="2980944"/>
            <a:ext cx="3163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DACH B2B go-to-market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211312" y="3438144"/>
            <a:ext cx="31638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Sharpens positioning and the sales motion; referrals into high-trust niches.</a:t>
            </a:r>
          </a:p>
          <a:p>
            <a:pPr marL="0" indent="0">
              <a:buNone/>
            </a:pP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66928" y="4389120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· LATER, WITH FUNDING · FORMAL, QUARTERLY, ACCOUNTABLE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66928" y="4663440"/>
            <a:ext cx="11057839" cy="1042416"/>
          </a:xfrm>
          <a:prstGeom prst="roundRect">
            <a:avLst>
              <a:gd name="adj" fmla="val 3509"/>
            </a:avLst>
          </a:prstGeom>
          <a:solidFill>
            <a:srgbClr val="F2F2F2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6" name="Text 24"/>
          <p:cNvSpPr txBox="1"/>
          <p:nvPr/>
        </p:nvSpPr>
        <p:spPr>
          <a:xfrm>
            <a:off x="749808" y="479145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4B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152144" y="477316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chair / B2B services operator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1152144" y="5084064"/>
            <a:ext cx="1014343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Governance, accountability and strategic challenge; someone who has scaled a Swiss services business. Finance &amp; legal joins the board only when a raise makes it necessary — until then it is bought in (see Team).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566928" y="5870448"/>
            <a:ext cx="11057839" cy="420624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0" name="Text 28"/>
          <p:cNvSpPr txBox="1"/>
          <p:nvPr/>
        </p:nvSpPr>
        <p:spPr>
          <a:xfrm>
            <a:off x="768096" y="5870448"/>
            <a:ext cx="1065550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 Not advisors, and not listed as such: a first design-partner client. We name advisors only once they are actually engaged.</a:t>
            </a:r>
            <a:endParaRPr lang="en-US" sz="1400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36A5E719-50B2-37F3-3AE0-D14DAE331863}"/>
              </a:ext>
            </a:extLst>
          </p:cNvPr>
          <p:cNvGrpSpPr/>
          <p:nvPr/>
        </p:nvGrpSpPr>
        <p:grpSpPr>
          <a:xfrm>
            <a:off x="685800" y="715128"/>
            <a:ext cx="10817352" cy="293556"/>
            <a:chOff x="685800" y="841248"/>
            <a:chExt cx="10817352" cy="293556"/>
          </a:xfrm>
        </p:grpSpPr>
        <p:sp>
          <p:nvSpPr>
            <p:cNvPr id="32" name="Shape 3">
              <a:extLst>
                <a:ext uri="{FF2B5EF4-FFF2-40B4-BE49-F238E27FC236}">
                  <a16:creationId xmlns:a16="http://schemas.microsoft.com/office/drawing/2014/main" id="{F58A11B9-4487-796E-FF64-BEDC58218FD6}"/>
                </a:ext>
              </a:extLst>
            </p:cNvPr>
            <p:cNvSpPr/>
            <p:nvPr/>
          </p:nvSpPr>
          <p:spPr>
            <a:xfrm>
              <a:off x="685800" y="841248"/>
              <a:ext cx="10817352" cy="0"/>
            </a:xfrm>
            <a:prstGeom prst="line">
              <a:avLst/>
            </a:prstGeom>
            <a:noFill/>
            <a:ln w="9525">
              <a:solidFill>
                <a:srgbClr val="DADADA"/>
              </a:solidFill>
              <a:prstDash val="solid"/>
            </a:ln>
          </p:spPr>
          <p:txBody>
            <a:bodyPr/>
            <a:lstStyle/>
            <a:p>
              <a:endParaRPr lang="en-CH"/>
            </a:p>
          </p:txBody>
        </p:sp>
        <p:sp>
          <p:nvSpPr>
            <p:cNvPr id="33" name="Text 5">
              <a:extLst>
                <a:ext uri="{FF2B5EF4-FFF2-40B4-BE49-F238E27FC236}">
                  <a16:creationId xmlns:a16="http://schemas.microsoft.com/office/drawing/2014/main" id="{30C37E96-0A4B-A5FE-C591-56EA5117B400}"/>
                </a:ext>
              </a:extLst>
            </p:cNvPr>
            <p:cNvSpPr txBox="1"/>
            <p:nvPr/>
          </p:nvSpPr>
          <p:spPr>
            <a:xfrm>
              <a:off x="6016752" y="842196"/>
              <a:ext cx="548640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850" kern="0" spc="150" dirty="0">
                  <a:solidFill>
                    <a:srgbClr val="8C8C8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BUSINESS CREATION ICT  ·  VENTURELAB  ·  AUG-SEP 2026  ·  ZÜRICH</a:t>
              </a:r>
              <a:endParaRPr lang="en-US" sz="850" dirty="0"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3774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" name="Text 1"/>
          <p:cNvSpPr txBox="1"/>
          <p:nvPr/>
        </p:nvSpPr>
        <p:spPr>
          <a:xfrm>
            <a:off x="566928" y="237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060704" y="237744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731520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2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MOTION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629107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vortexdeep.ch  ·  info@vortexdeep.ch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9795967" y="62910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11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969264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real today — and what still needs proof.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1664208"/>
            <a:ext cx="1050919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Pre-revenue, but not pre-proof. Three things exist right now.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66928" y="2615184"/>
            <a:ext cx="3529584" cy="2395728"/>
          </a:xfrm>
          <a:prstGeom prst="roundRect">
            <a:avLst>
              <a:gd name="adj" fmla="val 1527"/>
            </a:avLst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2" name="Shape 10"/>
          <p:cNvSpPr/>
          <p:nvPr/>
        </p:nvSpPr>
        <p:spPr>
          <a:xfrm>
            <a:off x="566928" y="2615184"/>
            <a:ext cx="3529584" cy="32004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bg1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3" name="Text 11"/>
          <p:cNvSpPr txBox="1"/>
          <p:nvPr/>
        </p:nvSpPr>
        <p:spPr>
          <a:xfrm>
            <a:off x="786384" y="2798064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4B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786384" y="3054096"/>
            <a:ext cx="3090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in progress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86384" y="3474720"/>
            <a:ext cx="30906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unpaid email-handling automation with a Swiss SME, built around a real process. Technical proof and our first reference case — not yet a paid customer case.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297680" y="2615184"/>
            <a:ext cx="3529584" cy="2395728"/>
          </a:xfrm>
          <a:prstGeom prst="roundRect">
            <a:avLst>
              <a:gd name="adj" fmla="val 1527"/>
            </a:avLst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7" name="Shape 15"/>
          <p:cNvSpPr/>
          <p:nvPr/>
        </p:nvSpPr>
        <p:spPr>
          <a:xfrm>
            <a:off x="4297680" y="2615184"/>
            <a:ext cx="3529584" cy="32004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bg1">
                <a:lumMod val="65000"/>
              </a:schemeClr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8" name="Text 16"/>
          <p:cNvSpPr txBox="1"/>
          <p:nvPr/>
        </p:nvSpPr>
        <p:spPr>
          <a:xfrm>
            <a:off x="4517136" y="2798064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4B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517136" y="3054096"/>
            <a:ext cx="3090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 Check live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4517136" y="3474720"/>
            <a:ext cx="30906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 self-check on vortexdeep.ch. The low-pressure front door that collects real data on who fits.</a:t>
            </a:r>
          </a:p>
          <a:p>
            <a:pPr marL="0" indent="0">
              <a:buNone/>
            </a:pP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8028432" y="2615184"/>
            <a:ext cx="3529584" cy="2395728"/>
          </a:xfrm>
          <a:prstGeom prst="roundRect">
            <a:avLst>
              <a:gd name="adj" fmla="val 1527"/>
            </a:avLst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2" name="Shape 20"/>
          <p:cNvSpPr/>
          <p:nvPr/>
        </p:nvSpPr>
        <p:spPr>
          <a:xfrm>
            <a:off x="8028432" y="2615184"/>
            <a:ext cx="3529584" cy="32004"/>
          </a:xfrm>
          <a:prstGeom prst="rect">
            <a:avLst/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3" name="Text 21"/>
          <p:cNvSpPr txBox="1"/>
          <p:nvPr/>
        </p:nvSpPr>
        <p:spPr>
          <a:xfrm>
            <a:off x="8247888" y="2798064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4B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8247888" y="3054096"/>
            <a:ext cx="3090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 on the table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8247888" y="3474720"/>
            <a:ext cx="30906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quantify a prospect's cost of doing nothing — time, errors, lost leads — against our fee. We model payback; the figure gets confirmed with the first paid client.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566928" y="5870448"/>
            <a:ext cx="11057839" cy="420624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7" name="Text 25"/>
          <p:cNvSpPr txBox="1"/>
          <p:nvPr/>
        </p:nvSpPr>
        <p:spPr>
          <a:xfrm>
            <a:off x="768096" y="5870448"/>
            <a:ext cx="1065550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 Narrow, but real. Technical proof is done; commercial proof is next.</a:t>
            </a:r>
            <a:endParaRPr lang="en-US" sz="1400" dirty="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C3700CB-5821-74BF-C62B-5230BA575E7A}"/>
              </a:ext>
            </a:extLst>
          </p:cNvPr>
          <p:cNvGrpSpPr/>
          <p:nvPr/>
        </p:nvGrpSpPr>
        <p:grpSpPr>
          <a:xfrm>
            <a:off x="685800" y="715128"/>
            <a:ext cx="10817352" cy="293556"/>
            <a:chOff x="685800" y="841248"/>
            <a:chExt cx="10817352" cy="293556"/>
          </a:xfrm>
        </p:grpSpPr>
        <p:sp>
          <p:nvSpPr>
            <p:cNvPr id="29" name="Shape 3">
              <a:extLst>
                <a:ext uri="{FF2B5EF4-FFF2-40B4-BE49-F238E27FC236}">
                  <a16:creationId xmlns:a16="http://schemas.microsoft.com/office/drawing/2014/main" id="{6B889417-DBEA-27F7-D5CD-7B6A7AB2C3CD}"/>
                </a:ext>
              </a:extLst>
            </p:cNvPr>
            <p:cNvSpPr/>
            <p:nvPr/>
          </p:nvSpPr>
          <p:spPr>
            <a:xfrm>
              <a:off x="685800" y="841248"/>
              <a:ext cx="10817352" cy="0"/>
            </a:xfrm>
            <a:prstGeom prst="line">
              <a:avLst/>
            </a:prstGeom>
            <a:noFill/>
            <a:ln w="9525">
              <a:solidFill>
                <a:srgbClr val="DADADA"/>
              </a:solidFill>
              <a:prstDash val="solid"/>
            </a:ln>
          </p:spPr>
          <p:txBody>
            <a:bodyPr/>
            <a:lstStyle/>
            <a:p>
              <a:endParaRPr lang="en-CH"/>
            </a:p>
          </p:txBody>
        </p:sp>
        <p:sp>
          <p:nvSpPr>
            <p:cNvPr id="30" name="Text 5">
              <a:extLst>
                <a:ext uri="{FF2B5EF4-FFF2-40B4-BE49-F238E27FC236}">
                  <a16:creationId xmlns:a16="http://schemas.microsoft.com/office/drawing/2014/main" id="{FCA80726-678E-2A0E-9A06-61BB3C75CF7D}"/>
                </a:ext>
              </a:extLst>
            </p:cNvPr>
            <p:cNvSpPr txBox="1"/>
            <p:nvPr/>
          </p:nvSpPr>
          <p:spPr>
            <a:xfrm>
              <a:off x="6016752" y="842196"/>
              <a:ext cx="548640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850" kern="0" spc="150" dirty="0">
                  <a:solidFill>
                    <a:srgbClr val="8C8C8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BUSINESS CREATION ICT  ·  VENTURELAB  ·  AUG-SEP 2026  ·  ZÜRICH</a:t>
              </a:r>
              <a:endParaRPr lang="en-US" sz="850" dirty="0"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3774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" name="Text 1"/>
          <p:cNvSpPr txBox="1"/>
          <p:nvPr/>
        </p:nvSpPr>
        <p:spPr>
          <a:xfrm>
            <a:off x="566928" y="237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060704" y="237744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6002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1965960"/>
            <a:ext cx="10241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 a small company drowning in</a:t>
            </a:r>
            <a:endParaRPr lang="en-US" sz="3200" dirty="0"/>
          </a:p>
          <a:p>
            <a:pPr marL="0" indent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repetitive admin? That’s exactly who we help.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566928" y="3675888"/>
            <a:ext cx="1005840" cy="320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9" name="Text 7"/>
          <p:cNvSpPr txBox="1"/>
          <p:nvPr/>
        </p:nvSpPr>
        <p:spPr>
          <a:xfrm>
            <a:off x="566928" y="3913632"/>
            <a:ext cx="950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450" dirty="0">
                <a:solidFill>
                  <a:srgbClr val="B4B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Introductions to SMEs in the beachhead — ideally one design partner willing to map and test a process — and early capital to compress the timeline: earlier delivery hire, faster CH → EU. The model is built to stand on its own revenue; funding makes it faster.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5029200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you.</a:t>
            </a:r>
            <a:endParaRPr lang="en-US" sz="1800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8937957-8652-560F-60B3-382774616448}"/>
              </a:ext>
            </a:extLst>
          </p:cNvPr>
          <p:cNvGrpSpPr/>
          <p:nvPr/>
        </p:nvGrpSpPr>
        <p:grpSpPr>
          <a:xfrm>
            <a:off x="685800" y="5760720"/>
            <a:ext cx="10817352" cy="685800"/>
            <a:chOff x="685800" y="5760720"/>
            <a:chExt cx="10817352" cy="685800"/>
          </a:xfrm>
        </p:grpSpPr>
        <p:sp>
          <p:nvSpPr>
            <p:cNvPr id="13" name="Shape 7">
              <a:extLst>
                <a:ext uri="{FF2B5EF4-FFF2-40B4-BE49-F238E27FC236}">
                  <a16:creationId xmlns:a16="http://schemas.microsoft.com/office/drawing/2014/main" id="{00E85373-CCA2-6033-373F-7673B3707E65}"/>
                </a:ext>
              </a:extLst>
            </p:cNvPr>
            <p:cNvSpPr/>
            <p:nvPr/>
          </p:nvSpPr>
          <p:spPr>
            <a:xfrm>
              <a:off x="685800" y="5760720"/>
              <a:ext cx="10817352" cy="0"/>
            </a:xfrm>
            <a:prstGeom prst="line">
              <a:avLst/>
            </a:prstGeom>
            <a:noFill/>
            <a:ln w="9525">
              <a:solidFill>
                <a:srgbClr val="3A3A3A"/>
              </a:solidFill>
              <a:prstDash val="solid"/>
            </a:ln>
          </p:spPr>
          <p:txBody>
            <a:bodyPr/>
            <a:lstStyle/>
            <a:p>
              <a:endParaRPr lang="en-CH"/>
            </a:p>
          </p:txBody>
        </p:sp>
        <p:sp>
          <p:nvSpPr>
            <p:cNvPr id="14" name="Text 8">
              <a:extLst>
                <a:ext uri="{FF2B5EF4-FFF2-40B4-BE49-F238E27FC236}">
                  <a16:creationId xmlns:a16="http://schemas.microsoft.com/office/drawing/2014/main" id="{2B18C2C0-4AE8-C496-0212-4986AD1E0468}"/>
                </a:ext>
              </a:extLst>
            </p:cNvPr>
            <p:cNvSpPr txBox="1"/>
            <p:nvPr/>
          </p:nvSpPr>
          <p:spPr>
            <a:xfrm>
              <a:off x="685800" y="5852160"/>
              <a:ext cx="10817352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kern="0" spc="200" dirty="0">
                  <a:solidFill>
                    <a:srgbClr val="8C8C8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BUSINESS CREATION ICT  ·  VENTURELAB  ·  AUG-SEP 2026  ·  ZÜRICH</a:t>
              </a:r>
              <a:endParaRPr lang="en-US" sz="900" dirty="0"/>
            </a:p>
          </p:txBody>
        </p:sp>
        <p:sp>
          <p:nvSpPr>
            <p:cNvPr id="15" name="Text 9">
              <a:extLst>
                <a:ext uri="{FF2B5EF4-FFF2-40B4-BE49-F238E27FC236}">
                  <a16:creationId xmlns:a16="http://schemas.microsoft.com/office/drawing/2014/main" id="{F8156C35-F1BA-144A-50D4-83A5D5821E87}"/>
                </a:ext>
              </a:extLst>
            </p:cNvPr>
            <p:cNvSpPr txBox="1"/>
            <p:nvPr/>
          </p:nvSpPr>
          <p:spPr>
            <a:xfrm>
              <a:off x="685800" y="6172200"/>
              <a:ext cx="10817352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7A7A7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Maciek Szczech, Founder  ·  vortexdeep.ch  ·  info@vortexdeep.ch  ·  Claridapark 4, 8636 Wald ZH</a:t>
              </a:r>
              <a:endParaRPr lang="en-US" sz="900" dirty="0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817</TotalTime>
  <Words>1980</Words>
  <Application>Microsoft Macintosh PowerPoint</Application>
  <PresentationFormat>Widescreen</PresentationFormat>
  <Paragraphs>277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VortexDeep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VortexDeep - Business Creation ICT - v13</dc:title>
  <dc:subject>PptxGenJS Presentation</dc:subject>
  <dc:creator>Maciek Szczech</dc:creator>
  <cp:lastModifiedBy>maciek szczech</cp:lastModifiedBy>
  <cp:revision>9</cp:revision>
  <dcterms:created xsi:type="dcterms:W3CDTF">2026-09-01T17:37:29Z</dcterms:created>
  <dcterms:modified xsi:type="dcterms:W3CDTF">2026-09-02T19:34:16Z</dcterms:modified>
</cp:coreProperties>
</file>