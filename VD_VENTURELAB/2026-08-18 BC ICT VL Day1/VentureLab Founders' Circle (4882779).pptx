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8" r:id="rId2"/>
    <p:sldId id="318" r:id="rId3"/>
    <p:sldId id="319" r:id="rId4"/>
    <p:sldId id="313" r:id="rId5"/>
    <p:sldId id="273" r:id="rId6"/>
    <p:sldId id="274" r:id="rId7"/>
    <p:sldId id="275" r:id="rId8"/>
    <p:sldId id="276" r:id="rId9"/>
    <p:sldId id="277" r:id="rId10"/>
    <p:sldId id="287" r:id="rId11"/>
    <p:sldId id="278" r:id="rId12"/>
    <p:sldId id="257" r:id="rId13"/>
    <p:sldId id="279" r:id="rId14"/>
    <p:sldId id="260" r:id="rId15"/>
    <p:sldId id="286" r:id="rId16"/>
    <p:sldId id="281" r:id="rId17"/>
    <p:sldId id="283" r:id="rId18"/>
    <p:sldId id="284" r:id="rId19"/>
    <p:sldId id="280" r:id="rId20"/>
    <p:sldId id="312" r:id="rId21"/>
    <p:sldId id="290" r:id="rId22"/>
    <p:sldId id="291" r:id="rId23"/>
    <p:sldId id="292" r:id="rId24"/>
    <p:sldId id="293" r:id="rId25"/>
    <p:sldId id="294" r:id="rId26"/>
    <p:sldId id="295" r:id="rId27"/>
    <p:sldId id="296" r:id="rId28"/>
    <p:sldId id="298" r:id="rId29"/>
    <p:sldId id="300" r:id="rId30"/>
    <p:sldId id="305" r:id="rId31"/>
    <p:sldId id="311" r:id="rId32"/>
    <p:sldId id="314" r:id="rId33"/>
    <p:sldId id="315" r:id="rId34"/>
    <p:sldId id="316" r:id="rId35"/>
    <p:sldId id="317" r:id="rId36"/>
    <p:sldId id="310" r:id="rId37"/>
    <p:sldId id="285" r:id="rId38"/>
  </p:sldIdLst>
  <p:sldSz cx="9144000" cy="6858000" type="screen4x3"/>
  <p:notesSz cx="6669088" cy="9926638"/>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1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6" autoAdjust="0"/>
    <p:restoredTop sz="86589" autoAdjust="0"/>
  </p:normalViewPr>
  <p:slideViewPr>
    <p:cSldViewPr showGuides="1">
      <p:cViewPr varScale="1">
        <p:scale>
          <a:sx n="78" d="100"/>
          <a:sy n="78" d="100"/>
        </p:scale>
        <p:origin x="1373" y="58"/>
      </p:cViewPr>
      <p:guideLst>
        <p:guide orient="horz" pos="2160"/>
        <p:guide pos="51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2E9F5D3D-4442-4B31-A058-0B57C734619C}" type="datetimeFigureOut">
              <a:rPr lang="de-CH" smtClean="0"/>
              <a:pPr/>
              <a:t>16.11.2016</a:t>
            </a:fld>
            <a:endParaRPr lang="de-CH"/>
          </a:p>
        </p:txBody>
      </p:sp>
      <p:sp>
        <p:nvSpPr>
          <p:cNvPr id="4" name="Slide Image Placeholder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D227EBE4-09F4-4C7A-AE55-F5044AEEAADB}" type="slidenum">
              <a:rPr lang="de-CH" smtClean="0"/>
              <a:pPr/>
              <a:t>‹Nr.›</a:t>
            </a:fld>
            <a:endParaRPr lang="de-CH"/>
          </a:p>
        </p:txBody>
      </p:sp>
    </p:spTree>
    <p:extLst>
      <p:ext uri="{BB962C8B-B14F-4D97-AF65-F5344CB8AC3E}">
        <p14:creationId xmlns:p14="http://schemas.microsoft.com/office/powerpoint/2010/main" val="1036317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copyright.ch/de"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www.patentlaw.ch/d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2</a:t>
            </a:fld>
            <a:endParaRPr lang="de-CH"/>
          </a:p>
        </p:txBody>
      </p:sp>
    </p:spTree>
    <p:extLst>
      <p:ext uri="{BB962C8B-B14F-4D97-AF65-F5344CB8AC3E}">
        <p14:creationId xmlns:p14="http://schemas.microsoft.com/office/powerpoint/2010/main" val="1559333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3</a:t>
            </a:fld>
            <a:endParaRPr lang="de-CH"/>
          </a:p>
        </p:txBody>
      </p:sp>
    </p:spTree>
    <p:extLst>
      <p:ext uri="{BB962C8B-B14F-4D97-AF65-F5344CB8AC3E}">
        <p14:creationId xmlns:p14="http://schemas.microsoft.com/office/powerpoint/2010/main" val="3922673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CH" dirty="0" smtClean="0"/>
              <a:t>I </a:t>
            </a:r>
            <a:r>
              <a:rPr lang="de-CH" dirty="0" err="1" smtClean="0"/>
              <a:t>assume</a:t>
            </a:r>
            <a:r>
              <a:rPr lang="de-CH" dirty="0" smtClean="0"/>
              <a:t> </a:t>
            </a:r>
            <a:r>
              <a:rPr lang="de-CH" dirty="0" err="1" smtClean="0"/>
              <a:t>you</a:t>
            </a:r>
            <a:r>
              <a:rPr lang="de-CH" dirty="0" smtClean="0"/>
              <a:t> </a:t>
            </a:r>
            <a:r>
              <a:rPr lang="de-CH" dirty="0" err="1" smtClean="0"/>
              <a:t>guys</a:t>
            </a:r>
            <a:r>
              <a:rPr lang="de-CH" baseline="0" dirty="0" smtClean="0"/>
              <a:t> </a:t>
            </a:r>
            <a:r>
              <a:rPr lang="de-CH" baseline="0" dirty="0" err="1" smtClean="0"/>
              <a:t>know</a:t>
            </a:r>
            <a:r>
              <a:rPr lang="de-CH" baseline="0" dirty="0" smtClean="0"/>
              <a:t> all </a:t>
            </a:r>
            <a:r>
              <a:rPr lang="de-CH" baseline="0" dirty="0" err="1" smtClean="0"/>
              <a:t>about</a:t>
            </a:r>
            <a:r>
              <a:rPr lang="de-CH" baseline="0" dirty="0" smtClean="0"/>
              <a:t> </a:t>
            </a:r>
            <a:r>
              <a:rPr lang="de-CH" baseline="0" dirty="0" err="1" smtClean="0"/>
              <a:t>the</a:t>
            </a:r>
            <a:r>
              <a:rPr lang="de-CH" baseline="0" dirty="0" smtClean="0"/>
              <a:t> </a:t>
            </a:r>
            <a:r>
              <a:rPr lang="de-CH" baseline="0" dirty="0" err="1" smtClean="0"/>
              <a:t>very</a:t>
            </a:r>
            <a:r>
              <a:rPr lang="de-CH" baseline="0" dirty="0" smtClean="0"/>
              <a:t> </a:t>
            </a:r>
            <a:r>
              <a:rPr lang="de-CH" baseline="0" dirty="0" err="1" smtClean="0"/>
              <a:t>basics</a:t>
            </a:r>
            <a:r>
              <a:rPr lang="de-CH" baseline="0" dirty="0" smtClean="0"/>
              <a:t> </a:t>
            </a:r>
            <a:r>
              <a:rPr lang="de-CH" baseline="0" dirty="0" err="1" smtClean="0"/>
              <a:t>of</a:t>
            </a:r>
            <a:r>
              <a:rPr lang="de-CH" baseline="0" dirty="0" smtClean="0"/>
              <a:t> IP </a:t>
            </a:r>
            <a:r>
              <a:rPr lang="de-CH" baseline="0" dirty="0" err="1" smtClean="0"/>
              <a:t>protection</a:t>
            </a:r>
            <a:r>
              <a:rPr lang="de-CH" baseline="0" dirty="0" smtClean="0"/>
              <a:t>. Trademark, </a:t>
            </a:r>
            <a:r>
              <a:rPr lang="de-CH" baseline="0" dirty="0" err="1" smtClean="0"/>
              <a:t>copypright</a:t>
            </a:r>
            <a:r>
              <a:rPr lang="de-CH" baseline="0" dirty="0" smtClean="0"/>
              <a:t>, </a:t>
            </a:r>
            <a:r>
              <a:rPr lang="de-CH" baseline="0" dirty="0" err="1" smtClean="0"/>
              <a:t>patents</a:t>
            </a:r>
            <a:r>
              <a:rPr lang="de-CH" baseline="0" dirty="0" smtClean="0"/>
              <a:t> etc. </a:t>
            </a:r>
            <a:r>
              <a:rPr lang="de-CH" baseline="0" dirty="0" err="1" smtClean="0"/>
              <a:t>Now</a:t>
            </a:r>
            <a:r>
              <a:rPr lang="de-CH" baseline="0" dirty="0" smtClean="0"/>
              <a:t> </a:t>
            </a:r>
            <a:r>
              <a:rPr lang="de-CH" baseline="0" dirty="0" err="1" smtClean="0"/>
              <a:t>to</a:t>
            </a:r>
            <a:r>
              <a:rPr lang="de-CH" baseline="0" dirty="0" smtClean="0"/>
              <a:t> </a:t>
            </a:r>
            <a:r>
              <a:rPr lang="de-CH" baseline="0" dirty="0" err="1" smtClean="0"/>
              <a:t>what</a:t>
            </a:r>
            <a:r>
              <a:rPr lang="de-CH" baseline="0" dirty="0" smtClean="0"/>
              <a:t> </a:t>
            </a:r>
            <a:r>
              <a:rPr lang="de-CH" baseline="0" dirty="0" err="1" smtClean="0"/>
              <a:t>exactly</a:t>
            </a:r>
            <a:r>
              <a:rPr lang="de-CH" baseline="0" dirty="0" smtClean="0"/>
              <a:t> do </a:t>
            </a:r>
            <a:r>
              <a:rPr lang="de-CH" baseline="0" dirty="0" err="1" smtClean="0"/>
              <a:t>they</a:t>
            </a:r>
            <a:r>
              <a:rPr lang="de-CH" baseline="0" dirty="0" smtClean="0"/>
              <a:t> </a:t>
            </a:r>
            <a:r>
              <a:rPr lang="de-CH" baseline="0" dirty="0" err="1" smtClean="0"/>
              <a:t>relate</a:t>
            </a:r>
            <a:r>
              <a:rPr lang="de-CH" baseline="0" dirty="0" smtClean="0"/>
              <a:t>? </a:t>
            </a:r>
            <a:r>
              <a:rPr lang="de-CH" baseline="0" dirty="0" err="1" smtClean="0"/>
              <a:t>What</a:t>
            </a:r>
            <a:r>
              <a:rPr lang="de-CH" baseline="0" dirty="0" smtClean="0"/>
              <a:t> </a:t>
            </a:r>
            <a:endParaRPr lang="de-CH" dirty="0" smtClean="0"/>
          </a:p>
          <a:p>
            <a:endParaRPr lang="de-CH" dirty="0" smtClean="0"/>
          </a:p>
          <a:p>
            <a:r>
              <a:rPr lang="de-CH" dirty="0" smtClean="0"/>
              <a:t>Unternehmensauftritt: Kaum</a:t>
            </a:r>
            <a:r>
              <a:rPr lang="de-CH" baseline="0" dirty="0" smtClean="0"/>
              <a:t> ein Unternehmen, für das die Rechte am eigenen Namen/Auftritt nicht essentiell sind.</a:t>
            </a:r>
          </a:p>
          <a:p>
            <a:endParaRPr lang="de-CH" baseline="0" dirty="0" smtClean="0"/>
          </a:p>
          <a:p>
            <a:r>
              <a:rPr lang="de-CH" baseline="0" dirty="0" smtClean="0"/>
              <a:t>Produkt: je nach dem schneller Markteintritt wichtiger, Know-how entscheidend, bestehende Kundenbeziehungen/Netzwerk/Infrastruktur etc.</a:t>
            </a:r>
          </a:p>
          <a:p>
            <a:endParaRPr lang="de-CH" baseline="0" dirty="0" smtClean="0"/>
          </a:p>
          <a:p>
            <a:r>
              <a:rPr lang="de-CH" baseline="0" dirty="0" smtClean="0"/>
              <a:t>Unternehmenswert hängt in der Regel davon ab (stärker oder weniger stark)</a:t>
            </a:r>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6</a:t>
            </a:fld>
            <a:endParaRPr lang="de-CH"/>
          </a:p>
        </p:txBody>
      </p:sp>
    </p:spTree>
    <p:extLst>
      <p:ext uri="{BB962C8B-B14F-4D97-AF65-F5344CB8AC3E}">
        <p14:creationId xmlns:p14="http://schemas.microsoft.com/office/powerpoint/2010/main" val="2342251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CH" dirty="0" smtClean="0"/>
              <a:t>Software:</a:t>
            </a:r>
            <a:r>
              <a:rPr lang="de-CH" baseline="0" dirty="0" smtClean="0"/>
              <a:t> </a:t>
            </a:r>
            <a:r>
              <a:rPr lang="de-CH" baseline="0" dirty="0" err="1" smtClean="0"/>
              <a:t>Grosse</a:t>
            </a:r>
            <a:r>
              <a:rPr lang="de-CH" baseline="0" dirty="0" smtClean="0"/>
              <a:t> Bedeutung (IT Startups, </a:t>
            </a:r>
            <a:r>
              <a:rPr lang="de-CH" baseline="0" dirty="0" err="1" smtClean="0"/>
              <a:t>Fintech</a:t>
            </a:r>
            <a:r>
              <a:rPr lang="de-CH" baseline="0" dirty="0" smtClean="0"/>
              <a:t>, aber bei anderen Technologien/Bereichen)</a:t>
            </a:r>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9</a:t>
            </a:fld>
            <a:endParaRPr lang="de-CH"/>
          </a:p>
        </p:txBody>
      </p:sp>
    </p:spTree>
    <p:extLst>
      <p:ext uri="{BB962C8B-B14F-4D97-AF65-F5344CB8AC3E}">
        <p14:creationId xmlns:p14="http://schemas.microsoft.com/office/powerpoint/2010/main" val="16032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p:txBody>
      </p:sp>
      <p:sp>
        <p:nvSpPr>
          <p:cNvPr id="4" name="Foliennummernplatzhalter 3"/>
          <p:cNvSpPr>
            <a:spLocks noGrp="1"/>
          </p:cNvSpPr>
          <p:nvPr>
            <p:ph type="sldNum" sz="quarter" idx="10"/>
          </p:nvPr>
        </p:nvSpPr>
        <p:spPr/>
        <p:txBody>
          <a:bodyPr/>
          <a:lstStyle/>
          <a:p>
            <a:fld id="{D227EBE4-09F4-4C7A-AE55-F5044AEEAADB}" type="slidenum">
              <a:rPr lang="de-CH" smtClean="0"/>
              <a:pPr/>
              <a:t>10</a:t>
            </a:fld>
            <a:endParaRPr lang="de-CH"/>
          </a:p>
        </p:txBody>
      </p:sp>
    </p:spTree>
    <p:extLst>
      <p:ext uri="{BB962C8B-B14F-4D97-AF65-F5344CB8AC3E}">
        <p14:creationId xmlns:p14="http://schemas.microsoft.com/office/powerpoint/2010/main" val="2336554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CH" sz="1200" kern="1200" dirty="0" smtClean="0">
                <a:solidFill>
                  <a:schemeClr val="tx1"/>
                </a:solidFill>
                <a:latin typeface="+mn-lt"/>
                <a:ea typeface="+mn-ea"/>
                <a:cs typeface="+mn-cs"/>
              </a:rPr>
              <a:t>Urheberrecht: international anerkannt:</a:t>
            </a:r>
            <a:r>
              <a:rPr lang="de-CH" sz="1200" kern="1200" baseline="0" dirty="0" smtClean="0">
                <a:solidFill>
                  <a:schemeClr val="tx1"/>
                </a:solidFill>
                <a:latin typeface="+mn-lt"/>
                <a:ea typeface="+mn-ea"/>
                <a:cs typeface="+mn-cs"/>
              </a:rPr>
              <a:t> </a:t>
            </a:r>
            <a:r>
              <a:rPr lang="de-CH" dirty="0" smtClean="0"/>
              <a:t>Art. 4 WIPO Copyright Treaty</a:t>
            </a:r>
            <a:r>
              <a:rPr lang="de-CH" baseline="0" dirty="0" smtClean="0"/>
              <a:t> (geschützt als literarisches Werk gemäss </a:t>
            </a:r>
            <a:r>
              <a:rPr lang="de-CH" baseline="0" dirty="0" err="1" smtClean="0"/>
              <a:t>Berne</a:t>
            </a:r>
            <a:r>
              <a:rPr lang="de-CH" baseline="0" dirty="0" smtClean="0"/>
              <a:t> </a:t>
            </a:r>
            <a:r>
              <a:rPr lang="de-CH" baseline="0" dirty="0" err="1" smtClean="0"/>
              <a:t>Convention</a:t>
            </a:r>
            <a:r>
              <a:rPr lang="de-CH" baseline="0" dirty="0" smtClean="0"/>
              <a:t>)</a:t>
            </a:r>
            <a:endParaRPr lang="de-CH" sz="1200" kern="1200" dirty="0" smtClean="0">
              <a:solidFill>
                <a:schemeClr val="tx1"/>
              </a:solidFill>
              <a:latin typeface="+mn-lt"/>
              <a:ea typeface="+mn-ea"/>
              <a:cs typeface="+mn-cs"/>
            </a:endParaRPr>
          </a:p>
          <a:p>
            <a:endParaRPr lang="de-CH" sz="1200" kern="1200" dirty="0" smtClean="0">
              <a:solidFill>
                <a:schemeClr val="tx1"/>
              </a:solidFill>
              <a:latin typeface="+mn-lt"/>
              <a:ea typeface="+mn-ea"/>
              <a:cs typeface="+mn-cs"/>
            </a:endParaRPr>
          </a:p>
          <a:p>
            <a:r>
              <a:rPr lang="de-CH" sz="1200" kern="1200" dirty="0" smtClean="0">
                <a:solidFill>
                  <a:schemeClr val="tx1"/>
                </a:solidFill>
                <a:latin typeface="+mn-lt"/>
                <a:ea typeface="+mn-ea"/>
                <a:cs typeface="+mn-cs"/>
              </a:rPr>
              <a:t>Software bzw. Computerprogramme sind durch das </a:t>
            </a:r>
            <a:r>
              <a:rPr lang="de-CH" sz="1200" kern="1200" dirty="0" smtClean="0">
                <a:solidFill>
                  <a:schemeClr val="tx1"/>
                </a:solidFill>
                <a:latin typeface="+mn-lt"/>
                <a:ea typeface="+mn-ea"/>
                <a:cs typeface="+mn-cs"/>
                <a:hlinkClick r:id="rId3"/>
              </a:rPr>
              <a:t>Urheberrecht </a:t>
            </a:r>
            <a:r>
              <a:rPr lang="de-CH" sz="1200" kern="1200" dirty="0" smtClean="0">
                <a:solidFill>
                  <a:schemeClr val="tx1"/>
                </a:solidFill>
                <a:latin typeface="+mn-lt"/>
                <a:ea typeface="+mn-ea"/>
                <a:cs typeface="+mn-cs"/>
              </a:rPr>
              <a:t>geschützt. Dabei schützt das Urheberrecht die konkrete Implementierung, also den Programm-Code, nicht aber ein Verfahren, das einem Computerprogramm zugrunde liegt. Ohne gegen das Urheberrecht zu verstossen, ist es möglich, dieselbe Idee in einem anderen Computerprogramm umzusetzen oder eine Software mit einer gewissen Funktionalität </a:t>
            </a:r>
            <a:r>
              <a:rPr lang="de-CH" sz="1200" kern="1200" dirty="0" err="1" smtClean="0">
                <a:solidFill>
                  <a:schemeClr val="tx1"/>
                </a:solidFill>
                <a:latin typeface="+mn-lt"/>
                <a:ea typeface="+mn-ea"/>
                <a:cs typeface="+mn-cs"/>
              </a:rPr>
              <a:t>nachzuprogrammieren</a:t>
            </a:r>
            <a:r>
              <a:rPr lang="de-CH" sz="1200" kern="1200" dirty="0" smtClean="0">
                <a:solidFill>
                  <a:schemeClr val="tx1"/>
                </a:solidFill>
                <a:latin typeface="+mn-lt"/>
                <a:ea typeface="+mn-ea"/>
                <a:cs typeface="+mn-cs"/>
              </a:rPr>
              <a:t>.</a:t>
            </a:r>
          </a:p>
          <a:p>
            <a:endParaRPr lang="de-CH" sz="1200" kern="1200" dirty="0" smtClean="0">
              <a:solidFill>
                <a:schemeClr val="tx1"/>
              </a:solidFill>
              <a:latin typeface="+mn-lt"/>
              <a:ea typeface="+mn-ea"/>
              <a:cs typeface="+mn-cs"/>
            </a:endParaRPr>
          </a:p>
          <a:p>
            <a:r>
              <a:rPr lang="de-CH" sz="1200" kern="1200" dirty="0" smtClean="0">
                <a:solidFill>
                  <a:schemeClr val="tx1"/>
                </a:solidFill>
                <a:latin typeface="+mn-lt"/>
                <a:ea typeface="+mn-ea"/>
                <a:cs typeface="+mn-cs"/>
              </a:rPr>
              <a:t>Es wäre also naheliegend, Software mittels Patenten zu schützen. </a:t>
            </a:r>
            <a:r>
              <a:rPr lang="de-CH" sz="1200" b="1" kern="1200" dirty="0" smtClean="0">
                <a:solidFill>
                  <a:schemeClr val="tx1"/>
                </a:solidFill>
                <a:latin typeface="+mn-lt"/>
                <a:ea typeface="+mn-ea"/>
                <a:cs typeface="+mn-cs"/>
              </a:rPr>
              <a:t>Patente</a:t>
            </a:r>
            <a:r>
              <a:rPr lang="de-CH" sz="1200" kern="1200" dirty="0" smtClean="0">
                <a:solidFill>
                  <a:schemeClr val="tx1"/>
                </a:solidFill>
                <a:latin typeface="+mn-lt"/>
                <a:ea typeface="+mn-ea"/>
                <a:cs typeface="+mn-cs"/>
              </a:rPr>
              <a:t> dienen dem Schutz technischer Erfindungen, also neuen und nicht naheliegenden Lösungen technischer Problemstellungen. Grundsätzlich jedoch sind in Europa </a:t>
            </a:r>
            <a:r>
              <a:rPr lang="de-CH" sz="1200" b="1" kern="1200" dirty="0" smtClean="0">
                <a:solidFill>
                  <a:schemeClr val="tx1"/>
                </a:solidFill>
                <a:latin typeface="+mn-lt"/>
                <a:ea typeface="+mn-ea"/>
                <a:cs typeface="+mn-cs"/>
              </a:rPr>
              <a:t>Computerprogramme </a:t>
            </a:r>
            <a:r>
              <a:rPr lang="de-CH" sz="1200" b="1" i="1" kern="1200" dirty="0" smtClean="0">
                <a:solidFill>
                  <a:schemeClr val="tx1"/>
                </a:solidFill>
                <a:latin typeface="+mn-lt"/>
                <a:ea typeface="+mn-ea"/>
                <a:cs typeface="+mn-cs"/>
              </a:rPr>
              <a:t>als solche</a:t>
            </a:r>
            <a:r>
              <a:rPr lang="de-CH" sz="1200" kern="1200" dirty="0" smtClean="0">
                <a:solidFill>
                  <a:schemeClr val="tx1"/>
                </a:solidFill>
                <a:latin typeface="+mn-lt"/>
                <a:ea typeface="+mn-ea"/>
                <a:cs typeface="+mn-cs"/>
              </a:rPr>
              <a:t> vom Patentschutz ausgeschlossen. Reine Textverarbeitungsprogramme beispielsweise lösen kein technisches Problem und sind daher nicht patentierbar. Anders sieht es hingegen aus, wenn Computerprogramme dazu dienen, eine technische Erfindung </a:t>
            </a:r>
            <a:r>
              <a:rPr lang="de-CH" sz="1200" kern="1200" dirty="0" err="1" smtClean="0">
                <a:solidFill>
                  <a:schemeClr val="tx1"/>
                </a:solidFill>
                <a:latin typeface="+mn-lt"/>
                <a:ea typeface="+mn-ea"/>
                <a:cs typeface="+mn-cs"/>
              </a:rPr>
              <a:t>umszusetzen</a:t>
            </a:r>
            <a:r>
              <a:rPr lang="de-CH" sz="1200" kern="1200" dirty="0" smtClean="0">
                <a:solidFill>
                  <a:schemeClr val="tx1"/>
                </a:solidFill>
                <a:latin typeface="+mn-lt"/>
                <a:ea typeface="+mn-ea"/>
                <a:cs typeface="+mn-cs"/>
              </a:rPr>
              <a:t>. Solche </a:t>
            </a:r>
            <a:r>
              <a:rPr lang="de-CH" sz="1200" b="1" kern="1200" dirty="0" smtClean="0">
                <a:solidFill>
                  <a:schemeClr val="tx1"/>
                </a:solidFill>
                <a:latin typeface="+mn-lt"/>
                <a:ea typeface="+mn-ea"/>
                <a:cs typeface="+mn-cs"/>
              </a:rPr>
              <a:t>"</a:t>
            </a:r>
            <a:r>
              <a:rPr lang="de-CH" sz="1200" b="1" kern="1200" dirty="0" err="1" smtClean="0">
                <a:solidFill>
                  <a:schemeClr val="tx1"/>
                </a:solidFill>
                <a:latin typeface="+mn-lt"/>
                <a:ea typeface="+mn-ea"/>
                <a:cs typeface="+mn-cs"/>
              </a:rPr>
              <a:t>computer</a:t>
            </a:r>
            <a:r>
              <a:rPr lang="de-CH" sz="1200" b="1" kern="1200" dirty="0" smtClean="0">
                <a:solidFill>
                  <a:schemeClr val="tx1"/>
                </a:solidFill>
                <a:latin typeface="+mn-lt"/>
                <a:ea typeface="+mn-ea"/>
                <a:cs typeface="+mn-cs"/>
              </a:rPr>
              <a:t>-implementierte </a:t>
            </a:r>
            <a:r>
              <a:rPr lang="de-CH" sz="1200" b="1" kern="1200" dirty="0" err="1" smtClean="0">
                <a:solidFill>
                  <a:schemeClr val="tx1"/>
                </a:solidFill>
                <a:latin typeface="+mn-lt"/>
                <a:ea typeface="+mn-ea"/>
                <a:cs typeface="+mn-cs"/>
              </a:rPr>
              <a:t>Erfindungen"</a:t>
            </a:r>
            <a:r>
              <a:rPr lang="de-CH" sz="1200" kern="1200" dirty="0" err="1" smtClean="0">
                <a:solidFill>
                  <a:schemeClr val="tx1"/>
                </a:solidFill>
                <a:latin typeface="+mn-lt"/>
                <a:ea typeface="+mn-ea"/>
                <a:cs typeface="+mn-cs"/>
              </a:rPr>
              <a:t>sind</a:t>
            </a:r>
            <a:r>
              <a:rPr lang="de-CH" sz="1200" kern="1200" dirty="0" smtClean="0">
                <a:solidFill>
                  <a:schemeClr val="tx1"/>
                </a:solidFill>
                <a:latin typeface="+mn-lt"/>
                <a:ea typeface="+mn-ea"/>
                <a:cs typeface="+mn-cs"/>
              </a:rPr>
              <a:t> unter gewissen Umständen durchaus </a:t>
            </a:r>
            <a:r>
              <a:rPr lang="de-CH" sz="1200" kern="1200" dirty="0" smtClean="0">
                <a:solidFill>
                  <a:schemeClr val="tx1"/>
                </a:solidFill>
                <a:latin typeface="+mn-lt"/>
                <a:ea typeface="+mn-ea"/>
                <a:cs typeface="+mn-cs"/>
                <a:hlinkClick r:id="rId4"/>
              </a:rPr>
              <a:t>patentfähig</a:t>
            </a:r>
            <a:r>
              <a:rPr lang="de-CH" sz="1200" kern="1200" dirty="0" smtClean="0">
                <a:solidFill>
                  <a:schemeClr val="tx1"/>
                </a:solidFill>
                <a:latin typeface="+mn-lt"/>
                <a:ea typeface="+mn-ea"/>
                <a:cs typeface="+mn-cs"/>
              </a:rPr>
              <a:t>.</a:t>
            </a:r>
            <a:endParaRPr lang="en-US" sz="1200" kern="1200" dirty="0" smtClean="0">
              <a:solidFill>
                <a:schemeClr val="tx1"/>
              </a:solidFill>
              <a:latin typeface="+mn-lt"/>
              <a:ea typeface="+mn-ea"/>
              <a:cs typeface="+mn-cs"/>
            </a:endParaRPr>
          </a:p>
        </p:txBody>
      </p:sp>
      <p:sp>
        <p:nvSpPr>
          <p:cNvPr id="4" name="Foliennummernplatzhalter 3"/>
          <p:cNvSpPr>
            <a:spLocks noGrp="1"/>
          </p:cNvSpPr>
          <p:nvPr>
            <p:ph type="sldNum" sz="quarter" idx="10"/>
          </p:nvPr>
        </p:nvSpPr>
        <p:spPr/>
        <p:txBody>
          <a:bodyPr/>
          <a:lstStyle/>
          <a:p>
            <a:fld id="{D227EBE4-09F4-4C7A-AE55-F5044AEEAADB}" type="slidenum">
              <a:rPr lang="de-CH" smtClean="0"/>
              <a:pPr/>
              <a:t>11</a:t>
            </a:fld>
            <a:endParaRPr lang="de-CH"/>
          </a:p>
        </p:txBody>
      </p:sp>
    </p:spTree>
    <p:extLst>
      <p:ext uri="{BB962C8B-B14F-4D97-AF65-F5344CB8AC3E}">
        <p14:creationId xmlns:p14="http://schemas.microsoft.com/office/powerpoint/2010/main" val="1700558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CH" dirty="0" err="1" smtClean="0"/>
              <a:t>Founder</a:t>
            </a:r>
            <a:r>
              <a:rPr lang="de-CH" dirty="0" smtClean="0"/>
              <a:t>: Lizenzverträge von Uni oder Erlaubnis/Übertragung</a:t>
            </a:r>
            <a:r>
              <a:rPr lang="de-CH" baseline="0" dirty="0" smtClean="0"/>
              <a:t> von ehemaligem Arbeitgeber</a:t>
            </a:r>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12</a:t>
            </a:fld>
            <a:endParaRPr lang="de-CH"/>
          </a:p>
        </p:txBody>
      </p:sp>
    </p:spTree>
    <p:extLst>
      <p:ext uri="{BB962C8B-B14F-4D97-AF65-F5344CB8AC3E}">
        <p14:creationId xmlns:p14="http://schemas.microsoft.com/office/powerpoint/2010/main" val="94218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smtClean="0"/>
              <a:t>SaaS</a:t>
            </a:r>
            <a:r>
              <a:rPr lang="de-CH" baseline="0" dirty="0" smtClean="0"/>
              <a:t> </a:t>
            </a:r>
            <a:r>
              <a:rPr lang="de-CH" baseline="0" dirty="0" err="1" smtClean="0"/>
              <a:t>model</a:t>
            </a:r>
            <a:r>
              <a:rPr lang="de-CH" baseline="0" dirty="0" smtClean="0"/>
              <a:t> </a:t>
            </a:r>
            <a:r>
              <a:rPr lang="de-CH" baseline="0" dirty="0" err="1" smtClean="0"/>
              <a:t>can</a:t>
            </a:r>
            <a:r>
              <a:rPr lang="de-CH" baseline="0" dirty="0" smtClean="0"/>
              <a:t> </a:t>
            </a:r>
            <a:r>
              <a:rPr lang="de-CH" baseline="0" dirty="0" err="1" smtClean="0"/>
              <a:t>be</a:t>
            </a:r>
            <a:r>
              <a:rPr lang="de-CH" baseline="0" dirty="0" smtClean="0"/>
              <a:t> </a:t>
            </a:r>
            <a:r>
              <a:rPr lang="de-CH" baseline="0" dirty="0" err="1" smtClean="0"/>
              <a:t>problematic</a:t>
            </a:r>
            <a:r>
              <a:rPr lang="de-CH" baseline="0" dirty="0" smtClean="0"/>
              <a:t> </a:t>
            </a:r>
            <a:r>
              <a:rPr lang="de-CH" baseline="0" dirty="0" err="1" smtClean="0"/>
              <a:t>if</a:t>
            </a:r>
            <a:r>
              <a:rPr lang="de-CH" baseline="0" dirty="0" smtClean="0"/>
              <a:t> </a:t>
            </a:r>
            <a:r>
              <a:rPr lang="de-CH" baseline="0" dirty="0" err="1" smtClean="0"/>
              <a:t>certain</a:t>
            </a:r>
            <a:r>
              <a:rPr lang="de-CH" baseline="0" dirty="0" smtClean="0"/>
              <a:t> (</a:t>
            </a:r>
            <a:r>
              <a:rPr lang="de-CH" baseline="0" dirty="0" err="1" smtClean="0"/>
              <a:t>older</a:t>
            </a:r>
            <a:r>
              <a:rPr lang="de-CH" baseline="0" dirty="0" smtClean="0"/>
              <a:t>) </a:t>
            </a:r>
            <a:r>
              <a:rPr lang="de-CH" baseline="0" dirty="0" err="1" smtClean="0"/>
              <a:t>licenses</a:t>
            </a:r>
            <a:r>
              <a:rPr lang="de-CH" baseline="0" dirty="0" smtClean="0"/>
              <a:t> </a:t>
            </a:r>
            <a:r>
              <a:rPr lang="de-CH" baseline="0" dirty="0" err="1" smtClean="0"/>
              <a:t>are</a:t>
            </a:r>
            <a:r>
              <a:rPr lang="de-CH" baseline="0" dirty="0" smtClean="0"/>
              <a:t> </a:t>
            </a:r>
            <a:r>
              <a:rPr lang="de-CH" baseline="0" dirty="0" err="1" smtClean="0"/>
              <a:t>used</a:t>
            </a:r>
            <a:r>
              <a:rPr lang="de-CH" baseline="0" dirty="0" smtClean="0"/>
              <a:t>.</a:t>
            </a:r>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18</a:t>
            </a:fld>
            <a:endParaRPr lang="de-CH"/>
          </a:p>
        </p:txBody>
      </p:sp>
    </p:spTree>
    <p:extLst>
      <p:ext uri="{BB962C8B-B14F-4D97-AF65-F5344CB8AC3E}">
        <p14:creationId xmlns:p14="http://schemas.microsoft.com/office/powerpoint/2010/main" val="2779922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CH" dirty="0" smtClean="0"/>
              <a:t>Wie gross und komfortabel</a:t>
            </a:r>
            <a:r>
              <a:rPr lang="de-CH" baseline="0" dirty="0" smtClean="0"/>
              <a:t> ist der Parkplatz? Parkwärter? Putzservice? Überdacht? Geheizt?</a:t>
            </a:r>
          </a:p>
          <a:p>
            <a:endParaRPr lang="de-CH" dirty="0" smtClean="0"/>
          </a:p>
          <a:p>
            <a:endParaRPr lang="de-CH" baseline="0" dirty="0" smtClean="0"/>
          </a:p>
          <a:p>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32</a:t>
            </a:fld>
            <a:endParaRPr lang="de-CH"/>
          </a:p>
        </p:txBody>
      </p:sp>
    </p:spTree>
    <p:extLst>
      <p:ext uri="{BB962C8B-B14F-4D97-AF65-F5344CB8AC3E}">
        <p14:creationId xmlns:p14="http://schemas.microsoft.com/office/powerpoint/2010/main" val="80211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34</a:t>
            </a:fld>
            <a:endParaRPr lang="de-CH"/>
          </a:p>
        </p:txBody>
      </p:sp>
    </p:spTree>
    <p:extLst>
      <p:ext uri="{BB962C8B-B14F-4D97-AF65-F5344CB8AC3E}">
        <p14:creationId xmlns:p14="http://schemas.microsoft.com/office/powerpoint/2010/main" val="3106402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a:buFont typeface="Wingdings"/>
              <a:buChar char="à"/>
            </a:pPr>
            <a:r>
              <a:rPr lang="de-CH" dirty="0" smtClean="0">
                <a:sym typeface="Wingdings" pitchFamily="2" charset="2"/>
              </a:rPr>
              <a:t>Das</a:t>
            </a:r>
            <a:r>
              <a:rPr lang="de-CH" baseline="0" dirty="0" smtClean="0">
                <a:sym typeface="Wingdings" pitchFamily="2" charset="2"/>
              </a:rPr>
              <a:t> Kleingedruckte ist entscheidend!</a:t>
            </a:r>
          </a:p>
          <a:p>
            <a:pPr>
              <a:buFont typeface="Wingdings"/>
              <a:buChar char="à"/>
            </a:pPr>
            <a:r>
              <a:rPr lang="de-CH" baseline="0" dirty="0" smtClean="0">
                <a:sym typeface="Wingdings" pitchFamily="2" charset="2"/>
              </a:rPr>
              <a:t>Bedarf an Verfügbarkeit kommt extrem auf Geschäftsmodell des Kunden an: z.B. E-Commerce vs. Metallfabrikant</a:t>
            </a:r>
          </a:p>
          <a:p>
            <a:pPr>
              <a:buFont typeface="Wingdings"/>
              <a:buChar char="à"/>
            </a:pPr>
            <a:r>
              <a:rPr lang="de-CH" baseline="0" dirty="0" smtClean="0">
                <a:sym typeface="Wingdings" pitchFamily="2" charset="2"/>
              </a:rPr>
              <a:t>Kosten sehr unterschiedlich</a:t>
            </a:r>
          </a:p>
          <a:p>
            <a:pPr>
              <a:buFont typeface="Wingdings"/>
              <a:buChar char="à"/>
            </a:pPr>
            <a:r>
              <a:rPr lang="de-CH" baseline="0" dirty="0" smtClean="0">
                <a:sym typeface="Wingdings" pitchFamily="2" charset="2"/>
              </a:rPr>
              <a:t> Eine Garantie ist also auch Beschränkung der Leistungspflichten</a:t>
            </a:r>
          </a:p>
          <a:p>
            <a:pPr>
              <a:buFont typeface="Wingdings"/>
              <a:buNone/>
            </a:pPr>
            <a:endParaRPr lang="de-CH" dirty="0"/>
          </a:p>
        </p:txBody>
      </p:sp>
      <p:sp>
        <p:nvSpPr>
          <p:cNvPr id="4" name="Foliennummernplatzhalter 3"/>
          <p:cNvSpPr>
            <a:spLocks noGrp="1"/>
          </p:cNvSpPr>
          <p:nvPr>
            <p:ph type="sldNum" sz="quarter" idx="10"/>
          </p:nvPr>
        </p:nvSpPr>
        <p:spPr/>
        <p:txBody>
          <a:bodyPr/>
          <a:lstStyle/>
          <a:p>
            <a:fld id="{D227EBE4-09F4-4C7A-AE55-F5044AEEAADB}" type="slidenum">
              <a:rPr lang="de-CH" smtClean="0"/>
              <a:pPr/>
              <a:t>35</a:t>
            </a:fld>
            <a:endParaRPr lang="de-CH"/>
          </a:p>
        </p:txBody>
      </p:sp>
    </p:spTree>
    <p:extLst>
      <p:ext uri="{BB962C8B-B14F-4D97-AF65-F5344CB8AC3E}">
        <p14:creationId xmlns:p14="http://schemas.microsoft.com/office/powerpoint/2010/main" val="16432238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1916112"/>
            <a:ext cx="7200800" cy="904981"/>
          </a:xfrm>
        </p:spPr>
        <p:txBody>
          <a:bodyPr anchor="b"/>
          <a:lstStyle>
            <a:lvl1pPr marL="0" indent="0" algn="l">
              <a:buNone/>
              <a:defRPr sz="2800" cap="none" baseline="0"/>
            </a:lvl1pPr>
          </a:lstStyle>
          <a:p>
            <a:r>
              <a:rPr lang="de-DE" smtClean="0"/>
              <a:t>Titelmasterformat durch Klicken bearbeiten</a:t>
            </a:r>
            <a:endParaRPr lang="en-US" dirty="0"/>
          </a:p>
        </p:txBody>
      </p:sp>
      <p:sp>
        <p:nvSpPr>
          <p:cNvPr id="3" name="Subtitle 2"/>
          <p:cNvSpPr>
            <a:spLocks noGrp="1"/>
          </p:cNvSpPr>
          <p:nvPr>
            <p:ph type="subTitle" idx="1"/>
          </p:nvPr>
        </p:nvSpPr>
        <p:spPr>
          <a:xfrm>
            <a:off x="1043608" y="2996952"/>
            <a:ext cx="7200800" cy="576064"/>
          </a:xfr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6246" y="215774"/>
            <a:ext cx="1383795" cy="557785"/>
          </a:xfrm>
          <a:prstGeom prst="rect">
            <a:avLst/>
          </a:prstGeom>
        </p:spPr>
      </p:pic>
      <p:sp>
        <p:nvSpPr>
          <p:cNvPr id="15" name="Text Placeholder 14"/>
          <p:cNvSpPr>
            <a:spLocks noGrp="1"/>
          </p:cNvSpPr>
          <p:nvPr>
            <p:ph type="body" sz="quarter" idx="12" hasCustomPrompt="1"/>
          </p:nvPr>
        </p:nvSpPr>
        <p:spPr>
          <a:xfrm>
            <a:off x="1042988" y="4329128"/>
            <a:ext cx="7200900" cy="252000"/>
          </a:xfrm>
        </p:spPr>
        <p:txBody>
          <a:bodyPr/>
          <a:lstStyle>
            <a:lvl1pPr marL="0" indent="0">
              <a:buNone/>
              <a:defRPr sz="1600"/>
            </a:lvl1pPr>
          </a:lstStyle>
          <a:p>
            <a:pPr lvl="0"/>
            <a:r>
              <a:rPr lang="en-US" dirty="0" err="1" smtClean="0"/>
              <a:t>Anlass</a:t>
            </a:r>
            <a:r>
              <a:rPr lang="en-US" dirty="0" smtClean="0"/>
              <a:t>, Ort, Datum</a:t>
            </a:r>
            <a:endParaRPr lang="de-CH" dirty="0"/>
          </a:p>
        </p:txBody>
      </p:sp>
      <p:sp>
        <p:nvSpPr>
          <p:cNvPr id="7" name="Text Placeholder 14"/>
          <p:cNvSpPr>
            <a:spLocks noGrp="1"/>
          </p:cNvSpPr>
          <p:nvPr>
            <p:ph type="body" sz="quarter" idx="13" hasCustomPrompt="1"/>
          </p:nvPr>
        </p:nvSpPr>
        <p:spPr>
          <a:xfrm>
            <a:off x="1042988" y="4005064"/>
            <a:ext cx="7200900" cy="252000"/>
          </a:xfrm>
        </p:spPr>
        <p:txBody>
          <a:bodyPr/>
          <a:lstStyle>
            <a:lvl1pPr marL="0" indent="0">
              <a:buNone/>
              <a:defRPr sz="1600"/>
            </a:lvl1pPr>
          </a:lstStyle>
          <a:p>
            <a:pPr lvl="0"/>
            <a:r>
              <a:rPr lang="en-US" dirty="0" err="1" smtClean="0"/>
              <a:t>Autor</a:t>
            </a:r>
            <a:endParaRPr lang="de-CH" dirty="0"/>
          </a:p>
        </p:txBody>
      </p:sp>
    </p:spTree>
    <p:extLst>
      <p:ext uri="{BB962C8B-B14F-4D97-AF65-F5344CB8AC3E}">
        <p14:creationId xmlns:p14="http://schemas.microsoft.com/office/powerpoint/2010/main" val="2002634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719138" indent="-719138">
              <a:buFont typeface="+mj-lt"/>
              <a:buAutoNum type="romanUcPeriod"/>
              <a:defRPr/>
            </a:lvl1pPr>
            <a:lvl2pPr marL="1074738" indent="-358775">
              <a:defRPr/>
            </a:lvl2pPr>
            <a:lvl3pPr marL="1439863" indent="-357188">
              <a:defRPr/>
            </a:lvl3pPr>
            <a:lvl4pPr marL="1795463" indent="-358775">
              <a:defRPr/>
            </a:lvl4pPr>
            <a:lvl5pPr marL="2151063" indent="-355600">
              <a:defRPr/>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smtClean="0"/>
              <a:t>nicolas.mosimann@kellerhals-carrard.ch</a:t>
            </a:r>
            <a:endParaRPr lang="de-CH"/>
          </a:p>
        </p:txBody>
      </p:sp>
      <p:sp>
        <p:nvSpPr>
          <p:cNvPr id="6" name="Slide Number Placeholder 5"/>
          <p:cNvSpPr>
            <a:spLocks noGrp="1"/>
          </p:cNvSpPr>
          <p:nvPr>
            <p:ph type="sldNum" sz="quarter" idx="12"/>
          </p:nvPr>
        </p:nvSpPr>
        <p:spPr/>
        <p:txBody>
          <a:bodyPr/>
          <a:lstStyle/>
          <a:p>
            <a:fld id="{1E75EF35-6B25-4B85-9696-D7065EDA5E63}" type="slidenum">
              <a:rPr lang="de-CH" smtClean="0"/>
              <a:pPr/>
              <a:t>‹Nr.›</a:t>
            </a:fld>
            <a:endParaRPr lang="de-CH"/>
          </a:p>
        </p:txBody>
      </p:sp>
      <p:sp>
        <p:nvSpPr>
          <p:cNvPr id="7" name="TextBox 6"/>
          <p:cNvSpPr txBox="1"/>
          <p:nvPr userDrawn="1"/>
        </p:nvSpPr>
        <p:spPr>
          <a:xfrm>
            <a:off x="971600" y="1292308"/>
            <a:ext cx="6408712" cy="276999"/>
          </a:xfrm>
          <a:prstGeom prst="rect">
            <a:avLst/>
          </a:prstGeom>
          <a:noFill/>
        </p:spPr>
        <p:txBody>
          <a:bodyPr wrap="square" lIns="0" tIns="0" rIns="0" bIns="0" rtlCol="0" anchor="ctr">
            <a:spAutoFit/>
          </a:bodyPr>
          <a:lstStyle/>
          <a:p>
            <a:r>
              <a:rPr lang="de-CH" b="1" cap="all" baseline="0" dirty="0" smtClean="0"/>
              <a:t>Inhaltsverzeichnis</a:t>
            </a:r>
            <a:endParaRPr lang="de-CH" b="1" cap="all" baseline="0" dirty="0"/>
          </a:p>
        </p:txBody>
      </p:sp>
    </p:spTree>
    <p:extLst>
      <p:ext uri="{BB962C8B-B14F-4D97-AF65-F5344CB8AC3E}">
        <p14:creationId xmlns:p14="http://schemas.microsoft.com/office/powerpoint/2010/main" val="1369095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smtClean="0"/>
              <a:t>nicolas.mosimann@kellerhals-carrard.ch</a:t>
            </a:r>
            <a:endParaRPr lang="de-CH"/>
          </a:p>
        </p:txBody>
      </p:sp>
      <p:sp>
        <p:nvSpPr>
          <p:cNvPr id="6" name="Slide Number Placeholder 5"/>
          <p:cNvSpPr>
            <a:spLocks noGrp="1"/>
          </p:cNvSpPr>
          <p:nvPr>
            <p:ph type="sldNum" sz="quarter" idx="12"/>
          </p:nvPr>
        </p:nvSpPr>
        <p:spPr/>
        <p:txBody>
          <a:bodyPr/>
          <a:lstStyle/>
          <a:p>
            <a:fld id="{1E75EF35-6B25-4B85-9696-D7065EDA5E63}" type="slidenum">
              <a:rPr lang="de-CH" smtClean="0"/>
              <a:pPr/>
              <a:t>‹Nr.›</a:t>
            </a:fld>
            <a:endParaRPr lang="de-CH"/>
          </a:p>
        </p:txBody>
      </p:sp>
    </p:spTree>
    <p:extLst>
      <p:ext uri="{BB962C8B-B14F-4D97-AF65-F5344CB8AC3E}">
        <p14:creationId xmlns:p14="http://schemas.microsoft.com/office/powerpoint/2010/main" val="1892153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ufzählung a_b_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1pPr marL="358775" indent="-358775">
              <a:buFont typeface="+mj-lt"/>
              <a:buAutoNum type="alphaLcPeriod"/>
              <a:defRPr/>
            </a:lvl1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smtClean="0"/>
              <a:t>nicolas.mosimann@kellerhals-carrard.ch</a:t>
            </a:r>
            <a:endParaRPr lang="de-CH"/>
          </a:p>
        </p:txBody>
      </p:sp>
      <p:sp>
        <p:nvSpPr>
          <p:cNvPr id="6" name="Slide Number Placeholder 5"/>
          <p:cNvSpPr>
            <a:spLocks noGrp="1"/>
          </p:cNvSpPr>
          <p:nvPr>
            <p:ph type="sldNum" sz="quarter" idx="12"/>
          </p:nvPr>
        </p:nvSpPr>
        <p:spPr/>
        <p:txBody>
          <a:bodyPr/>
          <a:lstStyle/>
          <a:p>
            <a:fld id="{1E75EF35-6B25-4B85-9696-D7065EDA5E63}" type="slidenum">
              <a:rPr lang="de-CH" smtClean="0"/>
              <a:pPr/>
              <a:t>‹Nr.›</a:t>
            </a:fld>
            <a:endParaRPr lang="de-CH"/>
          </a:p>
        </p:txBody>
      </p:sp>
    </p:spTree>
    <p:extLst>
      <p:ext uri="{BB962C8B-B14F-4D97-AF65-F5344CB8AC3E}">
        <p14:creationId xmlns:p14="http://schemas.microsoft.com/office/powerpoint/2010/main" val="339516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971550" y="1844676"/>
            <a:ext cx="3456434" cy="4464050"/>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Content Placeholder 3"/>
          <p:cNvSpPr>
            <a:spLocks noGrp="1"/>
          </p:cNvSpPr>
          <p:nvPr>
            <p:ph sz="half" idx="2"/>
          </p:nvPr>
        </p:nvSpPr>
        <p:spPr>
          <a:xfrm>
            <a:off x="4716015" y="1844676"/>
            <a:ext cx="3456435" cy="4464050"/>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smtClean="0"/>
              <a:t>nicolas.mosimann@kellerhals-carrard.ch</a:t>
            </a:r>
            <a:endParaRPr lang="de-CH"/>
          </a:p>
        </p:txBody>
      </p:sp>
      <p:sp>
        <p:nvSpPr>
          <p:cNvPr id="7" name="Slide Number Placeholder 6"/>
          <p:cNvSpPr>
            <a:spLocks noGrp="1"/>
          </p:cNvSpPr>
          <p:nvPr>
            <p:ph type="sldNum" sz="quarter" idx="12"/>
          </p:nvPr>
        </p:nvSpPr>
        <p:spPr/>
        <p:txBody>
          <a:bodyPr/>
          <a:lstStyle/>
          <a:p>
            <a:fld id="{1E75EF35-6B25-4B85-9696-D7065EDA5E63}" type="slidenum">
              <a:rPr lang="de-CH" smtClean="0"/>
              <a:pPr/>
              <a:t>‹Nr.›</a:t>
            </a:fld>
            <a:endParaRPr lang="de-CH"/>
          </a:p>
        </p:txBody>
      </p:sp>
      <p:cxnSp>
        <p:nvCxnSpPr>
          <p:cNvPr id="11" name="Straight Connector 10"/>
          <p:cNvCxnSpPr/>
          <p:nvPr userDrawn="1"/>
        </p:nvCxnSpPr>
        <p:spPr>
          <a:xfrm>
            <a:off x="4572000" y="1916832"/>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444175"/>
      </p:ext>
    </p:extLst>
  </p:cSld>
  <p:clrMapOvr>
    <a:masterClrMapping/>
  </p:clrMapOvr>
  <p:extLst mod="1">
    <p:ext uri="{DCECCB84-F9BA-43D5-87BE-67443E8EF086}">
      <p15:sldGuideLst xmlns:p15="http://schemas.microsoft.com/office/powerpoint/2012/main">
        <p15:guide id="1" pos="2789">
          <p15:clr>
            <a:srgbClr val="FBAE40"/>
          </p15:clr>
        </p15:guide>
        <p15:guide id="2" pos="2971">
          <p15:clr>
            <a:srgbClr val="FBAE40"/>
          </p15:clr>
        </p15:guide>
        <p15:guide id="3" pos="5375">
          <p15:clr>
            <a:srgbClr val="FBAE40"/>
          </p15:clr>
        </p15:guide>
        <p15:guide id="4" pos="38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eispalti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971550" y="1844676"/>
            <a:ext cx="2160000" cy="4464050"/>
          </a:xfrm>
        </p:spPr>
        <p:txBody>
          <a:bodyPr/>
          <a:lstStyle>
            <a:lvl1pPr marL="180000" indent="-180000" defTabSz="360000">
              <a:lnSpc>
                <a:spcPts val="1200"/>
              </a:lnSpc>
              <a:spcBef>
                <a:spcPts val="600"/>
              </a:spcBef>
              <a:tabLst/>
              <a:defRPr sz="1100"/>
            </a:lvl1pPr>
            <a:lvl2pPr marL="360000" indent="-180000" defTabSz="360000">
              <a:lnSpc>
                <a:spcPts val="1200"/>
              </a:lnSpc>
              <a:tabLst/>
              <a:defRPr sz="1100"/>
            </a:lvl2pPr>
            <a:lvl3pPr marL="541338" indent="-180000" defTabSz="360000">
              <a:lnSpc>
                <a:spcPts val="1200"/>
              </a:lnSpc>
              <a:tabLst/>
              <a:defRPr sz="1100"/>
            </a:lvl3pPr>
            <a:lvl4pPr marL="719138" indent="-180000" defTabSz="360000">
              <a:lnSpc>
                <a:spcPts val="1200"/>
              </a:lnSpc>
              <a:tabLst/>
              <a:defRPr sz="1100"/>
            </a:lvl4pPr>
            <a:lvl5pPr marL="900000" indent="-180000" defTabSz="360000">
              <a:lnSpc>
                <a:spcPts val="1200"/>
              </a:lnSpc>
              <a:tabLst/>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smtClean="0"/>
              <a:t>nicolas.mosimann@kellerhals-carrard.ch</a:t>
            </a:r>
            <a:endParaRPr lang="de-CH"/>
          </a:p>
        </p:txBody>
      </p:sp>
      <p:sp>
        <p:nvSpPr>
          <p:cNvPr id="7" name="Slide Number Placeholder 6"/>
          <p:cNvSpPr>
            <a:spLocks noGrp="1"/>
          </p:cNvSpPr>
          <p:nvPr>
            <p:ph type="sldNum" sz="quarter" idx="12"/>
          </p:nvPr>
        </p:nvSpPr>
        <p:spPr/>
        <p:txBody>
          <a:bodyPr/>
          <a:lstStyle/>
          <a:p>
            <a:fld id="{1E75EF35-6B25-4B85-9696-D7065EDA5E63}" type="slidenum">
              <a:rPr lang="de-CH" smtClean="0"/>
              <a:pPr/>
              <a:t>‹Nr.›</a:t>
            </a:fld>
            <a:endParaRPr lang="de-CH"/>
          </a:p>
        </p:txBody>
      </p:sp>
      <p:cxnSp>
        <p:nvCxnSpPr>
          <p:cNvPr id="11" name="Straight Connector 10"/>
          <p:cNvCxnSpPr/>
          <p:nvPr userDrawn="1"/>
        </p:nvCxnSpPr>
        <p:spPr>
          <a:xfrm>
            <a:off x="5832225" y="1916832"/>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311775" y="1916832"/>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p:cNvSpPr>
            <a:spLocks noGrp="1"/>
          </p:cNvSpPr>
          <p:nvPr>
            <p:ph sz="half" idx="13"/>
          </p:nvPr>
        </p:nvSpPr>
        <p:spPr>
          <a:xfrm>
            <a:off x="3492000" y="1844676"/>
            <a:ext cx="2160000" cy="4464050"/>
          </a:xfrm>
        </p:spPr>
        <p:txBody>
          <a:bodyPr/>
          <a:lstStyle>
            <a:lvl1pPr marL="180000" indent="-180000" defTabSz="360000">
              <a:lnSpc>
                <a:spcPts val="1200"/>
              </a:lnSpc>
              <a:spcBef>
                <a:spcPts val="600"/>
              </a:spcBef>
              <a:tabLst/>
              <a:defRPr sz="1100"/>
            </a:lvl1pPr>
            <a:lvl2pPr marL="360000" indent="-180000" defTabSz="360000">
              <a:lnSpc>
                <a:spcPts val="1200"/>
              </a:lnSpc>
              <a:tabLst/>
              <a:defRPr sz="1100"/>
            </a:lvl2pPr>
            <a:lvl3pPr marL="541338" indent="-180000" defTabSz="360000">
              <a:lnSpc>
                <a:spcPts val="1200"/>
              </a:lnSpc>
              <a:tabLst/>
              <a:defRPr sz="1100"/>
            </a:lvl3pPr>
            <a:lvl4pPr marL="719138" indent="-180000" defTabSz="360000">
              <a:lnSpc>
                <a:spcPts val="1200"/>
              </a:lnSpc>
              <a:tabLst/>
              <a:defRPr sz="1100"/>
            </a:lvl4pPr>
            <a:lvl5pPr marL="900000" indent="-180000" defTabSz="360000">
              <a:lnSpc>
                <a:spcPts val="1200"/>
              </a:lnSpc>
              <a:tabLst/>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2"/>
          <p:cNvSpPr>
            <a:spLocks noGrp="1"/>
          </p:cNvSpPr>
          <p:nvPr>
            <p:ph sz="half" idx="14"/>
          </p:nvPr>
        </p:nvSpPr>
        <p:spPr>
          <a:xfrm>
            <a:off x="6012450" y="1844676"/>
            <a:ext cx="2160000" cy="4464050"/>
          </a:xfrm>
        </p:spPr>
        <p:txBody>
          <a:bodyPr/>
          <a:lstStyle>
            <a:lvl1pPr marL="180000" indent="-180000" defTabSz="360000">
              <a:lnSpc>
                <a:spcPts val="1200"/>
              </a:lnSpc>
              <a:spcBef>
                <a:spcPts val="600"/>
              </a:spcBef>
              <a:tabLst/>
              <a:defRPr sz="1100"/>
            </a:lvl1pPr>
            <a:lvl2pPr marL="360000" indent="-180000" defTabSz="360000">
              <a:lnSpc>
                <a:spcPts val="1200"/>
              </a:lnSpc>
              <a:tabLst/>
              <a:defRPr sz="1100"/>
            </a:lvl2pPr>
            <a:lvl3pPr marL="541338" indent="-180000" defTabSz="360000">
              <a:lnSpc>
                <a:spcPts val="1200"/>
              </a:lnSpc>
              <a:tabLst/>
              <a:defRPr sz="1100"/>
            </a:lvl3pPr>
            <a:lvl4pPr marL="719138" indent="-180000" defTabSz="360000">
              <a:lnSpc>
                <a:spcPts val="1200"/>
              </a:lnSpc>
              <a:tabLst/>
              <a:defRPr sz="1100"/>
            </a:lvl4pPr>
            <a:lvl5pPr marL="900000" indent="-180000" defTabSz="360000">
              <a:lnSpc>
                <a:spcPts val="1200"/>
              </a:lnSpc>
              <a:tabLst/>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extLst>
      <p:ext uri="{BB962C8B-B14F-4D97-AF65-F5344CB8AC3E}">
        <p14:creationId xmlns:p14="http://schemas.microsoft.com/office/powerpoint/2010/main" val="3614458055"/>
      </p:ext>
    </p:extLst>
  </p:cSld>
  <p:clrMapOvr>
    <a:masterClrMapping/>
  </p:clrMapOvr>
  <p:extLst mod="1">
    <p:ext uri="{DCECCB84-F9BA-43D5-87BE-67443E8EF086}">
      <p15:sldGuideLst xmlns:p15="http://schemas.microsoft.com/office/powerpoint/2012/main">
        <p15:guide id="1" pos="2789">
          <p15:clr>
            <a:srgbClr val="FBAE40"/>
          </p15:clr>
        </p15:guide>
        <p15:guide id="2" pos="2971">
          <p15:clr>
            <a:srgbClr val="FBAE40"/>
          </p15:clr>
        </p15:guide>
        <p15:guide id="3" pos="5375">
          <p15:clr>
            <a:srgbClr val="FBAE40"/>
          </p15:clr>
        </p15:guide>
        <p15:guide id="4" pos="38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971550" y="1844676"/>
            <a:ext cx="1584000" cy="4464050"/>
          </a:xfrm>
        </p:spPr>
        <p:txBody>
          <a:bodyPr/>
          <a:lstStyle>
            <a:lvl1pPr marL="180000" indent="-180000" defTabSz="360000">
              <a:lnSpc>
                <a:spcPts val="1200"/>
              </a:lnSpc>
              <a:defRPr sz="1100"/>
            </a:lvl1pPr>
            <a:lvl2pPr marL="360000" indent="-180000" defTabSz="360000">
              <a:lnSpc>
                <a:spcPts val="1200"/>
              </a:lnSpc>
              <a:defRPr sz="1100"/>
            </a:lvl2pPr>
            <a:lvl3pPr marL="541338" indent="-180000" defTabSz="360000">
              <a:lnSpc>
                <a:spcPts val="1200"/>
              </a:lnSpc>
              <a:defRPr sz="1100"/>
            </a:lvl3pPr>
            <a:lvl4pPr marL="719138" indent="-180000" defTabSz="360000">
              <a:lnSpc>
                <a:spcPts val="1200"/>
              </a:lnSpc>
              <a:tabLst/>
              <a:defRPr sz="1100"/>
            </a:lvl4pPr>
            <a:lvl5pPr marL="900000" indent="-180000" defTabSz="360000">
              <a:lnSpc>
                <a:spcPts val="1200"/>
              </a:lnSpc>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smtClean="0"/>
              <a:t>nicolas.mosimann@kellerhals-carrard.ch</a:t>
            </a:r>
            <a:endParaRPr lang="de-CH"/>
          </a:p>
        </p:txBody>
      </p:sp>
      <p:sp>
        <p:nvSpPr>
          <p:cNvPr id="7" name="Slide Number Placeholder 6"/>
          <p:cNvSpPr>
            <a:spLocks noGrp="1"/>
          </p:cNvSpPr>
          <p:nvPr>
            <p:ph type="sldNum" sz="quarter" idx="12"/>
          </p:nvPr>
        </p:nvSpPr>
        <p:spPr/>
        <p:txBody>
          <a:bodyPr/>
          <a:lstStyle/>
          <a:p>
            <a:fld id="{1E75EF35-6B25-4B85-9696-D7065EDA5E63}" type="slidenum">
              <a:rPr lang="de-CH" smtClean="0"/>
              <a:pPr/>
              <a:t>‹Nr.›</a:t>
            </a:fld>
            <a:endParaRPr lang="de-CH"/>
          </a:p>
        </p:txBody>
      </p:sp>
      <p:cxnSp>
        <p:nvCxnSpPr>
          <p:cNvPr id="11" name="Straight Connector 10"/>
          <p:cNvCxnSpPr/>
          <p:nvPr userDrawn="1"/>
        </p:nvCxnSpPr>
        <p:spPr>
          <a:xfrm>
            <a:off x="4571976" y="1844676"/>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p:cNvSpPr>
            <a:spLocks noGrp="1"/>
          </p:cNvSpPr>
          <p:nvPr>
            <p:ph sz="half" idx="13"/>
          </p:nvPr>
        </p:nvSpPr>
        <p:spPr>
          <a:xfrm>
            <a:off x="2843834" y="1844676"/>
            <a:ext cx="1584000" cy="4464050"/>
          </a:xfrm>
        </p:spPr>
        <p:txBody>
          <a:bodyPr/>
          <a:lstStyle>
            <a:lvl1pPr marL="180000" indent="-180000" defTabSz="360000">
              <a:lnSpc>
                <a:spcPts val="1200"/>
              </a:lnSpc>
              <a:defRPr sz="1100"/>
            </a:lvl1pPr>
            <a:lvl2pPr marL="360000" indent="-180000" defTabSz="360000">
              <a:lnSpc>
                <a:spcPts val="1200"/>
              </a:lnSpc>
              <a:defRPr sz="1100"/>
            </a:lvl2pPr>
            <a:lvl3pPr marL="541338" indent="-180000" defTabSz="360000">
              <a:lnSpc>
                <a:spcPts val="1200"/>
              </a:lnSpc>
              <a:defRPr sz="1100"/>
            </a:lvl3pPr>
            <a:lvl4pPr marL="719138" indent="-180000" defTabSz="360000">
              <a:lnSpc>
                <a:spcPts val="1200"/>
              </a:lnSpc>
              <a:tabLst/>
              <a:defRPr sz="1100"/>
            </a:lvl4pPr>
            <a:lvl5pPr marL="900000" indent="-180000" defTabSz="360000">
              <a:lnSpc>
                <a:spcPts val="1200"/>
              </a:lnSpc>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2"/>
          <p:cNvSpPr>
            <a:spLocks noGrp="1"/>
          </p:cNvSpPr>
          <p:nvPr>
            <p:ph sz="half" idx="14"/>
          </p:nvPr>
        </p:nvSpPr>
        <p:spPr>
          <a:xfrm>
            <a:off x="4716118" y="1844676"/>
            <a:ext cx="1584000" cy="4464050"/>
          </a:xfrm>
        </p:spPr>
        <p:txBody>
          <a:bodyPr/>
          <a:lstStyle>
            <a:lvl1pPr marL="180000" indent="-180000" defTabSz="360000">
              <a:lnSpc>
                <a:spcPts val="1200"/>
              </a:lnSpc>
              <a:defRPr sz="1100"/>
            </a:lvl1pPr>
            <a:lvl2pPr marL="360000" indent="-180000" defTabSz="360000">
              <a:lnSpc>
                <a:spcPts val="1200"/>
              </a:lnSpc>
              <a:defRPr sz="1100"/>
            </a:lvl2pPr>
            <a:lvl3pPr marL="541338" indent="-180000" defTabSz="360000">
              <a:lnSpc>
                <a:spcPts val="1200"/>
              </a:lnSpc>
              <a:defRPr sz="1100"/>
            </a:lvl3pPr>
            <a:lvl4pPr marL="719138" indent="-180000" defTabSz="360000">
              <a:lnSpc>
                <a:spcPts val="1200"/>
              </a:lnSpc>
              <a:tabLst/>
              <a:defRPr sz="1100"/>
            </a:lvl4pPr>
            <a:lvl5pPr marL="900000" indent="-180000" defTabSz="360000">
              <a:lnSpc>
                <a:spcPts val="1200"/>
              </a:lnSpc>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4" name="Content Placeholder 2"/>
          <p:cNvSpPr>
            <a:spLocks noGrp="1"/>
          </p:cNvSpPr>
          <p:nvPr>
            <p:ph sz="half" idx="15"/>
          </p:nvPr>
        </p:nvSpPr>
        <p:spPr>
          <a:xfrm>
            <a:off x="6588400" y="1844676"/>
            <a:ext cx="1584000" cy="4464050"/>
          </a:xfrm>
        </p:spPr>
        <p:txBody>
          <a:bodyPr/>
          <a:lstStyle>
            <a:lvl1pPr marL="180000" indent="-180000" defTabSz="360000">
              <a:lnSpc>
                <a:spcPts val="1200"/>
              </a:lnSpc>
              <a:defRPr sz="1100"/>
            </a:lvl1pPr>
            <a:lvl2pPr marL="360000" indent="-180000" defTabSz="360000">
              <a:lnSpc>
                <a:spcPts val="1200"/>
              </a:lnSpc>
              <a:defRPr sz="1100"/>
            </a:lvl2pPr>
            <a:lvl3pPr marL="541338" indent="-180000" defTabSz="360000">
              <a:lnSpc>
                <a:spcPts val="1200"/>
              </a:lnSpc>
              <a:defRPr sz="1100"/>
            </a:lvl3pPr>
            <a:lvl4pPr marL="719138" indent="-180000" defTabSz="360000">
              <a:lnSpc>
                <a:spcPts val="1200"/>
              </a:lnSpc>
              <a:tabLst/>
              <a:defRPr sz="1100"/>
            </a:lvl4pPr>
            <a:lvl5pPr marL="900000" indent="-180000" defTabSz="360000">
              <a:lnSpc>
                <a:spcPts val="1200"/>
              </a:lnSpc>
              <a:defRPr sz="1100"/>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cxnSp>
        <p:nvCxnSpPr>
          <p:cNvPr id="15" name="Straight Connector 14"/>
          <p:cNvCxnSpPr/>
          <p:nvPr userDrawn="1"/>
        </p:nvCxnSpPr>
        <p:spPr>
          <a:xfrm>
            <a:off x="2699692" y="1844676"/>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4260" y="1844676"/>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2332983"/>
      </p:ext>
    </p:extLst>
  </p:cSld>
  <p:clrMapOvr>
    <a:masterClrMapping/>
  </p:clrMapOvr>
  <p:extLst mod="1">
    <p:ext uri="{DCECCB84-F9BA-43D5-87BE-67443E8EF086}">
      <p15:sldGuideLst xmlns:p15="http://schemas.microsoft.com/office/powerpoint/2012/main">
        <p15:guide id="1" pos="2789" userDrawn="1">
          <p15:clr>
            <a:srgbClr val="FBAE40"/>
          </p15:clr>
        </p15:guide>
        <p15:guide id="2" pos="2971" userDrawn="1">
          <p15:clr>
            <a:srgbClr val="FBAE40"/>
          </p15:clr>
        </p15:guide>
        <p15:guide id="3" pos="5375" userDrawn="1">
          <p15:clr>
            <a:srgbClr val="FBAE40"/>
          </p15:clr>
        </p15:guide>
        <p15:guide id="4" pos="38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spaltig mit Bi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971550" y="1844676"/>
            <a:ext cx="3456434" cy="4464050"/>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smtClean="0"/>
              <a:t>nicolas.mosimann@kellerhals-carrard.ch</a:t>
            </a:r>
            <a:endParaRPr lang="de-CH"/>
          </a:p>
        </p:txBody>
      </p:sp>
      <p:sp>
        <p:nvSpPr>
          <p:cNvPr id="7" name="Slide Number Placeholder 6"/>
          <p:cNvSpPr>
            <a:spLocks noGrp="1"/>
          </p:cNvSpPr>
          <p:nvPr>
            <p:ph type="sldNum" sz="quarter" idx="12"/>
          </p:nvPr>
        </p:nvSpPr>
        <p:spPr/>
        <p:txBody>
          <a:bodyPr/>
          <a:lstStyle/>
          <a:p>
            <a:fld id="{1E75EF35-6B25-4B85-9696-D7065EDA5E63}" type="slidenum">
              <a:rPr lang="de-CH" smtClean="0"/>
              <a:pPr/>
              <a:t>‹Nr.›</a:t>
            </a:fld>
            <a:endParaRPr lang="de-CH"/>
          </a:p>
        </p:txBody>
      </p:sp>
      <p:cxnSp>
        <p:nvCxnSpPr>
          <p:cNvPr id="11" name="Straight Connector 10"/>
          <p:cNvCxnSpPr/>
          <p:nvPr userDrawn="1"/>
        </p:nvCxnSpPr>
        <p:spPr>
          <a:xfrm>
            <a:off x="4572000" y="1916832"/>
            <a:ext cx="0" cy="4391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9"/>
          <p:cNvSpPr>
            <a:spLocks noGrp="1"/>
          </p:cNvSpPr>
          <p:nvPr>
            <p:ph type="pic" sz="quarter" idx="13"/>
          </p:nvPr>
        </p:nvSpPr>
        <p:spPr>
          <a:xfrm>
            <a:off x="4716463" y="1844675"/>
            <a:ext cx="3455988" cy="4464050"/>
          </a:xfrm>
          <a:solidFill>
            <a:schemeClr val="bg1">
              <a:lumMod val="85000"/>
            </a:schemeClr>
          </a:solidFill>
        </p:spPr>
        <p:txBody>
          <a:bodyPr/>
          <a:lstStyle>
            <a:lvl1pPr marL="0" indent="0" algn="ctr">
              <a:buNone/>
              <a:defRPr/>
            </a:lvl1pPr>
          </a:lstStyle>
          <a:p>
            <a:r>
              <a:rPr lang="de-DE" smtClean="0"/>
              <a:t>Bild durch Klicken auf Symbol hinzufügen</a:t>
            </a:r>
            <a:endParaRPr lang="de-CH" dirty="0"/>
          </a:p>
        </p:txBody>
      </p:sp>
    </p:spTree>
    <p:extLst>
      <p:ext uri="{BB962C8B-B14F-4D97-AF65-F5344CB8AC3E}">
        <p14:creationId xmlns:p14="http://schemas.microsoft.com/office/powerpoint/2010/main" val="881246801"/>
      </p:ext>
    </p:extLst>
  </p:cSld>
  <p:clrMapOvr>
    <a:masterClrMapping/>
  </p:clrMapOvr>
  <p:extLst mod="1">
    <p:ext uri="{DCECCB84-F9BA-43D5-87BE-67443E8EF086}">
      <p15:sldGuideLst xmlns:p15="http://schemas.microsoft.com/office/powerpoint/2012/main">
        <p15:guide id="1" pos="2971" userDrawn="1">
          <p15:clr>
            <a:srgbClr val="FBAE40"/>
          </p15:clr>
        </p15:guide>
        <p15:guide id="2" pos="537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Vollbild">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948266"/>
            <a:ext cx="9144000" cy="5909734"/>
          </a:xfrm>
          <a:solidFill>
            <a:schemeClr val="bg1">
              <a:lumMod val="85000"/>
            </a:schemeClr>
          </a:solidFill>
        </p:spPr>
        <p:txBody>
          <a:bodyPr/>
          <a:lstStyle>
            <a:lvl1pPr marL="0" indent="0" algn="ctr">
              <a:buNone/>
              <a:defRPr/>
            </a:lvl1pPr>
          </a:lstStyle>
          <a:p>
            <a:r>
              <a:rPr lang="de-DE" smtClean="0"/>
              <a:t>Bild durch Klicken auf Symbol hinzufügen</a:t>
            </a:r>
            <a:endParaRPr lang="de-CH"/>
          </a:p>
        </p:txBody>
      </p:sp>
      <p:sp>
        <p:nvSpPr>
          <p:cNvPr id="7" name="Rectangle 6"/>
          <p:cNvSpPr/>
          <p:nvPr userDrawn="1"/>
        </p:nvSpPr>
        <p:spPr>
          <a:xfrm>
            <a:off x="0" y="0"/>
            <a:ext cx="9144000" cy="9482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6246" y="215774"/>
            <a:ext cx="1383795" cy="557785"/>
          </a:xfrm>
          <a:prstGeom prst="rect">
            <a:avLst/>
          </a:prstGeom>
        </p:spPr>
      </p:pic>
    </p:spTree>
    <p:extLst>
      <p:ext uri="{BB962C8B-B14F-4D97-AF65-F5344CB8AC3E}">
        <p14:creationId xmlns:p14="http://schemas.microsoft.com/office/powerpoint/2010/main" val="361140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r>
              <a:rPr lang="de-DE" smtClean="0"/>
              <a:t>16.11.2016</a:t>
            </a:r>
            <a:endParaRPr lang="de-CH"/>
          </a:p>
        </p:txBody>
      </p:sp>
      <p:sp>
        <p:nvSpPr>
          <p:cNvPr id="4" name="Footer Placeholder 3"/>
          <p:cNvSpPr>
            <a:spLocks noGrp="1"/>
          </p:cNvSpPr>
          <p:nvPr>
            <p:ph type="ftr" sz="quarter" idx="11"/>
          </p:nvPr>
        </p:nvSpPr>
        <p:spPr/>
        <p:txBody>
          <a:bodyPr/>
          <a:lstStyle/>
          <a:p>
            <a:r>
              <a:rPr lang="de-CH" smtClean="0"/>
              <a:t>nicolas.mosimann@kellerhals-carrard.ch</a:t>
            </a:r>
            <a:endParaRPr lang="de-CH"/>
          </a:p>
        </p:txBody>
      </p:sp>
      <p:sp>
        <p:nvSpPr>
          <p:cNvPr id="5" name="Slide Number Placeholder 4"/>
          <p:cNvSpPr>
            <a:spLocks noGrp="1"/>
          </p:cNvSpPr>
          <p:nvPr>
            <p:ph type="sldNum" sz="quarter" idx="12"/>
          </p:nvPr>
        </p:nvSpPr>
        <p:spPr/>
        <p:txBody>
          <a:bodyPr/>
          <a:lstStyle/>
          <a:p>
            <a:fld id="{1E75EF35-6B25-4B85-9696-D7065EDA5E63}" type="slidenum">
              <a:rPr lang="de-CH" smtClean="0"/>
              <a:pPr/>
              <a:t>‹Nr.›</a:t>
            </a:fld>
            <a:endParaRPr lang="de-CH"/>
          </a:p>
        </p:txBody>
      </p:sp>
    </p:spTree>
    <p:extLst>
      <p:ext uri="{BB962C8B-B14F-4D97-AF65-F5344CB8AC3E}">
        <p14:creationId xmlns:p14="http://schemas.microsoft.com/office/powerpoint/2010/main" val="4100527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de-DE" smtClean="0"/>
              <a:t>16.11.2016</a:t>
            </a:r>
            <a:endParaRPr lang="de-CH"/>
          </a:p>
        </p:txBody>
      </p:sp>
      <p:sp>
        <p:nvSpPr>
          <p:cNvPr id="3" name="Footer Placeholder 2"/>
          <p:cNvSpPr>
            <a:spLocks noGrp="1"/>
          </p:cNvSpPr>
          <p:nvPr>
            <p:ph type="ftr" sz="quarter" idx="11"/>
          </p:nvPr>
        </p:nvSpPr>
        <p:spPr/>
        <p:txBody>
          <a:bodyPr/>
          <a:lstStyle/>
          <a:p>
            <a:r>
              <a:rPr lang="de-CH" smtClean="0"/>
              <a:t>nicolas.mosimann@kellerhals-carrard.ch</a:t>
            </a:r>
            <a:endParaRPr lang="de-CH"/>
          </a:p>
        </p:txBody>
      </p:sp>
      <p:sp>
        <p:nvSpPr>
          <p:cNvPr id="4" name="Slide Number Placeholder 3"/>
          <p:cNvSpPr>
            <a:spLocks noGrp="1"/>
          </p:cNvSpPr>
          <p:nvPr>
            <p:ph type="sldNum" sz="quarter" idx="12"/>
          </p:nvPr>
        </p:nvSpPr>
        <p:spPr/>
        <p:txBody>
          <a:bodyPr/>
          <a:lstStyle/>
          <a:p>
            <a:fld id="{1E75EF35-6B25-4B85-9696-D7065EDA5E63}" type="slidenum">
              <a:rPr lang="de-CH" smtClean="0"/>
              <a:pPr/>
              <a:t>‹Nr.›</a:t>
            </a:fld>
            <a:endParaRPr lang="de-CH"/>
          </a:p>
        </p:txBody>
      </p:sp>
    </p:spTree>
    <p:extLst>
      <p:ext uri="{BB962C8B-B14F-4D97-AF65-F5344CB8AC3E}">
        <p14:creationId xmlns:p14="http://schemas.microsoft.com/office/powerpoint/2010/main" val="2540959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ontaktfolie">
    <p:bg>
      <p:bgRef idx="1001">
        <a:schemeClr val="bg2"/>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6246" y="215774"/>
            <a:ext cx="1383795" cy="557785"/>
          </a:xfrm>
          <a:prstGeom prst="rect">
            <a:avLst/>
          </a:prstGeom>
        </p:spPr>
      </p:pic>
      <p:graphicFrame>
        <p:nvGraphicFramePr>
          <p:cNvPr id="7" name="Table 6"/>
          <p:cNvGraphicFramePr>
            <a:graphicFrameLocks noGrp="1"/>
          </p:cNvGraphicFramePr>
          <p:nvPr userDrawn="1">
            <p:extLst>
              <p:ext uri="{D42A27DB-BD31-4B8C-83A1-F6EECF244321}">
                <p14:modId xmlns:p14="http://schemas.microsoft.com/office/powerpoint/2010/main" val="4081803834"/>
              </p:ext>
            </p:extLst>
          </p:nvPr>
        </p:nvGraphicFramePr>
        <p:xfrm>
          <a:off x="971600" y="5589240"/>
          <a:ext cx="7128840" cy="1041648"/>
        </p:xfrm>
        <a:graphic>
          <a:graphicData uri="http://schemas.openxmlformats.org/drawingml/2006/table">
            <a:tbl>
              <a:tblPr firstRow="1" bandRow="1">
                <a:tableStyleId>{2D5ABB26-0587-4C30-8999-92F81FD0307C}</a:tableStyleId>
              </a:tblPr>
              <a:tblGrid>
                <a:gridCol w="1425768"/>
                <a:gridCol w="1425768"/>
                <a:gridCol w="1468942"/>
                <a:gridCol w="1440160"/>
                <a:gridCol w="1368202"/>
              </a:tblGrid>
              <a:tr h="144016">
                <a:tc>
                  <a:txBody>
                    <a:bodyPr/>
                    <a:lstStyle/>
                    <a:p>
                      <a:r>
                        <a:rPr lang="de-CH" sz="800" b="1" dirty="0" smtClean="0"/>
                        <a:t>Basel</a:t>
                      </a:r>
                      <a:endParaRPr lang="de-CH" sz="800" b="1" dirty="0"/>
                    </a:p>
                  </a:txBody>
                  <a:tcPr marL="0" marR="0" marT="0" marB="0"/>
                </a:tc>
                <a:tc>
                  <a:txBody>
                    <a:bodyPr/>
                    <a:lstStyle/>
                    <a:p>
                      <a:r>
                        <a:rPr lang="de-CH" sz="800" b="1" dirty="0" smtClean="0"/>
                        <a:t>Bern</a:t>
                      </a:r>
                      <a:endParaRPr lang="de-CH" sz="800" b="1" dirty="0"/>
                    </a:p>
                  </a:txBody>
                  <a:tcPr marL="0" marR="0" marT="0" marB="0"/>
                </a:tc>
                <a:tc>
                  <a:txBody>
                    <a:bodyPr/>
                    <a:lstStyle/>
                    <a:p>
                      <a:r>
                        <a:rPr lang="de-CH" sz="800" b="1" dirty="0" smtClean="0"/>
                        <a:t>Lausanne</a:t>
                      </a:r>
                      <a:endParaRPr lang="de-CH" sz="800" b="1" dirty="0"/>
                    </a:p>
                  </a:txBody>
                  <a:tcPr marL="0" marR="0" marT="0" marB="0"/>
                </a:tc>
                <a:tc>
                  <a:txBody>
                    <a:bodyPr/>
                    <a:lstStyle/>
                    <a:p>
                      <a:r>
                        <a:rPr lang="de-CH" sz="800" b="1" dirty="0" smtClean="0"/>
                        <a:t>Sion</a:t>
                      </a:r>
                      <a:endParaRPr lang="de-CH" sz="800" b="1" dirty="0"/>
                    </a:p>
                  </a:txBody>
                  <a:tcPr marL="0" marR="0" marT="0" marB="0"/>
                </a:tc>
                <a:tc>
                  <a:txBody>
                    <a:bodyPr/>
                    <a:lstStyle/>
                    <a:p>
                      <a:r>
                        <a:rPr lang="de-CH" sz="800" b="1" dirty="0" smtClean="0"/>
                        <a:t>Zürich</a:t>
                      </a:r>
                      <a:endParaRPr lang="de-CH" sz="800" b="1" dirty="0"/>
                    </a:p>
                  </a:txBody>
                  <a:tcPr marL="0" marR="0" marT="0" marB="0"/>
                </a:tc>
              </a:tr>
              <a:tr h="144016">
                <a:tc>
                  <a:txBody>
                    <a:bodyPr/>
                    <a:lstStyle/>
                    <a:p>
                      <a:r>
                        <a:rPr lang="de-CH" sz="800" dirty="0" smtClean="0"/>
                        <a:t>Hirschgässlein 11</a:t>
                      </a:r>
                    </a:p>
                    <a:p>
                      <a:r>
                        <a:rPr lang="de-CH" sz="800" dirty="0" smtClean="0"/>
                        <a:t>Postfach 257</a:t>
                      </a:r>
                    </a:p>
                    <a:p>
                      <a:r>
                        <a:rPr lang="de-CH" sz="800" dirty="0" smtClean="0"/>
                        <a:t>CH-4010 Basel</a:t>
                      </a:r>
                    </a:p>
                    <a:p>
                      <a:r>
                        <a:rPr lang="de-CH" sz="800" dirty="0" smtClean="0"/>
                        <a:t>Tel. +41 58 200 30 00</a:t>
                      </a:r>
                    </a:p>
                    <a:p>
                      <a:r>
                        <a:rPr lang="de-CH" sz="800" dirty="0" smtClean="0"/>
                        <a:t>Fax +41 58 200 30 11</a:t>
                      </a:r>
                      <a:endParaRPr lang="de-CH" sz="800" dirty="0"/>
                    </a:p>
                  </a:txBody>
                  <a:tcPr marL="0" marR="0" marT="0" marB="0"/>
                </a:tc>
                <a:tc>
                  <a:txBody>
                    <a:bodyPr/>
                    <a:lstStyle/>
                    <a:p>
                      <a:r>
                        <a:rPr lang="de-CH" sz="800" dirty="0" smtClean="0"/>
                        <a:t>Effingerstrasse</a:t>
                      </a:r>
                      <a:r>
                        <a:rPr lang="de-CH" sz="800" baseline="0" dirty="0" smtClean="0"/>
                        <a:t> 1</a:t>
                      </a:r>
                    </a:p>
                    <a:p>
                      <a:r>
                        <a:rPr lang="de-CH" sz="800" baseline="0" dirty="0" smtClean="0"/>
                        <a:t>Postfach</a:t>
                      </a:r>
                    </a:p>
                    <a:p>
                      <a:r>
                        <a:rPr lang="de-CH" sz="800" baseline="0" dirty="0" smtClean="0"/>
                        <a:t>CH-3001 Bern</a:t>
                      </a:r>
                    </a:p>
                    <a:p>
                      <a:r>
                        <a:rPr lang="de-CH" sz="800" baseline="0" dirty="0" smtClean="0"/>
                        <a:t>Tel. +41 58 200 35 00</a:t>
                      </a:r>
                    </a:p>
                    <a:p>
                      <a:r>
                        <a:rPr lang="de-CH" sz="800" baseline="0" dirty="0" smtClean="0"/>
                        <a:t>Fax +41 58 200 35 11</a:t>
                      </a:r>
                      <a:endParaRPr lang="de-CH" sz="800" dirty="0"/>
                    </a:p>
                  </a:txBody>
                  <a:tcPr marL="0" marR="0" marT="0" marB="0"/>
                </a:tc>
                <a:tc>
                  <a:txBody>
                    <a:bodyPr/>
                    <a:lstStyle/>
                    <a:p>
                      <a:r>
                        <a:rPr lang="de-CH" sz="800" dirty="0" smtClean="0"/>
                        <a:t>Place Saint-François 1</a:t>
                      </a:r>
                    </a:p>
                    <a:p>
                      <a:r>
                        <a:rPr lang="de-CH" sz="800" dirty="0" smtClean="0"/>
                        <a:t>Case postale</a:t>
                      </a:r>
                      <a:r>
                        <a:rPr lang="de-CH" sz="800" baseline="0" dirty="0" smtClean="0"/>
                        <a:t> 7191</a:t>
                      </a:r>
                    </a:p>
                    <a:p>
                      <a:r>
                        <a:rPr lang="de-CH" sz="800" baseline="0" dirty="0" smtClean="0"/>
                        <a:t>CH-1002 Lausanne</a:t>
                      </a:r>
                    </a:p>
                    <a:p>
                      <a:r>
                        <a:rPr lang="de-CH" sz="800" baseline="0" dirty="0" smtClean="0"/>
                        <a:t>Tel. +41 58 200 33 00</a:t>
                      </a:r>
                    </a:p>
                    <a:p>
                      <a:r>
                        <a:rPr lang="de-CH" sz="800" baseline="0" dirty="0" smtClean="0"/>
                        <a:t>Fax +41 58 200 33 11</a:t>
                      </a:r>
                      <a:endParaRPr lang="de-CH" sz="800" dirty="0"/>
                    </a:p>
                  </a:txBody>
                  <a:tcPr marL="0" marR="0" marT="0" marB="0"/>
                </a:tc>
                <a:tc>
                  <a:txBody>
                    <a:bodyPr/>
                    <a:lstStyle/>
                    <a:p>
                      <a:r>
                        <a:rPr lang="de-CH" sz="800" dirty="0" smtClean="0"/>
                        <a:t>Rue du Scex 4</a:t>
                      </a:r>
                    </a:p>
                    <a:p>
                      <a:r>
                        <a:rPr lang="de-CH" sz="800" dirty="0" smtClean="0"/>
                        <a:t>Case postale</a:t>
                      </a:r>
                      <a:r>
                        <a:rPr lang="de-CH" sz="800" baseline="0" dirty="0" smtClean="0"/>
                        <a:t> 317</a:t>
                      </a:r>
                    </a:p>
                    <a:p>
                      <a:r>
                        <a:rPr lang="de-CH" sz="800" baseline="0" dirty="0" smtClean="0"/>
                        <a:t>CH-1951 Sion</a:t>
                      </a:r>
                    </a:p>
                    <a:p>
                      <a:r>
                        <a:rPr lang="de-CH" sz="800" baseline="0" dirty="0" smtClean="0"/>
                        <a:t>Tel. +41 58 200 34 00</a:t>
                      </a:r>
                    </a:p>
                    <a:p>
                      <a:r>
                        <a:rPr lang="de-CH" sz="800" baseline="0" dirty="0" smtClean="0"/>
                        <a:t>Fax +41 58 200 34 11</a:t>
                      </a:r>
                      <a:endParaRPr lang="de-CH" sz="800" dirty="0"/>
                    </a:p>
                  </a:txBody>
                  <a:tcPr marL="0" marR="0" marT="0" marB="0"/>
                </a:tc>
                <a:tc>
                  <a:txBody>
                    <a:bodyPr/>
                    <a:lstStyle/>
                    <a:p>
                      <a:r>
                        <a:rPr lang="de-CH" sz="800" dirty="0" smtClean="0"/>
                        <a:t>Rämistrasse 5</a:t>
                      </a:r>
                    </a:p>
                    <a:p>
                      <a:r>
                        <a:rPr lang="de-CH" sz="800" dirty="0" smtClean="0"/>
                        <a:t>Postfach</a:t>
                      </a:r>
                    </a:p>
                    <a:p>
                      <a:r>
                        <a:rPr lang="de-CH" sz="800" dirty="0" smtClean="0"/>
                        <a:t>CH-8024 Zürich</a:t>
                      </a:r>
                    </a:p>
                    <a:p>
                      <a:r>
                        <a:rPr lang="de-CH" sz="800" dirty="0" smtClean="0"/>
                        <a:t>Tel. +41 58</a:t>
                      </a:r>
                      <a:r>
                        <a:rPr lang="de-CH" sz="800" baseline="0" dirty="0" smtClean="0"/>
                        <a:t> 200 39 00</a:t>
                      </a:r>
                    </a:p>
                    <a:p>
                      <a:r>
                        <a:rPr lang="de-CH" sz="800" baseline="0" dirty="0" smtClean="0"/>
                        <a:t>Fax +41 58 200 39 11</a:t>
                      </a:r>
                      <a:endParaRPr lang="de-CH" sz="800" dirty="0"/>
                    </a:p>
                  </a:txBody>
                  <a:tcPr marL="0" marR="0" marT="0" marB="0"/>
                </a:tc>
              </a:tr>
              <a:tr h="144016">
                <a:tc>
                  <a:txBody>
                    <a:bodyPr/>
                    <a:lstStyle/>
                    <a:p>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r>
              <a:tr h="144016">
                <a:tc>
                  <a:txBody>
                    <a:bodyPr/>
                    <a:lstStyle/>
                    <a:p>
                      <a:r>
                        <a:rPr lang="de-CH" sz="800" dirty="0" smtClean="0"/>
                        <a:t>www.kellerhals-carrard.ch</a:t>
                      </a:r>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c>
                  <a:txBody>
                    <a:bodyPr/>
                    <a:lstStyle/>
                    <a:p>
                      <a:endParaRPr lang="de-CH" sz="800" dirty="0"/>
                    </a:p>
                  </a:txBody>
                  <a:tcPr marL="0" marR="0" marT="0" marB="0"/>
                </a:tc>
              </a:tr>
            </a:tbl>
          </a:graphicData>
        </a:graphic>
      </p:graphicFrame>
      <p:sp>
        <p:nvSpPr>
          <p:cNvPr id="9" name="Text Placeholder 8"/>
          <p:cNvSpPr>
            <a:spLocks noGrp="1"/>
          </p:cNvSpPr>
          <p:nvPr>
            <p:ph type="body" sz="quarter" idx="10" hasCustomPrompt="1"/>
          </p:nvPr>
        </p:nvSpPr>
        <p:spPr>
          <a:xfrm>
            <a:off x="971550" y="3068638"/>
            <a:ext cx="7200900" cy="360362"/>
          </a:xfrm>
        </p:spPr>
        <p:txBody>
          <a:bodyPr/>
          <a:lstStyle>
            <a:lvl1pPr marL="0" indent="0">
              <a:buNone/>
              <a:defRPr b="1"/>
            </a:lvl1pPr>
          </a:lstStyle>
          <a:p>
            <a:pPr lvl="0"/>
            <a:r>
              <a:rPr lang="en-US" dirty="0" smtClean="0"/>
              <a:t>Name</a:t>
            </a:r>
          </a:p>
        </p:txBody>
      </p:sp>
      <p:sp>
        <p:nvSpPr>
          <p:cNvPr id="10" name="Text Placeholder 8"/>
          <p:cNvSpPr>
            <a:spLocks noGrp="1"/>
          </p:cNvSpPr>
          <p:nvPr>
            <p:ph type="body" sz="quarter" idx="11" hasCustomPrompt="1"/>
          </p:nvPr>
        </p:nvSpPr>
        <p:spPr>
          <a:xfrm>
            <a:off x="978143" y="3501008"/>
            <a:ext cx="7200900" cy="360362"/>
          </a:xfrm>
        </p:spPr>
        <p:txBody>
          <a:bodyPr/>
          <a:lstStyle>
            <a:lvl1pPr marL="0" indent="0">
              <a:lnSpc>
                <a:spcPts val="1200"/>
              </a:lnSpc>
              <a:spcBef>
                <a:spcPts val="0"/>
              </a:spcBef>
              <a:buNone/>
              <a:defRPr sz="1050" b="0"/>
            </a:lvl1pPr>
          </a:lstStyle>
          <a:p>
            <a:pPr lvl="0"/>
            <a:r>
              <a:rPr lang="en-US" dirty="0" err="1" smtClean="0"/>
              <a:t>Kontaktangaben</a:t>
            </a:r>
            <a:endParaRPr lang="en-US" dirty="0" smtClean="0"/>
          </a:p>
        </p:txBody>
      </p:sp>
    </p:spTree>
    <p:extLst>
      <p:ext uri="{BB962C8B-B14F-4D97-AF65-F5344CB8AC3E}">
        <p14:creationId xmlns:p14="http://schemas.microsoft.com/office/powerpoint/2010/main" val="266655470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9482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le Placeholder 1"/>
          <p:cNvSpPr>
            <a:spLocks noGrp="1"/>
          </p:cNvSpPr>
          <p:nvPr>
            <p:ph type="title"/>
          </p:nvPr>
        </p:nvSpPr>
        <p:spPr>
          <a:xfrm>
            <a:off x="286245" y="1156636"/>
            <a:ext cx="7886205" cy="538815"/>
          </a:xfrm>
          <a:prstGeom prst="rect">
            <a:avLst/>
          </a:prstGeom>
        </p:spPr>
        <p:txBody>
          <a:bodyPr vert="horz" lIns="0" tIns="0" rIns="0" bIns="0" rtlCol="0" anchor="ctr">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971599" y="1844676"/>
            <a:ext cx="7200851" cy="4471940"/>
          </a:xfrm>
          <a:prstGeom prst="rect">
            <a:avLst/>
          </a:prstGeom>
        </p:spPr>
        <p:txBody>
          <a:bodyPr vert="horz" lIns="0" tIns="0" rIns="0" bIns="0" rtlCol="0">
            <a:noAutofit/>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2"/>
          </p:nvPr>
        </p:nvSpPr>
        <p:spPr>
          <a:xfrm>
            <a:off x="6996511" y="6573347"/>
            <a:ext cx="1391913" cy="145747"/>
          </a:xfrm>
          <a:prstGeom prst="rect">
            <a:avLst/>
          </a:prstGeom>
        </p:spPr>
        <p:txBody>
          <a:bodyPr vert="horz" lIns="0" tIns="0" rIns="0" bIns="0" rtlCol="0" anchor="ctr">
            <a:noAutofit/>
          </a:bodyPr>
          <a:lstStyle>
            <a:lvl1pPr algn="r">
              <a:defRPr sz="800">
                <a:solidFill>
                  <a:schemeClr val="tx1"/>
                </a:solidFill>
              </a:defRPr>
            </a:lvl1pPr>
          </a:lstStyle>
          <a:p>
            <a:r>
              <a:rPr lang="de-DE" smtClean="0"/>
              <a:t>16.11.2016</a:t>
            </a:r>
            <a:endParaRPr lang="de-CH" dirty="0"/>
          </a:p>
        </p:txBody>
      </p:sp>
      <p:sp>
        <p:nvSpPr>
          <p:cNvPr id="5" name="Footer Placeholder 4"/>
          <p:cNvSpPr>
            <a:spLocks noGrp="1"/>
          </p:cNvSpPr>
          <p:nvPr>
            <p:ph type="ftr" sz="quarter" idx="3"/>
          </p:nvPr>
        </p:nvSpPr>
        <p:spPr>
          <a:xfrm>
            <a:off x="286246" y="6575972"/>
            <a:ext cx="5831749" cy="145747"/>
          </a:xfrm>
          <a:prstGeom prst="rect">
            <a:avLst/>
          </a:prstGeom>
        </p:spPr>
        <p:txBody>
          <a:bodyPr vert="horz" lIns="0" tIns="0" rIns="0" bIns="0" rtlCol="0" anchor="ctr">
            <a:noAutofit/>
          </a:bodyPr>
          <a:lstStyle>
            <a:lvl1pPr algn="l">
              <a:defRPr sz="800" spc="10" baseline="0">
                <a:solidFill>
                  <a:schemeClr val="tx1"/>
                </a:solidFill>
              </a:defRPr>
            </a:lvl1pPr>
          </a:lstStyle>
          <a:p>
            <a:r>
              <a:rPr lang="de-CH" smtClean="0"/>
              <a:t>nicolas.mosimann@kellerhals-carrard.ch</a:t>
            </a:r>
            <a:endParaRPr lang="de-CH" dirty="0"/>
          </a:p>
        </p:txBody>
      </p:sp>
      <p:sp>
        <p:nvSpPr>
          <p:cNvPr id="6" name="Slide Number Placeholder 5"/>
          <p:cNvSpPr>
            <a:spLocks noGrp="1"/>
          </p:cNvSpPr>
          <p:nvPr>
            <p:ph type="sldNum" sz="quarter" idx="4"/>
          </p:nvPr>
        </p:nvSpPr>
        <p:spPr>
          <a:xfrm>
            <a:off x="8604448" y="6573348"/>
            <a:ext cx="245269" cy="145747"/>
          </a:xfrm>
          <a:prstGeom prst="rect">
            <a:avLst/>
          </a:prstGeom>
        </p:spPr>
        <p:txBody>
          <a:bodyPr vert="horz" lIns="0" tIns="0" rIns="0" bIns="0" rtlCol="0" anchor="ctr">
            <a:noAutofit/>
          </a:bodyPr>
          <a:lstStyle>
            <a:lvl1pPr algn="l">
              <a:defRPr sz="800">
                <a:solidFill>
                  <a:schemeClr val="tx1"/>
                </a:solidFill>
              </a:defRPr>
            </a:lvl1pPr>
          </a:lstStyle>
          <a:p>
            <a:fld id="{1E75EF35-6B25-4B85-9696-D7065EDA5E63}" type="slidenum">
              <a:rPr lang="de-CH" smtClean="0"/>
              <a:pPr/>
              <a:t>‹Nr.›</a:t>
            </a:fld>
            <a:endParaRPr lang="de-CH" dirty="0"/>
          </a:p>
        </p:txBody>
      </p:sp>
      <p:sp>
        <p:nvSpPr>
          <p:cNvPr id="8" name="TextBox 7"/>
          <p:cNvSpPr txBox="1"/>
          <p:nvPr/>
        </p:nvSpPr>
        <p:spPr>
          <a:xfrm>
            <a:off x="8428743" y="6584472"/>
            <a:ext cx="121729" cy="123111"/>
          </a:xfrm>
          <a:prstGeom prst="rect">
            <a:avLst/>
          </a:prstGeom>
          <a:noFill/>
        </p:spPr>
        <p:txBody>
          <a:bodyPr wrap="square" lIns="0" tIns="0" rIns="0" bIns="0" rtlCol="0">
            <a:spAutoFit/>
          </a:bodyPr>
          <a:lstStyle/>
          <a:p>
            <a:pPr algn="ctr"/>
            <a:r>
              <a:rPr lang="de-CH" sz="800" dirty="0" smtClean="0"/>
              <a:t>‒</a:t>
            </a:r>
            <a:endParaRPr lang="de-CH" sz="800" dirty="0"/>
          </a:p>
        </p:txBody>
      </p:sp>
      <p:cxnSp>
        <p:nvCxnSpPr>
          <p:cNvPr id="10" name="Straight Connector 9"/>
          <p:cNvCxnSpPr/>
          <p:nvPr/>
        </p:nvCxnSpPr>
        <p:spPr>
          <a:xfrm>
            <a:off x="286246" y="6446293"/>
            <a:ext cx="86069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86246" y="215774"/>
            <a:ext cx="1383795" cy="557785"/>
          </a:xfrm>
          <a:prstGeom prst="rect">
            <a:avLst/>
          </a:prstGeom>
        </p:spPr>
      </p:pic>
    </p:spTree>
    <p:extLst>
      <p:ext uri="{BB962C8B-B14F-4D97-AF65-F5344CB8AC3E}">
        <p14:creationId xmlns:p14="http://schemas.microsoft.com/office/powerpoint/2010/main" val="4060149212"/>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75" r:id="rId4"/>
    <p:sldLayoutId id="2147483677" r:id="rId5"/>
    <p:sldLayoutId id="2147483678" r:id="rId6"/>
    <p:sldLayoutId id="2147483664" r:id="rId7"/>
    <p:sldLayoutId id="2147483674" r:id="rId8"/>
    <p:sldLayoutId id="2147483673" r:id="rId9"/>
    <p:sldLayoutId id="2147483666" r:id="rId10"/>
    <p:sldLayoutId id="2147483667" r:id="rId11"/>
    <p:sldLayoutId id="2147483676" r:id="rId12"/>
  </p:sldLayoutIdLst>
  <p:hf hdr="0"/>
  <p:txStyles>
    <p:titleStyle>
      <a:lvl1pPr marL="0" indent="0" algn="l" defTabSz="914400" rtl="0" eaLnBrk="1" latinLnBrk="0" hangingPunct="1">
        <a:lnSpc>
          <a:spcPct val="100000"/>
        </a:lnSpc>
        <a:spcBef>
          <a:spcPct val="0"/>
        </a:spcBef>
        <a:buFont typeface="+mj-lt"/>
        <a:buNone/>
        <a:tabLst>
          <a:tab pos="680400" algn="l"/>
        </a:tabLst>
        <a:defRPr sz="1700" b="1" i="0" u="none" kern="1200" cap="all" baseline="0">
          <a:solidFill>
            <a:schemeClr val="tx1"/>
          </a:solidFill>
          <a:latin typeface="+mj-lt"/>
          <a:ea typeface="+mj-ea"/>
          <a:cs typeface="+mj-cs"/>
        </a:defRPr>
      </a:lvl1pPr>
    </p:titleStyle>
    <p:bodyStyle>
      <a:lvl1pPr marL="358775" indent="-358775" algn="l" defTabSz="914400" rtl="0" eaLnBrk="1" latinLnBrk="0" hangingPunct="1">
        <a:lnSpc>
          <a:spcPts val="2000"/>
        </a:lnSpc>
        <a:spcBef>
          <a:spcPts val="800"/>
        </a:spcBef>
        <a:buFont typeface="Verdana" panose="020B0604030504040204" pitchFamily="34" charset="0"/>
        <a:buChar char="–"/>
        <a:defRPr sz="1800" b="0" kern="1200" spc="-40">
          <a:solidFill>
            <a:schemeClr val="tx1"/>
          </a:solidFill>
          <a:latin typeface="+mn-lt"/>
          <a:ea typeface="+mn-ea"/>
          <a:cs typeface="+mn-cs"/>
        </a:defRPr>
      </a:lvl1pPr>
      <a:lvl2pPr marL="720000" indent="-358775" algn="l" defTabSz="914400" rtl="0" eaLnBrk="1" latinLnBrk="0" hangingPunct="1">
        <a:lnSpc>
          <a:spcPts val="2000"/>
        </a:lnSpc>
        <a:spcBef>
          <a:spcPts val="0"/>
        </a:spcBef>
        <a:buFont typeface="Verdana" panose="020B0604030504040204" pitchFamily="34" charset="0"/>
        <a:buChar char="–"/>
        <a:defRPr sz="1800" b="0" i="0" u="none" kern="1200" spc="-40">
          <a:solidFill>
            <a:schemeClr val="tx1"/>
          </a:solidFill>
          <a:latin typeface="+mn-lt"/>
          <a:ea typeface="+mn-ea"/>
          <a:cs typeface="+mn-cs"/>
        </a:defRPr>
      </a:lvl2pPr>
      <a:lvl3pPr marL="1080000" indent="-360000"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3pPr>
      <a:lvl4pPr marL="1440000" indent="-358775"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4pPr>
      <a:lvl5pPr marL="1800000" indent="-360000" algn="l" defTabSz="914400" rtl="0" eaLnBrk="1" latinLnBrk="0" hangingPunct="1">
        <a:lnSpc>
          <a:spcPts val="2000"/>
        </a:lnSpc>
        <a:spcBef>
          <a:spcPts val="0"/>
        </a:spcBef>
        <a:buFont typeface="Verdana" panose="020B0604030504040204" pitchFamily="34" charset="0"/>
        <a:buChar char="–"/>
        <a:defRPr sz="1800" kern="1200" spc="-40" baseline="0">
          <a:solidFill>
            <a:schemeClr val="tx1"/>
          </a:solidFill>
          <a:latin typeface="+mn-lt"/>
          <a:ea typeface="+mn-ea"/>
          <a:cs typeface="+mn-cs"/>
        </a:defRPr>
      </a:lvl5pPr>
      <a:lvl6pPr marL="2160000" indent="-360000"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6pPr>
      <a:lvl7pPr marL="2520000" indent="-360000"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7pPr>
      <a:lvl8pPr marL="2880000" indent="-360000"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8pPr>
      <a:lvl9pPr marL="3240000" indent="-360000" algn="l" defTabSz="914400" rtl="0" eaLnBrk="1" latinLnBrk="0" hangingPunct="1">
        <a:lnSpc>
          <a:spcPts val="2000"/>
        </a:lnSpc>
        <a:spcBef>
          <a:spcPts val="0"/>
        </a:spcBef>
        <a:buFont typeface="Verdana" panose="020B0604030504040204" pitchFamily="34" charset="0"/>
        <a:buChar char="–"/>
        <a:defRPr sz="1800" kern="1200" spc="-4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162" userDrawn="1">
          <p15:clr>
            <a:srgbClr val="F26B43"/>
          </p15:clr>
        </p15:guide>
        <p15:guide id="2" orient="horz" pos="3974" userDrawn="1">
          <p15:clr>
            <a:srgbClr val="F26B43"/>
          </p15:clr>
        </p15:guide>
        <p15:guide id="3" pos="5148" userDrawn="1">
          <p15:clr>
            <a:srgbClr val="F26B43"/>
          </p15:clr>
        </p15:guide>
        <p15:guide id="4" pos="6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hyperlink" Target="http://www.google.ch/url?sa=i&amp;rct=j&amp;q=&amp;esrc=s&amp;source=images&amp;cd=&amp;cad=rja&amp;uact=8&amp;ved=0CAcQjRxqFQoTCIytr5iYisYCFURVFAodeU8AWg&amp;url=http://www.smarterbettercities.ch/&amp;ei=5dR6VcymIsSqUfmegdAF&amp;bvm=bv.95515949,d.d24&amp;psig=AFQjCNFg1WaCg6cYwxJ2DyHnZXJmd3hGMg&amp;ust=1434199652345847" TargetMode="External"/><Relationship Id="rId26" Type="http://schemas.openxmlformats.org/officeDocument/2006/relationships/hyperlink" Target="http://www.google.ch/url?sa=i&amp;rct=j&amp;q=&amp;esrc=s&amp;source=images&amp;cd=&amp;cad=rja&amp;uact=8&amp;ved=0CAcQjRxqFQoTCPWJocyaisYCFcfAFAodacQAgA&amp;url=http://www.cti-invest.ch/Companies/Company/AgriCircle.aspx&amp;ei=a9d6VbWoD8eBU-mIg4AI&amp;bvm=bv.95515949,d.bGg&amp;psig=AFQjCNGbRaO4NV_lDXm0pk0HzflN0r-JCA&amp;ust=1434200287940643" TargetMode="External"/><Relationship Id="rId39" Type="http://schemas.openxmlformats.org/officeDocument/2006/relationships/image" Target="../media/image27.png"/><Relationship Id="rId3" Type="http://schemas.openxmlformats.org/officeDocument/2006/relationships/image" Target="../media/image2.png"/><Relationship Id="rId21" Type="http://schemas.openxmlformats.org/officeDocument/2006/relationships/image" Target="../media/image15.png"/><Relationship Id="rId34" Type="http://schemas.openxmlformats.org/officeDocument/2006/relationships/image" Target="../media/image23.jpeg"/><Relationship Id="rId42" Type="http://schemas.openxmlformats.org/officeDocument/2006/relationships/image" Target="../media/image30.jpeg"/><Relationship Id="rId47" Type="http://schemas.openxmlformats.org/officeDocument/2006/relationships/image" Target="../media/image35.png"/><Relationship Id="rId50" Type="http://schemas.openxmlformats.org/officeDocument/2006/relationships/image" Target="../media/image37.png"/><Relationship Id="rId7" Type="http://schemas.openxmlformats.org/officeDocument/2006/relationships/image" Target="../media/image6.png"/><Relationship Id="rId12" Type="http://schemas.openxmlformats.org/officeDocument/2006/relationships/hyperlink" Target="http://www.avrios.com/" TargetMode="Externa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2.png"/><Relationship Id="rId38" Type="http://schemas.openxmlformats.org/officeDocument/2006/relationships/image" Target="../media/image26.png"/><Relationship Id="rId46" Type="http://schemas.openxmlformats.org/officeDocument/2006/relationships/image" Target="../media/image34.png"/><Relationship Id="rId2" Type="http://schemas.openxmlformats.org/officeDocument/2006/relationships/notesSlide" Target="../notesSlides/notesSlide2.xml"/><Relationship Id="rId16" Type="http://schemas.openxmlformats.org/officeDocument/2006/relationships/hyperlink" Target="http://www.google.ch/url?sa=i&amp;rct=j&amp;q=&amp;esrc=s&amp;source=images&amp;cd=&amp;cad=rja&amp;uact=8&amp;ved=0CAcQjRxqFQoTCJm6--yXisYCFQnHFAodZd4AGg&amp;url=http://capetown.locanto.co.za/ID_380705745/Eventerprise.html&amp;ei=itR6VZnNIImOU-W8g9AB&amp;bvm=bv.95515949,d.d24&amp;psig=AFQjCNFkSOXG4wDQlQPHR4H2zqOoUDKv2A&amp;ust=1434199559374493" TargetMode="External"/><Relationship Id="rId20" Type="http://schemas.openxmlformats.org/officeDocument/2006/relationships/hyperlink" Target="https://www.google.ch/url?sa=i&amp;rct=j&amp;q=&amp;esrc=s&amp;source=images&amp;cd=&amp;cad=rja&amp;uact=8&amp;ved=0CAcQjRxqFQoTCKLBjqqYisYCFco9FAodwKsA3w&amp;url=https://shopviu.com/&amp;ei=CtV6VaKUL8r7UMDXgvgN&amp;bvm=bv.95515949,d.d24&amp;psig=AFQjCNFimgK52K0Hlg_uX3r7WcKM55cKiw&amp;ust=1434199686953320" TargetMode="External"/><Relationship Id="rId29" Type="http://schemas.openxmlformats.org/officeDocument/2006/relationships/image" Target="../media/image19.png"/><Relationship Id="rId41" Type="http://schemas.openxmlformats.org/officeDocument/2006/relationships/image" Target="../media/image29.png"/><Relationship Id="rId1" Type="http://schemas.openxmlformats.org/officeDocument/2006/relationships/slideLayout" Target="../slideLayouts/slideLayout10.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hyperlink" Target="https://www.google.ch/url?sa=i&amp;rct=j&amp;q=&amp;esrc=s&amp;source=images&amp;cd=&amp;cad=rja&amp;uact=8&amp;ved=0CAcQjRxqFQoTCOLzyIOaisYCFYJxFAodugoA0w&amp;url=https://innovate4climate.ch/post/31196&amp;ei=0tZ6VeLCMYLjUbqVgJgN&amp;bvm=bv.95515949,d.bGg&amp;psig=AFQjCNFFSydE43UZNjy9ZdUu4nnL7BaoMw&amp;ust=1434200145593866" TargetMode="External"/><Relationship Id="rId32" Type="http://schemas.openxmlformats.org/officeDocument/2006/relationships/image" Target="../media/image21.png"/><Relationship Id="rId37" Type="http://schemas.openxmlformats.org/officeDocument/2006/relationships/image" Target="../media/image25.png"/><Relationship Id="rId40" Type="http://schemas.openxmlformats.org/officeDocument/2006/relationships/image" Target="../media/image28.png"/><Relationship Id="rId45" Type="http://schemas.openxmlformats.org/officeDocument/2006/relationships/image" Target="../media/image33.png"/><Relationship Id="rId5" Type="http://schemas.openxmlformats.org/officeDocument/2006/relationships/image" Target="../media/image4.png"/><Relationship Id="rId15" Type="http://schemas.openxmlformats.org/officeDocument/2006/relationships/image" Target="../media/image12.jpeg"/><Relationship Id="rId23" Type="http://schemas.openxmlformats.org/officeDocument/2006/relationships/image" Target="../media/image16.png"/><Relationship Id="rId28" Type="http://schemas.openxmlformats.org/officeDocument/2006/relationships/hyperlink" Target="http://www.google.ch/url?sa=i&amp;rct=j&amp;q=&amp;esrc=s&amp;source=images&amp;cd=&amp;cad=rja&amp;uact=8&amp;ved=0CAcQjRxqFQoTCOT2ruCaisYCFcTAFAodWnkAPA&amp;url=http://www.startupticker.ch/en/news/september-2014/neues-kapitel-fuer-park-it-team&amp;ei=ldd6VaTYGcSBU9rygeAD&amp;bvm=bv.95515949,d.bGg&amp;psig=AFQjCNEroRwr5HNvOQAq4CsCiCMere-xcQ&amp;ust=1434200337615942" TargetMode="External"/><Relationship Id="rId36" Type="http://schemas.openxmlformats.org/officeDocument/2006/relationships/image" Target="../media/image24.png"/><Relationship Id="rId49" Type="http://schemas.openxmlformats.org/officeDocument/2006/relationships/hyperlink" Target="http://www.google.ch/url?sa=i&amp;rct=j&amp;q=&amp;esrc=s&amp;source=images&amp;cd=&amp;cad=rja&amp;uact=8&amp;ved=0CAcQjRxqFQoTCIKygJSaisYCFYXHFAodEqYABw&amp;url=http://w.rayneer.tv/medien/&amp;ei=9dZ6VcLjEIWPU5LMgjg&amp;bvm=bv.95515949,d.bGg&amp;psig=AFQjCNGz6TVzx88b33_IkqJD6a3VM4dYRw&amp;ust=1434200179352769" TargetMode="External"/><Relationship Id="rId10" Type="http://schemas.openxmlformats.org/officeDocument/2006/relationships/image" Target="../media/image9.png"/><Relationship Id="rId19" Type="http://schemas.openxmlformats.org/officeDocument/2006/relationships/image" Target="../media/image14.png"/><Relationship Id="rId31" Type="http://schemas.openxmlformats.org/officeDocument/2006/relationships/image" Target="../media/image20.jpeg"/><Relationship Id="rId44" Type="http://schemas.openxmlformats.org/officeDocument/2006/relationships/image" Target="../media/image32.png"/><Relationship Id="rId52" Type="http://schemas.openxmlformats.org/officeDocument/2006/relationships/image" Target="../media/image3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hyperlink" Target="http://www.google.ch/url?sa=i&amp;rct=j&amp;q=&amp;esrc=s&amp;source=images&amp;cd=&amp;cad=rja&amp;uact=8&amp;ved=0CAcQjRxqFQoTCL6-qNOXisYCFcRXFAod6RcAnw&amp;url=http://www.startupranking.com/dealmarket&amp;ei=VNR6Vb7ELcSvUemvgPgJ&amp;bvm=bv.95515949,d.d24&amp;psig=AFQjCNEH2tZTyB1DjSJJOvWLo5vjUUZaEA&amp;ust=1434199496319386" TargetMode="External"/><Relationship Id="rId22" Type="http://schemas.openxmlformats.org/officeDocument/2006/relationships/hyperlink" Target="http://www.google.ch/url?sa=i&amp;rct=j&amp;q=&amp;esrc=s&amp;source=images&amp;cd=&amp;cad=rja&amp;uact=8&amp;ved=0CAcQjRxqFQoTCPCrn_OZisYCFQo6FAodoG4Amw&amp;url=http://logopond.com/gallery/detail/217328&amp;ei=sNZ6VfCTI4r0UKDdgdgJ&amp;bvm=bv.95515949,d.bGg&amp;psig=AFQjCNFtPc5siRF95TOLlkR0jLEVx_NaeA&amp;ust=1434200111285030" TargetMode="External"/><Relationship Id="rId27" Type="http://schemas.openxmlformats.org/officeDocument/2006/relationships/image" Target="../media/image18.png"/><Relationship Id="rId30" Type="http://schemas.openxmlformats.org/officeDocument/2006/relationships/hyperlink" Target="http://www.google.ch/url?sa=i&amp;rct=j&amp;q=&amp;esrc=s&amp;source=images&amp;cd=&amp;cad=rja&amp;uact=8&amp;ved=0CAcQjRxqFQoTCIbXr4SbisYCFYFZFAod21MAYQ&amp;url=http://www.gartmann.biz/aktuell/detail/news/Top_Athleten_lancieren_erste_Crowdfunding_Plattform_fuer_den_Schweizer_Sport.html&amp;ei=4Nd6VYbnOIGzUdungYgG&amp;bvm=bv.95515949,d.bGg&amp;psig=AFQjCNHdPUJ7ZYHyJMJtKs2oKElkCenG_w&amp;ust=1434200415337333" TargetMode="External"/><Relationship Id="rId35" Type="http://schemas.openxmlformats.org/officeDocument/2006/relationships/hyperlink" Target="http://www.google.ch/url?sa=i&amp;rct=j&amp;q=&amp;esrc=s&amp;source=images&amp;cd=&amp;cad=rja&amp;uact=8&amp;ved=0ahUKEwik_sDw5J_LAhXHHxoKHVEHBt0QjRwIBw&amp;url=http://www.netcetera.com/de/news-expertise/newsarchive/20130531-biovotion.html&amp;psig=AFQjCNEzo44FHmBPfp0p30Tm1GIkqEiKEg&amp;ust=1456932024448701" TargetMode="External"/><Relationship Id="rId43" Type="http://schemas.openxmlformats.org/officeDocument/2006/relationships/image" Target="../media/image31.jpeg"/><Relationship Id="rId48" Type="http://schemas.openxmlformats.org/officeDocument/2006/relationships/image" Target="../media/image36.png"/><Relationship Id="rId8" Type="http://schemas.openxmlformats.org/officeDocument/2006/relationships/image" Target="../media/image7.png"/><Relationship Id="rId51" Type="http://schemas.openxmlformats.org/officeDocument/2006/relationships/hyperlink" Target="http://www.google.ch/url?sa=i&amp;rct=j&amp;q=&amp;esrc=s&amp;source=images&amp;cd=&amp;cad=rja&amp;uact=8&amp;ved=0CAcQjRxqFQoTCKTe04SYisYCFQS6FAodiOoADg&amp;url=http://wonderfulengineering.com/the-chairless-chair-is-an-exo-skeleton-that-allows-you-to-sit-anywhere/&amp;ei=vNR6VaSQDYT0UojVg3A&amp;bvm=bv.95515949,d.d24&amp;psig=AFQjCNHQNsDb-NJpPu6w1jVwmh13NLWQRw&amp;ust=1434199601132334"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9.jpeg"/><Relationship Id="rId1" Type="http://schemas.openxmlformats.org/officeDocument/2006/relationships/slideLayout" Target="../slideLayouts/slideLayout3.xml"/><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hyperlink" Target="https://www.google.ch/url?sa=i&amp;rct=j&amp;q=&amp;esrc=s&amp;source=images&amp;cd=&amp;cad=rja&amp;uact=8&amp;ved=0ahUKEwjI3LfV3NjKAhXOhhoKHffCDR4QjRwIBw&amp;url=https://twitter.com/magnolia_cms&amp;psig=AFQjCNEAG4-yaLEkNftSvh8UbR_oCVVWRA&amp;ust=145449020500196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5.xml"/><Relationship Id="rId5" Type="http://schemas.openxmlformats.org/officeDocument/2006/relationships/image" Target="../media/image48.jpeg"/><Relationship Id="rId4" Type="http://schemas.openxmlformats.org/officeDocument/2006/relationships/image" Target="../media/image4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1.jpeg"/><Relationship Id="rId4" Type="http://schemas.openxmlformats.org/officeDocument/2006/relationships/image" Target="../media/image5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jpeg"/><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5.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de-CH" dirty="0" smtClean="0"/>
              <a:t>Legal Essentials </a:t>
            </a:r>
            <a:r>
              <a:rPr lang="de-CH" dirty="0" err="1" smtClean="0"/>
              <a:t>for</a:t>
            </a:r>
            <a:r>
              <a:rPr lang="de-CH" dirty="0" smtClean="0"/>
              <a:t> Software Startups</a:t>
            </a:r>
            <a:endParaRPr lang="de-CH" dirty="0"/>
          </a:p>
        </p:txBody>
      </p:sp>
      <p:sp>
        <p:nvSpPr>
          <p:cNvPr id="3" name="Subtitle 2"/>
          <p:cNvSpPr>
            <a:spLocks noGrp="1"/>
          </p:cNvSpPr>
          <p:nvPr>
            <p:ph type="subTitle" idx="1"/>
          </p:nvPr>
        </p:nvSpPr>
        <p:spPr/>
        <p:txBody>
          <a:bodyPr/>
          <a:lstStyle/>
          <a:p>
            <a:r>
              <a:rPr lang="de-CH" dirty="0" err="1" smtClean="0"/>
              <a:t>Founders</a:t>
            </a:r>
            <a:r>
              <a:rPr lang="de-CH" dirty="0" smtClean="0"/>
              <a:t> Circle Workshop </a:t>
            </a:r>
            <a:r>
              <a:rPr lang="de-CH" dirty="0" err="1" smtClean="0"/>
              <a:t>by</a:t>
            </a:r>
            <a:r>
              <a:rPr lang="de-CH" dirty="0" smtClean="0"/>
              <a:t> </a:t>
            </a:r>
            <a:r>
              <a:rPr lang="de-CH" dirty="0" err="1" smtClean="0"/>
              <a:t>venturelab</a:t>
            </a:r>
            <a:endParaRPr lang="de-CH" dirty="0"/>
          </a:p>
        </p:txBody>
      </p:sp>
      <p:sp>
        <p:nvSpPr>
          <p:cNvPr id="4" name="Text Placeholder 3"/>
          <p:cNvSpPr>
            <a:spLocks noGrp="1"/>
          </p:cNvSpPr>
          <p:nvPr>
            <p:ph type="body" sz="quarter" idx="12"/>
          </p:nvPr>
        </p:nvSpPr>
        <p:spPr/>
        <p:txBody>
          <a:bodyPr/>
          <a:lstStyle/>
          <a:p>
            <a:r>
              <a:rPr lang="de-CH" dirty="0" err="1"/>
              <a:t>s</a:t>
            </a:r>
            <a:r>
              <a:rPr lang="de-CH" dirty="0" err="1" smtClean="0"/>
              <a:t>tartup</a:t>
            </a:r>
            <a:r>
              <a:rPr lang="de-CH" dirty="0" smtClean="0"/>
              <a:t> </a:t>
            </a:r>
            <a:r>
              <a:rPr lang="de-CH" dirty="0" err="1" smtClean="0"/>
              <a:t>space</a:t>
            </a:r>
            <a:r>
              <a:rPr lang="de-CH" dirty="0" smtClean="0"/>
              <a:t>, Schlieren, 16 November 2016</a:t>
            </a:r>
            <a:endParaRPr lang="de-CH" dirty="0"/>
          </a:p>
        </p:txBody>
      </p:sp>
      <p:sp>
        <p:nvSpPr>
          <p:cNvPr id="5" name="Text Placeholder 4"/>
          <p:cNvSpPr>
            <a:spLocks noGrp="1"/>
          </p:cNvSpPr>
          <p:nvPr>
            <p:ph type="body" sz="quarter" idx="13"/>
          </p:nvPr>
        </p:nvSpPr>
        <p:spPr/>
        <p:txBody>
          <a:bodyPr/>
          <a:lstStyle/>
          <a:p>
            <a:r>
              <a:rPr lang="de-CH" dirty="0" smtClean="0"/>
              <a:t>Dr Nicolas Mosimann, LL.M.</a:t>
            </a:r>
            <a:endParaRPr lang="de-CH" dirty="0"/>
          </a:p>
        </p:txBody>
      </p:sp>
    </p:spTree>
    <p:extLst>
      <p:ext uri="{BB962C8B-B14F-4D97-AF65-F5344CB8AC3E}">
        <p14:creationId xmlns:p14="http://schemas.microsoft.com/office/powerpoint/2010/main" val="15529300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a:t>	Kellerhals </a:t>
            </a:r>
            <a:r>
              <a:rPr lang="de-CH" dirty="0" err="1"/>
              <a:t>carrard</a:t>
            </a:r>
            <a:r>
              <a:rPr lang="de-CH" dirty="0"/>
              <a:t> Startup Desk: </a:t>
            </a:r>
            <a:r>
              <a:rPr lang="de-CH" dirty="0" err="1"/>
              <a:t>Our</a:t>
            </a:r>
            <a:r>
              <a:rPr lang="de-CH" dirty="0"/>
              <a:t> Services</a:t>
            </a:r>
          </a:p>
        </p:txBody>
      </p:sp>
      <p:sp>
        <p:nvSpPr>
          <p:cNvPr id="3" name="Inhaltsplatzhalter 2"/>
          <p:cNvSpPr>
            <a:spLocks noGrp="1"/>
          </p:cNvSpPr>
          <p:nvPr>
            <p:ph idx="1"/>
          </p:nvPr>
        </p:nvSpPr>
        <p:spPr/>
        <p:txBody>
          <a:bodyPr/>
          <a:lstStyle/>
          <a:p>
            <a:pPr marL="0" indent="0">
              <a:lnSpc>
                <a:spcPct val="100000"/>
              </a:lnSpc>
              <a:buNone/>
            </a:pPr>
            <a:r>
              <a:rPr lang="en-US" sz="1600" dirty="0"/>
              <a:t>Our Startup Desk comprises a core team of motivated and experienced lawyers from Basel, Berne, Lausanne and Zurich. We offer professional, pragmatic and reliable services in all areas and phases of life of a startup. </a:t>
            </a:r>
          </a:p>
          <a:p>
            <a:pPr marL="0" indent="0">
              <a:lnSpc>
                <a:spcPct val="100000"/>
              </a:lnSpc>
              <a:spcAft>
                <a:spcPts val="1200"/>
              </a:spcAft>
              <a:buNone/>
            </a:pPr>
            <a:r>
              <a:rPr lang="en-US" sz="1600" dirty="0"/>
              <a:t>A main focus is advising startups in connection with </a:t>
            </a:r>
          </a:p>
          <a:p>
            <a:pPr>
              <a:lnSpc>
                <a:spcPct val="100000"/>
              </a:lnSpc>
              <a:buFont typeface="Wingdings" panose="05000000000000000000" pitchFamily="2" charset="2"/>
              <a:buChar char="§"/>
            </a:pPr>
            <a:r>
              <a:rPr lang="en-US" sz="1600" dirty="0"/>
              <a:t>financing rounds</a:t>
            </a:r>
          </a:p>
          <a:p>
            <a:pPr>
              <a:lnSpc>
                <a:spcPct val="100000"/>
              </a:lnSpc>
              <a:buFont typeface="Wingdings" panose="05000000000000000000" pitchFamily="2" charset="2"/>
              <a:buChar char="§"/>
            </a:pPr>
            <a:r>
              <a:rPr lang="en-US" sz="1600" dirty="0"/>
              <a:t>incentive plans</a:t>
            </a:r>
          </a:p>
          <a:p>
            <a:pPr>
              <a:lnSpc>
                <a:spcPct val="100000"/>
              </a:lnSpc>
              <a:buFont typeface="Wingdings" panose="05000000000000000000" pitchFamily="2" charset="2"/>
              <a:buChar char="§"/>
            </a:pPr>
            <a:r>
              <a:rPr lang="en-US" sz="1600" dirty="0"/>
              <a:t>exit transactions (trade sale, IPO) </a:t>
            </a:r>
          </a:p>
          <a:p>
            <a:pPr>
              <a:lnSpc>
                <a:spcPct val="100000"/>
              </a:lnSpc>
              <a:buFont typeface="Wingdings" panose="05000000000000000000" pitchFamily="2" charset="2"/>
              <a:buChar char="§"/>
            </a:pPr>
            <a:r>
              <a:rPr lang="en-US" sz="1600" dirty="0"/>
              <a:t>IP-related matters</a:t>
            </a:r>
            <a:r>
              <a:rPr lang="en-US" sz="1600" dirty="0" smtClean="0"/>
              <a:t>.</a:t>
            </a:r>
            <a:endParaRPr lang="en-US" sz="1600" dirty="0"/>
          </a:p>
        </p:txBody>
      </p:sp>
      <p:sp>
        <p:nvSpPr>
          <p:cNvPr id="4" name="Datumsplatzhalter 3"/>
          <p:cNvSpPr>
            <a:spLocks noGrp="1"/>
          </p:cNvSpPr>
          <p:nvPr>
            <p:ph type="dt" sz="half" idx="10"/>
          </p:nvPr>
        </p:nvSpPr>
        <p:spPr/>
        <p:txBody>
          <a:bodyPr/>
          <a:lstStyle/>
          <a:p>
            <a:r>
              <a:rPr lang="de-DE" smtClean="0"/>
              <a:t>28.06.2016</a:t>
            </a:r>
            <a:endParaRPr lang="de-CH" dirty="0"/>
          </a:p>
        </p:txBody>
      </p:sp>
      <p:sp>
        <p:nvSpPr>
          <p:cNvPr id="5" name="Fußzeilenplatzhalter 4"/>
          <p:cNvSpPr>
            <a:spLocks noGrp="1"/>
          </p:cNvSpPr>
          <p:nvPr>
            <p:ph type="ftr" sz="quarter" idx="11"/>
          </p:nvPr>
        </p:nvSpPr>
        <p:spPr/>
        <p:txBody>
          <a:bodyPr/>
          <a:lstStyle/>
          <a:p>
            <a:r>
              <a:rPr lang="de-CH" dirty="0"/>
              <a:t>n</a:t>
            </a:r>
            <a:r>
              <a:rPr lang="de-CH" dirty="0" smtClean="0"/>
              <a:t>icolas.mosimann@kellerhals-carrard.ch</a:t>
            </a:r>
            <a:endParaRPr lang="de-CH" dirty="0"/>
          </a:p>
        </p:txBody>
      </p:sp>
      <p:sp>
        <p:nvSpPr>
          <p:cNvPr id="6" name="Foliennummernplatzhalter 5"/>
          <p:cNvSpPr>
            <a:spLocks noGrp="1"/>
          </p:cNvSpPr>
          <p:nvPr>
            <p:ph type="sldNum" sz="quarter" idx="12"/>
          </p:nvPr>
        </p:nvSpPr>
        <p:spPr/>
        <p:txBody>
          <a:bodyPr/>
          <a:lstStyle/>
          <a:p>
            <a:fld id="{1E75EF35-6B25-4B85-9696-D7065EDA5E63}" type="slidenum">
              <a:rPr lang="de-CH" smtClean="0"/>
              <a:pPr/>
              <a:t>2</a:t>
            </a:fld>
            <a:endParaRPr lang="de-CH"/>
          </a:p>
        </p:txBody>
      </p:sp>
    </p:spTree>
    <p:extLst>
      <p:ext uri="{BB962C8B-B14F-4D97-AF65-F5344CB8AC3E}">
        <p14:creationId xmlns:p14="http://schemas.microsoft.com/office/powerpoint/2010/main" val="11831934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AutoShape 28"/>
          <p:cNvSpPr>
            <a:spLocks noChangeArrowheads="1"/>
          </p:cNvSpPr>
          <p:nvPr/>
        </p:nvSpPr>
        <p:spPr bwMode="auto">
          <a:xfrm>
            <a:off x="817761" y="1655651"/>
            <a:ext cx="7786687" cy="4681537"/>
          </a:xfrm>
          <a:prstGeom prst="flowChartProcess">
            <a:avLst/>
          </a:prstGeom>
          <a:ln w="9525" algn="ctr">
            <a:noFill/>
            <a:miter lim="800000"/>
            <a:headEnd/>
            <a:tailEnd/>
          </a:ln>
        </p:spPr>
        <p:txBody>
          <a:bodyPr lIns="144000" tIns="144000" rIns="144000" bIns="144000"/>
          <a:lstStyle/>
          <a:p>
            <a:pPr marL="177800" indent="-177800">
              <a:spcAft>
                <a:spcPts val="1200"/>
              </a:spcAft>
              <a:defRPr/>
            </a:pPr>
            <a:endParaRPr lang="de-CH" sz="1200" b="1"/>
          </a:p>
          <a:p>
            <a:pPr marL="1588" indent="-1588">
              <a:spcAft>
                <a:spcPts val="1200"/>
              </a:spcAft>
              <a:defRPr/>
            </a:pPr>
            <a:endParaRPr lang="en-US" sz="1200" b="1" dirty="0"/>
          </a:p>
          <a:p>
            <a:pPr marL="1588" indent="-1588">
              <a:spcAft>
                <a:spcPts val="1200"/>
              </a:spcAft>
              <a:defRPr/>
            </a:pPr>
            <a:endParaRPr lang="en-US" sz="1200" b="1" dirty="0"/>
          </a:p>
        </p:txBody>
      </p:sp>
      <p:sp>
        <p:nvSpPr>
          <p:cNvPr id="10" name="Rectangle 4"/>
          <p:cNvSpPr>
            <a:spLocks noChangeArrowheads="1"/>
          </p:cNvSpPr>
          <p:nvPr/>
        </p:nvSpPr>
        <p:spPr bwMode="auto">
          <a:xfrm>
            <a:off x="6329363" y="3201988"/>
            <a:ext cx="1838325" cy="1665287"/>
          </a:xfrm>
          <a:prstGeom prst="rect">
            <a:avLst/>
          </a:prstGeom>
          <a:noFill/>
          <a:ln w="9525">
            <a:noFill/>
            <a:miter lim="800000"/>
            <a:headEnd/>
            <a:tailEnd/>
          </a:ln>
        </p:spPr>
        <p:txBody>
          <a:bodyPr lIns="0" tIns="0" rIns="0" bIns="0"/>
          <a:lstStyle/>
          <a:p>
            <a:pPr marL="1435100" indent="-1258888" algn="just">
              <a:spcAft>
                <a:spcPct val="50000"/>
              </a:spcAft>
              <a:buClr>
                <a:srgbClr val="F39911"/>
              </a:buClr>
              <a:tabLst>
                <a:tab pos="1073150" algn="l"/>
              </a:tabLst>
              <a:defRPr/>
            </a:pPr>
            <a:endParaRPr lang="en-GB" sz="1000">
              <a:solidFill>
                <a:srgbClr val="003441"/>
              </a:solidFill>
              <a:latin typeface="Verdana" pitchFamily="32" charset="0"/>
              <a:cs typeface="+mn-cs"/>
            </a:endParaRPr>
          </a:p>
          <a:p>
            <a:pPr marL="1435100" indent="-1258888" algn="just">
              <a:spcAft>
                <a:spcPct val="50000"/>
              </a:spcAft>
              <a:buClr>
                <a:srgbClr val="F39911"/>
              </a:buClr>
              <a:tabLst>
                <a:tab pos="1073150" algn="l"/>
              </a:tabLst>
              <a:defRPr/>
            </a:pPr>
            <a:endParaRPr lang="en-GB" sz="1000">
              <a:solidFill>
                <a:srgbClr val="003441"/>
              </a:solidFill>
              <a:latin typeface="Verdana" pitchFamily="32" charset="0"/>
              <a:cs typeface="+mn-cs"/>
            </a:endParaRPr>
          </a:p>
          <a:p>
            <a:pPr marL="1435100" indent="-1258888" algn="just">
              <a:spcAft>
                <a:spcPct val="50000"/>
              </a:spcAft>
              <a:buClr>
                <a:srgbClr val="F39911"/>
              </a:buClr>
              <a:tabLst>
                <a:tab pos="1073150" algn="l"/>
              </a:tabLst>
              <a:defRPr/>
            </a:pPr>
            <a:endParaRPr lang="en-GB" sz="1000">
              <a:solidFill>
                <a:srgbClr val="003441"/>
              </a:solidFill>
              <a:latin typeface="Verdana" pitchFamily="32" charset="0"/>
              <a:cs typeface="+mn-cs"/>
            </a:endParaRPr>
          </a:p>
          <a:p>
            <a:pPr marL="1435100" indent="-1258888" algn="just">
              <a:spcAft>
                <a:spcPct val="50000"/>
              </a:spcAft>
              <a:buClr>
                <a:srgbClr val="F39911"/>
              </a:buClr>
              <a:tabLst>
                <a:tab pos="1073150" algn="l"/>
              </a:tabLst>
              <a:defRPr/>
            </a:pPr>
            <a:endParaRPr lang="en-GB" sz="1000">
              <a:solidFill>
                <a:srgbClr val="003441"/>
              </a:solidFill>
              <a:latin typeface="Verdana" pitchFamily="32" charset="0"/>
              <a:cs typeface="+mn-cs"/>
            </a:endParaRPr>
          </a:p>
          <a:p>
            <a:pPr marL="1435100" indent="-1258888" algn="just">
              <a:spcAft>
                <a:spcPct val="50000"/>
              </a:spcAft>
              <a:buClr>
                <a:srgbClr val="F39911"/>
              </a:buClr>
              <a:tabLst>
                <a:tab pos="1073150" algn="l"/>
              </a:tabLst>
              <a:defRPr/>
            </a:pPr>
            <a:endParaRPr lang="en-GB" sz="1000" dirty="0">
              <a:solidFill>
                <a:srgbClr val="003441"/>
              </a:solidFill>
              <a:latin typeface="Verdana" pitchFamily="32" charset="0"/>
              <a:cs typeface="+mn-cs"/>
            </a:endParaRPr>
          </a:p>
        </p:txBody>
      </p:sp>
      <p:pic>
        <p:nvPicPr>
          <p:cNvPr id="13321" name="Picture 8" descr="http://www.kellerhals.ch/upload/cms/user/CosmoButler2.png"/>
          <p:cNvPicPr>
            <a:picLocks noChangeAspect="1" noChangeArrowheads="1"/>
          </p:cNvPicPr>
          <p:nvPr/>
        </p:nvPicPr>
        <p:blipFill>
          <a:blip r:embed="rId3" cstate="print"/>
          <a:srcRect/>
          <a:stretch>
            <a:fillRect/>
          </a:stretch>
        </p:blipFill>
        <p:spPr bwMode="auto">
          <a:xfrm>
            <a:off x="2610827" y="4234175"/>
            <a:ext cx="1591444" cy="368926"/>
          </a:xfrm>
          <a:prstGeom prst="rect">
            <a:avLst/>
          </a:prstGeom>
          <a:noFill/>
          <a:ln w="9525">
            <a:noFill/>
            <a:miter lim="800000"/>
            <a:headEnd/>
            <a:tailEnd/>
          </a:ln>
        </p:spPr>
      </p:pic>
      <p:pic>
        <p:nvPicPr>
          <p:cNvPr id="13322" name="Picture 9"/>
          <p:cNvPicPr>
            <a:picLocks noChangeAspect="1" noChangeArrowheads="1"/>
          </p:cNvPicPr>
          <p:nvPr/>
        </p:nvPicPr>
        <p:blipFill>
          <a:blip r:embed="rId4" cstate="print"/>
          <a:srcRect/>
          <a:stretch>
            <a:fillRect/>
          </a:stretch>
        </p:blipFill>
        <p:spPr bwMode="auto">
          <a:xfrm>
            <a:off x="3990274" y="2313466"/>
            <a:ext cx="1448895" cy="519383"/>
          </a:xfrm>
          <a:prstGeom prst="rect">
            <a:avLst/>
          </a:prstGeom>
          <a:noFill/>
          <a:ln w="9525">
            <a:noFill/>
            <a:miter lim="800000"/>
            <a:headEnd/>
            <a:tailEnd/>
          </a:ln>
        </p:spPr>
      </p:pic>
      <p:pic>
        <p:nvPicPr>
          <p:cNvPr id="13323" name="Picture 11" descr="http://www.kellerhals.ch/upload/cms/user/felfel1.png"/>
          <p:cNvPicPr>
            <a:picLocks noChangeAspect="1" noChangeArrowheads="1"/>
          </p:cNvPicPr>
          <p:nvPr/>
        </p:nvPicPr>
        <p:blipFill>
          <a:blip r:embed="rId5" cstate="print"/>
          <a:srcRect/>
          <a:stretch>
            <a:fillRect/>
          </a:stretch>
        </p:blipFill>
        <p:spPr bwMode="auto">
          <a:xfrm>
            <a:off x="815631" y="4805270"/>
            <a:ext cx="998537" cy="631825"/>
          </a:xfrm>
          <a:prstGeom prst="rect">
            <a:avLst/>
          </a:prstGeom>
          <a:noFill/>
          <a:ln w="9525">
            <a:noFill/>
            <a:miter lim="800000"/>
            <a:headEnd/>
            <a:tailEnd/>
          </a:ln>
        </p:spPr>
      </p:pic>
      <p:pic>
        <p:nvPicPr>
          <p:cNvPr id="13324" name="Picture 13" descr="http://www.kellerhals.ch/upload/cms/user/magnolia.png"/>
          <p:cNvPicPr>
            <a:picLocks noChangeAspect="1" noChangeArrowheads="1"/>
          </p:cNvPicPr>
          <p:nvPr/>
        </p:nvPicPr>
        <p:blipFill>
          <a:blip r:embed="rId6" cstate="print"/>
          <a:srcRect/>
          <a:stretch>
            <a:fillRect/>
          </a:stretch>
        </p:blipFill>
        <p:spPr bwMode="auto">
          <a:xfrm>
            <a:off x="3873650" y="3558867"/>
            <a:ext cx="2095500" cy="476250"/>
          </a:xfrm>
          <a:prstGeom prst="rect">
            <a:avLst/>
          </a:prstGeom>
          <a:noFill/>
          <a:ln w="9525">
            <a:noFill/>
            <a:miter lim="800000"/>
            <a:headEnd/>
            <a:tailEnd/>
          </a:ln>
        </p:spPr>
      </p:pic>
      <p:pic>
        <p:nvPicPr>
          <p:cNvPr id="13325" name="Picture 15" descr="http://www.kellerhals.ch/upload/cms/user/NaturalCycles2.png"/>
          <p:cNvPicPr>
            <a:picLocks noChangeAspect="1" noChangeArrowheads="1"/>
          </p:cNvPicPr>
          <p:nvPr/>
        </p:nvPicPr>
        <p:blipFill>
          <a:blip r:embed="rId7" cstate="print"/>
          <a:srcRect/>
          <a:stretch>
            <a:fillRect/>
          </a:stretch>
        </p:blipFill>
        <p:spPr bwMode="auto">
          <a:xfrm>
            <a:off x="1642372" y="4853612"/>
            <a:ext cx="1768028" cy="650956"/>
          </a:xfrm>
          <a:prstGeom prst="rect">
            <a:avLst/>
          </a:prstGeom>
          <a:noFill/>
          <a:ln w="9525">
            <a:noFill/>
            <a:miter lim="800000"/>
            <a:headEnd/>
            <a:tailEnd/>
          </a:ln>
        </p:spPr>
      </p:pic>
      <p:pic>
        <p:nvPicPr>
          <p:cNvPr id="13326" name="Picture 17" descr="http://www.kellerhals.ch/upload/cms/user/sanovation2.png"/>
          <p:cNvPicPr>
            <a:picLocks noChangeAspect="1" noChangeArrowheads="1"/>
          </p:cNvPicPr>
          <p:nvPr/>
        </p:nvPicPr>
        <p:blipFill>
          <a:blip r:embed="rId8" cstate="print"/>
          <a:srcRect/>
          <a:stretch>
            <a:fillRect/>
          </a:stretch>
        </p:blipFill>
        <p:spPr bwMode="auto">
          <a:xfrm>
            <a:off x="3154521" y="4715367"/>
            <a:ext cx="2095500" cy="476250"/>
          </a:xfrm>
          <a:prstGeom prst="rect">
            <a:avLst/>
          </a:prstGeom>
          <a:noFill/>
          <a:ln w="9525">
            <a:noFill/>
            <a:miter lim="800000"/>
            <a:headEnd/>
            <a:tailEnd/>
          </a:ln>
        </p:spPr>
      </p:pic>
      <p:pic>
        <p:nvPicPr>
          <p:cNvPr id="13327" name="Picture 19" descr="http://www.kellerhals.ch/upload/cms/user/thelkin2.png"/>
          <p:cNvPicPr>
            <a:picLocks noChangeAspect="1" noChangeArrowheads="1"/>
          </p:cNvPicPr>
          <p:nvPr/>
        </p:nvPicPr>
        <p:blipFill>
          <a:blip r:embed="rId9" cstate="print"/>
          <a:srcRect/>
          <a:stretch>
            <a:fillRect/>
          </a:stretch>
        </p:blipFill>
        <p:spPr bwMode="auto">
          <a:xfrm>
            <a:off x="5677752" y="4696129"/>
            <a:ext cx="1735138" cy="590550"/>
          </a:xfrm>
          <a:prstGeom prst="rect">
            <a:avLst/>
          </a:prstGeom>
          <a:noFill/>
          <a:ln w="9525">
            <a:noFill/>
            <a:miter lim="800000"/>
            <a:headEnd/>
            <a:tailEnd/>
          </a:ln>
        </p:spPr>
      </p:pic>
      <p:pic>
        <p:nvPicPr>
          <p:cNvPr id="13328" name="Picture 21" descr="http://www.kellerhals.ch/upload/cms/user/UF2.png"/>
          <p:cNvPicPr>
            <a:picLocks noChangeAspect="1" noChangeArrowheads="1"/>
          </p:cNvPicPr>
          <p:nvPr/>
        </p:nvPicPr>
        <p:blipFill>
          <a:blip r:embed="rId10" cstate="print"/>
          <a:srcRect/>
          <a:stretch>
            <a:fillRect/>
          </a:stretch>
        </p:blipFill>
        <p:spPr bwMode="auto">
          <a:xfrm>
            <a:off x="7398991" y="2790707"/>
            <a:ext cx="1014415" cy="502366"/>
          </a:xfrm>
          <a:prstGeom prst="rect">
            <a:avLst/>
          </a:prstGeom>
          <a:noFill/>
          <a:ln w="9525">
            <a:noFill/>
            <a:miter lim="800000"/>
            <a:headEnd/>
            <a:tailEnd/>
          </a:ln>
        </p:spPr>
      </p:pic>
      <p:pic>
        <p:nvPicPr>
          <p:cNvPr id="13330" name="Picture 25" descr="http://www.kellerhals.ch/upload/cms/user/calcisco2.png"/>
          <p:cNvPicPr>
            <a:picLocks noChangeAspect="1" noChangeArrowheads="1"/>
          </p:cNvPicPr>
          <p:nvPr/>
        </p:nvPicPr>
        <p:blipFill>
          <a:blip r:embed="rId11" cstate="print"/>
          <a:srcRect/>
          <a:stretch>
            <a:fillRect/>
          </a:stretch>
        </p:blipFill>
        <p:spPr bwMode="auto">
          <a:xfrm>
            <a:off x="4763045" y="5286094"/>
            <a:ext cx="1716579" cy="436947"/>
          </a:xfrm>
          <a:prstGeom prst="rect">
            <a:avLst/>
          </a:prstGeom>
          <a:noFill/>
          <a:ln w="9525">
            <a:noFill/>
            <a:miter lim="800000"/>
            <a:headEnd/>
            <a:tailEnd/>
          </a:ln>
        </p:spPr>
      </p:pic>
      <p:pic>
        <p:nvPicPr>
          <p:cNvPr id="13331" name="Picture 27" descr="Avrios">
            <a:hlinkClick r:id="rId12"/>
          </p:cNvPr>
          <p:cNvPicPr>
            <a:picLocks noChangeAspect="1" noChangeArrowheads="1"/>
          </p:cNvPicPr>
          <p:nvPr/>
        </p:nvPicPr>
        <p:blipFill>
          <a:blip r:embed="rId13" cstate="print"/>
          <a:srcRect/>
          <a:stretch>
            <a:fillRect/>
          </a:stretch>
        </p:blipFill>
        <p:spPr bwMode="auto">
          <a:xfrm>
            <a:off x="5419374" y="2255795"/>
            <a:ext cx="1624013" cy="454025"/>
          </a:xfrm>
          <a:prstGeom prst="rect">
            <a:avLst/>
          </a:prstGeom>
          <a:noFill/>
          <a:ln w="9525">
            <a:noFill/>
            <a:miter lim="800000"/>
            <a:headEnd/>
            <a:tailEnd/>
          </a:ln>
        </p:spPr>
      </p:pic>
      <p:sp>
        <p:nvSpPr>
          <p:cNvPr id="13332" name="Rectangle 28"/>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pPr eaLnBrk="0" hangingPunct="0"/>
            <a:endParaRPr lang="de-DE"/>
          </a:p>
        </p:txBody>
      </p:sp>
      <p:sp>
        <p:nvSpPr>
          <p:cNvPr id="13333" name="Rectangle 29"/>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pPr eaLnBrk="0" hangingPunct="0"/>
            <a:endParaRPr lang="de-DE"/>
          </a:p>
        </p:txBody>
      </p:sp>
      <p:sp>
        <p:nvSpPr>
          <p:cNvPr id="13334" name="Rectangle 30"/>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pPr eaLnBrk="0" hangingPunct="0"/>
            <a:endParaRPr lang="de-DE"/>
          </a:p>
        </p:txBody>
      </p:sp>
      <p:pic>
        <p:nvPicPr>
          <p:cNvPr id="13335" name="Picture 32" descr="https://s3.amazonaws.com/startupranking.com/startup/thumb/4323_740615d1e6947edcf20f6eebdf8b75c80244720f_dealmarket_m.jpg">
            <a:hlinkClick r:id="rId14"/>
          </p:cNvPr>
          <p:cNvPicPr>
            <a:picLocks noChangeAspect="1" noChangeArrowheads="1"/>
          </p:cNvPicPr>
          <p:nvPr/>
        </p:nvPicPr>
        <p:blipFill>
          <a:blip r:embed="rId15" cstate="print"/>
          <a:srcRect/>
          <a:stretch>
            <a:fillRect/>
          </a:stretch>
        </p:blipFill>
        <p:spPr bwMode="auto">
          <a:xfrm>
            <a:off x="6458564" y="3353987"/>
            <a:ext cx="635937" cy="635936"/>
          </a:xfrm>
          <a:prstGeom prst="rect">
            <a:avLst/>
          </a:prstGeom>
          <a:noFill/>
          <a:ln w="9525">
            <a:noFill/>
            <a:miter lim="800000"/>
            <a:headEnd/>
            <a:tailEnd/>
          </a:ln>
        </p:spPr>
      </p:pic>
      <p:pic>
        <p:nvPicPr>
          <p:cNvPr id="13336" name="Picture 37" descr="http://images.locanto.co.za/1128963898/Eventerprise_1.png">
            <a:hlinkClick r:id="rId16"/>
          </p:cNvPr>
          <p:cNvPicPr>
            <a:picLocks noChangeAspect="1" noChangeArrowheads="1"/>
          </p:cNvPicPr>
          <p:nvPr/>
        </p:nvPicPr>
        <p:blipFill>
          <a:blip r:embed="rId17" cstate="print"/>
          <a:srcRect/>
          <a:stretch>
            <a:fillRect/>
          </a:stretch>
        </p:blipFill>
        <p:spPr bwMode="auto">
          <a:xfrm>
            <a:off x="4434143" y="4220340"/>
            <a:ext cx="966379" cy="460700"/>
          </a:xfrm>
          <a:prstGeom prst="rect">
            <a:avLst/>
          </a:prstGeom>
          <a:noFill/>
          <a:ln w="9525">
            <a:noFill/>
            <a:miter lim="800000"/>
            <a:headEnd/>
            <a:tailEnd/>
          </a:ln>
        </p:spPr>
      </p:pic>
      <p:sp>
        <p:nvSpPr>
          <p:cNvPr id="13337" name="AutoShape 39" descr="Bildergebnis für noonee"/>
          <p:cNvSpPr>
            <a:spLocks noChangeAspect="1" noChangeArrowheads="1"/>
          </p:cNvSpPr>
          <p:nvPr/>
        </p:nvSpPr>
        <p:spPr bwMode="auto">
          <a:xfrm>
            <a:off x="0" y="-144463"/>
            <a:ext cx="304800" cy="304801"/>
          </a:xfrm>
          <a:prstGeom prst="rect">
            <a:avLst/>
          </a:prstGeom>
          <a:noFill/>
          <a:ln w="9525">
            <a:noFill/>
            <a:miter lim="800000"/>
            <a:headEnd/>
            <a:tailEnd/>
          </a:ln>
        </p:spPr>
        <p:txBody>
          <a:bodyPr/>
          <a:lstStyle/>
          <a:p>
            <a:endParaRPr lang="de-CH"/>
          </a:p>
        </p:txBody>
      </p:sp>
      <p:sp>
        <p:nvSpPr>
          <p:cNvPr id="13338" name="AutoShape 41" descr="Bildergebnis für noonee"/>
          <p:cNvSpPr>
            <a:spLocks noChangeAspect="1" noChangeArrowheads="1"/>
          </p:cNvSpPr>
          <p:nvPr/>
        </p:nvSpPr>
        <p:spPr bwMode="auto">
          <a:xfrm>
            <a:off x="0" y="-144463"/>
            <a:ext cx="304800" cy="304801"/>
          </a:xfrm>
          <a:prstGeom prst="rect">
            <a:avLst/>
          </a:prstGeom>
          <a:noFill/>
          <a:ln w="9525">
            <a:noFill/>
            <a:miter lim="800000"/>
            <a:headEnd/>
            <a:tailEnd/>
          </a:ln>
        </p:spPr>
        <p:txBody>
          <a:bodyPr/>
          <a:lstStyle/>
          <a:p>
            <a:endParaRPr lang="de-CH"/>
          </a:p>
        </p:txBody>
      </p:sp>
      <p:pic>
        <p:nvPicPr>
          <p:cNvPr id="13340" name="Picture 45" descr="http://www.smarterbettercities.ch/wp-content/themes/dt-nimble/timthumb.php?src=/wp-content/uploads/2013/04/LOGO_RGB_LARGE2.png&amp;zc=0&amp;w=300&amp;h=90&amp;r_src=/wp-content/uploads/2013/04/LOGO_RGB_LARGE_RETINA3.png">
            <a:hlinkClick r:id="rId18"/>
          </p:cNvPr>
          <p:cNvPicPr>
            <a:picLocks noChangeAspect="1" noChangeArrowheads="1"/>
          </p:cNvPicPr>
          <p:nvPr/>
        </p:nvPicPr>
        <p:blipFill>
          <a:blip r:embed="rId19" cstate="print"/>
          <a:srcRect/>
          <a:stretch>
            <a:fillRect/>
          </a:stretch>
        </p:blipFill>
        <p:spPr bwMode="auto">
          <a:xfrm>
            <a:off x="2418898" y="3028938"/>
            <a:ext cx="1508125" cy="452438"/>
          </a:xfrm>
          <a:prstGeom prst="rect">
            <a:avLst/>
          </a:prstGeom>
          <a:noFill/>
          <a:ln w="9525">
            <a:noFill/>
            <a:miter lim="800000"/>
            <a:headEnd/>
            <a:tailEnd/>
          </a:ln>
        </p:spPr>
      </p:pic>
      <p:pic>
        <p:nvPicPr>
          <p:cNvPr id="13341" name="Picture 47" descr="https://shopviu.com/img/logo.png">
            <a:hlinkClick r:id="rId20"/>
          </p:cNvPr>
          <p:cNvPicPr>
            <a:picLocks noChangeAspect="1" noChangeArrowheads="1"/>
          </p:cNvPicPr>
          <p:nvPr/>
        </p:nvPicPr>
        <p:blipFill>
          <a:blip r:embed="rId21" cstate="print"/>
          <a:srcRect/>
          <a:stretch>
            <a:fillRect/>
          </a:stretch>
        </p:blipFill>
        <p:spPr bwMode="auto">
          <a:xfrm>
            <a:off x="3575268" y="5308185"/>
            <a:ext cx="1143469" cy="579268"/>
          </a:xfrm>
          <a:prstGeom prst="rect">
            <a:avLst/>
          </a:prstGeom>
          <a:noFill/>
          <a:ln w="9525">
            <a:noFill/>
            <a:miter lim="800000"/>
            <a:headEnd/>
            <a:tailEnd/>
          </a:ln>
        </p:spPr>
      </p:pic>
      <p:pic>
        <p:nvPicPr>
          <p:cNvPr id="13342" name="Picture 49" descr="http://logopond.com/logos/20f15f437b7476e325e9a8b4e5b9a2df.png">
            <a:hlinkClick r:id="rId22"/>
          </p:cNvPr>
          <p:cNvPicPr>
            <a:picLocks noChangeAspect="1" noChangeArrowheads="1"/>
          </p:cNvPicPr>
          <p:nvPr/>
        </p:nvPicPr>
        <p:blipFill>
          <a:blip r:embed="rId23" cstate="print"/>
          <a:srcRect/>
          <a:stretch>
            <a:fillRect/>
          </a:stretch>
        </p:blipFill>
        <p:spPr bwMode="auto">
          <a:xfrm>
            <a:off x="6539338" y="5353620"/>
            <a:ext cx="744538" cy="596900"/>
          </a:xfrm>
          <a:prstGeom prst="rect">
            <a:avLst/>
          </a:prstGeom>
          <a:noFill/>
          <a:ln w="9525">
            <a:noFill/>
            <a:miter lim="800000"/>
            <a:headEnd/>
            <a:tailEnd/>
          </a:ln>
        </p:spPr>
      </p:pic>
      <p:pic>
        <p:nvPicPr>
          <p:cNvPr id="13343" name="Picture 51" descr="https://f69aa27b9b6c6702e27b-ffbfdeddb5f7166a1729dfea28599a63.ssl.cf3.rackcdn.com/raw_13433_e5674abcfd3306b517acb83a076b88c8_Logo_Adaptricity.png">
            <a:hlinkClick r:id="rId24"/>
          </p:cNvPr>
          <p:cNvPicPr>
            <a:picLocks noChangeAspect="1" noChangeArrowheads="1"/>
          </p:cNvPicPr>
          <p:nvPr/>
        </p:nvPicPr>
        <p:blipFill>
          <a:blip r:embed="rId25" cstate="print"/>
          <a:srcRect/>
          <a:stretch>
            <a:fillRect/>
          </a:stretch>
        </p:blipFill>
        <p:spPr bwMode="auto">
          <a:xfrm>
            <a:off x="1334077" y="3478651"/>
            <a:ext cx="1266724" cy="1266724"/>
          </a:xfrm>
          <a:prstGeom prst="rect">
            <a:avLst/>
          </a:prstGeom>
          <a:noFill/>
          <a:ln w="9525">
            <a:noFill/>
            <a:miter lim="800000"/>
            <a:headEnd/>
            <a:tailEnd/>
          </a:ln>
        </p:spPr>
      </p:pic>
      <p:pic>
        <p:nvPicPr>
          <p:cNvPr id="13345" name="Picture 55" descr="http://www.cti-invest.ch/getattachment/396a5ad7-f2ce-49ae-8bea-8fe7e839a957/AgriCircle.aspx?maxSideSize=150">
            <a:hlinkClick r:id="rId26"/>
          </p:cNvPr>
          <p:cNvPicPr>
            <a:picLocks noChangeAspect="1" noChangeArrowheads="1"/>
          </p:cNvPicPr>
          <p:nvPr/>
        </p:nvPicPr>
        <p:blipFill>
          <a:blip r:embed="rId27" cstate="print"/>
          <a:srcRect/>
          <a:stretch>
            <a:fillRect/>
          </a:stretch>
        </p:blipFill>
        <p:spPr bwMode="auto">
          <a:xfrm>
            <a:off x="2814663" y="2469521"/>
            <a:ext cx="871165" cy="470429"/>
          </a:xfrm>
          <a:prstGeom prst="rect">
            <a:avLst/>
          </a:prstGeom>
          <a:noFill/>
          <a:ln w="9525">
            <a:noFill/>
            <a:miter lim="800000"/>
            <a:headEnd/>
            <a:tailEnd/>
          </a:ln>
        </p:spPr>
      </p:pic>
      <p:pic>
        <p:nvPicPr>
          <p:cNvPr id="13346" name="Picture 57" descr="http://www.startupticker.ch/uploads/Image/Companies/parkit_logo150px.png">
            <a:hlinkClick r:id="rId28"/>
          </p:cNvPr>
          <p:cNvPicPr>
            <a:picLocks noChangeAspect="1" noChangeArrowheads="1"/>
          </p:cNvPicPr>
          <p:nvPr/>
        </p:nvPicPr>
        <p:blipFill>
          <a:blip r:embed="rId29" cstate="print"/>
          <a:srcRect/>
          <a:stretch>
            <a:fillRect/>
          </a:stretch>
        </p:blipFill>
        <p:spPr bwMode="auto">
          <a:xfrm>
            <a:off x="1953428" y="5828770"/>
            <a:ext cx="1020536" cy="476250"/>
          </a:xfrm>
          <a:prstGeom prst="rect">
            <a:avLst/>
          </a:prstGeom>
          <a:noFill/>
          <a:ln w="9525">
            <a:noFill/>
            <a:miter lim="800000"/>
            <a:headEnd/>
            <a:tailEnd/>
          </a:ln>
        </p:spPr>
      </p:pic>
      <p:pic>
        <p:nvPicPr>
          <p:cNvPr id="13347" name="Picture 59" descr="http://www.gartmann.biz/typo3temp/pics/1b746261b7.jpg">
            <a:hlinkClick r:id="rId30"/>
          </p:cNvPr>
          <p:cNvPicPr>
            <a:picLocks noChangeAspect="1" noChangeArrowheads="1"/>
          </p:cNvPicPr>
          <p:nvPr/>
        </p:nvPicPr>
        <p:blipFill>
          <a:blip r:embed="rId31" cstate="print"/>
          <a:srcRect/>
          <a:stretch>
            <a:fillRect/>
          </a:stretch>
        </p:blipFill>
        <p:spPr bwMode="auto">
          <a:xfrm>
            <a:off x="2697186" y="3435371"/>
            <a:ext cx="1038225" cy="728663"/>
          </a:xfrm>
          <a:prstGeom prst="rect">
            <a:avLst/>
          </a:prstGeom>
          <a:noFill/>
          <a:ln w="9525">
            <a:noFill/>
            <a:miter lim="800000"/>
            <a:headEnd/>
            <a:tailEnd/>
          </a:ln>
        </p:spPr>
      </p:pic>
      <p:sp>
        <p:nvSpPr>
          <p:cNvPr id="36" name="Titel 4"/>
          <p:cNvSpPr>
            <a:spLocks noGrp="1"/>
          </p:cNvSpPr>
          <p:nvPr>
            <p:ph type="title"/>
          </p:nvPr>
        </p:nvSpPr>
        <p:spPr>
          <a:xfrm>
            <a:off x="286245" y="1156636"/>
            <a:ext cx="7886205" cy="538815"/>
          </a:xfrm>
        </p:spPr>
        <p:txBody>
          <a:bodyPr/>
          <a:lstStyle/>
          <a:p>
            <a:r>
              <a:rPr lang="de-DE" dirty="0" smtClean="0"/>
              <a:t>	References (</a:t>
            </a:r>
            <a:r>
              <a:rPr lang="de-DE" dirty="0" err="1" smtClean="0"/>
              <a:t>Selection</a:t>
            </a:r>
            <a:r>
              <a:rPr lang="de-DE" dirty="0" smtClean="0"/>
              <a:t>) </a:t>
            </a:r>
            <a:endParaRPr lang="de-CH" dirty="0"/>
          </a:p>
        </p:txBody>
      </p:sp>
      <p:sp>
        <p:nvSpPr>
          <p:cNvPr id="38" name="Foliennummernplatzhalter 3"/>
          <p:cNvSpPr>
            <a:spLocks noGrp="1"/>
          </p:cNvSpPr>
          <p:nvPr>
            <p:ph type="sldNum" sz="quarter" idx="12"/>
          </p:nvPr>
        </p:nvSpPr>
        <p:spPr>
          <a:xfrm>
            <a:off x="8604448" y="6573348"/>
            <a:ext cx="245269" cy="145747"/>
          </a:xfrm>
        </p:spPr>
        <p:txBody>
          <a:bodyPr/>
          <a:lstStyle/>
          <a:p>
            <a:fld id="{1E75EF35-6B25-4B85-9696-D7065EDA5E63}" type="slidenum">
              <a:rPr lang="de-CH" smtClean="0"/>
              <a:pPr/>
              <a:t>3</a:t>
            </a:fld>
            <a:endParaRPr lang="de-CH" dirty="0"/>
          </a:p>
        </p:txBody>
      </p:sp>
      <p:sp>
        <p:nvSpPr>
          <p:cNvPr id="2" name="Datumsplatzhalter 1"/>
          <p:cNvSpPr>
            <a:spLocks noGrp="1"/>
          </p:cNvSpPr>
          <p:nvPr>
            <p:ph type="dt" sz="half" idx="10"/>
          </p:nvPr>
        </p:nvSpPr>
        <p:spPr/>
        <p:txBody>
          <a:bodyPr/>
          <a:lstStyle/>
          <a:p>
            <a:r>
              <a:rPr lang="de-DE" smtClean="0"/>
              <a:t>28.06.2016</a:t>
            </a:r>
            <a:endParaRPr lang="de-CH" dirty="0"/>
          </a:p>
        </p:txBody>
      </p:sp>
      <p:pic>
        <p:nvPicPr>
          <p:cNvPr id="3" name="Grafik 2"/>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448624" y="1724235"/>
            <a:ext cx="2600325" cy="609600"/>
          </a:xfrm>
          <a:prstGeom prst="rect">
            <a:avLst/>
          </a:prstGeom>
        </p:spPr>
      </p:pic>
      <p:pic>
        <p:nvPicPr>
          <p:cNvPr id="5" name="Grafik 4"/>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5345521" y="1890519"/>
            <a:ext cx="1085954" cy="211761"/>
          </a:xfrm>
          <a:prstGeom prst="rect">
            <a:avLst/>
          </a:prstGeom>
        </p:spPr>
      </p:pic>
      <p:sp>
        <p:nvSpPr>
          <p:cNvPr id="8" name="AutoShape 6" descr="Bildergebnis für advanon"/>
          <p:cNvSpPr>
            <a:spLocks noChangeAspect="1" noChangeArrowheads="1"/>
          </p:cNvSpPr>
          <p:nvPr/>
        </p:nvSpPr>
        <p:spPr bwMode="auto">
          <a:xfrm>
            <a:off x="7876081" y="6210510"/>
            <a:ext cx="229550" cy="229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pic>
        <p:nvPicPr>
          <p:cNvPr id="11" name="Grafik 10"/>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6844921" y="3931555"/>
            <a:ext cx="1428751" cy="803672"/>
          </a:xfrm>
          <a:prstGeom prst="rect">
            <a:avLst/>
          </a:prstGeom>
        </p:spPr>
      </p:pic>
      <p:pic>
        <p:nvPicPr>
          <p:cNvPr id="1032" name="Picture 8" descr="http://www.netcetera.com/de/dms/images/news-and-media/20130531-biovotion/logo-biovotion.png">
            <a:hlinkClick r:id="rId35"/>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994370" y="2775337"/>
            <a:ext cx="888033" cy="369517"/>
          </a:xfrm>
          <a:prstGeom prst="rect">
            <a:avLst/>
          </a:prstGeom>
          <a:noFill/>
          <a:extLst>
            <a:ext uri="{909E8E84-426E-40DD-AFC4-6F175D3DCCD1}">
              <a14:hiddenFill xmlns:a14="http://schemas.microsoft.com/office/drawing/2010/main">
                <a:solidFill>
                  <a:srgbClr val="FFFFFF"/>
                </a:solidFill>
              </a14:hiddenFill>
            </a:ext>
          </a:extLst>
        </p:spPr>
      </p:pic>
      <p:pic>
        <p:nvPicPr>
          <p:cNvPr id="13" name="Grafik 12"/>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1007368" y="4273520"/>
            <a:ext cx="1127969" cy="316895"/>
          </a:xfrm>
          <a:prstGeom prst="rect">
            <a:avLst/>
          </a:prstGeom>
        </p:spPr>
      </p:pic>
      <p:pic>
        <p:nvPicPr>
          <p:cNvPr id="14" name="Grafik 13"/>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5646957" y="3967578"/>
            <a:ext cx="721730" cy="584955"/>
          </a:xfrm>
          <a:prstGeom prst="rect">
            <a:avLst/>
          </a:prstGeom>
        </p:spPr>
      </p:pic>
      <p:pic>
        <p:nvPicPr>
          <p:cNvPr id="16" name="Grafik 15"/>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4396400" y="2988726"/>
            <a:ext cx="1801769" cy="408048"/>
          </a:xfrm>
          <a:prstGeom prst="rect">
            <a:avLst/>
          </a:prstGeom>
        </p:spPr>
      </p:pic>
      <p:pic>
        <p:nvPicPr>
          <p:cNvPr id="13320" name="Picture 2" descr="http://www.kellerhals.ch/upload/cms/user/fotokite1.png"/>
          <p:cNvPicPr>
            <a:picLocks noChangeAspect="1" noChangeArrowheads="1"/>
          </p:cNvPicPr>
          <p:nvPr/>
        </p:nvPicPr>
        <p:blipFill>
          <a:blip r:embed="rId40" cstate="print"/>
          <a:srcRect/>
          <a:stretch>
            <a:fillRect/>
          </a:stretch>
        </p:blipFill>
        <p:spPr bwMode="auto">
          <a:xfrm>
            <a:off x="906922" y="3214379"/>
            <a:ext cx="1376362" cy="688975"/>
          </a:xfrm>
          <a:prstGeom prst="rect">
            <a:avLst/>
          </a:prstGeom>
          <a:noFill/>
          <a:ln w="9525">
            <a:noFill/>
            <a:miter lim="800000"/>
            <a:headEnd/>
            <a:tailEnd/>
          </a:ln>
        </p:spPr>
      </p:pic>
      <p:pic>
        <p:nvPicPr>
          <p:cNvPr id="17" name="Grafik 16"/>
          <p:cNvPicPr>
            <a:picLocks noChangeAspect="1"/>
          </p:cNvPicPr>
          <p:nvPr/>
        </p:nvPicPr>
        <p:blipFill rotWithShape="1">
          <a:blip r:embed="rId41" cstate="print">
            <a:extLst>
              <a:ext uri="{28A0092B-C50C-407E-A947-70E740481C1C}">
                <a14:useLocalDpi xmlns:a14="http://schemas.microsoft.com/office/drawing/2010/main" val="0"/>
              </a:ext>
            </a:extLst>
          </a:blip>
          <a:srcRect b="26207"/>
          <a:stretch/>
        </p:blipFill>
        <p:spPr>
          <a:xfrm>
            <a:off x="3074733" y="5642613"/>
            <a:ext cx="1001071" cy="738715"/>
          </a:xfrm>
          <a:prstGeom prst="rect">
            <a:avLst/>
          </a:prstGeom>
        </p:spPr>
      </p:pic>
      <p:pic>
        <p:nvPicPr>
          <p:cNvPr id="19" name="Grafik 18"/>
          <p:cNvPicPr>
            <a:picLocks noChangeAspect="1"/>
          </p:cNvPicPr>
          <p:nvPr/>
        </p:nvPicPr>
        <p:blipFill>
          <a:blip r:embed="rId42" cstate="print">
            <a:extLst>
              <a:ext uri="{28A0092B-C50C-407E-A947-70E740481C1C}">
                <a14:useLocalDpi xmlns:a14="http://schemas.microsoft.com/office/drawing/2010/main" val="0"/>
              </a:ext>
            </a:extLst>
          </a:blip>
          <a:stretch>
            <a:fillRect/>
          </a:stretch>
        </p:blipFill>
        <p:spPr>
          <a:xfrm>
            <a:off x="7172325" y="1862052"/>
            <a:ext cx="995363" cy="746522"/>
          </a:xfrm>
          <a:prstGeom prst="rect">
            <a:avLst/>
          </a:prstGeom>
        </p:spPr>
      </p:pic>
      <p:pic>
        <p:nvPicPr>
          <p:cNvPr id="20" name="Grafik 19"/>
          <p:cNvPicPr>
            <a:picLocks noChangeAspect="1"/>
          </p:cNvPicPr>
          <p:nvPr/>
        </p:nvPicPr>
        <p:blipFill>
          <a:blip r:embed="rId43" cstate="print">
            <a:extLst>
              <a:ext uri="{28A0092B-C50C-407E-A947-70E740481C1C}">
                <a14:useLocalDpi xmlns:a14="http://schemas.microsoft.com/office/drawing/2010/main" val="0"/>
              </a:ext>
            </a:extLst>
          </a:blip>
          <a:stretch>
            <a:fillRect/>
          </a:stretch>
        </p:blipFill>
        <p:spPr>
          <a:xfrm>
            <a:off x="985861" y="5603089"/>
            <a:ext cx="887005" cy="626121"/>
          </a:xfrm>
          <a:prstGeom prst="rect">
            <a:avLst/>
          </a:prstGeom>
        </p:spPr>
      </p:pic>
      <p:pic>
        <p:nvPicPr>
          <p:cNvPr id="22" name="Grafik 21"/>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4608787" y="5956475"/>
            <a:ext cx="1399035" cy="213360"/>
          </a:xfrm>
          <a:prstGeom prst="rect">
            <a:avLst/>
          </a:prstGeom>
        </p:spPr>
      </p:pic>
      <p:pic>
        <p:nvPicPr>
          <p:cNvPr id="23" name="Grafik 22"/>
          <p:cNvPicPr>
            <a:picLocks noChangeAspect="1"/>
          </p:cNvPicPr>
          <p:nvPr/>
        </p:nvPicPr>
        <p:blipFill>
          <a:blip r:embed="rId45" cstate="print">
            <a:extLst>
              <a:ext uri="{28A0092B-C50C-407E-A947-70E740481C1C}">
                <a14:useLocalDpi xmlns:a14="http://schemas.microsoft.com/office/drawing/2010/main" val="0"/>
              </a:ext>
            </a:extLst>
          </a:blip>
          <a:stretch>
            <a:fillRect/>
          </a:stretch>
        </p:blipFill>
        <p:spPr>
          <a:xfrm>
            <a:off x="7213293" y="3498012"/>
            <a:ext cx="923073" cy="498408"/>
          </a:xfrm>
          <a:prstGeom prst="rect">
            <a:avLst/>
          </a:prstGeom>
        </p:spPr>
      </p:pic>
      <p:pic>
        <p:nvPicPr>
          <p:cNvPr id="24" name="Grafik 23"/>
          <p:cNvPicPr>
            <a:picLocks noChangeAspect="1"/>
          </p:cNvPicPr>
          <p:nvPr/>
        </p:nvPicPr>
        <p:blipFill>
          <a:blip r:embed="rId46" cstate="print">
            <a:extLst>
              <a:ext uri="{28A0092B-C50C-407E-A947-70E740481C1C}">
                <a14:useLocalDpi xmlns:a14="http://schemas.microsoft.com/office/drawing/2010/main" val="0"/>
              </a:ext>
            </a:extLst>
          </a:blip>
          <a:stretch>
            <a:fillRect/>
          </a:stretch>
        </p:blipFill>
        <p:spPr>
          <a:xfrm>
            <a:off x="6168048" y="6063155"/>
            <a:ext cx="1519666" cy="185737"/>
          </a:xfrm>
          <a:prstGeom prst="rect">
            <a:avLst/>
          </a:prstGeom>
        </p:spPr>
      </p:pic>
      <p:pic>
        <p:nvPicPr>
          <p:cNvPr id="4" name="Grafik 3"/>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1016602" y="1921284"/>
            <a:ext cx="690813" cy="690813"/>
          </a:xfrm>
          <a:prstGeom prst="rect">
            <a:avLst/>
          </a:prstGeom>
        </p:spPr>
      </p:pic>
      <p:pic>
        <p:nvPicPr>
          <p:cNvPr id="6" name="Grafik 5"/>
          <p:cNvPicPr>
            <a:picLocks noChangeAspect="1"/>
          </p:cNvPicPr>
          <p:nvPr/>
        </p:nvPicPr>
        <p:blipFill>
          <a:blip r:embed="rId48">
            <a:extLst>
              <a:ext uri="{28A0092B-C50C-407E-A947-70E740481C1C}">
                <a14:useLocalDpi xmlns:a14="http://schemas.microsoft.com/office/drawing/2010/main" val="0"/>
              </a:ext>
            </a:extLst>
          </a:blip>
          <a:stretch>
            <a:fillRect/>
          </a:stretch>
        </p:blipFill>
        <p:spPr>
          <a:xfrm>
            <a:off x="7479496" y="5311906"/>
            <a:ext cx="696258" cy="696258"/>
          </a:xfrm>
          <a:prstGeom prst="rect">
            <a:avLst/>
          </a:prstGeom>
        </p:spPr>
      </p:pic>
      <p:pic>
        <p:nvPicPr>
          <p:cNvPr id="13344" name="Picture 53" descr="http://www.stromlinienförmig.ch/wp-content/uploads/2014/02/rot_transparent.png">
            <a:hlinkClick r:id="rId49"/>
          </p:cNvPr>
          <p:cNvPicPr>
            <a:picLocks noChangeAspect="1" noChangeArrowheads="1"/>
          </p:cNvPicPr>
          <p:nvPr/>
        </p:nvPicPr>
        <p:blipFill>
          <a:blip r:embed="rId50" cstate="print"/>
          <a:srcRect/>
          <a:stretch>
            <a:fillRect/>
          </a:stretch>
        </p:blipFill>
        <p:spPr bwMode="auto">
          <a:xfrm>
            <a:off x="7650780" y="4627013"/>
            <a:ext cx="470677" cy="628651"/>
          </a:xfrm>
          <a:prstGeom prst="rect">
            <a:avLst/>
          </a:prstGeom>
          <a:noFill/>
          <a:ln w="9525">
            <a:noFill/>
            <a:miter lim="800000"/>
            <a:headEnd/>
            <a:tailEnd/>
          </a:ln>
        </p:spPr>
      </p:pic>
      <p:pic>
        <p:nvPicPr>
          <p:cNvPr id="13339" name="Picture 43" descr="http://cdn.wonderfulengineering.com/wp-content/uploads/2014/08/The-Chairless-Chair-noonee3.png">
            <a:hlinkClick r:id="rId51"/>
          </p:cNvPr>
          <p:cNvPicPr>
            <a:picLocks noChangeAspect="1" noChangeArrowheads="1"/>
          </p:cNvPicPr>
          <p:nvPr/>
        </p:nvPicPr>
        <p:blipFill>
          <a:blip r:embed="rId52" cstate="print"/>
          <a:srcRect/>
          <a:stretch>
            <a:fillRect/>
          </a:stretch>
        </p:blipFill>
        <p:spPr bwMode="auto">
          <a:xfrm>
            <a:off x="1763931" y="2162736"/>
            <a:ext cx="1382707" cy="436410"/>
          </a:xfrm>
          <a:prstGeom prst="rect">
            <a:avLst/>
          </a:prstGeom>
          <a:noFill/>
          <a:ln w="9525">
            <a:noFill/>
            <a:miter lim="800000"/>
            <a:headEnd/>
            <a:tailEnd/>
          </a:ln>
        </p:spPr>
      </p:pic>
      <p:sp>
        <p:nvSpPr>
          <p:cNvPr id="7" name="Fußzeilenplatzhalter 6"/>
          <p:cNvSpPr>
            <a:spLocks noGrp="1"/>
          </p:cNvSpPr>
          <p:nvPr>
            <p:ph type="ftr" sz="quarter" idx="11"/>
          </p:nvPr>
        </p:nvSpPr>
        <p:spPr/>
        <p:txBody>
          <a:bodyPr/>
          <a:lstStyle/>
          <a:p>
            <a:r>
              <a:rPr lang="de-CH" dirty="0"/>
              <a:t>nicolas.mosimann@kellerhals-carrard.ch</a:t>
            </a:r>
          </a:p>
        </p:txBody>
      </p:sp>
    </p:spTree>
    <p:extLst>
      <p:ext uri="{BB962C8B-B14F-4D97-AF65-F5344CB8AC3E}">
        <p14:creationId xmlns:p14="http://schemas.microsoft.com/office/powerpoint/2010/main" val="3041793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de-DE" smtClean="0"/>
              <a:t>16.11.2016</a:t>
            </a:r>
            <a:endParaRPr lang="de-CH"/>
          </a:p>
        </p:txBody>
      </p:sp>
      <p:sp>
        <p:nvSpPr>
          <p:cNvPr id="3" name="Fußzeilenplatzhalter 2"/>
          <p:cNvSpPr>
            <a:spLocks noGrp="1"/>
          </p:cNvSpPr>
          <p:nvPr>
            <p:ph type="ftr" sz="quarter" idx="11"/>
          </p:nvPr>
        </p:nvSpPr>
        <p:spPr/>
        <p:txBody>
          <a:bodyPr/>
          <a:lstStyle/>
          <a:p>
            <a:r>
              <a:rPr lang="de-CH" smtClean="0"/>
              <a:t>nicolas.mosimann@kellerhals-carrard.ch</a:t>
            </a:r>
            <a:endParaRPr lang="de-CH"/>
          </a:p>
        </p:txBody>
      </p:sp>
      <p:sp>
        <p:nvSpPr>
          <p:cNvPr id="4" name="Foliennummernplatzhalter 3"/>
          <p:cNvSpPr>
            <a:spLocks noGrp="1"/>
          </p:cNvSpPr>
          <p:nvPr>
            <p:ph type="sldNum" sz="quarter" idx="12"/>
          </p:nvPr>
        </p:nvSpPr>
        <p:spPr/>
        <p:txBody>
          <a:bodyPr/>
          <a:lstStyle/>
          <a:p>
            <a:fld id="{1E75EF35-6B25-4B85-9696-D7065EDA5E63}" type="slidenum">
              <a:rPr lang="de-CH" smtClean="0"/>
              <a:pPr/>
              <a:t>4</a:t>
            </a:fld>
            <a:endParaRPr lang="de-CH"/>
          </a:p>
        </p:txBody>
      </p:sp>
      <p:pic>
        <p:nvPicPr>
          <p:cNvPr id="5" name="Inhaltsplatzhalter 7" descr="Intellectual-property.jpg"/>
          <p:cNvPicPr>
            <a:picLocks noChangeAspect="1"/>
          </p:cNvPicPr>
          <p:nvPr/>
        </p:nvPicPr>
        <p:blipFill rotWithShape="1">
          <a:blip r:embed="rId2" cstate="print"/>
          <a:srcRect l="44755" t="-1299" r="6994" b="1299"/>
          <a:stretch/>
        </p:blipFill>
        <p:spPr>
          <a:xfrm>
            <a:off x="0" y="871596"/>
            <a:ext cx="4968552" cy="5581740"/>
          </a:xfrm>
          <a:prstGeom prst="rect">
            <a:avLst/>
          </a:prstGeom>
        </p:spPr>
      </p:pic>
      <p:pic>
        <p:nvPicPr>
          <p:cNvPr id="6" name="Bildplatzhalter 2"/>
          <p:cNvPicPr>
            <a:picLocks noChangeAspect="1"/>
          </p:cNvPicPr>
          <p:nvPr/>
        </p:nvPicPr>
        <p:blipFill rotWithShape="1">
          <a:blip r:embed="rId3">
            <a:extLst>
              <a:ext uri="{28A0092B-C50C-407E-A947-70E740481C1C}">
                <a14:useLocalDpi xmlns:a14="http://schemas.microsoft.com/office/drawing/2010/main" val="0"/>
              </a:ext>
            </a:extLst>
          </a:blip>
          <a:srcRect l="51067" t="1280" b="1280"/>
          <a:stretch/>
        </p:blipFill>
        <p:spPr>
          <a:xfrm>
            <a:off x="4968552" y="948266"/>
            <a:ext cx="4175448" cy="5505070"/>
          </a:xfrm>
          <a:prstGeom prst="rect">
            <a:avLst/>
          </a:prstGeom>
        </p:spPr>
      </p:pic>
      <p:sp>
        <p:nvSpPr>
          <p:cNvPr id="7" name="Rechteck 6"/>
          <p:cNvSpPr/>
          <p:nvPr/>
        </p:nvSpPr>
        <p:spPr>
          <a:xfrm>
            <a:off x="1619672" y="2636912"/>
            <a:ext cx="6264696" cy="923330"/>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spAutoFit/>
          </a:bodyPr>
          <a:lstStyle/>
          <a:p>
            <a:pPr algn="ctr"/>
            <a:r>
              <a:rPr lang="de-DE" sz="5400" b="0" cap="none" spc="0" dirty="0" err="1" smtClean="0">
                <a:ln w="0"/>
                <a:solidFill>
                  <a:schemeClr val="tx1"/>
                </a:solidFill>
                <a:effectLst>
                  <a:outerShdw blurRad="38100" dist="19050" dir="2700000" algn="tl" rotWithShape="0">
                    <a:schemeClr val="dk1">
                      <a:alpha val="40000"/>
                    </a:schemeClr>
                  </a:outerShdw>
                </a:effectLst>
              </a:rPr>
              <a:t>Today‘s</a:t>
            </a:r>
            <a:r>
              <a:rPr lang="de-DE" sz="5400" b="0" cap="none" spc="0" dirty="0" smtClean="0">
                <a:ln w="0"/>
                <a:solidFill>
                  <a:schemeClr val="tx1"/>
                </a:solidFill>
                <a:effectLst>
                  <a:outerShdw blurRad="38100" dist="19050" dir="2700000" algn="tl" rotWithShape="0">
                    <a:schemeClr val="dk1">
                      <a:alpha val="40000"/>
                    </a:schemeClr>
                  </a:outerShdw>
                </a:effectLst>
              </a:rPr>
              <a:t> Agenda?</a:t>
            </a:r>
          </a:p>
        </p:txBody>
      </p:sp>
    </p:spTree>
    <p:extLst>
      <p:ext uri="{BB962C8B-B14F-4D97-AF65-F5344CB8AC3E}">
        <p14:creationId xmlns:p14="http://schemas.microsoft.com/office/powerpoint/2010/main" val="13815861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5</a:t>
            </a:fld>
            <a:endParaRPr lang="de-CH"/>
          </a:p>
        </p:txBody>
      </p:sp>
      <p:pic>
        <p:nvPicPr>
          <p:cNvPr id="8" name="Inhaltsplatzhalter 7" descr="Intellectual-property.jpg"/>
          <p:cNvPicPr>
            <a:picLocks noGrp="1" noChangeAspect="1"/>
          </p:cNvPicPr>
          <p:nvPr>
            <p:ph idx="1"/>
          </p:nvPr>
        </p:nvPicPr>
        <p:blipFill>
          <a:blip r:embed="rId2" cstate="print"/>
          <a:srcRect l="12030"/>
          <a:stretch>
            <a:fillRect/>
          </a:stretch>
        </p:blipFill>
        <p:spPr>
          <a:xfrm>
            <a:off x="0" y="908720"/>
            <a:ext cx="9144001" cy="5596963"/>
          </a:xfrm>
        </p:spPr>
      </p:pic>
      <p:pic>
        <p:nvPicPr>
          <p:cNvPr id="13" name="Picture 7" descr="http://hplusmagazine.com/sites/default/files/images/articles/code.jpg"/>
          <p:cNvPicPr>
            <a:picLocks noChangeAspect="1" noChangeArrowheads="1"/>
          </p:cNvPicPr>
          <p:nvPr/>
        </p:nvPicPr>
        <p:blipFill>
          <a:blip r:embed="rId3" cstate="print"/>
          <a:srcRect/>
          <a:stretch>
            <a:fillRect/>
          </a:stretch>
        </p:blipFill>
        <p:spPr bwMode="auto">
          <a:xfrm>
            <a:off x="5004048" y="3717032"/>
            <a:ext cx="3094203" cy="2158009"/>
          </a:xfrm>
          <a:prstGeom prst="rect">
            <a:avLst/>
          </a:prstGeom>
          <a:noFill/>
        </p:spPr>
      </p:pic>
      <p:pic>
        <p:nvPicPr>
          <p:cNvPr id="19460" name="Picture 4" descr="https://pbs.twimg.com/profile_images/2170093647/magnolia.png">
            <a:hlinkClick r:id="rId4"/>
          </p:cNvPr>
          <p:cNvPicPr>
            <a:picLocks noChangeAspect="1" noChangeArrowheads="1"/>
          </p:cNvPicPr>
          <p:nvPr/>
        </p:nvPicPr>
        <p:blipFill>
          <a:blip r:embed="rId5" cstate="print"/>
          <a:srcRect t="33810" b="32381"/>
          <a:stretch>
            <a:fillRect/>
          </a:stretch>
        </p:blipFill>
        <p:spPr bwMode="auto">
          <a:xfrm>
            <a:off x="467544" y="3068960"/>
            <a:ext cx="3833664" cy="1296144"/>
          </a:xfrm>
          <a:prstGeom prst="rect">
            <a:avLst/>
          </a:prstGeom>
          <a:noFill/>
        </p:spPr>
      </p:pic>
      <p:pic>
        <p:nvPicPr>
          <p:cNvPr id="3" name="Grafik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20701" y="1493612"/>
            <a:ext cx="1394587" cy="1592778"/>
          </a:xfrm>
          <a:prstGeom prst="rect">
            <a:avLst/>
          </a:prstGeom>
        </p:spPr>
      </p:pic>
    </p:spTree>
    <p:extLst>
      <p:ext uri="{BB962C8B-B14F-4D97-AF65-F5344CB8AC3E}">
        <p14:creationId xmlns:p14="http://schemas.microsoft.com/office/powerpoint/2010/main" val="91676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linds(horizontal)">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	</a:t>
            </a:r>
            <a:r>
              <a:rPr lang="de-CH" dirty="0" err="1" smtClean="0"/>
              <a:t>Ip</a:t>
            </a:r>
            <a:r>
              <a:rPr lang="de-CH" dirty="0" smtClean="0"/>
              <a:t> </a:t>
            </a:r>
            <a:r>
              <a:rPr lang="de-CH" dirty="0" err="1" smtClean="0"/>
              <a:t>relating</a:t>
            </a:r>
            <a:r>
              <a:rPr lang="de-CH" dirty="0" smtClean="0"/>
              <a:t> </a:t>
            </a:r>
            <a:r>
              <a:rPr lang="de-CH" dirty="0" err="1" smtClean="0"/>
              <a:t>to</a:t>
            </a:r>
            <a:r>
              <a:rPr lang="de-CH" dirty="0" smtClean="0"/>
              <a:t>…?</a:t>
            </a:r>
            <a:endParaRPr lang="de-CH" dirty="0"/>
          </a:p>
        </p:txBody>
      </p:sp>
      <p:sp>
        <p:nvSpPr>
          <p:cNvPr id="3" name="Content Placeholder 2"/>
          <p:cNvSpPr>
            <a:spLocks noGrp="1"/>
          </p:cNvSpPr>
          <p:nvPr>
            <p:ph sz="half" idx="1"/>
          </p:nvPr>
        </p:nvSpPr>
        <p:spPr>
          <a:xfrm>
            <a:off x="971550" y="1844676"/>
            <a:ext cx="3456434" cy="2088380"/>
          </a:xfrm>
        </p:spPr>
        <p:txBody>
          <a:bodyPr/>
          <a:lstStyle/>
          <a:p>
            <a:pPr marL="0" indent="0">
              <a:buNone/>
            </a:pPr>
            <a:r>
              <a:rPr lang="de-CH" b="1" dirty="0" err="1" smtClean="0"/>
              <a:t>Coporate</a:t>
            </a:r>
            <a:r>
              <a:rPr lang="de-CH" b="1" dirty="0" smtClean="0"/>
              <a:t> </a:t>
            </a:r>
            <a:r>
              <a:rPr lang="de-CH" b="1" dirty="0" err="1" smtClean="0"/>
              <a:t>identity</a:t>
            </a:r>
            <a:endParaRPr lang="de-CH" dirty="0" smtClean="0"/>
          </a:p>
          <a:p>
            <a:pPr marL="0" indent="0">
              <a:buNone/>
            </a:pPr>
            <a:endParaRPr lang="de-CH" dirty="0" smtClean="0"/>
          </a:p>
          <a:p>
            <a:pPr marL="0" indent="0">
              <a:buFontTx/>
              <a:buChar char="-"/>
            </a:pPr>
            <a:r>
              <a:rPr lang="de-CH" dirty="0" smtClean="0"/>
              <a:t> </a:t>
            </a:r>
            <a:r>
              <a:rPr lang="de-CH" dirty="0" err="1" smtClean="0"/>
              <a:t>trademarks</a:t>
            </a:r>
            <a:endParaRPr lang="de-CH" dirty="0" smtClean="0"/>
          </a:p>
          <a:p>
            <a:pPr marL="0" indent="0">
              <a:buFontTx/>
              <a:buChar char="-"/>
            </a:pPr>
            <a:r>
              <a:rPr lang="de-CH" dirty="0" smtClean="0"/>
              <a:t> </a:t>
            </a:r>
            <a:r>
              <a:rPr lang="de-CH" dirty="0" err="1" smtClean="0"/>
              <a:t>domain</a:t>
            </a:r>
            <a:r>
              <a:rPr lang="de-CH" dirty="0" smtClean="0"/>
              <a:t> </a:t>
            </a:r>
            <a:r>
              <a:rPr lang="de-CH" dirty="0" err="1" smtClean="0"/>
              <a:t>names</a:t>
            </a:r>
            <a:endParaRPr lang="de-CH" dirty="0" smtClean="0"/>
          </a:p>
          <a:p>
            <a:pPr marL="0" indent="0">
              <a:buFontTx/>
              <a:buChar char="-"/>
            </a:pPr>
            <a:r>
              <a:rPr lang="de-CH" dirty="0" smtClean="0"/>
              <a:t> </a:t>
            </a:r>
            <a:r>
              <a:rPr lang="de-CH" dirty="0" err="1" smtClean="0"/>
              <a:t>right</a:t>
            </a:r>
            <a:r>
              <a:rPr lang="de-CH" dirty="0" smtClean="0"/>
              <a:t> </a:t>
            </a:r>
            <a:r>
              <a:rPr lang="de-CH" dirty="0" err="1" smtClean="0"/>
              <a:t>to</a:t>
            </a:r>
            <a:r>
              <a:rPr lang="de-CH" dirty="0" smtClean="0"/>
              <a:t> </a:t>
            </a:r>
            <a:r>
              <a:rPr lang="de-CH" dirty="0" err="1" smtClean="0"/>
              <a:t>company</a:t>
            </a:r>
            <a:r>
              <a:rPr lang="de-CH" dirty="0" smtClean="0"/>
              <a:t> </a:t>
            </a:r>
            <a:r>
              <a:rPr lang="de-CH" dirty="0" err="1" smtClean="0"/>
              <a:t>name</a:t>
            </a:r>
            <a:endParaRPr lang="de-CH" dirty="0" smtClean="0"/>
          </a:p>
          <a:p>
            <a:pPr marL="0" indent="0">
              <a:buFontTx/>
              <a:buChar char="-"/>
            </a:pPr>
            <a:r>
              <a:rPr lang="de-CH" dirty="0" smtClean="0"/>
              <a:t> </a:t>
            </a:r>
            <a:r>
              <a:rPr lang="de-CH" dirty="0" err="1" smtClean="0"/>
              <a:t>copyright</a:t>
            </a:r>
            <a:r>
              <a:rPr lang="de-CH" dirty="0" smtClean="0"/>
              <a:t> (logo)</a:t>
            </a:r>
          </a:p>
          <a:p>
            <a:pPr marL="0" indent="0">
              <a:buFontTx/>
              <a:buChar char="-"/>
            </a:pPr>
            <a:r>
              <a:rPr lang="de-CH" dirty="0" smtClean="0"/>
              <a:t> (</a:t>
            </a:r>
            <a:r>
              <a:rPr lang="de-CH" dirty="0" err="1" smtClean="0"/>
              <a:t>social</a:t>
            </a:r>
            <a:r>
              <a:rPr lang="de-CH" dirty="0" smtClean="0"/>
              <a:t> media)</a:t>
            </a:r>
          </a:p>
          <a:p>
            <a:pPr marL="0" indent="0">
              <a:buFontTx/>
              <a:buChar char="-"/>
            </a:pPr>
            <a:endParaRPr lang="de-CH" dirty="0" smtClean="0"/>
          </a:p>
        </p:txBody>
      </p:sp>
      <p:sp>
        <p:nvSpPr>
          <p:cNvPr id="9" name="Content Placeholder 8"/>
          <p:cNvSpPr>
            <a:spLocks noGrp="1"/>
          </p:cNvSpPr>
          <p:nvPr>
            <p:ph sz="half" idx="2"/>
          </p:nvPr>
        </p:nvSpPr>
        <p:spPr>
          <a:xfrm>
            <a:off x="4716015" y="1844676"/>
            <a:ext cx="3456435" cy="2880468"/>
          </a:xfrm>
        </p:spPr>
        <p:txBody>
          <a:bodyPr/>
          <a:lstStyle/>
          <a:p>
            <a:pPr marL="0" indent="0">
              <a:buNone/>
            </a:pPr>
            <a:r>
              <a:rPr lang="de-CH" b="1" dirty="0" err="1" smtClean="0"/>
              <a:t>Product</a:t>
            </a:r>
            <a:r>
              <a:rPr lang="de-CH" b="1" dirty="0" smtClean="0"/>
              <a:t>/</a:t>
            </a:r>
            <a:r>
              <a:rPr lang="de-CH" b="1" dirty="0" err="1" smtClean="0"/>
              <a:t>service</a:t>
            </a:r>
            <a:endParaRPr lang="de-CH" b="1" dirty="0" smtClean="0"/>
          </a:p>
          <a:p>
            <a:pPr marL="0" indent="0">
              <a:buNone/>
            </a:pPr>
            <a:endParaRPr lang="de-CH" dirty="0" smtClean="0"/>
          </a:p>
          <a:p>
            <a:pPr marL="0" indent="0">
              <a:buFontTx/>
              <a:buChar char="-"/>
            </a:pPr>
            <a:r>
              <a:rPr lang="de-CH" dirty="0" err="1" smtClean="0"/>
              <a:t>trademarks</a:t>
            </a:r>
            <a:endParaRPr lang="de-CH" dirty="0" smtClean="0"/>
          </a:p>
          <a:p>
            <a:pPr marL="0" indent="0">
              <a:buFontTx/>
              <a:buChar char="-"/>
            </a:pPr>
            <a:r>
              <a:rPr lang="de-CH" dirty="0" err="1" smtClean="0"/>
              <a:t>patents</a:t>
            </a:r>
            <a:endParaRPr lang="de-CH" dirty="0" smtClean="0"/>
          </a:p>
          <a:p>
            <a:pPr marL="0" indent="0">
              <a:buFontTx/>
              <a:buChar char="-"/>
            </a:pPr>
            <a:r>
              <a:rPr lang="de-CH" dirty="0"/>
              <a:t>d</a:t>
            </a:r>
            <a:r>
              <a:rPr lang="de-CH" dirty="0" smtClean="0"/>
              <a:t>esign </a:t>
            </a:r>
            <a:r>
              <a:rPr lang="de-CH" dirty="0" err="1" smtClean="0"/>
              <a:t>rights</a:t>
            </a:r>
            <a:endParaRPr lang="de-CH" dirty="0" smtClean="0"/>
          </a:p>
          <a:p>
            <a:pPr marL="0" indent="0">
              <a:buFontTx/>
              <a:buChar char="-"/>
            </a:pPr>
            <a:r>
              <a:rPr lang="de-CH" dirty="0" err="1" smtClean="0"/>
              <a:t>copyright</a:t>
            </a:r>
            <a:endParaRPr lang="de-CH" dirty="0" smtClean="0"/>
          </a:p>
          <a:p>
            <a:pPr marL="0" indent="0">
              <a:buFontTx/>
              <a:buChar char="-"/>
            </a:pPr>
            <a:r>
              <a:rPr lang="de-CH" dirty="0" smtClean="0"/>
              <a:t>(</a:t>
            </a:r>
            <a:r>
              <a:rPr lang="de-CH" dirty="0" err="1" smtClean="0"/>
              <a:t>confidentiality</a:t>
            </a:r>
            <a:r>
              <a:rPr lang="de-CH" dirty="0" smtClean="0"/>
              <a:t>)</a:t>
            </a:r>
          </a:p>
          <a:p>
            <a:pPr marL="0" indent="0">
              <a:buFontTx/>
              <a:buChar char="-"/>
            </a:pPr>
            <a:r>
              <a:rPr lang="de-CH" dirty="0" smtClean="0"/>
              <a:t> etc.</a:t>
            </a:r>
          </a:p>
          <a:p>
            <a:pPr marL="0" indent="0">
              <a:buFontTx/>
              <a:buChar char="-"/>
            </a:pPr>
            <a:endParaRPr lang="de-CH" dirty="0" smtClean="0"/>
          </a:p>
          <a:p>
            <a:pPr marL="0" indent="0">
              <a:buNone/>
            </a:pPr>
            <a:endParaRPr lang="de-CH" dirty="0" smtClean="0"/>
          </a:p>
          <a:p>
            <a:pPr marL="0" indent="0">
              <a:buNone/>
            </a:pPr>
            <a:endParaRPr lang="de-CH"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dirty="0" smtClean="0"/>
              <a:t>nicolas.mosimann@kellerhals-carrard.ch</a:t>
            </a:r>
            <a:endParaRPr lang="de-CH" dirty="0"/>
          </a:p>
        </p:txBody>
      </p:sp>
      <p:sp>
        <p:nvSpPr>
          <p:cNvPr id="7" name="Slide Number Placeholder 6"/>
          <p:cNvSpPr>
            <a:spLocks noGrp="1"/>
          </p:cNvSpPr>
          <p:nvPr>
            <p:ph type="sldNum" sz="quarter" idx="12"/>
          </p:nvPr>
        </p:nvSpPr>
        <p:spPr/>
        <p:txBody>
          <a:bodyPr/>
          <a:lstStyle/>
          <a:p>
            <a:fld id="{1E75EF35-6B25-4B85-9696-D7065EDA5E63}" type="slidenum">
              <a:rPr lang="de-CH" smtClean="0"/>
              <a:pPr/>
              <a:t>6</a:t>
            </a:fld>
            <a:endParaRPr lang="de-CH"/>
          </a:p>
        </p:txBody>
      </p:sp>
      <p:sp>
        <p:nvSpPr>
          <p:cNvPr id="13" name="Rechteck 12"/>
          <p:cNvSpPr/>
          <p:nvPr/>
        </p:nvSpPr>
        <p:spPr>
          <a:xfrm>
            <a:off x="755576" y="4869160"/>
            <a:ext cx="3168352"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de-CH" dirty="0" smtClean="0"/>
              <a:t>In </a:t>
            </a:r>
            <a:r>
              <a:rPr lang="de-CH" dirty="0" err="1" smtClean="0"/>
              <a:t>most</a:t>
            </a:r>
            <a:r>
              <a:rPr lang="de-CH" dirty="0" smtClean="0"/>
              <a:t> </a:t>
            </a:r>
            <a:r>
              <a:rPr lang="de-CH" dirty="0" err="1" smtClean="0"/>
              <a:t>cases</a:t>
            </a:r>
            <a:r>
              <a:rPr lang="de-CH" dirty="0" smtClean="0"/>
              <a:t> relevant</a:t>
            </a:r>
          </a:p>
        </p:txBody>
      </p:sp>
      <p:sp>
        <p:nvSpPr>
          <p:cNvPr id="14" name="Rechteck 13"/>
          <p:cNvSpPr/>
          <p:nvPr/>
        </p:nvSpPr>
        <p:spPr>
          <a:xfrm>
            <a:off x="4716016" y="4725144"/>
            <a:ext cx="403244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de-CH" dirty="0" smtClean="0"/>
              <a:t>Not essential in </a:t>
            </a:r>
            <a:r>
              <a:rPr lang="de-CH" dirty="0" err="1" smtClean="0"/>
              <a:t>every</a:t>
            </a:r>
            <a:r>
              <a:rPr lang="de-CH" dirty="0" smtClean="0"/>
              <a:t> </a:t>
            </a:r>
            <a:r>
              <a:rPr lang="de-CH" dirty="0" err="1" smtClean="0"/>
              <a:t>case</a:t>
            </a:r>
            <a:r>
              <a:rPr lang="de-CH" dirty="0" smtClean="0"/>
              <a:t>, </a:t>
            </a:r>
            <a:r>
              <a:rPr lang="de-CH" dirty="0" err="1" smtClean="0"/>
              <a:t>depending</a:t>
            </a:r>
            <a:r>
              <a:rPr lang="de-CH" dirty="0" smtClean="0"/>
              <a:t> on </a:t>
            </a:r>
            <a:r>
              <a:rPr lang="de-CH" dirty="0" err="1" smtClean="0"/>
              <a:t>product</a:t>
            </a:r>
            <a:r>
              <a:rPr lang="de-CH" dirty="0" smtClean="0"/>
              <a:t>/</a:t>
            </a:r>
            <a:r>
              <a:rPr lang="de-CH" dirty="0" err="1" smtClean="0"/>
              <a:t>service</a:t>
            </a:r>
            <a:endParaRPr lang="de-CH" dirty="0" smtClean="0"/>
          </a:p>
        </p:txBody>
      </p:sp>
      <p:pic>
        <p:nvPicPr>
          <p:cNvPr id="1032" name="Picture 8" descr="C:\Program Files (x86)\Microsoft Office\MEDIA\CAGCAT10\j0222015.wmf"/>
          <p:cNvPicPr>
            <a:picLocks noChangeAspect="1" noChangeArrowheads="1"/>
          </p:cNvPicPr>
          <p:nvPr/>
        </p:nvPicPr>
        <p:blipFill>
          <a:blip r:embed="rId3" cstate="print"/>
          <a:srcRect/>
          <a:stretch>
            <a:fillRect/>
          </a:stretch>
        </p:blipFill>
        <p:spPr bwMode="auto">
          <a:xfrm>
            <a:off x="3707905" y="5483746"/>
            <a:ext cx="1368151" cy="1374254"/>
          </a:xfrm>
          <a:prstGeom prst="rect">
            <a:avLst/>
          </a:prstGeom>
          <a:noFill/>
        </p:spPr>
      </p:pic>
    </p:spTree>
    <p:extLst>
      <p:ext uri="{BB962C8B-B14F-4D97-AF65-F5344CB8AC3E}">
        <p14:creationId xmlns:p14="http://schemas.microsoft.com/office/powerpoint/2010/main" val="295318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32"/>
                                        </p:tgtEl>
                                        <p:attrNameLst>
                                          <p:attrName>style.visibility</p:attrName>
                                        </p:attrNameLst>
                                      </p:cBhvr>
                                      <p:to>
                                        <p:strVal val="visible"/>
                                      </p:to>
                                    </p:set>
                                    <p:animEffect transition="in" filter="blinds(horizontal)">
                                      <p:cBhvr>
                                        <p:cTn id="1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 	IP = $$$</a:t>
            </a:r>
            <a:endParaRPr lang="de-CH" dirty="0"/>
          </a:p>
        </p:txBody>
      </p:sp>
      <p:sp>
        <p:nvSpPr>
          <p:cNvPr id="3" name="Content Placeholder 2"/>
          <p:cNvSpPr>
            <a:spLocks noGrp="1"/>
          </p:cNvSpPr>
          <p:nvPr>
            <p:ph sz="half" idx="1"/>
          </p:nvPr>
        </p:nvSpPr>
        <p:spPr/>
        <p:txBody>
          <a:bodyPr/>
          <a:lstStyle/>
          <a:p>
            <a:pPr marL="0" indent="0">
              <a:buNone/>
            </a:pPr>
            <a:r>
              <a:rPr lang="de-CH" dirty="0" err="1" smtClean="0"/>
              <a:t>Protection</a:t>
            </a:r>
            <a:endParaRPr lang="de-CH" dirty="0"/>
          </a:p>
        </p:txBody>
      </p:sp>
      <p:sp>
        <p:nvSpPr>
          <p:cNvPr id="9" name="Content Placeholder 8"/>
          <p:cNvSpPr>
            <a:spLocks noGrp="1"/>
          </p:cNvSpPr>
          <p:nvPr>
            <p:ph sz="half" idx="2"/>
          </p:nvPr>
        </p:nvSpPr>
        <p:spPr/>
        <p:txBody>
          <a:bodyPr/>
          <a:lstStyle/>
          <a:p>
            <a:pPr marL="0" indent="0">
              <a:buNone/>
            </a:pPr>
            <a:r>
              <a:rPr lang="de-CH" dirty="0" err="1" smtClean="0"/>
              <a:t>Avoidance</a:t>
            </a:r>
            <a:r>
              <a:rPr lang="de-CH" dirty="0" smtClean="0"/>
              <a:t> </a:t>
            </a:r>
            <a:r>
              <a:rPr lang="de-CH" dirty="0" err="1" smtClean="0"/>
              <a:t>of</a:t>
            </a:r>
            <a:r>
              <a:rPr lang="de-CH" dirty="0" smtClean="0"/>
              <a:t> </a:t>
            </a:r>
            <a:r>
              <a:rPr lang="de-CH" dirty="0" err="1" smtClean="0"/>
              <a:t>disputes</a:t>
            </a:r>
            <a:endParaRPr lang="de-CH" dirty="0"/>
          </a:p>
        </p:txBody>
      </p:sp>
      <p:sp>
        <p:nvSpPr>
          <p:cNvPr id="5" name="Date Placeholder 4"/>
          <p:cNvSpPr>
            <a:spLocks noGrp="1"/>
          </p:cNvSpPr>
          <p:nvPr>
            <p:ph type="dt" sz="half" idx="10"/>
          </p:nvPr>
        </p:nvSpPr>
        <p:spPr/>
        <p:txBody>
          <a:bodyPr/>
          <a:lstStyle/>
          <a:p>
            <a:r>
              <a:rPr lang="de-DE" smtClean="0"/>
              <a:t>16.11.2016</a:t>
            </a:r>
            <a:endParaRPr lang="de-CH"/>
          </a:p>
        </p:txBody>
      </p:sp>
      <p:sp>
        <p:nvSpPr>
          <p:cNvPr id="6" name="Footer Placeholder 5"/>
          <p:cNvSpPr>
            <a:spLocks noGrp="1"/>
          </p:cNvSpPr>
          <p:nvPr>
            <p:ph type="ftr" sz="quarter" idx="11"/>
          </p:nvPr>
        </p:nvSpPr>
        <p:spPr/>
        <p:txBody>
          <a:bodyPr/>
          <a:lstStyle/>
          <a:p>
            <a:r>
              <a:rPr lang="de-CH" dirty="0" smtClean="0"/>
              <a:t>nicolas.mosimann@kellerhals-carrard.ch</a:t>
            </a:r>
            <a:endParaRPr lang="de-CH" dirty="0"/>
          </a:p>
        </p:txBody>
      </p:sp>
      <p:sp>
        <p:nvSpPr>
          <p:cNvPr id="7" name="Slide Number Placeholder 6"/>
          <p:cNvSpPr>
            <a:spLocks noGrp="1"/>
          </p:cNvSpPr>
          <p:nvPr>
            <p:ph type="sldNum" sz="quarter" idx="12"/>
          </p:nvPr>
        </p:nvSpPr>
        <p:spPr/>
        <p:txBody>
          <a:bodyPr/>
          <a:lstStyle/>
          <a:p>
            <a:fld id="{1E75EF35-6B25-4B85-9696-D7065EDA5E63}" type="slidenum">
              <a:rPr lang="de-CH" smtClean="0"/>
              <a:pPr/>
              <a:t>7</a:t>
            </a:fld>
            <a:endParaRPr lang="de-CH"/>
          </a:p>
        </p:txBody>
      </p:sp>
      <p:pic>
        <p:nvPicPr>
          <p:cNvPr id="8" name="Picture 2" descr="http://media-cache-ak0.pinimg.com/736x/59/4f/65/594f6512717c29e268e5f36a6760df92.jpg"/>
          <p:cNvPicPr>
            <a:picLocks noChangeAspect="1" noChangeArrowheads="1"/>
          </p:cNvPicPr>
          <p:nvPr/>
        </p:nvPicPr>
        <p:blipFill>
          <a:blip r:embed="rId2" cstate="print"/>
          <a:srcRect/>
          <a:stretch>
            <a:fillRect/>
          </a:stretch>
        </p:blipFill>
        <p:spPr bwMode="auto">
          <a:xfrm>
            <a:off x="395536" y="2636912"/>
            <a:ext cx="3960440" cy="2623792"/>
          </a:xfrm>
          <a:prstGeom prst="rect">
            <a:avLst/>
          </a:prstGeom>
          <a:noFill/>
        </p:spPr>
      </p:pic>
      <p:pic>
        <p:nvPicPr>
          <p:cNvPr id="32770" name="Picture 2" descr="http://media-cache-ec0.pinimg.com/736x/e9/de/49/e9de496b61db3c7fadfcff5b9e4be26f.jpg"/>
          <p:cNvPicPr>
            <a:picLocks noChangeAspect="1" noChangeArrowheads="1"/>
          </p:cNvPicPr>
          <p:nvPr/>
        </p:nvPicPr>
        <p:blipFill>
          <a:blip r:embed="rId3" cstate="print"/>
          <a:srcRect/>
          <a:stretch>
            <a:fillRect/>
          </a:stretch>
        </p:blipFill>
        <p:spPr bwMode="auto">
          <a:xfrm>
            <a:off x="5076056" y="2276872"/>
            <a:ext cx="1728191" cy="1728191"/>
          </a:xfrm>
          <a:prstGeom prst="rect">
            <a:avLst/>
          </a:prstGeom>
          <a:noFill/>
        </p:spPr>
      </p:pic>
      <p:pic>
        <p:nvPicPr>
          <p:cNvPr id="32771" name="Picture 3" descr="C:\Users\nmosimann\AppData\Local\Microsoft\Windows\Temporary Internet Files\Content.IE5\L5H6WKQW\registered-98574_640[1].png"/>
          <p:cNvPicPr>
            <a:picLocks noChangeAspect="1" noChangeArrowheads="1"/>
          </p:cNvPicPr>
          <p:nvPr/>
        </p:nvPicPr>
        <p:blipFill>
          <a:blip r:embed="rId4" cstate="print"/>
          <a:srcRect/>
          <a:stretch>
            <a:fillRect/>
          </a:stretch>
        </p:blipFill>
        <p:spPr bwMode="auto">
          <a:xfrm>
            <a:off x="6372200" y="4077072"/>
            <a:ext cx="1963933" cy="1963933"/>
          </a:xfrm>
          <a:prstGeom prst="rect">
            <a:avLst/>
          </a:prstGeom>
          <a:noFill/>
        </p:spPr>
      </p:pic>
      <p:pic>
        <p:nvPicPr>
          <p:cNvPr id="32773" name="Picture 5" descr="http://bilalzuberi.com/wp-content/uploads/2015/02/diligence.jpg"/>
          <p:cNvPicPr>
            <a:picLocks noChangeAspect="1" noChangeArrowheads="1"/>
          </p:cNvPicPr>
          <p:nvPr/>
        </p:nvPicPr>
        <p:blipFill>
          <a:blip r:embed="rId5" cstate="print"/>
          <a:srcRect/>
          <a:stretch>
            <a:fillRect/>
          </a:stretch>
        </p:blipFill>
        <p:spPr bwMode="auto">
          <a:xfrm>
            <a:off x="1979712" y="2276872"/>
            <a:ext cx="5205586" cy="3698706"/>
          </a:xfrm>
          <a:prstGeom prst="rect">
            <a:avLst/>
          </a:prstGeom>
          <a:noFill/>
        </p:spPr>
      </p:pic>
    </p:spTree>
    <p:extLst>
      <p:ext uri="{BB962C8B-B14F-4D97-AF65-F5344CB8AC3E}">
        <p14:creationId xmlns:p14="http://schemas.microsoft.com/office/powerpoint/2010/main" val="295318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2770"/>
                                        </p:tgtEl>
                                        <p:attrNameLst>
                                          <p:attrName>style.visibility</p:attrName>
                                        </p:attrNameLst>
                                      </p:cBhvr>
                                      <p:to>
                                        <p:strVal val="visible"/>
                                      </p:to>
                                    </p:set>
                                    <p:animEffect transition="in" filter="blinds(horizontal)">
                                      <p:cBhvr>
                                        <p:cTn id="10" dur="500"/>
                                        <p:tgtEl>
                                          <p:spTgt spid="3277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2771"/>
                                        </p:tgtEl>
                                        <p:attrNameLst>
                                          <p:attrName>style.visibility</p:attrName>
                                        </p:attrNameLst>
                                      </p:cBhvr>
                                      <p:to>
                                        <p:strVal val="visible"/>
                                      </p:to>
                                    </p:set>
                                    <p:animEffect transition="in" filter="blinds(horizontal)">
                                      <p:cBhvr>
                                        <p:cTn id="15" dur="500"/>
                                        <p:tgtEl>
                                          <p:spTgt spid="3277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2773"/>
                                        </p:tgtEl>
                                        <p:attrNameLst>
                                          <p:attrName>style.visibility</p:attrName>
                                        </p:attrNameLst>
                                      </p:cBhvr>
                                      <p:to>
                                        <p:strVal val="visible"/>
                                      </p:to>
                                    </p:set>
                                    <p:animEffect transition="in" filter="blinds(horizontal)">
                                      <p:cBhvr>
                                        <p:cTn id="20" dur="500"/>
                                        <p:tgtEl>
                                          <p:spTgt spid="32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II	</a:t>
            </a:r>
            <a:r>
              <a:rPr lang="de-CH" dirty="0" err="1" smtClean="0"/>
              <a:t>Do‘s</a:t>
            </a:r>
            <a:r>
              <a:rPr lang="de-CH" dirty="0" smtClean="0"/>
              <a:t> </a:t>
            </a:r>
            <a:r>
              <a:rPr lang="de-CH" dirty="0" err="1" smtClean="0"/>
              <a:t>and</a:t>
            </a:r>
            <a:r>
              <a:rPr lang="de-CH" dirty="0" smtClean="0"/>
              <a:t> </a:t>
            </a:r>
            <a:r>
              <a:rPr lang="de-CH" dirty="0" err="1" smtClean="0"/>
              <a:t>Dont‘s</a:t>
            </a:r>
            <a:r>
              <a:rPr lang="de-CH" dirty="0" smtClean="0"/>
              <a:t>: </a:t>
            </a:r>
            <a:r>
              <a:rPr lang="de-CH" dirty="0" err="1" smtClean="0"/>
              <a:t>company</a:t>
            </a:r>
            <a:r>
              <a:rPr lang="de-CH" dirty="0" smtClean="0"/>
              <a:t> Name </a:t>
            </a:r>
            <a:r>
              <a:rPr lang="de-CH" dirty="0" err="1" smtClean="0"/>
              <a:t>and</a:t>
            </a:r>
            <a:r>
              <a:rPr lang="de-CH" dirty="0" smtClean="0"/>
              <a:t> </a:t>
            </a:r>
            <a:r>
              <a:rPr lang="de-CH" dirty="0" err="1" smtClean="0"/>
              <a:t>product</a:t>
            </a:r>
            <a:r>
              <a:rPr lang="de-CH" dirty="0" smtClean="0"/>
              <a:t> </a:t>
            </a:r>
            <a:r>
              <a:rPr lang="de-CH" dirty="0" err="1" smtClean="0"/>
              <a:t>name</a:t>
            </a:r>
            <a:endParaRPr lang="de-CH" dirty="0"/>
          </a:p>
        </p:txBody>
      </p:sp>
      <p:sp>
        <p:nvSpPr>
          <p:cNvPr id="3" name="Content Placeholder 2"/>
          <p:cNvSpPr>
            <a:spLocks noGrp="1"/>
          </p:cNvSpPr>
          <p:nvPr>
            <p:ph idx="1"/>
          </p:nvPr>
        </p:nvSpPr>
        <p:spPr/>
        <p:txBody>
          <a:bodyPr/>
          <a:lstStyle/>
          <a:p>
            <a:pPr>
              <a:spcBef>
                <a:spcPts val="800"/>
              </a:spcBef>
            </a:pPr>
            <a:r>
              <a:rPr lang="de-CH" dirty="0" err="1" smtClean="0"/>
              <a:t>Competitior</a:t>
            </a:r>
            <a:r>
              <a:rPr lang="de-CH" dirty="0" smtClean="0"/>
              <a:t> </a:t>
            </a:r>
            <a:r>
              <a:rPr lang="de-CH" dirty="0" err="1" smtClean="0"/>
              <a:t>with</a:t>
            </a:r>
            <a:r>
              <a:rPr lang="de-CH" dirty="0" smtClean="0"/>
              <a:t> </a:t>
            </a:r>
            <a:r>
              <a:rPr lang="de-CH" dirty="0" err="1" smtClean="0"/>
              <a:t>similar</a:t>
            </a:r>
            <a:r>
              <a:rPr lang="de-CH" dirty="0" smtClean="0"/>
              <a:t> </a:t>
            </a:r>
            <a:r>
              <a:rPr lang="de-CH" dirty="0" err="1" smtClean="0"/>
              <a:t>or</a:t>
            </a:r>
            <a:r>
              <a:rPr lang="de-CH" dirty="0" smtClean="0"/>
              <a:t> </a:t>
            </a:r>
            <a:r>
              <a:rPr lang="de-CH" dirty="0" err="1" smtClean="0"/>
              <a:t>identical</a:t>
            </a:r>
            <a:r>
              <a:rPr lang="de-CH" dirty="0" smtClean="0"/>
              <a:t> </a:t>
            </a:r>
            <a:r>
              <a:rPr lang="de-CH" dirty="0" err="1" smtClean="0"/>
              <a:t>name</a:t>
            </a:r>
            <a:r>
              <a:rPr lang="de-CH" dirty="0" smtClean="0"/>
              <a:t>/</a:t>
            </a:r>
            <a:r>
              <a:rPr lang="de-CH" dirty="0" err="1" smtClean="0"/>
              <a:t>designation</a:t>
            </a:r>
            <a:r>
              <a:rPr lang="de-CH" dirty="0" smtClean="0"/>
              <a:t> </a:t>
            </a:r>
            <a:r>
              <a:rPr lang="de-CH" dirty="0" smtClean="0">
                <a:sym typeface="Wingdings" pitchFamily="2" charset="2"/>
              </a:rPr>
              <a:t> </a:t>
            </a:r>
            <a:r>
              <a:rPr lang="de-CH" dirty="0" err="1" smtClean="0">
                <a:sym typeface="Wingdings" pitchFamily="2" charset="2"/>
              </a:rPr>
              <a:t>research</a:t>
            </a:r>
            <a:endParaRPr lang="de-CH" dirty="0" smtClean="0">
              <a:sym typeface="Wingdings" pitchFamily="2" charset="2"/>
            </a:endParaRPr>
          </a:p>
          <a:p>
            <a:pPr>
              <a:spcBef>
                <a:spcPts val="800"/>
              </a:spcBef>
            </a:pPr>
            <a:endParaRPr lang="de-CH" dirty="0" smtClean="0"/>
          </a:p>
          <a:p>
            <a:pPr>
              <a:spcBef>
                <a:spcPts val="800"/>
              </a:spcBef>
            </a:pPr>
            <a:r>
              <a:rPr lang="de-CH" dirty="0" err="1" smtClean="0"/>
              <a:t>Weak</a:t>
            </a:r>
            <a:r>
              <a:rPr lang="de-CH" dirty="0" smtClean="0"/>
              <a:t> </a:t>
            </a:r>
            <a:r>
              <a:rPr lang="de-CH" dirty="0" err="1" smtClean="0"/>
              <a:t>or</a:t>
            </a:r>
            <a:r>
              <a:rPr lang="de-CH" dirty="0" smtClean="0"/>
              <a:t> not </a:t>
            </a:r>
            <a:r>
              <a:rPr lang="de-CH" dirty="0" err="1" smtClean="0"/>
              <a:t>registrable</a:t>
            </a:r>
            <a:r>
              <a:rPr lang="de-CH" dirty="0" smtClean="0"/>
              <a:t> </a:t>
            </a:r>
            <a:r>
              <a:rPr lang="de-CH" dirty="0" err="1" smtClean="0"/>
              <a:t>name</a:t>
            </a:r>
            <a:endParaRPr lang="de-CH" dirty="0" smtClean="0"/>
          </a:p>
          <a:p>
            <a:pPr>
              <a:spcBef>
                <a:spcPts val="800"/>
              </a:spcBef>
            </a:pPr>
            <a:endParaRPr lang="de-CH" dirty="0" smtClean="0"/>
          </a:p>
          <a:p>
            <a:pPr>
              <a:spcBef>
                <a:spcPts val="800"/>
              </a:spcBef>
            </a:pPr>
            <a:r>
              <a:rPr lang="de-CH" dirty="0" err="1" smtClean="0"/>
              <a:t>Protection</a:t>
            </a:r>
            <a:r>
              <a:rPr lang="de-CH" dirty="0" smtClean="0"/>
              <a:t> </a:t>
            </a:r>
            <a:r>
              <a:rPr lang="de-CH" dirty="0" err="1" smtClean="0"/>
              <a:t>for</a:t>
            </a:r>
            <a:r>
              <a:rPr lang="de-CH" dirty="0" smtClean="0"/>
              <a:t> relevant </a:t>
            </a:r>
            <a:r>
              <a:rPr lang="de-CH" dirty="0" err="1" smtClean="0"/>
              <a:t>goods</a:t>
            </a:r>
            <a:r>
              <a:rPr lang="de-CH" dirty="0" smtClean="0"/>
              <a:t>/</a:t>
            </a:r>
            <a:r>
              <a:rPr lang="de-CH" dirty="0" err="1" smtClean="0"/>
              <a:t>services</a:t>
            </a:r>
            <a:r>
              <a:rPr lang="de-CH" dirty="0" smtClean="0"/>
              <a:t> </a:t>
            </a:r>
            <a:r>
              <a:rPr lang="de-CH" dirty="0" err="1" smtClean="0"/>
              <a:t>and</a:t>
            </a:r>
            <a:r>
              <a:rPr lang="de-CH" dirty="0" smtClean="0"/>
              <a:t> </a:t>
            </a:r>
            <a:r>
              <a:rPr lang="de-CH" dirty="0" err="1" smtClean="0"/>
              <a:t>territories</a:t>
            </a:r>
            <a:endParaRPr lang="de-CH" dirty="0" smtClean="0"/>
          </a:p>
          <a:p>
            <a:pPr>
              <a:spcBef>
                <a:spcPts val="800"/>
              </a:spcBef>
            </a:pPr>
            <a:endParaRPr lang="de-CH" dirty="0" smtClean="0"/>
          </a:p>
          <a:p>
            <a:pPr>
              <a:spcBef>
                <a:spcPts val="800"/>
              </a:spcBef>
            </a:pPr>
            <a:r>
              <a:rPr lang="de-CH" dirty="0" smtClean="0"/>
              <a:t>Do not </a:t>
            </a:r>
            <a:r>
              <a:rPr lang="de-CH" dirty="0" err="1" smtClean="0"/>
              <a:t>forget</a:t>
            </a:r>
            <a:r>
              <a:rPr lang="de-CH" dirty="0" smtClean="0"/>
              <a:t> </a:t>
            </a:r>
            <a:r>
              <a:rPr lang="de-CH" dirty="0" err="1" smtClean="0"/>
              <a:t>about</a:t>
            </a:r>
            <a:r>
              <a:rPr lang="de-CH" dirty="0" smtClean="0"/>
              <a:t> </a:t>
            </a:r>
            <a:r>
              <a:rPr lang="de-CH" dirty="0" err="1"/>
              <a:t>s</a:t>
            </a:r>
            <a:r>
              <a:rPr lang="de-CH" dirty="0" err="1" smtClean="0"/>
              <a:t>ocial</a:t>
            </a:r>
            <a:r>
              <a:rPr lang="de-CH" dirty="0" smtClean="0"/>
              <a:t> </a:t>
            </a:r>
            <a:r>
              <a:rPr lang="de-CH" dirty="0"/>
              <a:t>m</a:t>
            </a:r>
            <a:r>
              <a:rPr lang="de-CH" dirty="0" smtClean="0"/>
              <a:t>edia </a:t>
            </a:r>
          </a:p>
          <a:p>
            <a:pPr>
              <a:spcBef>
                <a:spcPts val="800"/>
              </a:spcBef>
            </a:pPr>
            <a:endParaRPr lang="de-CH" dirty="0" smtClean="0"/>
          </a:p>
          <a:p>
            <a:pPr>
              <a:spcBef>
                <a:spcPts val="800"/>
              </a:spcBef>
            </a:pPr>
            <a:r>
              <a:rPr lang="de-CH" dirty="0" smtClean="0"/>
              <a:t>Company must hold all </a:t>
            </a:r>
            <a:r>
              <a:rPr lang="de-CH" dirty="0" err="1" smtClean="0"/>
              <a:t>rights</a:t>
            </a:r>
            <a:r>
              <a:rPr lang="de-CH" dirty="0" smtClean="0"/>
              <a:t>/</a:t>
            </a:r>
            <a:r>
              <a:rPr lang="de-CH" dirty="0" err="1" smtClean="0"/>
              <a:t>accounts</a:t>
            </a:r>
            <a:r>
              <a:rPr lang="de-CH" dirty="0" smtClean="0"/>
              <a:t>, </a:t>
            </a:r>
            <a:r>
              <a:rPr lang="de-CH" dirty="0" err="1" smtClean="0"/>
              <a:t>have</a:t>
            </a:r>
            <a:r>
              <a:rPr lang="de-CH" dirty="0" smtClean="0"/>
              <a:t> all </a:t>
            </a:r>
            <a:r>
              <a:rPr lang="de-CH" dirty="0" err="1" smtClean="0"/>
              <a:t>passwords</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8</a:t>
            </a:fld>
            <a:endParaRPr lang="de-CH"/>
          </a:p>
        </p:txBody>
      </p:sp>
      <p:sp>
        <p:nvSpPr>
          <p:cNvPr id="7" name="Rechteck 6"/>
          <p:cNvSpPr/>
          <p:nvPr/>
        </p:nvSpPr>
        <p:spPr>
          <a:xfrm>
            <a:off x="1331640" y="5589240"/>
            <a:ext cx="547260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de-CH" dirty="0" smtClean="0"/>
              <a:t>Minor </a:t>
            </a:r>
            <a:r>
              <a:rPr lang="de-CH" dirty="0" err="1" smtClean="0"/>
              <a:t>mistakes</a:t>
            </a:r>
            <a:r>
              <a:rPr lang="de-CH" dirty="0" smtClean="0"/>
              <a:t> (at </a:t>
            </a:r>
            <a:r>
              <a:rPr lang="de-CH" dirty="0" err="1" smtClean="0"/>
              <a:t>early</a:t>
            </a:r>
            <a:r>
              <a:rPr lang="de-CH" dirty="0" smtClean="0"/>
              <a:t> </a:t>
            </a:r>
            <a:r>
              <a:rPr lang="de-CH" dirty="0" err="1" smtClean="0"/>
              <a:t>stage</a:t>
            </a:r>
            <a:r>
              <a:rPr lang="de-CH" dirty="0" smtClean="0"/>
              <a:t>) </a:t>
            </a:r>
            <a:r>
              <a:rPr lang="de-CH" dirty="0" err="1" smtClean="0"/>
              <a:t>with</a:t>
            </a:r>
            <a:r>
              <a:rPr lang="de-CH" dirty="0" smtClean="0"/>
              <a:t> </a:t>
            </a:r>
            <a:r>
              <a:rPr lang="de-CH" dirty="0" err="1" smtClean="0"/>
              <a:t>big</a:t>
            </a:r>
            <a:r>
              <a:rPr lang="de-CH" dirty="0" smtClean="0"/>
              <a:t> </a:t>
            </a:r>
            <a:r>
              <a:rPr lang="de-CH" dirty="0" err="1" smtClean="0"/>
              <a:t>risk</a:t>
            </a:r>
            <a:r>
              <a:rPr lang="de-CH" dirty="0" smtClean="0"/>
              <a:t> potential (in </a:t>
            </a:r>
            <a:r>
              <a:rPr lang="de-CH" dirty="0" err="1" smtClean="0"/>
              <a:t>future</a:t>
            </a:r>
            <a:r>
              <a:rPr lang="de-CH" dirty="0" smtClean="0"/>
              <a:t>)</a:t>
            </a:r>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III	</a:t>
            </a:r>
            <a:r>
              <a:rPr lang="de-CH" dirty="0" err="1" smtClean="0"/>
              <a:t>Do‘s</a:t>
            </a:r>
            <a:r>
              <a:rPr lang="de-CH" dirty="0" smtClean="0"/>
              <a:t> </a:t>
            </a:r>
            <a:r>
              <a:rPr lang="de-CH" dirty="0" err="1" smtClean="0"/>
              <a:t>and</a:t>
            </a:r>
            <a:r>
              <a:rPr lang="de-CH" dirty="0" smtClean="0"/>
              <a:t> </a:t>
            </a:r>
            <a:r>
              <a:rPr lang="de-CH" dirty="0" err="1" smtClean="0"/>
              <a:t>Dont‘s</a:t>
            </a:r>
            <a:r>
              <a:rPr lang="de-CH" dirty="0" smtClean="0"/>
              <a:t>: </a:t>
            </a:r>
            <a:r>
              <a:rPr lang="de-CH" dirty="0" err="1" smtClean="0"/>
              <a:t>protection</a:t>
            </a:r>
            <a:r>
              <a:rPr lang="de-CH" dirty="0" smtClean="0"/>
              <a:t> </a:t>
            </a:r>
            <a:r>
              <a:rPr lang="de-CH" dirty="0" err="1" smtClean="0"/>
              <a:t>of</a:t>
            </a:r>
            <a:r>
              <a:rPr lang="de-CH" dirty="0" smtClean="0"/>
              <a:t> </a:t>
            </a:r>
            <a:r>
              <a:rPr lang="de-CH" dirty="0" err="1" smtClean="0"/>
              <a:t>product</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9</a:t>
            </a:fld>
            <a:endParaRPr lang="de-CH"/>
          </a:p>
        </p:txBody>
      </p:sp>
      <p:pic>
        <p:nvPicPr>
          <p:cNvPr id="34820" name="Picture 4" descr="C:\Users\nmosimann\AppData\Local\Microsoft\Windows\Temporary Internet Files\Content.IE5\SYVFWB02\nintendo-haptic-feedback[1].png"/>
          <p:cNvPicPr>
            <a:picLocks noChangeAspect="1" noChangeArrowheads="1"/>
          </p:cNvPicPr>
          <p:nvPr/>
        </p:nvPicPr>
        <p:blipFill>
          <a:blip r:embed="rId3" cstate="print"/>
          <a:srcRect/>
          <a:stretch>
            <a:fillRect/>
          </a:stretch>
        </p:blipFill>
        <p:spPr bwMode="auto">
          <a:xfrm>
            <a:off x="755576" y="1844824"/>
            <a:ext cx="2848348" cy="4464496"/>
          </a:xfrm>
          <a:prstGeom prst="rect">
            <a:avLst/>
          </a:prstGeom>
          <a:noFill/>
        </p:spPr>
      </p:pic>
      <p:pic>
        <p:nvPicPr>
          <p:cNvPr id="34822" name="Picture 6" descr="C:\Users\nmosimann\AppData\Local\Microsoft\Windows\Temporary Internet Files\Content.IE5\L5H6WKQW\41778_156500500374_6770_n[1].jpg"/>
          <p:cNvPicPr>
            <a:picLocks noChangeAspect="1" noChangeArrowheads="1"/>
          </p:cNvPicPr>
          <p:nvPr/>
        </p:nvPicPr>
        <p:blipFill>
          <a:blip r:embed="rId4" cstate="print"/>
          <a:srcRect/>
          <a:stretch>
            <a:fillRect/>
          </a:stretch>
        </p:blipFill>
        <p:spPr bwMode="auto">
          <a:xfrm>
            <a:off x="539552" y="4293096"/>
            <a:ext cx="952500" cy="1314450"/>
          </a:xfrm>
          <a:prstGeom prst="rect">
            <a:avLst/>
          </a:prstGeom>
          <a:noFill/>
        </p:spPr>
      </p:pic>
      <p:sp>
        <p:nvSpPr>
          <p:cNvPr id="13" name="Textfeld 12"/>
          <p:cNvSpPr txBox="1"/>
          <p:nvPr/>
        </p:nvSpPr>
        <p:spPr>
          <a:xfrm>
            <a:off x="611560" y="3573016"/>
            <a:ext cx="338437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CH" sz="2800" b="1" dirty="0" smtClean="0"/>
              <a:t>Patent </a:t>
            </a:r>
            <a:r>
              <a:rPr lang="de-CH" sz="2800" b="1" dirty="0" err="1"/>
              <a:t>A</a:t>
            </a:r>
            <a:r>
              <a:rPr lang="de-CH" sz="2800" b="1" dirty="0" err="1" smtClean="0"/>
              <a:t>ttorney</a:t>
            </a:r>
            <a:endParaRPr lang="de-CH" sz="2800" b="1" dirty="0"/>
          </a:p>
        </p:txBody>
      </p:sp>
      <p:pic>
        <p:nvPicPr>
          <p:cNvPr id="14" name="Picture 7" descr="http://hplusmagazine.com/sites/default/files/images/articles/code.jpg"/>
          <p:cNvPicPr>
            <a:picLocks noGrp="1" noChangeAspect="1" noChangeArrowheads="1"/>
          </p:cNvPicPr>
          <p:nvPr>
            <p:ph idx="1"/>
          </p:nvPr>
        </p:nvPicPr>
        <p:blipFill>
          <a:blip r:embed="rId5" cstate="print"/>
          <a:srcRect/>
          <a:stretch>
            <a:fillRect/>
          </a:stretch>
        </p:blipFill>
        <p:spPr bwMode="auto">
          <a:xfrm>
            <a:off x="4355976" y="2420888"/>
            <a:ext cx="4104456" cy="2862595"/>
          </a:xfrm>
          <a:prstGeom prst="rect">
            <a:avLst/>
          </a:prstGeom>
          <a:noFill/>
        </p:spPr>
      </p:pic>
      <p:sp>
        <p:nvSpPr>
          <p:cNvPr id="10" name="Pfeil nach rechts 9"/>
          <p:cNvSpPr/>
          <p:nvPr/>
        </p:nvSpPr>
        <p:spPr>
          <a:xfrm rot="20240796">
            <a:off x="1575439" y="4548471"/>
            <a:ext cx="2736304" cy="144016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11" name="Textfeld 10"/>
          <p:cNvSpPr txBox="1"/>
          <p:nvPr/>
        </p:nvSpPr>
        <p:spPr>
          <a:xfrm>
            <a:off x="4355976" y="2708920"/>
            <a:ext cx="4248472" cy="2246769"/>
          </a:xfrm>
          <a:prstGeom prst="rect">
            <a:avLst/>
          </a:prstGeom>
          <a:noFill/>
        </p:spPr>
        <p:txBody>
          <a:bodyPr wrap="square" rtlCol="0">
            <a:spAutoFit/>
          </a:bodyPr>
          <a:lstStyle/>
          <a:p>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Rights</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in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software</a:t>
            </a:r>
            <a:endPar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endPar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No</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infringement</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of</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third</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party</a:t>
            </a:r>
            <a:r>
              <a:rPr lang="de-CH"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de-CH" sz="28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rights</a:t>
            </a:r>
            <a:endParaRPr lang="de-CH"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IV	</a:t>
            </a:r>
            <a:r>
              <a:rPr lang="de-CH" dirty="0" err="1" smtClean="0"/>
              <a:t>Protection</a:t>
            </a:r>
            <a:r>
              <a:rPr lang="de-CH" dirty="0" smtClean="0"/>
              <a:t> </a:t>
            </a:r>
            <a:r>
              <a:rPr lang="de-CH" dirty="0" err="1" smtClean="0"/>
              <a:t>of</a:t>
            </a:r>
            <a:r>
              <a:rPr lang="de-CH" dirty="0" smtClean="0"/>
              <a:t> Software: </a:t>
            </a:r>
            <a:r>
              <a:rPr lang="de-CH" dirty="0" err="1" smtClean="0"/>
              <a:t>Applicable</a:t>
            </a:r>
            <a:r>
              <a:rPr lang="de-CH" dirty="0" smtClean="0"/>
              <a:t> Law (Basics)</a:t>
            </a:r>
            <a:endParaRPr lang="de-CH" dirty="0"/>
          </a:p>
        </p:txBody>
      </p:sp>
      <p:sp>
        <p:nvSpPr>
          <p:cNvPr id="3" name="Content Placeholder 2"/>
          <p:cNvSpPr>
            <a:spLocks noGrp="1"/>
          </p:cNvSpPr>
          <p:nvPr>
            <p:ph idx="1"/>
          </p:nvPr>
        </p:nvSpPr>
        <p:spPr/>
        <p:txBody>
          <a:bodyPr/>
          <a:lstStyle/>
          <a:p>
            <a:r>
              <a:rPr lang="en-US" dirty="0"/>
              <a:t>International context</a:t>
            </a:r>
          </a:p>
          <a:p>
            <a:pPr lvl="1">
              <a:spcBef>
                <a:spcPts val="800"/>
              </a:spcBef>
              <a:buFont typeface="Arial" pitchFamily="34" charset="0"/>
              <a:buChar char="•"/>
            </a:pPr>
            <a:r>
              <a:rPr lang="en-US" dirty="0"/>
              <a:t>Global distribution/licensing of software</a:t>
            </a:r>
          </a:p>
          <a:p>
            <a:pPr lvl="1">
              <a:spcBef>
                <a:spcPts val="800"/>
              </a:spcBef>
              <a:buFont typeface="Arial" pitchFamily="34" charset="0"/>
              <a:buChar char="•"/>
            </a:pPr>
            <a:r>
              <a:rPr lang="en-US" dirty="0"/>
              <a:t>International development teams with different places of work</a:t>
            </a:r>
          </a:p>
          <a:p>
            <a:r>
              <a:rPr lang="en-US" dirty="0"/>
              <a:t>Applicable law is to be </a:t>
            </a:r>
            <a:r>
              <a:rPr lang="en-US" dirty="0" smtClean="0"/>
              <a:t>determined</a:t>
            </a:r>
          </a:p>
          <a:p>
            <a:pPr lvl="1">
              <a:spcBef>
                <a:spcPts val="800"/>
              </a:spcBef>
              <a:buFont typeface="Arial" pitchFamily="34" charset="0"/>
              <a:buChar char="•"/>
            </a:pPr>
            <a:r>
              <a:rPr lang="en-US" dirty="0"/>
              <a:t>Parties are free to choose the law applicable to agreements (with some exceptions). </a:t>
            </a:r>
          </a:p>
          <a:p>
            <a:pPr lvl="1">
              <a:spcBef>
                <a:spcPts val="800"/>
              </a:spcBef>
              <a:buFont typeface="Arial" pitchFamily="34" charset="0"/>
              <a:buChar char="•"/>
            </a:pPr>
            <a:r>
              <a:rPr lang="en-US" dirty="0"/>
              <a:t>The law applicable to IP rights follows the principle of territoriality. No choice of law.</a:t>
            </a:r>
          </a:p>
          <a:p>
            <a:pPr>
              <a:spcBef>
                <a:spcPts val="800"/>
              </a:spcBef>
            </a:pPr>
            <a:endParaRPr lang="de-CH" dirty="0" smtClean="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10</a:t>
            </a:fld>
            <a:endParaRPr lang="de-CH"/>
          </a:p>
        </p:txBody>
      </p:sp>
      <p:sp>
        <p:nvSpPr>
          <p:cNvPr id="8" name="Pfeil nach rechts 7"/>
          <p:cNvSpPr/>
          <p:nvPr/>
        </p:nvSpPr>
        <p:spPr>
          <a:xfrm>
            <a:off x="899592" y="4864353"/>
            <a:ext cx="2016224" cy="144016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9" name="Textfeld 8"/>
          <p:cNvSpPr txBox="1"/>
          <p:nvPr/>
        </p:nvSpPr>
        <p:spPr>
          <a:xfrm>
            <a:off x="3181681" y="5229200"/>
            <a:ext cx="3592650" cy="584775"/>
          </a:xfrm>
          <a:prstGeom prst="rect">
            <a:avLst/>
          </a:prstGeom>
          <a:noFill/>
        </p:spPr>
        <p:txBody>
          <a:bodyPr wrap="none" rtlCol="0">
            <a:spAutoFit/>
          </a:bodyPr>
          <a:lstStyle/>
          <a:p>
            <a:r>
              <a:rPr lang="de-CH" sz="3200" b="1" dirty="0" smtClean="0"/>
              <a:t>Think </a:t>
            </a:r>
            <a:r>
              <a:rPr lang="de-CH" sz="3200" b="1" dirty="0" err="1" smtClean="0"/>
              <a:t>globally</a:t>
            </a:r>
            <a:r>
              <a:rPr lang="de-CH" sz="3200" b="1" dirty="0" smtClean="0"/>
              <a:t>!</a:t>
            </a:r>
            <a:endParaRPr lang="de-CH" sz="3200" b="1" dirty="0"/>
          </a:p>
        </p:txBody>
      </p:sp>
    </p:spTree>
    <p:extLst>
      <p:ext uri="{BB962C8B-B14F-4D97-AF65-F5344CB8AC3E}">
        <p14:creationId xmlns:p14="http://schemas.microsoft.com/office/powerpoint/2010/main" val="339663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blinds(horizontal)">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	</a:t>
            </a:r>
            <a:r>
              <a:rPr lang="de-CH" dirty="0" err="1" smtClean="0"/>
              <a:t>Protection</a:t>
            </a:r>
            <a:r>
              <a:rPr lang="de-CH" dirty="0" smtClean="0"/>
              <a:t> </a:t>
            </a:r>
            <a:r>
              <a:rPr lang="de-CH" dirty="0" err="1" smtClean="0"/>
              <a:t>of</a:t>
            </a:r>
            <a:r>
              <a:rPr lang="de-CH" dirty="0" smtClean="0"/>
              <a:t> Software</a:t>
            </a:r>
            <a:endParaRPr lang="de-CH" dirty="0"/>
          </a:p>
        </p:txBody>
      </p:sp>
      <p:sp>
        <p:nvSpPr>
          <p:cNvPr id="3" name="Content Placeholder 2"/>
          <p:cNvSpPr>
            <a:spLocks noGrp="1"/>
          </p:cNvSpPr>
          <p:nvPr>
            <p:ph idx="1"/>
          </p:nvPr>
        </p:nvSpPr>
        <p:spPr/>
        <p:txBody>
          <a:bodyPr/>
          <a:lstStyle/>
          <a:p>
            <a:pPr>
              <a:spcBef>
                <a:spcPts val="800"/>
              </a:spcBef>
            </a:pPr>
            <a:r>
              <a:rPr lang="de-CH" dirty="0" smtClean="0"/>
              <a:t>Copyright</a:t>
            </a:r>
          </a:p>
          <a:p>
            <a:pPr lvl="1">
              <a:spcBef>
                <a:spcPts val="800"/>
              </a:spcBef>
              <a:buFont typeface="Arial" pitchFamily="34" charset="0"/>
              <a:buChar char="•"/>
            </a:pPr>
            <a:r>
              <a:rPr lang="de-CH" dirty="0" err="1" smtClean="0"/>
              <a:t>Protection</a:t>
            </a:r>
            <a:r>
              <a:rPr lang="de-CH" dirty="0" smtClean="0"/>
              <a:t> : „</a:t>
            </a:r>
            <a:r>
              <a:rPr lang="de-CH" dirty="0" err="1" smtClean="0"/>
              <a:t>computer</a:t>
            </a:r>
            <a:r>
              <a:rPr lang="de-CH" dirty="0" smtClean="0"/>
              <a:t> </a:t>
            </a:r>
            <a:r>
              <a:rPr lang="de-CH" dirty="0" err="1" smtClean="0"/>
              <a:t>programs</a:t>
            </a:r>
            <a:r>
              <a:rPr lang="de-CH" dirty="0" smtClean="0"/>
              <a:t>“ (</a:t>
            </a:r>
            <a:r>
              <a:rPr lang="de-CH" dirty="0" err="1" smtClean="0"/>
              <a:t>source</a:t>
            </a:r>
            <a:r>
              <a:rPr lang="de-CH" dirty="0" smtClean="0"/>
              <a:t> </a:t>
            </a:r>
            <a:r>
              <a:rPr lang="de-CH" dirty="0" err="1" smtClean="0"/>
              <a:t>code</a:t>
            </a:r>
            <a:r>
              <a:rPr lang="de-CH" dirty="0" smtClean="0"/>
              <a:t>, </a:t>
            </a:r>
            <a:r>
              <a:rPr lang="de-CH" dirty="0" err="1"/>
              <a:t>o</a:t>
            </a:r>
            <a:r>
              <a:rPr lang="de-CH" dirty="0" err="1" smtClean="0"/>
              <a:t>bject</a:t>
            </a:r>
            <a:r>
              <a:rPr lang="de-CH" dirty="0" smtClean="0"/>
              <a:t> </a:t>
            </a:r>
            <a:r>
              <a:rPr lang="de-CH" dirty="0" err="1"/>
              <a:t>c</a:t>
            </a:r>
            <a:r>
              <a:rPr lang="de-CH" dirty="0" err="1" smtClean="0"/>
              <a:t>ode</a:t>
            </a:r>
            <a:r>
              <a:rPr lang="de-CH" dirty="0" smtClean="0"/>
              <a:t>, </a:t>
            </a:r>
            <a:r>
              <a:rPr lang="de-CH" dirty="0" err="1" smtClean="0"/>
              <a:t>documentation</a:t>
            </a:r>
            <a:r>
              <a:rPr lang="de-CH" dirty="0" smtClean="0"/>
              <a:t>, </a:t>
            </a:r>
            <a:r>
              <a:rPr lang="de-CH" dirty="0" err="1" smtClean="0"/>
              <a:t>graphical</a:t>
            </a:r>
            <a:r>
              <a:rPr lang="de-CH" dirty="0" smtClean="0"/>
              <a:t> </a:t>
            </a:r>
            <a:r>
              <a:rPr lang="de-CH" dirty="0" err="1" smtClean="0"/>
              <a:t>user</a:t>
            </a:r>
            <a:r>
              <a:rPr lang="de-CH" dirty="0" smtClean="0"/>
              <a:t> </a:t>
            </a:r>
            <a:r>
              <a:rPr lang="de-CH" dirty="0" err="1" smtClean="0"/>
              <a:t>interface</a:t>
            </a:r>
            <a:r>
              <a:rPr lang="de-CH" dirty="0" smtClean="0"/>
              <a:t>)</a:t>
            </a:r>
          </a:p>
          <a:p>
            <a:pPr lvl="1">
              <a:spcBef>
                <a:spcPts val="800"/>
              </a:spcBef>
              <a:buFont typeface="Arial" pitchFamily="34" charset="0"/>
              <a:buChar char="•"/>
            </a:pPr>
            <a:r>
              <a:rPr lang="de-CH" dirty="0" err="1" smtClean="0"/>
              <a:t>No</a:t>
            </a:r>
            <a:r>
              <a:rPr lang="de-CH" dirty="0" smtClean="0"/>
              <a:t> </a:t>
            </a:r>
            <a:r>
              <a:rPr lang="de-CH" dirty="0" err="1" smtClean="0"/>
              <a:t>protection</a:t>
            </a:r>
            <a:r>
              <a:rPr lang="de-CH" dirty="0" smtClean="0"/>
              <a:t>: </a:t>
            </a:r>
            <a:r>
              <a:rPr lang="de-CH" dirty="0" err="1" smtClean="0"/>
              <a:t>idea</a:t>
            </a:r>
            <a:r>
              <a:rPr lang="de-CH" dirty="0" smtClean="0"/>
              <a:t>, </a:t>
            </a:r>
            <a:r>
              <a:rPr lang="de-CH" dirty="0" err="1" smtClean="0"/>
              <a:t>concept</a:t>
            </a:r>
            <a:r>
              <a:rPr lang="de-CH" dirty="0" smtClean="0"/>
              <a:t>, </a:t>
            </a:r>
            <a:r>
              <a:rPr lang="de-CH" dirty="0" err="1" smtClean="0"/>
              <a:t>function</a:t>
            </a:r>
            <a:endParaRPr lang="de-CH" dirty="0" smtClean="0"/>
          </a:p>
          <a:p>
            <a:pPr lvl="1">
              <a:spcBef>
                <a:spcPts val="800"/>
              </a:spcBef>
              <a:buFont typeface="Arial" pitchFamily="34" charset="0"/>
              <a:buChar char="•"/>
            </a:pPr>
            <a:r>
              <a:rPr lang="de-CH" dirty="0" smtClean="0"/>
              <a:t>50 </a:t>
            </a:r>
            <a:r>
              <a:rPr lang="de-CH" dirty="0" err="1" smtClean="0"/>
              <a:t>years</a:t>
            </a:r>
            <a:endParaRPr lang="de-CH" dirty="0" smtClean="0"/>
          </a:p>
          <a:p>
            <a:pPr>
              <a:spcBef>
                <a:spcPts val="800"/>
              </a:spcBef>
            </a:pPr>
            <a:endParaRPr lang="de-CH" dirty="0" smtClean="0"/>
          </a:p>
          <a:p>
            <a:pPr>
              <a:spcBef>
                <a:spcPts val="800"/>
              </a:spcBef>
            </a:pPr>
            <a:r>
              <a:rPr lang="de-CH" dirty="0" smtClean="0"/>
              <a:t>Patent</a:t>
            </a:r>
          </a:p>
          <a:p>
            <a:pPr lvl="1">
              <a:spcBef>
                <a:spcPts val="800"/>
              </a:spcBef>
              <a:buFont typeface="Arial" pitchFamily="34" charset="0"/>
              <a:buChar char="•"/>
            </a:pPr>
            <a:r>
              <a:rPr lang="de-CH" dirty="0"/>
              <a:t>Software </a:t>
            </a:r>
            <a:r>
              <a:rPr lang="de-CH" dirty="0" err="1"/>
              <a:t>as</a:t>
            </a:r>
            <a:r>
              <a:rPr lang="de-CH" dirty="0"/>
              <a:t> such not </a:t>
            </a:r>
            <a:r>
              <a:rPr lang="de-CH" dirty="0" err="1"/>
              <a:t>patentable</a:t>
            </a:r>
            <a:r>
              <a:rPr lang="de-CH" dirty="0"/>
              <a:t> (i.e. </a:t>
            </a:r>
            <a:r>
              <a:rPr lang="de-CH" dirty="0" err="1"/>
              <a:t>no</a:t>
            </a:r>
            <a:r>
              <a:rPr lang="de-CH" dirty="0"/>
              <a:t> </a:t>
            </a:r>
            <a:r>
              <a:rPr lang="de-CH" dirty="0" err="1"/>
              <a:t>solution</a:t>
            </a:r>
            <a:r>
              <a:rPr lang="de-CH" dirty="0"/>
              <a:t> </a:t>
            </a:r>
            <a:r>
              <a:rPr lang="de-CH" dirty="0" err="1"/>
              <a:t>of</a:t>
            </a:r>
            <a:r>
              <a:rPr lang="de-CH" dirty="0"/>
              <a:t> a </a:t>
            </a:r>
            <a:r>
              <a:rPr lang="de-CH" dirty="0" err="1"/>
              <a:t>technical</a:t>
            </a:r>
            <a:r>
              <a:rPr lang="de-CH" dirty="0"/>
              <a:t> </a:t>
            </a:r>
            <a:r>
              <a:rPr lang="de-CH" dirty="0" err="1"/>
              <a:t>problem</a:t>
            </a:r>
            <a:r>
              <a:rPr lang="de-CH" dirty="0"/>
              <a:t>)</a:t>
            </a:r>
          </a:p>
          <a:p>
            <a:pPr lvl="1">
              <a:spcBef>
                <a:spcPts val="800"/>
              </a:spcBef>
              <a:buFont typeface="Arial" pitchFamily="34" charset="0"/>
              <a:buChar char="•"/>
            </a:pPr>
            <a:r>
              <a:rPr lang="de-CH" dirty="0"/>
              <a:t>Computer </a:t>
            </a:r>
            <a:r>
              <a:rPr lang="de-CH" dirty="0" err="1"/>
              <a:t>implemented</a:t>
            </a:r>
            <a:r>
              <a:rPr lang="de-CH" dirty="0"/>
              <a:t> </a:t>
            </a:r>
            <a:r>
              <a:rPr lang="de-CH" dirty="0" err="1"/>
              <a:t>inventions</a:t>
            </a:r>
            <a:r>
              <a:rPr lang="de-CH" dirty="0"/>
              <a:t> </a:t>
            </a:r>
            <a:r>
              <a:rPr lang="de-CH" dirty="0" err="1"/>
              <a:t>can</a:t>
            </a:r>
            <a:r>
              <a:rPr lang="de-CH" dirty="0"/>
              <a:t> </a:t>
            </a:r>
            <a:r>
              <a:rPr lang="de-CH" dirty="0" err="1"/>
              <a:t>be</a:t>
            </a:r>
            <a:r>
              <a:rPr lang="de-CH" dirty="0"/>
              <a:t> </a:t>
            </a:r>
            <a:r>
              <a:rPr lang="de-CH" dirty="0" err="1"/>
              <a:t>protected</a:t>
            </a:r>
            <a:endParaRPr lang="de-CH" dirty="0"/>
          </a:p>
          <a:p>
            <a:pPr>
              <a:spcBef>
                <a:spcPts val="800"/>
              </a:spcBef>
            </a:pPr>
            <a:endParaRPr lang="de-CH" dirty="0" smtClean="0"/>
          </a:p>
          <a:p>
            <a:pPr>
              <a:spcBef>
                <a:spcPts val="800"/>
              </a:spcBef>
            </a:pPr>
            <a:r>
              <a:rPr lang="de-CH" dirty="0" smtClean="0"/>
              <a:t>Design </a:t>
            </a:r>
            <a:r>
              <a:rPr lang="de-CH" dirty="0" err="1" smtClean="0"/>
              <a:t>right</a:t>
            </a:r>
            <a:endParaRPr lang="de-CH" dirty="0" smtClean="0"/>
          </a:p>
          <a:p>
            <a:pPr lvl="1">
              <a:spcBef>
                <a:spcPts val="800"/>
              </a:spcBef>
              <a:buFont typeface="Arial" pitchFamily="34" charset="0"/>
              <a:buChar char="•"/>
            </a:pPr>
            <a:r>
              <a:rPr lang="de-CH" dirty="0" err="1"/>
              <a:t>Protection</a:t>
            </a:r>
            <a:r>
              <a:rPr lang="de-CH" dirty="0"/>
              <a:t> </a:t>
            </a:r>
            <a:r>
              <a:rPr lang="de-CH" dirty="0" err="1"/>
              <a:t>of</a:t>
            </a:r>
            <a:r>
              <a:rPr lang="de-CH" dirty="0"/>
              <a:t> </a:t>
            </a:r>
            <a:r>
              <a:rPr lang="de-CH" dirty="0" err="1" smtClean="0"/>
              <a:t>graphical</a:t>
            </a:r>
            <a:r>
              <a:rPr lang="de-CH" dirty="0" smtClean="0"/>
              <a:t> </a:t>
            </a:r>
            <a:r>
              <a:rPr lang="de-CH" dirty="0" err="1"/>
              <a:t>user</a:t>
            </a:r>
            <a:r>
              <a:rPr lang="de-CH" dirty="0"/>
              <a:t> </a:t>
            </a:r>
            <a:r>
              <a:rPr lang="de-CH" dirty="0" err="1"/>
              <a:t>interface</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11</a:t>
            </a:fld>
            <a:endParaRPr lang="de-CH"/>
          </a:p>
        </p:txBody>
      </p:sp>
      <p:sp>
        <p:nvSpPr>
          <p:cNvPr id="7" name="Pfeil nach rechts 6"/>
          <p:cNvSpPr/>
          <p:nvPr/>
        </p:nvSpPr>
        <p:spPr>
          <a:xfrm rot="12558702">
            <a:off x="5541445" y="3214513"/>
            <a:ext cx="2736304" cy="1440160"/>
          </a:xfrm>
          <a:prstGeom prst="rightArrow">
            <a:avLst/>
          </a:prstGeom>
          <a:solidFill>
            <a:schemeClr val="accent2">
              <a:alpha val="79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	</a:t>
            </a:r>
            <a:r>
              <a:rPr lang="de-CH" dirty="0" err="1" smtClean="0"/>
              <a:t>Securing</a:t>
            </a:r>
            <a:r>
              <a:rPr lang="de-CH" dirty="0" smtClean="0"/>
              <a:t> IP </a:t>
            </a:r>
            <a:r>
              <a:rPr lang="de-CH" dirty="0" err="1" smtClean="0"/>
              <a:t>rights</a:t>
            </a:r>
            <a:r>
              <a:rPr lang="de-CH" dirty="0" smtClean="0"/>
              <a:t> in </a:t>
            </a:r>
            <a:r>
              <a:rPr lang="de-CH" dirty="0" err="1" smtClean="0"/>
              <a:t>the</a:t>
            </a:r>
            <a:r>
              <a:rPr lang="de-CH" dirty="0" smtClean="0"/>
              <a:t> </a:t>
            </a:r>
            <a:r>
              <a:rPr lang="de-CH" dirty="0" err="1" smtClean="0"/>
              <a:t>software</a:t>
            </a:r>
            <a:r>
              <a:rPr lang="de-CH" dirty="0" smtClean="0"/>
              <a:t> (1)</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12</a:t>
            </a:fld>
            <a:endParaRPr lang="de-CH"/>
          </a:p>
        </p:txBody>
      </p:sp>
      <p:sp>
        <p:nvSpPr>
          <p:cNvPr id="8" name="Abgerundetes Rechteck 7"/>
          <p:cNvSpPr/>
          <p:nvPr/>
        </p:nvSpPr>
        <p:spPr>
          <a:xfrm>
            <a:off x="3563888" y="3789040"/>
            <a:ext cx="1368152" cy="115212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CH" dirty="0" smtClean="0"/>
              <a:t>Startup</a:t>
            </a:r>
            <a:endParaRPr lang="de-CH" dirty="0"/>
          </a:p>
        </p:txBody>
      </p:sp>
      <p:pic>
        <p:nvPicPr>
          <p:cNvPr id="1027"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2627784" y="5805264"/>
            <a:ext cx="576064" cy="607383"/>
          </a:xfrm>
          <a:prstGeom prst="rect">
            <a:avLst/>
          </a:prstGeom>
          <a:noFill/>
        </p:spPr>
      </p:pic>
      <p:pic>
        <p:nvPicPr>
          <p:cNvPr id="11"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3491880" y="5805264"/>
            <a:ext cx="576064" cy="607383"/>
          </a:xfrm>
          <a:prstGeom prst="rect">
            <a:avLst/>
          </a:prstGeom>
          <a:noFill/>
        </p:spPr>
      </p:pic>
      <p:pic>
        <p:nvPicPr>
          <p:cNvPr id="12"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4355976" y="5805264"/>
            <a:ext cx="576064" cy="607383"/>
          </a:xfrm>
          <a:prstGeom prst="rect">
            <a:avLst/>
          </a:prstGeom>
          <a:noFill/>
        </p:spPr>
      </p:pic>
      <p:pic>
        <p:nvPicPr>
          <p:cNvPr id="13"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5148064" y="5805264"/>
            <a:ext cx="576064" cy="607383"/>
          </a:xfrm>
          <a:prstGeom prst="rect">
            <a:avLst/>
          </a:prstGeom>
          <a:noFill/>
        </p:spPr>
      </p:pic>
      <p:sp>
        <p:nvSpPr>
          <p:cNvPr id="14" name="Textfeld 13"/>
          <p:cNvSpPr txBox="1"/>
          <p:nvPr/>
        </p:nvSpPr>
        <p:spPr>
          <a:xfrm>
            <a:off x="611560" y="5949280"/>
            <a:ext cx="1872208" cy="369332"/>
          </a:xfrm>
          <a:prstGeom prst="rect">
            <a:avLst/>
          </a:prstGeom>
          <a:noFill/>
        </p:spPr>
        <p:txBody>
          <a:bodyPr wrap="square" rtlCol="0">
            <a:spAutoFit/>
          </a:bodyPr>
          <a:lstStyle/>
          <a:p>
            <a:r>
              <a:rPr lang="de-CH" dirty="0" err="1" smtClean="0"/>
              <a:t>Employees</a:t>
            </a:r>
            <a:endParaRPr lang="de-CH" dirty="0"/>
          </a:p>
        </p:txBody>
      </p:sp>
      <p:pic>
        <p:nvPicPr>
          <p:cNvPr id="15"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3563888" y="2492896"/>
            <a:ext cx="576064" cy="607383"/>
          </a:xfrm>
          <a:prstGeom prst="rect">
            <a:avLst/>
          </a:prstGeom>
          <a:noFill/>
        </p:spPr>
      </p:pic>
      <p:pic>
        <p:nvPicPr>
          <p:cNvPr id="16"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4355976" y="2492896"/>
            <a:ext cx="576064" cy="607383"/>
          </a:xfrm>
          <a:prstGeom prst="rect">
            <a:avLst/>
          </a:prstGeom>
          <a:noFill/>
        </p:spPr>
      </p:pic>
      <p:sp>
        <p:nvSpPr>
          <p:cNvPr id="17" name="Textfeld 16"/>
          <p:cNvSpPr txBox="1"/>
          <p:nvPr/>
        </p:nvSpPr>
        <p:spPr>
          <a:xfrm>
            <a:off x="755576" y="2636912"/>
            <a:ext cx="1872208" cy="369332"/>
          </a:xfrm>
          <a:prstGeom prst="rect">
            <a:avLst/>
          </a:prstGeom>
          <a:noFill/>
        </p:spPr>
        <p:txBody>
          <a:bodyPr wrap="square" rtlCol="0">
            <a:spAutoFit/>
          </a:bodyPr>
          <a:lstStyle/>
          <a:p>
            <a:r>
              <a:rPr lang="de-CH" dirty="0" err="1" smtClean="0"/>
              <a:t>Founder</a:t>
            </a:r>
            <a:endParaRPr lang="de-CH" dirty="0"/>
          </a:p>
        </p:txBody>
      </p:sp>
      <p:sp>
        <p:nvSpPr>
          <p:cNvPr id="18" name="Textfeld 17"/>
          <p:cNvSpPr txBox="1"/>
          <p:nvPr/>
        </p:nvSpPr>
        <p:spPr>
          <a:xfrm>
            <a:off x="683568" y="4149080"/>
            <a:ext cx="2736304" cy="646331"/>
          </a:xfrm>
          <a:prstGeom prst="rect">
            <a:avLst/>
          </a:prstGeom>
          <a:noFill/>
        </p:spPr>
        <p:txBody>
          <a:bodyPr wrap="square" rtlCol="0">
            <a:spAutoFit/>
          </a:bodyPr>
          <a:lstStyle/>
          <a:p>
            <a:r>
              <a:rPr lang="de-CH" dirty="0" smtClean="0"/>
              <a:t>Freelancers/</a:t>
            </a:r>
          </a:p>
          <a:p>
            <a:r>
              <a:rPr lang="de-CH" dirty="0" err="1"/>
              <a:t>c</a:t>
            </a:r>
            <a:r>
              <a:rPr lang="de-CH" dirty="0" err="1" smtClean="0"/>
              <a:t>ooperation</a:t>
            </a:r>
            <a:r>
              <a:rPr lang="de-CH" dirty="0" smtClean="0"/>
              <a:t> </a:t>
            </a:r>
            <a:r>
              <a:rPr lang="de-CH" dirty="0" err="1" smtClean="0"/>
              <a:t>partners</a:t>
            </a:r>
            <a:endParaRPr lang="de-CH" dirty="0"/>
          </a:p>
        </p:txBody>
      </p:sp>
      <p:pic>
        <p:nvPicPr>
          <p:cNvPr id="19" name="Picture 3" descr="C:\Users\nmosimann\AppData\Local\Microsoft\Windows\Temporary Internet Files\Content.IE5\2HQVRI2D\person-378368_640[1].png"/>
          <p:cNvPicPr>
            <a:picLocks noChangeAspect="1" noChangeArrowheads="1"/>
          </p:cNvPicPr>
          <p:nvPr/>
        </p:nvPicPr>
        <p:blipFill>
          <a:blip r:embed="rId3" cstate="print"/>
          <a:srcRect/>
          <a:stretch>
            <a:fillRect/>
          </a:stretch>
        </p:blipFill>
        <p:spPr bwMode="auto">
          <a:xfrm>
            <a:off x="7092280" y="4869160"/>
            <a:ext cx="576064" cy="607383"/>
          </a:xfrm>
          <a:prstGeom prst="rect">
            <a:avLst/>
          </a:prstGeom>
          <a:noFill/>
        </p:spPr>
      </p:pic>
      <p:sp>
        <p:nvSpPr>
          <p:cNvPr id="20" name="Abgerundetes Rechteck 19"/>
          <p:cNvSpPr/>
          <p:nvPr/>
        </p:nvSpPr>
        <p:spPr>
          <a:xfrm>
            <a:off x="6732240" y="3356992"/>
            <a:ext cx="1368152" cy="115212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CH" dirty="0" err="1" smtClean="0"/>
              <a:t>Dev</a:t>
            </a:r>
            <a:r>
              <a:rPr lang="de-CH" dirty="0" smtClean="0"/>
              <a:t> Co</a:t>
            </a:r>
            <a:endParaRPr lang="de-CH" dirty="0"/>
          </a:p>
        </p:txBody>
      </p:sp>
      <p:cxnSp>
        <p:nvCxnSpPr>
          <p:cNvPr id="27" name="Gerade Verbindung mit Pfeil 26"/>
          <p:cNvCxnSpPr>
            <a:stCxn id="15" idx="2"/>
            <a:endCxn id="8" idx="0"/>
          </p:cNvCxnSpPr>
          <p:nvPr/>
        </p:nvCxnSpPr>
        <p:spPr>
          <a:xfrm>
            <a:off x="3851920" y="3100279"/>
            <a:ext cx="396044" cy="68876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Gerade Verbindung mit Pfeil 27"/>
          <p:cNvCxnSpPr>
            <a:stCxn id="16" idx="2"/>
            <a:endCxn id="8" idx="0"/>
          </p:cNvCxnSpPr>
          <p:nvPr/>
        </p:nvCxnSpPr>
        <p:spPr>
          <a:xfrm flipH="1">
            <a:off x="4247964" y="3100279"/>
            <a:ext cx="396044" cy="68876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p:cNvCxnSpPr>
            <a:stCxn id="1027" idx="0"/>
            <a:endCxn id="8" idx="2"/>
          </p:cNvCxnSpPr>
          <p:nvPr/>
        </p:nvCxnSpPr>
        <p:spPr>
          <a:xfrm flipV="1">
            <a:off x="2915816" y="4941168"/>
            <a:ext cx="1332148" cy="86409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Gerade Verbindung mit Pfeil 33"/>
          <p:cNvCxnSpPr>
            <a:stCxn id="11" idx="0"/>
          </p:cNvCxnSpPr>
          <p:nvPr/>
        </p:nvCxnSpPr>
        <p:spPr>
          <a:xfrm flipV="1">
            <a:off x="3779912" y="5013176"/>
            <a:ext cx="432048" cy="7920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Gerade Verbindung mit Pfeil 36"/>
          <p:cNvCxnSpPr>
            <a:stCxn id="12" idx="0"/>
          </p:cNvCxnSpPr>
          <p:nvPr/>
        </p:nvCxnSpPr>
        <p:spPr>
          <a:xfrm flipH="1" flipV="1">
            <a:off x="4211960" y="5013176"/>
            <a:ext cx="432048" cy="7920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Gerade Verbindung mit Pfeil 39"/>
          <p:cNvCxnSpPr>
            <a:stCxn id="13" idx="0"/>
            <a:endCxn id="8" idx="2"/>
          </p:cNvCxnSpPr>
          <p:nvPr/>
        </p:nvCxnSpPr>
        <p:spPr>
          <a:xfrm flipH="1" flipV="1">
            <a:off x="4247964" y="4941168"/>
            <a:ext cx="1188132" cy="86409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Gerade Verbindung mit Pfeil 49"/>
          <p:cNvCxnSpPr>
            <a:stCxn id="19" idx="1"/>
          </p:cNvCxnSpPr>
          <p:nvPr/>
        </p:nvCxnSpPr>
        <p:spPr>
          <a:xfrm flipH="1" flipV="1">
            <a:off x="5004048" y="4437112"/>
            <a:ext cx="2088232" cy="73574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Gerade Verbindung mit Pfeil 52"/>
          <p:cNvCxnSpPr>
            <a:stCxn id="20" idx="1"/>
          </p:cNvCxnSpPr>
          <p:nvPr/>
        </p:nvCxnSpPr>
        <p:spPr>
          <a:xfrm flipH="1">
            <a:off x="5004048" y="3933056"/>
            <a:ext cx="1728192" cy="43204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Abgerundetes Rechteck 29"/>
          <p:cNvSpPr/>
          <p:nvPr/>
        </p:nvSpPr>
        <p:spPr>
          <a:xfrm>
            <a:off x="6084168" y="1844824"/>
            <a:ext cx="2088232" cy="99142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CH" dirty="0" smtClean="0"/>
              <a:t>University / </a:t>
            </a:r>
            <a:r>
              <a:rPr lang="de-CH" dirty="0" err="1" smtClean="0"/>
              <a:t>former</a:t>
            </a:r>
            <a:r>
              <a:rPr lang="de-CH" dirty="0" smtClean="0"/>
              <a:t> </a:t>
            </a:r>
            <a:r>
              <a:rPr lang="de-CH" dirty="0" err="1" smtClean="0"/>
              <a:t>employer</a:t>
            </a:r>
            <a:endParaRPr lang="de-CH" dirty="0"/>
          </a:p>
        </p:txBody>
      </p:sp>
      <p:cxnSp>
        <p:nvCxnSpPr>
          <p:cNvPr id="32" name="Gerade Verbindung mit Pfeil 31"/>
          <p:cNvCxnSpPr>
            <a:stCxn id="30" idx="1"/>
          </p:cNvCxnSpPr>
          <p:nvPr/>
        </p:nvCxnSpPr>
        <p:spPr>
          <a:xfrm flipH="1">
            <a:off x="4788024" y="2340538"/>
            <a:ext cx="1296144" cy="15235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3" name="Picture 3" descr="C:\Users\nmosimann\AppData\Local\Microsoft\Windows\Temporary Internet Files\Content.IE5\T2EV2J59\513px-Haken_grün.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4088" y="2310657"/>
            <a:ext cx="608012" cy="536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 descr="C:\Users\nmosimann\AppData\Local\Microsoft\Windows\Temporary Internet Files\Content.IE5\T2EV2J59\513px-Haken_grün.svg[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4208" y="3945450"/>
            <a:ext cx="6080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 descr="C:\Users\nmosimann\AppData\Local\Microsoft\Windows\Temporary Internet Files\Content.IE5\T2EV2J59\513px-Haken_grün.svg[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188" y="4843844"/>
            <a:ext cx="6080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3" descr="C:\Users\nmosimann\AppData\Local\Microsoft\Windows\Temporary Internet Files\Content.IE5\T2EV2J59\513px-Haken_grün.svg[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9992" y="5267055"/>
            <a:ext cx="6080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 descr="C:\Users\nmosimann\AppData\Local\Microsoft\Windows\Temporary Internet Files\Content.IE5\T2EV2J59\513px-Haken_grün.svg[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0052" y="3173079"/>
            <a:ext cx="6080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851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par>
                                <p:cTn id="8" presetID="3" presetClass="entr" presetSubtype="1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linds(horizontal)">
                                      <p:cBhvr>
                                        <p:cTn id="10" dur="500"/>
                                        <p:tgtEl>
                                          <p:spTgt spid="35"/>
                                        </p:tgtEl>
                                      </p:cBhvr>
                                    </p:animEffect>
                                  </p:childTnLst>
                                </p:cTn>
                              </p:par>
                              <p:par>
                                <p:cTn id="11" presetID="3" presetClass="entr" presetSubtype="1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linds(horizontal)">
                                      <p:cBhvr>
                                        <p:cTn id="13" dur="500"/>
                                        <p:tgtEl>
                                          <p:spTgt spid="36"/>
                                        </p:tgtEl>
                                      </p:cBhvr>
                                    </p:animEffect>
                                  </p:childTnLst>
                                </p:cTn>
                              </p:par>
                              <p:par>
                                <p:cTn id="14" presetID="3" presetClass="entr" presetSubtype="1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linds(horizontal)">
                                      <p:cBhvr>
                                        <p:cTn id="16" dur="500"/>
                                        <p:tgtEl>
                                          <p:spTgt spid="38"/>
                                        </p:tgtEl>
                                      </p:cBhvr>
                                    </p:animEffect>
                                  </p:childTnLst>
                                </p:cTn>
                              </p:par>
                              <p:par>
                                <p:cTn id="17" presetID="3" presetClass="entr" presetSubtype="1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linds(horizontal)">
                                      <p:cBhvr>
                                        <p:cTn id="1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	</a:t>
            </a:r>
            <a:r>
              <a:rPr lang="de-CH" dirty="0"/>
              <a:t> </a:t>
            </a:r>
            <a:r>
              <a:rPr lang="de-CH" dirty="0" err="1"/>
              <a:t>Securing</a:t>
            </a:r>
            <a:r>
              <a:rPr lang="de-CH" dirty="0"/>
              <a:t> IP </a:t>
            </a:r>
            <a:r>
              <a:rPr lang="de-CH" dirty="0" err="1"/>
              <a:t>rights</a:t>
            </a:r>
            <a:r>
              <a:rPr lang="de-CH" dirty="0"/>
              <a:t> in </a:t>
            </a:r>
            <a:r>
              <a:rPr lang="de-CH" dirty="0" err="1"/>
              <a:t>the</a:t>
            </a:r>
            <a:r>
              <a:rPr lang="de-CH" dirty="0"/>
              <a:t> </a:t>
            </a:r>
            <a:r>
              <a:rPr lang="de-CH" dirty="0" err="1"/>
              <a:t>software</a:t>
            </a:r>
            <a:r>
              <a:rPr lang="de-CH" dirty="0"/>
              <a:t> (</a:t>
            </a:r>
            <a:r>
              <a:rPr lang="de-CH" dirty="0" smtClean="0"/>
              <a:t>2)</a:t>
            </a:r>
            <a:endParaRPr lang="de-CH" dirty="0"/>
          </a:p>
        </p:txBody>
      </p:sp>
      <p:sp>
        <p:nvSpPr>
          <p:cNvPr id="3" name="Content Placeholder 2"/>
          <p:cNvSpPr>
            <a:spLocks noGrp="1"/>
          </p:cNvSpPr>
          <p:nvPr>
            <p:ph idx="1"/>
          </p:nvPr>
        </p:nvSpPr>
        <p:spPr/>
        <p:txBody>
          <a:bodyPr/>
          <a:lstStyle/>
          <a:p>
            <a:pPr>
              <a:spcBef>
                <a:spcPts val="800"/>
              </a:spcBef>
            </a:pPr>
            <a:r>
              <a:rPr lang="de-CH" dirty="0" err="1" smtClean="0"/>
              <a:t>Written</a:t>
            </a:r>
            <a:r>
              <a:rPr lang="de-CH" dirty="0" smtClean="0"/>
              <a:t> </a:t>
            </a:r>
            <a:r>
              <a:rPr lang="de-CH" dirty="0" err="1" smtClean="0"/>
              <a:t>assignments</a:t>
            </a:r>
            <a:r>
              <a:rPr lang="de-CH" dirty="0" smtClean="0"/>
              <a:t> / </a:t>
            </a:r>
            <a:r>
              <a:rPr lang="de-CH" dirty="0" err="1" smtClean="0"/>
              <a:t>deed</a:t>
            </a:r>
            <a:r>
              <a:rPr lang="de-CH" dirty="0" smtClean="0"/>
              <a:t> </a:t>
            </a:r>
            <a:r>
              <a:rPr lang="de-CH" dirty="0" err="1" smtClean="0"/>
              <a:t>of</a:t>
            </a:r>
            <a:r>
              <a:rPr lang="de-CH" dirty="0" smtClean="0"/>
              <a:t> </a:t>
            </a:r>
            <a:r>
              <a:rPr lang="de-CH" dirty="0" err="1" smtClean="0"/>
              <a:t>assignments</a:t>
            </a:r>
            <a:endParaRPr lang="de-CH" dirty="0" smtClean="0"/>
          </a:p>
          <a:p>
            <a:pPr>
              <a:spcBef>
                <a:spcPts val="800"/>
              </a:spcBef>
            </a:pPr>
            <a:endParaRPr lang="de-CH" dirty="0" smtClean="0"/>
          </a:p>
          <a:p>
            <a:pPr>
              <a:spcBef>
                <a:spcPts val="800"/>
              </a:spcBef>
            </a:pPr>
            <a:r>
              <a:rPr lang="de-CH" dirty="0" smtClean="0"/>
              <a:t>Content:</a:t>
            </a:r>
          </a:p>
          <a:p>
            <a:pPr lvl="1">
              <a:spcBef>
                <a:spcPts val="800"/>
              </a:spcBef>
              <a:buFont typeface="Arial" pitchFamily="34" charset="0"/>
              <a:buChar char="•"/>
            </a:pPr>
            <a:r>
              <a:rPr lang="en-US" b="1" dirty="0"/>
              <a:t>Transfer</a:t>
            </a:r>
            <a:r>
              <a:rPr lang="en-US" dirty="0"/>
              <a:t> of all rights relating to work results </a:t>
            </a:r>
            <a:r>
              <a:rPr lang="en-US" dirty="0" smtClean="0"/>
              <a:t>(including </a:t>
            </a:r>
            <a:r>
              <a:rPr lang="en-US" dirty="0"/>
              <a:t>future exploitation </a:t>
            </a:r>
            <a:r>
              <a:rPr lang="en-US" dirty="0" smtClean="0"/>
              <a:t>rights)</a:t>
            </a:r>
            <a:endParaRPr lang="en-US" dirty="0"/>
          </a:p>
          <a:p>
            <a:pPr lvl="1">
              <a:spcBef>
                <a:spcPts val="800"/>
              </a:spcBef>
              <a:buFont typeface="Arial" pitchFamily="34" charset="0"/>
              <a:buChar char="•"/>
            </a:pPr>
            <a:r>
              <a:rPr lang="en-US" dirty="0"/>
              <a:t>Scope of work/job description essential</a:t>
            </a:r>
          </a:p>
          <a:p>
            <a:pPr lvl="1">
              <a:spcBef>
                <a:spcPts val="800"/>
              </a:spcBef>
              <a:buFont typeface="Arial" pitchFamily="34" charset="0"/>
              <a:buChar char="•"/>
            </a:pPr>
            <a:r>
              <a:rPr lang="en-US" dirty="0"/>
              <a:t>Duty to contribute to </a:t>
            </a:r>
            <a:r>
              <a:rPr lang="en-US" dirty="0" smtClean="0"/>
              <a:t>registration (if necessary)</a:t>
            </a:r>
            <a:endParaRPr lang="en-US" dirty="0"/>
          </a:p>
          <a:p>
            <a:pPr lvl="1">
              <a:spcBef>
                <a:spcPts val="800"/>
              </a:spcBef>
              <a:buFont typeface="Arial" pitchFamily="34" charset="0"/>
              <a:buChar char="•"/>
            </a:pPr>
            <a:r>
              <a:rPr lang="en-US" dirty="0"/>
              <a:t>Waiver of moral rights to the extent permitted</a:t>
            </a:r>
          </a:p>
          <a:p>
            <a:pPr lvl="1">
              <a:spcBef>
                <a:spcPts val="800"/>
              </a:spcBef>
              <a:buFont typeface="Arial" pitchFamily="34" charset="0"/>
              <a:buChar char="•"/>
            </a:pPr>
            <a:r>
              <a:rPr lang="en-US" dirty="0"/>
              <a:t>Unlimited license to the extent a transfer is not allowed (remember: principle of territoriality)</a:t>
            </a:r>
          </a:p>
          <a:p>
            <a:pPr lvl="1">
              <a:spcBef>
                <a:spcPts val="800"/>
              </a:spcBef>
            </a:pP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13</a:t>
            </a:fld>
            <a:endParaRPr lang="de-CH"/>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smtClean="0"/>
              <a:t>no</a:t>
            </a:r>
            <a:r>
              <a:rPr lang="de-CH" dirty="0" smtClean="0"/>
              <a:t> </a:t>
            </a:r>
            <a:r>
              <a:rPr lang="de-CH" dirty="0" err="1" smtClean="0"/>
              <a:t>infringement</a:t>
            </a:r>
            <a:r>
              <a:rPr lang="de-CH" dirty="0" smtClean="0"/>
              <a:t> upon </a:t>
            </a:r>
            <a:r>
              <a:rPr lang="de-CH" dirty="0" err="1" smtClean="0"/>
              <a:t>third</a:t>
            </a:r>
            <a:r>
              <a:rPr lang="de-CH" dirty="0" smtClean="0"/>
              <a:t> </a:t>
            </a:r>
            <a:r>
              <a:rPr lang="de-CH" dirty="0" err="1" smtClean="0"/>
              <a:t>party</a:t>
            </a:r>
            <a:r>
              <a:rPr lang="de-CH" dirty="0" smtClean="0"/>
              <a:t> </a:t>
            </a:r>
            <a:r>
              <a:rPr lang="de-CH" dirty="0" err="1" smtClean="0"/>
              <a:t>rights</a:t>
            </a:r>
            <a:r>
              <a:rPr lang="de-CH" dirty="0" smtClean="0"/>
              <a:t> (1)</a:t>
            </a:r>
            <a:endParaRPr lang="de-CH" dirty="0"/>
          </a:p>
        </p:txBody>
      </p:sp>
      <p:sp>
        <p:nvSpPr>
          <p:cNvPr id="3" name="Content Placeholder 2"/>
          <p:cNvSpPr>
            <a:spLocks noGrp="1"/>
          </p:cNvSpPr>
          <p:nvPr>
            <p:ph idx="1"/>
          </p:nvPr>
        </p:nvSpPr>
        <p:spPr/>
        <p:txBody>
          <a:bodyPr/>
          <a:lstStyle/>
          <a:p>
            <a:pPr>
              <a:spcBef>
                <a:spcPts val="800"/>
              </a:spcBef>
            </a:pP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14</a:t>
            </a:fld>
            <a:endParaRPr lang="de-CH"/>
          </a:p>
        </p:txBody>
      </p:sp>
      <p:pic>
        <p:nvPicPr>
          <p:cNvPr id="7" name="Picture 6" descr="C:\Users\nmosimann\AppData\Local\Microsoft\Windows\Temporary Internet Files\Content.IE5\L5H6WKQW\41778_156500500374_6770_n[1].jpg"/>
          <p:cNvPicPr>
            <a:picLocks noChangeAspect="1" noChangeArrowheads="1"/>
          </p:cNvPicPr>
          <p:nvPr/>
        </p:nvPicPr>
        <p:blipFill>
          <a:blip r:embed="rId2" cstate="print"/>
          <a:srcRect/>
          <a:stretch>
            <a:fillRect/>
          </a:stretch>
        </p:blipFill>
        <p:spPr bwMode="auto">
          <a:xfrm>
            <a:off x="1043608" y="2852936"/>
            <a:ext cx="2160240" cy="2981131"/>
          </a:xfrm>
          <a:prstGeom prst="rect">
            <a:avLst/>
          </a:prstGeom>
          <a:noFill/>
        </p:spPr>
      </p:pic>
      <p:pic>
        <p:nvPicPr>
          <p:cNvPr id="2050" name="Picture 2" descr="C:\Users\nmosimann\AppData\Local\Microsoft\Windows\Temporary Internet Files\Content.IE5\LMM46IGD\copyright-38672_640[1].png"/>
          <p:cNvPicPr>
            <a:picLocks noChangeAspect="1" noChangeArrowheads="1"/>
          </p:cNvPicPr>
          <p:nvPr/>
        </p:nvPicPr>
        <p:blipFill>
          <a:blip r:embed="rId3" cstate="print"/>
          <a:srcRect/>
          <a:stretch>
            <a:fillRect/>
          </a:stretch>
        </p:blipFill>
        <p:spPr bwMode="auto">
          <a:xfrm>
            <a:off x="5940152" y="2924944"/>
            <a:ext cx="2461717" cy="2461717"/>
          </a:xfrm>
          <a:prstGeom prst="rect">
            <a:avLst/>
          </a:prstGeom>
          <a:noFill/>
        </p:spPr>
      </p:pic>
      <p:pic>
        <p:nvPicPr>
          <p:cNvPr id="2052" name="Picture 4" descr="C:\Users\nmosimann\AppData\Local\Microsoft\Windows\Temporary Internet Files\Content.IE5\T2EV2J59\electricity-98819_640[1].png"/>
          <p:cNvPicPr>
            <a:picLocks noChangeAspect="1" noChangeArrowheads="1"/>
          </p:cNvPicPr>
          <p:nvPr/>
        </p:nvPicPr>
        <p:blipFill>
          <a:blip r:embed="rId4" cstate="print"/>
          <a:srcRect/>
          <a:stretch>
            <a:fillRect/>
          </a:stretch>
        </p:blipFill>
        <p:spPr bwMode="auto">
          <a:xfrm>
            <a:off x="2843808" y="3356992"/>
            <a:ext cx="3270126" cy="2876689"/>
          </a:xfrm>
          <a:prstGeom prst="rect">
            <a:avLst/>
          </a:prstGeom>
          <a:noFill/>
        </p:spPr>
      </p:pic>
      <p:pic>
        <p:nvPicPr>
          <p:cNvPr id="2053" name="Picture 5" descr="C:\Users\nmosimann\AppData\Local\Microsoft\Windows\Temporary Internet Files\Content.IE5\FXRZJS77\usa-152033_640[1].png"/>
          <p:cNvPicPr>
            <a:picLocks noChangeAspect="1" noChangeArrowheads="1"/>
          </p:cNvPicPr>
          <p:nvPr/>
        </p:nvPicPr>
        <p:blipFill>
          <a:blip r:embed="rId5" cstate="print"/>
          <a:srcRect/>
          <a:stretch>
            <a:fillRect/>
          </a:stretch>
        </p:blipFill>
        <p:spPr bwMode="auto">
          <a:xfrm>
            <a:off x="539552" y="1772816"/>
            <a:ext cx="1969243" cy="1892319"/>
          </a:xfrm>
          <a:prstGeom prst="rect">
            <a:avLst/>
          </a:prstGeom>
          <a:noFill/>
        </p:spPr>
      </p:pic>
    </p:spTree>
    <p:extLst>
      <p:ext uri="{BB962C8B-B14F-4D97-AF65-F5344CB8AC3E}">
        <p14:creationId xmlns:p14="http://schemas.microsoft.com/office/powerpoint/2010/main" val="941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2053"/>
                                        </p:tgtEl>
                                        <p:attrNameLst>
                                          <p:attrName>style.visibility</p:attrName>
                                        </p:attrNameLst>
                                      </p:cBhvr>
                                      <p:to>
                                        <p:strVal val="visible"/>
                                      </p:to>
                                    </p:set>
                                    <p:anim calcmode="lin" valueType="num">
                                      <p:cBhvr additive="base">
                                        <p:cTn id="7" dur="500" fill="hold"/>
                                        <p:tgtEl>
                                          <p:spTgt spid="2053"/>
                                        </p:tgtEl>
                                        <p:attrNameLst>
                                          <p:attrName>ppt_x</p:attrName>
                                        </p:attrNameLst>
                                      </p:cBhvr>
                                      <p:tavLst>
                                        <p:tav tm="0">
                                          <p:val>
                                            <p:strVal val="0-#ppt_w/2"/>
                                          </p:val>
                                        </p:tav>
                                        <p:tav tm="100000">
                                          <p:val>
                                            <p:strVal val="#ppt_x"/>
                                          </p:val>
                                        </p:tav>
                                      </p:tavLst>
                                    </p:anim>
                                    <p:anim calcmode="lin" valueType="num">
                                      <p:cBhvr additive="base">
                                        <p:cTn id="8" dur="500" fill="hold"/>
                                        <p:tgtEl>
                                          <p:spTgt spid="205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a:xfrm>
            <a:off x="6996511" y="6573347"/>
            <a:ext cx="1391913" cy="145747"/>
          </a:xfrm>
        </p:spPr>
        <p:txBody>
          <a:bodyPr/>
          <a:lstStyle/>
          <a:p>
            <a:r>
              <a:rPr lang="de-DE" smtClean="0"/>
              <a:t>16.11.2016</a:t>
            </a:r>
            <a:endParaRPr lang="de-CH" dirty="0"/>
          </a:p>
        </p:txBody>
      </p:sp>
      <p:sp>
        <p:nvSpPr>
          <p:cNvPr id="3" name="Footer Placeholder 2"/>
          <p:cNvSpPr>
            <a:spLocks noGrp="1"/>
          </p:cNvSpPr>
          <p:nvPr>
            <p:ph type="ftr" sz="quarter" idx="4294967295"/>
          </p:nvPr>
        </p:nvSpPr>
        <p:spPr>
          <a:xfrm>
            <a:off x="286246" y="6575972"/>
            <a:ext cx="5831749" cy="145747"/>
          </a:xfrm>
        </p:spPr>
        <p:txBody>
          <a:bodyPr/>
          <a:lstStyle/>
          <a:p>
            <a:r>
              <a:rPr lang="de-CH" dirty="0" smtClean="0"/>
              <a:t>nicolas.mosimann@kellerhals-carrard.ch</a:t>
            </a:r>
            <a:endParaRPr lang="de-CH" dirty="0"/>
          </a:p>
        </p:txBody>
      </p:sp>
      <p:sp>
        <p:nvSpPr>
          <p:cNvPr id="4" name="Slide Number Placeholder 3"/>
          <p:cNvSpPr>
            <a:spLocks noGrp="1"/>
          </p:cNvSpPr>
          <p:nvPr>
            <p:ph type="sldNum" sz="quarter" idx="4294967295"/>
          </p:nvPr>
        </p:nvSpPr>
        <p:spPr>
          <a:xfrm>
            <a:off x="8604448" y="6573348"/>
            <a:ext cx="245269" cy="145747"/>
          </a:xfrm>
        </p:spPr>
        <p:txBody>
          <a:bodyPr/>
          <a:lstStyle/>
          <a:p>
            <a:fld id="{1E75EF35-6B25-4B85-9696-D7065EDA5E63}" type="slidenum">
              <a:rPr lang="de-CH" smtClean="0"/>
              <a:pPr/>
              <a:t>15</a:t>
            </a:fld>
            <a:endParaRPr lang="de-CH"/>
          </a:p>
        </p:txBody>
      </p:sp>
      <p:pic>
        <p:nvPicPr>
          <p:cNvPr id="12" name="Grafik 11" descr="patent_troll-pano_22628.jpg"/>
          <p:cNvPicPr>
            <a:picLocks noChangeAspect="1"/>
          </p:cNvPicPr>
          <p:nvPr/>
        </p:nvPicPr>
        <p:blipFill>
          <a:blip r:embed="rId2" cstate="print"/>
          <a:stretch>
            <a:fillRect/>
          </a:stretch>
        </p:blipFill>
        <p:spPr>
          <a:xfrm>
            <a:off x="-1" y="1700808"/>
            <a:ext cx="9144001" cy="4248472"/>
          </a:xfrm>
          <a:prstGeom prst="rect">
            <a:avLst/>
          </a:prstGeom>
        </p:spPr>
      </p:pic>
      <p:sp>
        <p:nvSpPr>
          <p:cNvPr id="6" name="Title 1"/>
          <p:cNvSpPr txBox="1">
            <a:spLocks/>
          </p:cNvSpPr>
          <p:nvPr/>
        </p:nvSpPr>
        <p:spPr>
          <a:xfrm>
            <a:off x="286245" y="1156636"/>
            <a:ext cx="7886205" cy="538815"/>
          </a:xfrm>
          <a:prstGeom prst="rect">
            <a:avLst/>
          </a:prstGeom>
        </p:spPr>
        <p:txBody>
          <a:bodyPr/>
          <a:lstStyle/>
          <a:p>
            <a:pPr lvl="0">
              <a:spcBef>
                <a:spcPct val="0"/>
              </a:spcBef>
              <a:tabLst>
                <a:tab pos="680400" algn="l"/>
              </a:tabLst>
              <a:defRPr/>
            </a:pPr>
            <a:r>
              <a:rPr kumimoji="0" lang="de-CH" sz="1700" b="1" i="0" u="none" strike="noStrike" kern="1200" cap="all" spc="0" normalizeH="0" baseline="0" noProof="0" dirty="0" smtClean="0">
                <a:ln>
                  <a:noFill/>
                </a:ln>
                <a:solidFill>
                  <a:schemeClr val="tx1"/>
                </a:solidFill>
                <a:effectLst/>
                <a:uLnTx/>
                <a:uFillTx/>
                <a:latin typeface="+mj-lt"/>
                <a:ea typeface="+mj-ea"/>
                <a:cs typeface="+mj-cs"/>
              </a:rPr>
              <a:t>VIII	</a:t>
            </a:r>
            <a:r>
              <a:rPr lang="en-US" sz="1700" b="1" cap="all" dirty="0" smtClean="0">
                <a:latin typeface="+mj-lt"/>
                <a:ea typeface="+mj-ea"/>
                <a:cs typeface="+mj-cs"/>
              </a:rPr>
              <a:t>no </a:t>
            </a:r>
            <a:r>
              <a:rPr lang="en-US" sz="1700" b="1" cap="all" dirty="0">
                <a:latin typeface="+mj-lt"/>
                <a:ea typeface="+mj-ea"/>
                <a:cs typeface="+mj-cs"/>
              </a:rPr>
              <a:t>infringement upon third party rights </a:t>
            </a:r>
            <a:r>
              <a:rPr kumimoji="0" lang="de-CH" sz="1700" b="1" i="0" u="none" strike="noStrike" kern="1200" cap="all" spc="0" normalizeH="0" baseline="0" noProof="0" dirty="0" smtClean="0">
                <a:ln>
                  <a:noFill/>
                </a:ln>
                <a:solidFill>
                  <a:schemeClr val="tx1"/>
                </a:solidFill>
                <a:effectLst/>
                <a:uLnTx/>
                <a:uFillTx/>
                <a:latin typeface="+mj-lt"/>
                <a:ea typeface="+mj-ea"/>
                <a:cs typeface="+mj-cs"/>
              </a:rPr>
              <a:t> (2): 	</a:t>
            </a:r>
            <a:r>
              <a:rPr kumimoji="0" lang="de-CH" sz="1700" b="1" i="0" u="none" strike="noStrike" kern="1200" cap="all" spc="0" normalizeH="0" baseline="0" noProof="0" dirty="0" err="1" smtClean="0">
                <a:ln>
                  <a:noFill/>
                </a:ln>
                <a:solidFill>
                  <a:schemeClr val="tx1"/>
                </a:solidFill>
                <a:effectLst/>
                <a:uLnTx/>
                <a:uFillTx/>
                <a:latin typeface="+mj-lt"/>
                <a:ea typeface="+mj-ea"/>
                <a:cs typeface="+mj-cs"/>
              </a:rPr>
              <a:t>third</a:t>
            </a:r>
            <a:r>
              <a:rPr kumimoji="0" lang="de-CH" sz="1700" b="1" i="0" u="none" strike="noStrike" kern="1200" cap="all" spc="0" normalizeH="0" baseline="0" noProof="0" dirty="0" smtClean="0">
                <a:ln>
                  <a:noFill/>
                </a:ln>
                <a:solidFill>
                  <a:schemeClr val="tx1"/>
                </a:solidFill>
                <a:effectLst/>
                <a:uLnTx/>
                <a:uFillTx/>
                <a:latin typeface="+mj-lt"/>
                <a:ea typeface="+mj-ea"/>
                <a:cs typeface="+mj-cs"/>
              </a:rPr>
              <a:t> </a:t>
            </a:r>
            <a:r>
              <a:rPr kumimoji="0" lang="de-CH" sz="1700" b="1" i="0" u="none" strike="noStrike" kern="1200" cap="all" spc="0" normalizeH="0" baseline="0" noProof="0" dirty="0" err="1" smtClean="0">
                <a:ln>
                  <a:noFill/>
                </a:ln>
                <a:solidFill>
                  <a:schemeClr val="tx1"/>
                </a:solidFill>
                <a:effectLst/>
                <a:uLnTx/>
                <a:uFillTx/>
                <a:latin typeface="+mj-lt"/>
                <a:ea typeface="+mj-ea"/>
                <a:cs typeface="+mj-cs"/>
              </a:rPr>
              <a:t>party</a:t>
            </a:r>
            <a:r>
              <a:rPr kumimoji="0" lang="de-CH" sz="1700" b="1" i="0" u="none" strike="noStrike" kern="1200" cap="all" spc="0" normalizeH="0" baseline="0" noProof="0" dirty="0" smtClean="0">
                <a:ln>
                  <a:noFill/>
                </a:ln>
                <a:solidFill>
                  <a:schemeClr val="tx1"/>
                </a:solidFill>
                <a:effectLst/>
                <a:uLnTx/>
                <a:uFillTx/>
                <a:latin typeface="+mj-lt"/>
                <a:ea typeface="+mj-ea"/>
                <a:cs typeface="+mj-cs"/>
              </a:rPr>
              <a:t> </a:t>
            </a:r>
            <a:r>
              <a:rPr kumimoji="0" lang="de-CH" sz="1700" b="1" i="0" u="none" strike="noStrike" kern="1200" cap="all" spc="0" normalizeH="0" baseline="0" noProof="0" dirty="0" err="1" smtClean="0">
                <a:ln>
                  <a:noFill/>
                </a:ln>
                <a:solidFill>
                  <a:schemeClr val="tx1"/>
                </a:solidFill>
                <a:effectLst/>
                <a:uLnTx/>
                <a:uFillTx/>
                <a:latin typeface="+mj-lt"/>
                <a:ea typeface="+mj-ea"/>
                <a:cs typeface="+mj-cs"/>
              </a:rPr>
              <a:t>patents</a:t>
            </a:r>
            <a:endParaRPr kumimoji="0" lang="de-CH" sz="1700" b="1" i="0" u="none" strike="noStrike" kern="1200" cap="all"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25281551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246" y="1307259"/>
            <a:ext cx="7886205" cy="538815"/>
          </a:xfrm>
        </p:spPr>
        <p:txBody>
          <a:bodyPr/>
          <a:lstStyle/>
          <a:p>
            <a:r>
              <a:rPr lang="de-CH" dirty="0" smtClean="0"/>
              <a:t>VIII	</a:t>
            </a:r>
            <a:r>
              <a:rPr lang="en-US" dirty="0" smtClean="0"/>
              <a:t>no </a:t>
            </a:r>
            <a:r>
              <a:rPr lang="en-US" dirty="0"/>
              <a:t>infringement upon third party rights </a:t>
            </a:r>
            <a:r>
              <a:rPr lang="de-CH" dirty="0"/>
              <a:t> </a:t>
            </a:r>
            <a:r>
              <a:rPr lang="de-CH" dirty="0" smtClean="0"/>
              <a:t>(3): </a:t>
            </a:r>
            <a:r>
              <a:rPr lang="de-CH" dirty="0"/>
              <a:t>	</a:t>
            </a:r>
            <a:r>
              <a:rPr lang="de-CH" dirty="0" err="1"/>
              <a:t>third</a:t>
            </a:r>
            <a:r>
              <a:rPr lang="de-CH" dirty="0"/>
              <a:t> </a:t>
            </a:r>
            <a:r>
              <a:rPr lang="de-CH" dirty="0" err="1"/>
              <a:t>party</a:t>
            </a:r>
            <a:r>
              <a:rPr lang="de-CH" dirty="0"/>
              <a:t> </a:t>
            </a:r>
            <a:r>
              <a:rPr lang="de-CH" dirty="0" err="1"/>
              <a:t>patents</a:t>
            </a:r>
            <a:r>
              <a:rPr lang="de-CH" dirty="0"/>
              <a:t/>
            </a:r>
            <a:br>
              <a:rPr lang="de-CH" dirty="0"/>
            </a:b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16</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Content Placeholder 2"/>
          <p:cNvSpPr>
            <a:spLocks noGrp="1"/>
          </p:cNvSpPr>
          <p:nvPr>
            <p:ph idx="1"/>
          </p:nvPr>
        </p:nvSpPr>
        <p:spPr>
          <a:xfrm>
            <a:off x="971599" y="1844676"/>
            <a:ext cx="7200851" cy="4471940"/>
          </a:xfrm>
        </p:spPr>
        <p:txBody>
          <a:bodyPr/>
          <a:lstStyle/>
          <a:p>
            <a:pPr>
              <a:buFont typeface="Symbol" pitchFamily="18" charset="2"/>
              <a:buChar char="-"/>
              <a:defRPr/>
            </a:pPr>
            <a:endParaRPr lang="de-CH" dirty="0" smtClean="0"/>
          </a:p>
          <a:p>
            <a:pPr lvl="1">
              <a:buNone/>
              <a:defRPr/>
            </a:pPr>
            <a:endParaRPr lang="de-CH" dirty="0" smtClean="0">
              <a:sym typeface="Wingdings" pitchFamily="2" charset="2"/>
            </a:endParaRPr>
          </a:p>
          <a:p>
            <a:pPr lvl="1">
              <a:buNone/>
              <a:defRPr/>
            </a:pPr>
            <a:endParaRPr lang="de-CH" dirty="0" smtClean="0"/>
          </a:p>
          <a:p>
            <a:pPr marL="358775" lvl="1">
              <a:spcBef>
                <a:spcPts val="800"/>
              </a:spcBef>
              <a:buNone/>
              <a:defRPr/>
            </a:pPr>
            <a:r>
              <a:rPr lang="en-US" i="1" dirty="0" smtClean="0"/>
              <a:t>	</a:t>
            </a:r>
            <a:endParaRPr lang="de-CH" i="1" dirty="0" smtClean="0"/>
          </a:p>
          <a:p>
            <a:pPr>
              <a:buFont typeface="Symbol" pitchFamily="18" charset="2"/>
              <a:buChar char="-"/>
              <a:defRPr/>
            </a:pPr>
            <a:endParaRPr lang="de-CH" dirty="0" smtClean="0"/>
          </a:p>
          <a:p>
            <a:pPr>
              <a:buFont typeface="Symbol" pitchFamily="18" charset="2"/>
              <a:buChar char="-"/>
              <a:defRPr/>
            </a:pPr>
            <a:endParaRPr lang="de-CH" dirty="0" smtClean="0"/>
          </a:p>
        </p:txBody>
      </p:sp>
      <p:sp>
        <p:nvSpPr>
          <p:cNvPr id="9" name="Abgerundetes Rechteck 8"/>
          <p:cNvSpPr/>
          <p:nvPr/>
        </p:nvSpPr>
        <p:spPr>
          <a:xfrm>
            <a:off x="899592" y="2564904"/>
            <a:ext cx="1872208" cy="86409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CH" dirty="0" err="1" smtClean="0"/>
              <a:t>Licensor</a:t>
            </a:r>
            <a:endParaRPr lang="de-CH" dirty="0"/>
          </a:p>
        </p:txBody>
      </p:sp>
      <p:sp>
        <p:nvSpPr>
          <p:cNvPr id="10" name="Abgerundetes Rechteck 9"/>
          <p:cNvSpPr/>
          <p:nvPr/>
        </p:nvSpPr>
        <p:spPr>
          <a:xfrm>
            <a:off x="5148064" y="2636912"/>
            <a:ext cx="1944216" cy="7920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CH" dirty="0" err="1" smtClean="0"/>
              <a:t>Licensee</a:t>
            </a:r>
            <a:endParaRPr lang="de-CH" dirty="0"/>
          </a:p>
        </p:txBody>
      </p:sp>
      <p:cxnSp>
        <p:nvCxnSpPr>
          <p:cNvPr id="12" name="Gerade Verbindung mit Pfeil 11"/>
          <p:cNvCxnSpPr>
            <a:stCxn id="9" idx="3"/>
            <a:endCxn id="10" idx="1"/>
          </p:cNvCxnSpPr>
          <p:nvPr/>
        </p:nvCxnSpPr>
        <p:spPr>
          <a:xfrm>
            <a:off x="2771800" y="2996952"/>
            <a:ext cx="2376264" cy="36004"/>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5" name="Abgerundetes Rechteck 14"/>
          <p:cNvSpPr/>
          <p:nvPr/>
        </p:nvSpPr>
        <p:spPr>
          <a:xfrm>
            <a:off x="2915816" y="4941168"/>
            <a:ext cx="1584176" cy="720080"/>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de-CH" dirty="0" smtClean="0"/>
              <a:t>Patent Troll</a:t>
            </a:r>
            <a:endParaRPr lang="de-CH" dirty="0"/>
          </a:p>
        </p:txBody>
      </p:sp>
      <p:cxnSp>
        <p:nvCxnSpPr>
          <p:cNvPr id="17" name="Gerade Verbindung mit Pfeil 16"/>
          <p:cNvCxnSpPr>
            <a:stCxn id="15" idx="0"/>
            <a:endCxn id="10" idx="2"/>
          </p:cNvCxnSpPr>
          <p:nvPr/>
        </p:nvCxnSpPr>
        <p:spPr>
          <a:xfrm flipV="1">
            <a:off x="3707904" y="3429000"/>
            <a:ext cx="2412268" cy="151216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Form 22"/>
          <p:cNvCxnSpPr>
            <a:stCxn id="10" idx="0"/>
          </p:cNvCxnSpPr>
          <p:nvPr/>
        </p:nvCxnSpPr>
        <p:spPr>
          <a:xfrm rot="16200000" flipH="1" flipV="1">
            <a:off x="4121950" y="1286762"/>
            <a:ext cx="648072" cy="3348372"/>
          </a:xfrm>
          <a:prstGeom prst="curvedConnector4">
            <a:avLst>
              <a:gd name="adj1" fmla="val -35274"/>
              <a:gd name="adj2" fmla="val 64516"/>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feld 24"/>
          <p:cNvSpPr txBox="1"/>
          <p:nvPr/>
        </p:nvSpPr>
        <p:spPr>
          <a:xfrm>
            <a:off x="4788024" y="4077072"/>
            <a:ext cx="504056" cy="369332"/>
          </a:xfrm>
          <a:prstGeom prst="rect">
            <a:avLst/>
          </a:prstGeom>
          <a:noFill/>
        </p:spPr>
        <p:txBody>
          <a:bodyPr wrap="square" rtlCol="0">
            <a:spAutoFit/>
          </a:bodyPr>
          <a:lstStyle/>
          <a:p>
            <a:r>
              <a:rPr lang="de-CH" b="1" dirty="0" smtClean="0">
                <a:solidFill>
                  <a:srgbClr val="FF0000"/>
                </a:solidFill>
              </a:rPr>
              <a:t>$</a:t>
            </a:r>
            <a:endParaRPr lang="de-CH" b="1" dirty="0">
              <a:solidFill>
                <a:srgbClr val="FF0000"/>
              </a:solidFill>
            </a:endParaRPr>
          </a:p>
        </p:txBody>
      </p:sp>
      <p:sp>
        <p:nvSpPr>
          <p:cNvPr id="26" name="Textfeld 25"/>
          <p:cNvSpPr txBox="1"/>
          <p:nvPr/>
        </p:nvSpPr>
        <p:spPr>
          <a:xfrm>
            <a:off x="4499992" y="2132856"/>
            <a:ext cx="504056" cy="369332"/>
          </a:xfrm>
          <a:prstGeom prst="rect">
            <a:avLst/>
          </a:prstGeom>
          <a:noFill/>
        </p:spPr>
        <p:txBody>
          <a:bodyPr wrap="square" rtlCol="0">
            <a:spAutoFit/>
          </a:bodyPr>
          <a:lstStyle/>
          <a:p>
            <a:r>
              <a:rPr lang="de-CH" b="1" dirty="0" smtClean="0">
                <a:solidFill>
                  <a:srgbClr val="FF0000"/>
                </a:solidFill>
              </a:rPr>
              <a:t>$</a:t>
            </a:r>
            <a:endParaRPr lang="de-CH" b="1" dirty="0">
              <a:solidFill>
                <a:srgbClr val="FF0000"/>
              </a:solidFill>
            </a:endParaRPr>
          </a:p>
        </p:txBody>
      </p:sp>
      <p:cxnSp>
        <p:nvCxnSpPr>
          <p:cNvPr id="27" name="Gerade Verbindung mit Pfeil 26"/>
          <p:cNvCxnSpPr>
            <a:stCxn id="15" idx="0"/>
            <a:endCxn id="9" idx="2"/>
          </p:cNvCxnSpPr>
          <p:nvPr/>
        </p:nvCxnSpPr>
        <p:spPr>
          <a:xfrm flipH="1" flipV="1">
            <a:off x="1835696" y="3429000"/>
            <a:ext cx="1872208" cy="1512168"/>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Textfeld 29"/>
          <p:cNvSpPr txBox="1"/>
          <p:nvPr/>
        </p:nvSpPr>
        <p:spPr>
          <a:xfrm>
            <a:off x="2483768" y="4077072"/>
            <a:ext cx="504056" cy="369332"/>
          </a:xfrm>
          <a:prstGeom prst="rect">
            <a:avLst/>
          </a:prstGeom>
          <a:noFill/>
        </p:spPr>
        <p:txBody>
          <a:bodyPr wrap="square" rtlCol="0">
            <a:spAutoFit/>
          </a:bodyPr>
          <a:lstStyle/>
          <a:p>
            <a:r>
              <a:rPr lang="de-CH" b="1" dirty="0" smtClean="0">
                <a:solidFill>
                  <a:srgbClr val="FF0000"/>
                </a:solidFill>
              </a:rPr>
              <a:t>$</a:t>
            </a:r>
            <a:endParaRPr lang="de-CH" b="1" dirty="0">
              <a:solidFill>
                <a:srgbClr val="FF0000"/>
              </a:solidFill>
            </a:endParaRPr>
          </a:p>
        </p:txBody>
      </p:sp>
    </p:spTree>
    <p:extLst>
      <p:ext uri="{BB962C8B-B14F-4D97-AF65-F5344CB8AC3E}">
        <p14:creationId xmlns:p14="http://schemas.microsoft.com/office/powerpoint/2010/main" val="15727085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245" y="1305861"/>
            <a:ext cx="7886205" cy="538815"/>
          </a:xfrm>
        </p:spPr>
        <p:txBody>
          <a:bodyPr/>
          <a:lstStyle/>
          <a:p>
            <a:r>
              <a:rPr lang="de-CH" dirty="0" smtClean="0"/>
              <a:t>VIII	</a:t>
            </a:r>
            <a:r>
              <a:rPr lang="en-US" dirty="0"/>
              <a:t>no infringement upon third party rights </a:t>
            </a:r>
            <a:r>
              <a:rPr lang="de-CH" dirty="0"/>
              <a:t> </a:t>
            </a:r>
            <a:r>
              <a:rPr lang="de-CH" dirty="0" smtClean="0"/>
              <a:t>(4): </a:t>
            </a:r>
            <a:r>
              <a:rPr lang="de-CH" dirty="0"/>
              <a:t>	</a:t>
            </a:r>
            <a:r>
              <a:rPr lang="de-CH" dirty="0" err="1"/>
              <a:t>third</a:t>
            </a:r>
            <a:r>
              <a:rPr lang="de-CH" dirty="0"/>
              <a:t> </a:t>
            </a:r>
            <a:r>
              <a:rPr lang="de-CH" dirty="0" err="1"/>
              <a:t>party</a:t>
            </a:r>
            <a:r>
              <a:rPr lang="de-CH" dirty="0"/>
              <a:t> </a:t>
            </a:r>
            <a:r>
              <a:rPr lang="de-CH" dirty="0" err="1"/>
              <a:t>patents</a:t>
            </a:r>
            <a:r>
              <a:rPr lang="de-CH" dirty="0"/>
              <a:t/>
            </a:r>
            <a:br>
              <a:rPr lang="de-CH" dirty="0"/>
            </a:br>
            <a:endParaRPr lang="de-CH" dirty="0"/>
          </a:p>
        </p:txBody>
      </p:sp>
      <p:sp>
        <p:nvSpPr>
          <p:cNvPr id="3" name="Content Placeholder 2"/>
          <p:cNvSpPr>
            <a:spLocks noGrp="1"/>
          </p:cNvSpPr>
          <p:nvPr>
            <p:ph idx="1"/>
          </p:nvPr>
        </p:nvSpPr>
        <p:spPr>
          <a:xfrm>
            <a:off x="971599" y="2174280"/>
            <a:ext cx="7200851" cy="4471940"/>
          </a:xfrm>
        </p:spPr>
        <p:txBody>
          <a:bodyPr/>
          <a:lstStyle/>
          <a:p>
            <a:pPr>
              <a:spcBef>
                <a:spcPts val="800"/>
              </a:spcBef>
            </a:pPr>
            <a:r>
              <a:rPr lang="de-CH" dirty="0" smtClean="0"/>
              <a:t>(US-)</a:t>
            </a:r>
            <a:r>
              <a:rPr lang="de-CH" dirty="0" err="1"/>
              <a:t>p</a:t>
            </a:r>
            <a:r>
              <a:rPr lang="de-CH" dirty="0" err="1" smtClean="0"/>
              <a:t>atens</a:t>
            </a: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r>
              <a:rPr lang="en-US" dirty="0"/>
              <a:t>Patent research: expensive</a:t>
            </a:r>
          </a:p>
          <a:p>
            <a:pPr lvl="1">
              <a:spcBef>
                <a:spcPts val="800"/>
              </a:spcBef>
              <a:buFont typeface="Arial" pitchFamily="34" charset="0"/>
              <a:buChar char="•"/>
            </a:pPr>
            <a:r>
              <a:rPr lang="en-US" dirty="0"/>
              <a:t>Risk varies (e.g., US vs. Europe)</a:t>
            </a:r>
          </a:p>
          <a:p>
            <a:pPr lvl="1">
              <a:spcBef>
                <a:spcPts val="800"/>
              </a:spcBef>
              <a:buFont typeface="Arial" pitchFamily="34" charset="0"/>
              <a:buChar char="•"/>
            </a:pPr>
            <a:r>
              <a:rPr lang="en-US" dirty="0"/>
              <a:t>Insurance difficult/expensive</a:t>
            </a:r>
          </a:p>
          <a:p>
            <a:pPr lvl="1">
              <a:spcBef>
                <a:spcPts val="800"/>
              </a:spcBef>
              <a:buFont typeface="Arial" pitchFamily="34" charset="0"/>
              <a:buChar char="•"/>
            </a:pPr>
            <a:r>
              <a:rPr lang="en-US" dirty="0" smtClean="0"/>
              <a:t>Limitation of obligation to indemnify?</a:t>
            </a:r>
            <a:endParaRPr lang="en-US" dirty="0"/>
          </a:p>
          <a:p>
            <a:pPr lvl="1">
              <a:spcBef>
                <a:spcPts val="800"/>
              </a:spcBef>
            </a:pPr>
            <a:endParaRPr lang="de-CH" dirty="0" smtClean="0"/>
          </a:p>
          <a:p>
            <a:pPr>
              <a:spcBef>
                <a:spcPts val="800"/>
              </a:spcBef>
            </a:pP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17</a:t>
            </a:fld>
            <a:endParaRPr lang="de-CH"/>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smtClean="0"/>
              <a:t>No</a:t>
            </a:r>
            <a:r>
              <a:rPr lang="de-CH" dirty="0" smtClean="0"/>
              <a:t> </a:t>
            </a:r>
            <a:r>
              <a:rPr lang="de-CH" dirty="0" err="1" smtClean="0"/>
              <a:t>Infringement</a:t>
            </a:r>
            <a:r>
              <a:rPr lang="de-CH" dirty="0" smtClean="0"/>
              <a:t> upon </a:t>
            </a:r>
            <a:r>
              <a:rPr lang="de-CH" dirty="0" err="1" smtClean="0"/>
              <a:t>third</a:t>
            </a:r>
            <a:r>
              <a:rPr lang="de-CH" dirty="0" smtClean="0"/>
              <a:t> </a:t>
            </a:r>
            <a:r>
              <a:rPr lang="de-CH" dirty="0" err="1" smtClean="0"/>
              <a:t>party</a:t>
            </a:r>
            <a:r>
              <a:rPr lang="de-CH" dirty="0" smtClean="0"/>
              <a:t> </a:t>
            </a:r>
            <a:r>
              <a:rPr lang="de-CH" dirty="0" err="1" smtClean="0"/>
              <a:t>rights</a:t>
            </a:r>
            <a:r>
              <a:rPr lang="de-CH" dirty="0" smtClean="0"/>
              <a:t> (5): 	Copyright</a:t>
            </a:r>
            <a:endParaRPr lang="de-CH" dirty="0"/>
          </a:p>
        </p:txBody>
      </p:sp>
      <p:sp>
        <p:nvSpPr>
          <p:cNvPr id="3" name="Content Placeholder 2"/>
          <p:cNvSpPr>
            <a:spLocks noGrp="1"/>
          </p:cNvSpPr>
          <p:nvPr>
            <p:ph idx="1"/>
          </p:nvPr>
        </p:nvSpPr>
        <p:spPr>
          <a:xfrm>
            <a:off x="971599" y="1844676"/>
            <a:ext cx="7200851" cy="2232396"/>
          </a:xfrm>
        </p:spPr>
        <p:txBody>
          <a:bodyPr/>
          <a:lstStyle/>
          <a:p>
            <a:pPr>
              <a:spcBef>
                <a:spcPts val="800"/>
              </a:spcBef>
            </a:pPr>
            <a:r>
              <a:rPr lang="de-CH" dirty="0" err="1" smtClean="0"/>
              <a:t>Plagiarism</a:t>
            </a:r>
            <a:endParaRPr lang="de-CH" dirty="0" smtClean="0"/>
          </a:p>
          <a:p>
            <a:pPr marL="358775" lvl="1">
              <a:spcBef>
                <a:spcPts val="800"/>
              </a:spcBef>
            </a:pPr>
            <a:r>
              <a:rPr lang="de-CH" dirty="0" err="1" smtClean="0"/>
              <a:t>Use</a:t>
            </a:r>
            <a:r>
              <a:rPr lang="de-CH" dirty="0" smtClean="0"/>
              <a:t> </a:t>
            </a:r>
            <a:r>
              <a:rPr lang="de-CH" dirty="0" err="1" smtClean="0"/>
              <a:t>of</a:t>
            </a:r>
            <a:r>
              <a:rPr lang="de-CH" dirty="0" smtClean="0"/>
              <a:t> OSS </a:t>
            </a:r>
            <a:r>
              <a:rPr lang="de-CH" dirty="0" err="1" smtClean="0"/>
              <a:t>with</a:t>
            </a:r>
            <a:r>
              <a:rPr lang="de-CH" dirty="0" smtClean="0"/>
              <a:t> </a:t>
            </a:r>
            <a:r>
              <a:rPr lang="de-CH" dirty="0" err="1" smtClean="0"/>
              <a:t>strict</a:t>
            </a:r>
            <a:r>
              <a:rPr lang="de-CH" dirty="0" smtClean="0"/>
              <a:t> </a:t>
            </a:r>
            <a:r>
              <a:rPr lang="de-CH" dirty="0" err="1" smtClean="0"/>
              <a:t>copyleft</a:t>
            </a:r>
            <a:endParaRPr lang="de-CH" dirty="0" smtClean="0"/>
          </a:p>
          <a:p>
            <a:pPr>
              <a:spcBef>
                <a:spcPts val="800"/>
              </a:spcBef>
            </a:pPr>
            <a:endParaRPr lang="de-CH" dirty="0" smtClean="0"/>
          </a:p>
          <a:p>
            <a:pPr lvl="1">
              <a:spcBef>
                <a:spcPts val="800"/>
              </a:spcBef>
              <a:buNone/>
            </a:pPr>
            <a:r>
              <a:rPr lang="de-CH" dirty="0" smtClean="0">
                <a:sym typeface="Wingdings" pitchFamily="2" charset="2"/>
              </a:rPr>
              <a:t>	</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18</a:t>
            </a:fld>
            <a:endParaRPr lang="de-CH"/>
          </a:p>
        </p:txBody>
      </p:sp>
      <p:pic>
        <p:nvPicPr>
          <p:cNvPr id="3074" name="Picture 2" descr="C:\Users\nmosimann\AppData\Local\Microsoft\Windows\Temporary Internet Files\Content.IE5\L5H6WKQW\Opensource.svg[1].png"/>
          <p:cNvPicPr>
            <a:picLocks noChangeAspect="1" noChangeArrowheads="1"/>
          </p:cNvPicPr>
          <p:nvPr/>
        </p:nvPicPr>
        <p:blipFill>
          <a:blip r:embed="rId3" cstate="print"/>
          <a:srcRect/>
          <a:stretch>
            <a:fillRect/>
          </a:stretch>
        </p:blipFill>
        <p:spPr bwMode="auto">
          <a:xfrm>
            <a:off x="7380312" y="1556792"/>
            <a:ext cx="967824" cy="1368152"/>
          </a:xfrm>
          <a:prstGeom prst="rect">
            <a:avLst/>
          </a:prstGeom>
          <a:noFill/>
        </p:spPr>
      </p:pic>
      <p:pic>
        <p:nvPicPr>
          <p:cNvPr id="3075" name="Picture 3" descr="C:\Users\nmosimann\AppData\Local\Microsoft\Windows\Temporary Internet Files\Content.IE5\T2EV2J59\513px-Haken_grün.svg[1].png"/>
          <p:cNvPicPr>
            <a:picLocks noChangeAspect="1" noChangeArrowheads="1"/>
          </p:cNvPicPr>
          <p:nvPr/>
        </p:nvPicPr>
        <p:blipFill>
          <a:blip r:embed="rId4" cstate="print"/>
          <a:srcRect/>
          <a:stretch>
            <a:fillRect/>
          </a:stretch>
        </p:blipFill>
        <p:spPr bwMode="auto">
          <a:xfrm>
            <a:off x="6660231" y="2924944"/>
            <a:ext cx="975693" cy="916734"/>
          </a:xfrm>
          <a:prstGeom prst="rect">
            <a:avLst/>
          </a:prstGeom>
          <a:noFill/>
        </p:spPr>
      </p:pic>
      <p:pic>
        <p:nvPicPr>
          <p:cNvPr id="3076" name="Picture 4" descr="C:\Users\nmosimann\AppData\Local\Microsoft\Windows\Temporary Internet Files\Content.IE5\L5H6WKQW\License_icon-gpl-4.svg[1].png"/>
          <p:cNvPicPr>
            <a:picLocks noChangeAspect="1" noChangeArrowheads="1"/>
          </p:cNvPicPr>
          <p:nvPr/>
        </p:nvPicPr>
        <p:blipFill>
          <a:blip r:embed="rId5" cstate="print"/>
          <a:srcRect/>
          <a:stretch>
            <a:fillRect/>
          </a:stretch>
        </p:blipFill>
        <p:spPr bwMode="auto">
          <a:xfrm>
            <a:off x="1331640" y="2780928"/>
            <a:ext cx="1039069" cy="1039069"/>
          </a:xfrm>
          <a:prstGeom prst="rect">
            <a:avLst/>
          </a:prstGeom>
          <a:noFill/>
        </p:spPr>
      </p:pic>
      <p:pic>
        <p:nvPicPr>
          <p:cNvPr id="3077" name="Picture 5" descr="C:\Users\nmosimann\AppData\Local\Microsoft\Windows\Temporary Internet Files\Content.IE5\T2EV2J59\forbidden-159816_640[1].png"/>
          <p:cNvPicPr>
            <a:picLocks noChangeAspect="1" noChangeArrowheads="1"/>
          </p:cNvPicPr>
          <p:nvPr/>
        </p:nvPicPr>
        <p:blipFill>
          <a:blip r:embed="rId6" cstate="print"/>
          <a:srcRect/>
          <a:stretch>
            <a:fillRect/>
          </a:stretch>
        </p:blipFill>
        <p:spPr bwMode="auto">
          <a:xfrm>
            <a:off x="2699792" y="2852936"/>
            <a:ext cx="936104" cy="936104"/>
          </a:xfrm>
          <a:prstGeom prst="rect">
            <a:avLst/>
          </a:prstGeom>
          <a:noFill/>
        </p:spPr>
      </p:pic>
      <p:sp>
        <p:nvSpPr>
          <p:cNvPr id="11" name="Textfeld 10"/>
          <p:cNvSpPr txBox="1"/>
          <p:nvPr/>
        </p:nvSpPr>
        <p:spPr>
          <a:xfrm>
            <a:off x="4716016" y="2996952"/>
            <a:ext cx="1512168" cy="830997"/>
          </a:xfrm>
          <a:prstGeom prst="rect">
            <a:avLst/>
          </a:prstGeom>
          <a:noFill/>
        </p:spPr>
        <p:txBody>
          <a:bodyPr wrap="square" rtlCol="0">
            <a:spAutoFit/>
          </a:bodyPr>
          <a:lstStyle/>
          <a:p>
            <a:r>
              <a:rPr lang="de-CH" sz="2400" b="1" dirty="0" smtClean="0"/>
              <a:t>MIT </a:t>
            </a:r>
            <a:r>
              <a:rPr lang="de-CH" sz="2400" b="1" dirty="0" err="1" smtClean="0"/>
              <a:t>License</a:t>
            </a:r>
            <a:endParaRPr lang="de-CH" sz="2400" b="1" dirty="0"/>
          </a:p>
        </p:txBody>
      </p:sp>
      <p:sp>
        <p:nvSpPr>
          <p:cNvPr id="13" name="Content Placeholder 2"/>
          <p:cNvSpPr txBox="1">
            <a:spLocks/>
          </p:cNvSpPr>
          <p:nvPr/>
        </p:nvSpPr>
        <p:spPr>
          <a:xfrm>
            <a:off x="1115616" y="4077072"/>
            <a:ext cx="7200851" cy="2232396"/>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Verdana" panose="020B0604030504040204" pitchFamily="34" charset="0"/>
              <a:buChar char="–"/>
              <a:tabLst/>
              <a:defRPr/>
            </a:pP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Measures</a:t>
            </a: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a:p>
            <a:pPr marL="815975" lvl="1" indent="-358775">
              <a:lnSpc>
                <a:spcPts val="2000"/>
              </a:lnSpc>
              <a:spcBef>
                <a:spcPts val="800"/>
              </a:spcBef>
              <a:buFont typeface="Arial" pitchFamily="34" charset="0"/>
              <a:buChar char="•"/>
            </a:pPr>
            <a:r>
              <a:rPr lang="de-CH" dirty="0" smtClean="0">
                <a:sym typeface="Wingdings" pitchFamily="2" charset="2"/>
              </a:rPr>
              <a:t>Developers‘ </a:t>
            </a:r>
            <a:r>
              <a:rPr lang="de-CH" dirty="0" err="1" smtClean="0">
                <a:sym typeface="Wingdings" pitchFamily="2" charset="2"/>
              </a:rPr>
              <a:t>guidelines</a:t>
            </a:r>
            <a:r>
              <a:rPr lang="de-CH" dirty="0" smtClean="0">
                <a:sym typeface="Wingdings" pitchFamily="2" charset="2"/>
              </a:rPr>
              <a:t> (</a:t>
            </a:r>
            <a:r>
              <a:rPr lang="de-CH" dirty="0" err="1" smtClean="0">
                <a:sym typeface="Wingdings" pitchFamily="2" charset="2"/>
              </a:rPr>
              <a:t>employment</a:t>
            </a:r>
            <a:r>
              <a:rPr lang="de-CH" dirty="0" smtClean="0">
                <a:sym typeface="Wingdings" pitchFamily="2" charset="2"/>
              </a:rPr>
              <a:t> </a:t>
            </a:r>
            <a:r>
              <a:rPr lang="de-CH" dirty="0" err="1" smtClean="0">
                <a:sym typeface="Wingdings" pitchFamily="2" charset="2"/>
              </a:rPr>
              <a:t>agreement</a:t>
            </a:r>
            <a:r>
              <a:rPr lang="de-CH" dirty="0" smtClean="0">
                <a:sym typeface="Wingdings" pitchFamily="2" charset="2"/>
              </a:rPr>
              <a:t>, </a:t>
            </a:r>
            <a:r>
              <a:rPr lang="de-CH" dirty="0" err="1" smtClean="0">
                <a:sym typeface="Wingdings" pitchFamily="2" charset="2"/>
              </a:rPr>
              <a:t>directives</a:t>
            </a:r>
            <a:r>
              <a:rPr lang="de-CH" dirty="0" smtClean="0">
                <a:sym typeface="Wingdings" pitchFamily="2" charset="2"/>
              </a:rPr>
              <a:t>)</a:t>
            </a:r>
          </a:p>
          <a:p>
            <a:pPr marL="815975" lvl="1" indent="-358775">
              <a:lnSpc>
                <a:spcPts val="2000"/>
              </a:lnSpc>
              <a:spcBef>
                <a:spcPts val="800"/>
              </a:spcBef>
              <a:buFont typeface="Arial" pitchFamily="34" charset="0"/>
              <a:buChar char="•"/>
            </a:pPr>
            <a:r>
              <a:rPr lang="de-CH" dirty="0" smtClean="0">
                <a:sym typeface="Wingdings" pitchFamily="2" charset="2"/>
              </a:rPr>
              <a:t>Reps </a:t>
            </a:r>
            <a:r>
              <a:rPr lang="de-CH" dirty="0" err="1" smtClean="0">
                <a:sym typeface="Wingdings" pitchFamily="2" charset="2"/>
              </a:rPr>
              <a:t>and</a:t>
            </a:r>
            <a:r>
              <a:rPr lang="de-CH" dirty="0" smtClean="0">
                <a:sym typeface="Wingdings" pitchFamily="2" charset="2"/>
              </a:rPr>
              <a:t> </a:t>
            </a:r>
            <a:r>
              <a:rPr lang="de-CH" dirty="0" err="1" smtClean="0">
                <a:sym typeface="Wingdings" pitchFamily="2" charset="2"/>
              </a:rPr>
              <a:t>warranties</a:t>
            </a:r>
            <a:r>
              <a:rPr lang="de-CH" dirty="0" smtClean="0">
                <a:sym typeface="Wingdings" pitchFamily="2" charset="2"/>
              </a:rPr>
              <a:t> </a:t>
            </a:r>
            <a:r>
              <a:rPr lang="de-CH" dirty="0" err="1" smtClean="0">
                <a:sym typeface="Wingdings" pitchFamily="2" charset="2"/>
              </a:rPr>
              <a:t>by</a:t>
            </a:r>
            <a:r>
              <a:rPr lang="de-CH" dirty="0" smtClean="0">
                <a:sym typeface="Wingdings" pitchFamily="2" charset="2"/>
              </a:rPr>
              <a:t> </a:t>
            </a:r>
            <a:r>
              <a:rPr lang="de-CH" dirty="0" err="1" smtClean="0">
                <a:sym typeface="Wingdings" pitchFamily="2" charset="2"/>
              </a:rPr>
              <a:t>third</a:t>
            </a:r>
            <a:r>
              <a:rPr lang="de-CH" dirty="0" smtClean="0">
                <a:sym typeface="Wingdings" pitchFamily="2" charset="2"/>
              </a:rPr>
              <a:t> </a:t>
            </a:r>
            <a:r>
              <a:rPr lang="de-CH" dirty="0" err="1" smtClean="0">
                <a:sym typeface="Wingdings" pitchFamily="2" charset="2"/>
              </a:rPr>
              <a:t>party</a:t>
            </a:r>
            <a:r>
              <a:rPr lang="de-CH" dirty="0" smtClean="0">
                <a:sym typeface="Wingdings" pitchFamily="2" charset="2"/>
              </a:rPr>
              <a:t> </a:t>
            </a:r>
            <a:r>
              <a:rPr lang="de-CH" dirty="0" err="1" smtClean="0">
                <a:sym typeface="Wingdings" pitchFamily="2" charset="2"/>
              </a:rPr>
              <a:t>developers</a:t>
            </a:r>
            <a:endParaRPr lang="de-CH" dirty="0" smtClean="0">
              <a:sym typeface="Wingdings" pitchFamily="2" charset="2"/>
            </a:endParaRPr>
          </a:p>
          <a:p>
            <a:pPr marL="815975" lvl="1" indent="-358775">
              <a:lnSpc>
                <a:spcPts val="2000"/>
              </a:lnSpc>
              <a:spcBef>
                <a:spcPts val="800"/>
              </a:spcBef>
              <a:buFont typeface="Arial" pitchFamily="34" charset="0"/>
              <a:buChar char="•"/>
            </a:pPr>
            <a:r>
              <a:rPr lang="de-CH" dirty="0" smtClean="0">
                <a:sym typeface="Wingdings" pitchFamily="2" charset="2"/>
              </a:rPr>
              <a:t>Source </a:t>
            </a:r>
            <a:r>
              <a:rPr lang="de-CH" dirty="0" err="1" smtClean="0">
                <a:sym typeface="Wingdings" pitchFamily="2" charset="2"/>
              </a:rPr>
              <a:t>code</a:t>
            </a:r>
            <a:r>
              <a:rPr lang="de-CH" dirty="0" smtClean="0">
                <a:sym typeface="Wingdings" pitchFamily="2" charset="2"/>
              </a:rPr>
              <a:t> </a:t>
            </a:r>
            <a:r>
              <a:rPr lang="de-CH" dirty="0" err="1" smtClean="0">
                <a:sym typeface="Wingdings" pitchFamily="2" charset="2"/>
              </a:rPr>
              <a:t>reviews</a:t>
            </a:r>
            <a:r>
              <a:rPr lang="de-CH" dirty="0" smtClean="0">
                <a:sym typeface="Wingdings" pitchFamily="2" charset="2"/>
              </a:rPr>
              <a:t> (</a:t>
            </a:r>
            <a:r>
              <a:rPr lang="de-CH" dirty="0" err="1" smtClean="0">
                <a:sym typeface="Wingdings" pitchFamily="2" charset="2"/>
              </a:rPr>
              <a:t>internally</a:t>
            </a:r>
            <a:r>
              <a:rPr lang="de-CH" dirty="0" smtClean="0">
                <a:sym typeface="Wingdings" pitchFamily="2" charset="2"/>
              </a:rPr>
              <a:t> </a:t>
            </a:r>
            <a:r>
              <a:rPr lang="de-CH" dirty="0" err="1" smtClean="0">
                <a:sym typeface="Wingdings" pitchFamily="2" charset="2"/>
              </a:rPr>
              <a:t>and</a:t>
            </a:r>
            <a:r>
              <a:rPr lang="de-CH" dirty="0" smtClean="0">
                <a:sym typeface="Wingdings" pitchFamily="2" charset="2"/>
              </a:rPr>
              <a:t> </a:t>
            </a:r>
            <a:r>
              <a:rPr lang="de-CH" dirty="0" err="1" smtClean="0">
                <a:sym typeface="Wingdings" pitchFamily="2" charset="2"/>
              </a:rPr>
              <a:t>externally</a:t>
            </a:r>
            <a:r>
              <a:rPr lang="de-CH" dirty="0" smtClean="0">
                <a:sym typeface="Wingdings" pitchFamily="2" charset="2"/>
              </a:rPr>
              <a:t>)</a:t>
            </a:r>
          </a:p>
          <a:p>
            <a:pPr marL="815975" lvl="1" indent="-358775">
              <a:lnSpc>
                <a:spcPts val="2000"/>
              </a:lnSpc>
              <a:spcBef>
                <a:spcPts val="800"/>
              </a:spcBef>
              <a:buFont typeface="Arial" pitchFamily="34" charset="0"/>
              <a:buChar char="•"/>
            </a:pPr>
            <a:r>
              <a:rPr lang="de-CH" dirty="0" smtClean="0">
                <a:sym typeface="Wingdings" pitchFamily="2" charset="2"/>
              </a:rPr>
              <a:t>Limitation </a:t>
            </a:r>
            <a:r>
              <a:rPr lang="de-CH" dirty="0" err="1" smtClean="0">
                <a:sym typeface="Wingdings" pitchFamily="2" charset="2"/>
              </a:rPr>
              <a:t>of</a:t>
            </a:r>
            <a:r>
              <a:rPr lang="de-CH" dirty="0" smtClean="0">
                <a:sym typeface="Wingdings" pitchFamily="2" charset="2"/>
              </a:rPr>
              <a:t> </a:t>
            </a:r>
            <a:r>
              <a:rPr lang="de-CH" dirty="0" err="1" smtClean="0">
                <a:sym typeface="Wingdings" pitchFamily="2" charset="2"/>
              </a:rPr>
              <a:t>obligation</a:t>
            </a:r>
            <a:r>
              <a:rPr lang="de-CH" dirty="0" smtClean="0">
                <a:sym typeface="Wingdings" pitchFamily="2" charset="2"/>
              </a:rPr>
              <a:t> </a:t>
            </a:r>
            <a:r>
              <a:rPr lang="de-CH" dirty="0" err="1" smtClean="0">
                <a:sym typeface="Wingdings" pitchFamily="2" charset="2"/>
              </a:rPr>
              <a:t>to</a:t>
            </a:r>
            <a:r>
              <a:rPr lang="de-CH" dirty="0" smtClean="0">
                <a:sym typeface="Wingdings" pitchFamily="2" charset="2"/>
              </a:rPr>
              <a:t> </a:t>
            </a:r>
            <a:r>
              <a:rPr lang="de-CH" dirty="0" err="1" smtClean="0">
                <a:sym typeface="Wingdings" pitchFamily="2" charset="2"/>
              </a:rPr>
              <a:t>indemnify</a:t>
            </a:r>
            <a:r>
              <a:rPr lang="de-CH" dirty="0" smtClean="0">
                <a:sym typeface="Wingdings" pitchFamily="2" charset="2"/>
              </a:rPr>
              <a:t>?</a:t>
            </a:r>
          </a:p>
          <a:p>
            <a:pPr marL="815975" lvl="1" indent="-358775">
              <a:lnSpc>
                <a:spcPts val="2000"/>
              </a:lnSpc>
              <a:spcBef>
                <a:spcPts val="800"/>
              </a:spcBef>
              <a:buFont typeface="Verdana" panose="020B0604030504040204" pitchFamily="34" charset="0"/>
              <a:buChar char="–"/>
            </a:pPr>
            <a:endParaRPr lang="de-CH" spc="-40" dirty="0" smtClean="0"/>
          </a:p>
          <a:p>
            <a:pPr marL="815975" lvl="1" indent="-358775">
              <a:lnSpc>
                <a:spcPts val="2000"/>
              </a:lnSpc>
              <a:spcBef>
                <a:spcPts val="800"/>
              </a:spcBef>
              <a:buFont typeface="Verdana" panose="020B0604030504040204" pitchFamily="34" charset="0"/>
              <a:buChar char="–"/>
            </a:pPr>
            <a:endParaRPr kumimoji="0" lang="de-CH"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ts val="2000"/>
              </a:lnSpc>
              <a:spcBef>
                <a:spcPts val="800"/>
              </a:spcBef>
              <a:spcAft>
                <a:spcPts val="0"/>
              </a:spcAft>
              <a:buClrTx/>
              <a:buSzTx/>
              <a:buFont typeface="Verdana" panose="020B0604030504040204" pitchFamily="34" charset="0"/>
              <a:buChar char="–"/>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a:p>
            <a:pPr marL="720000" marR="0" lvl="1" indent="-358775" algn="l" defTabSz="914400" rtl="0" eaLnBrk="1" fontAlgn="auto" latinLnBrk="0" hangingPunct="1">
              <a:lnSpc>
                <a:spcPts val="2000"/>
              </a:lnSpc>
              <a:spcBef>
                <a:spcPts val="800"/>
              </a:spcBef>
              <a:spcAft>
                <a:spcPts val="0"/>
              </a:spcAft>
              <a:buClrTx/>
              <a:buSzTx/>
              <a:buFont typeface="Verdana" panose="020B0604030504040204" pitchFamily="34" charset="0"/>
              <a:buNone/>
              <a:tabLst/>
              <a:defRPr/>
            </a:pPr>
            <a:r>
              <a:rPr kumimoji="0" lang="de-CH" sz="1800" b="0" i="0" u="none" strike="noStrike" kern="1200" cap="none" spc="-40" normalizeH="0" baseline="0" noProof="0" dirty="0" smtClean="0">
                <a:ln>
                  <a:noFill/>
                </a:ln>
                <a:solidFill>
                  <a:schemeClr val="tx1"/>
                </a:solidFill>
                <a:effectLst/>
                <a:uLnTx/>
                <a:uFillTx/>
                <a:latin typeface="+mn-lt"/>
                <a:ea typeface="+mn-ea"/>
                <a:cs typeface="+mn-cs"/>
                <a:sym typeface="Wingdings" pitchFamily="2" charset="2"/>
              </a:rPr>
              <a:t>	</a:t>
            </a:r>
            <a:endParaRPr kumimoji="0" lang="de-CH" sz="1800" b="0" i="0" u="none" strike="noStrike" kern="1200" cap="none" spc="-4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blinds(horizontal)">
                                      <p:cBhvr>
                                        <p:cTn id="7" dur="500"/>
                                        <p:tgtEl>
                                          <p:spTgt spid="3076"/>
                                        </p:tgtEl>
                                      </p:cBhvr>
                                    </p:animEffect>
                                  </p:childTnLst>
                                </p:cTn>
                              </p:par>
                              <p:par>
                                <p:cTn id="8" presetID="3" presetClass="entr" presetSubtype="10" fill="hold" nodeType="withEffect">
                                  <p:stCondLst>
                                    <p:cond delay="0"/>
                                  </p:stCondLst>
                                  <p:childTnLst>
                                    <p:set>
                                      <p:cBhvr>
                                        <p:cTn id="9" dur="1" fill="hold">
                                          <p:stCondLst>
                                            <p:cond delay="0"/>
                                          </p:stCondLst>
                                        </p:cTn>
                                        <p:tgtEl>
                                          <p:spTgt spid="3077"/>
                                        </p:tgtEl>
                                        <p:attrNameLst>
                                          <p:attrName>style.visibility</p:attrName>
                                        </p:attrNameLst>
                                      </p:cBhvr>
                                      <p:to>
                                        <p:strVal val="visible"/>
                                      </p:to>
                                    </p:set>
                                    <p:animEffect transition="in" filter="blinds(horizontal)">
                                      <p:cBhvr>
                                        <p:cTn id="10" dur="500"/>
                                        <p:tgtEl>
                                          <p:spTgt spid="307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3" presetClass="entr" presetSubtype="10" fill="hold" nodeType="withEffect">
                                  <p:stCondLst>
                                    <p:cond delay="0"/>
                                  </p:stCondLst>
                                  <p:childTnLst>
                                    <p:set>
                                      <p:cBhvr>
                                        <p:cTn id="17" dur="1" fill="hold">
                                          <p:stCondLst>
                                            <p:cond delay="0"/>
                                          </p:stCondLst>
                                        </p:cTn>
                                        <p:tgtEl>
                                          <p:spTgt spid="3075"/>
                                        </p:tgtEl>
                                        <p:attrNameLst>
                                          <p:attrName>style.visibility</p:attrName>
                                        </p:attrNameLst>
                                      </p:cBhvr>
                                      <p:to>
                                        <p:strVal val="visible"/>
                                      </p:to>
                                    </p:set>
                                    <p:animEffect transition="in" filter="blinds(horizontal)">
                                      <p:cBhvr>
                                        <p:cTn id="18" dur="500"/>
                                        <p:tgtEl>
                                          <p:spTgt spid="307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a:t>No</a:t>
            </a:r>
            <a:r>
              <a:rPr lang="de-CH" dirty="0"/>
              <a:t> </a:t>
            </a:r>
            <a:r>
              <a:rPr lang="de-CH" dirty="0" err="1"/>
              <a:t>Infringement</a:t>
            </a:r>
            <a:r>
              <a:rPr lang="de-CH" dirty="0"/>
              <a:t> upon </a:t>
            </a:r>
            <a:r>
              <a:rPr lang="de-CH" dirty="0" err="1"/>
              <a:t>third</a:t>
            </a:r>
            <a:r>
              <a:rPr lang="de-CH" dirty="0"/>
              <a:t> </a:t>
            </a:r>
            <a:r>
              <a:rPr lang="de-CH" dirty="0" err="1"/>
              <a:t>party</a:t>
            </a:r>
            <a:r>
              <a:rPr lang="de-CH" dirty="0"/>
              <a:t> </a:t>
            </a:r>
            <a:r>
              <a:rPr lang="de-CH" dirty="0" err="1"/>
              <a:t>rights</a:t>
            </a:r>
            <a:r>
              <a:rPr lang="de-CH" dirty="0"/>
              <a:t> </a:t>
            </a:r>
            <a:r>
              <a:rPr lang="de-CH" dirty="0" smtClean="0"/>
              <a:t>(6)</a:t>
            </a:r>
            <a:endParaRPr lang="de-CH" dirty="0"/>
          </a:p>
        </p:txBody>
      </p:sp>
      <p:sp>
        <p:nvSpPr>
          <p:cNvPr id="3" name="Content Placeholder 2"/>
          <p:cNvSpPr>
            <a:spLocks noGrp="1"/>
          </p:cNvSpPr>
          <p:nvPr>
            <p:ph idx="1"/>
          </p:nvPr>
        </p:nvSpPr>
        <p:spPr/>
        <p:txBody>
          <a:bodyPr/>
          <a:lstStyle/>
          <a:p>
            <a:pPr>
              <a:spcBef>
                <a:spcPts val="800"/>
              </a:spcBef>
            </a:pPr>
            <a:r>
              <a:rPr lang="de-CH" dirty="0" smtClean="0"/>
              <a:t>Obligation </a:t>
            </a:r>
            <a:r>
              <a:rPr lang="de-CH" dirty="0" err="1" smtClean="0"/>
              <a:t>to</a:t>
            </a:r>
            <a:r>
              <a:rPr lang="de-CH" dirty="0" smtClean="0"/>
              <a:t> </a:t>
            </a:r>
            <a:r>
              <a:rPr lang="de-CH" dirty="0" err="1" smtClean="0"/>
              <a:t>indemnify</a:t>
            </a:r>
            <a:r>
              <a:rPr lang="de-CH" dirty="0" smtClean="0"/>
              <a:t> </a:t>
            </a:r>
            <a:r>
              <a:rPr lang="de-CH" dirty="0" err="1" smtClean="0"/>
              <a:t>customers</a:t>
            </a:r>
            <a:r>
              <a:rPr lang="de-CH" dirty="0" smtClean="0"/>
              <a:t>:</a:t>
            </a:r>
          </a:p>
          <a:p>
            <a:pPr lvl="1">
              <a:spcBef>
                <a:spcPts val="800"/>
              </a:spcBef>
              <a:buFont typeface="Arial" pitchFamily="34" charset="0"/>
              <a:buChar char="•"/>
            </a:pPr>
            <a:r>
              <a:rPr lang="de-CH" dirty="0" err="1" smtClean="0"/>
              <a:t>Exclusion</a:t>
            </a:r>
            <a:r>
              <a:rPr lang="de-CH" dirty="0" smtClean="0"/>
              <a:t>: B2B vs. B2C</a:t>
            </a:r>
          </a:p>
          <a:p>
            <a:pPr lvl="1">
              <a:spcBef>
                <a:spcPts val="800"/>
              </a:spcBef>
              <a:buFont typeface="Arial" pitchFamily="34" charset="0"/>
              <a:buChar char="•"/>
            </a:pPr>
            <a:r>
              <a:rPr lang="de-CH" dirty="0" smtClean="0"/>
              <a:t>Market </a:t>
            </a:r>
            <a:r>
              <a:rPr lang="de-CH" dirty="0" err="1" smtClean="0"/>
              <a:t>standard</a:t>
            </a:r>
            <a:r>
              <a:rPr lang="de-CH" dirty="0" smtClean="0"/>
              <a:t> </a:t>
            </a:r>
            <a:r>
              <a:rPr lang="de-CH" dirty="0" err="1" smtClean="0"/>
              <a:t>indemnity</a:t>
            </a:r>
            <a:r>
              <a:rPr lang="de-CH" dirty="0" smtClean="0"/>
              <a:t> </a:t>
            </a:r>
            <a:r>
              <a:rPr lang="de-CH" dirty="0" err="1" smtClean="0"/>
              <a:t>language</a:t>
            </a:r>
            <a:r>
              <a:rPr lang="de-CH" dirty="0" smtClean="0"/>
              <a:t> (B2B)</a:t>
            </a:r>
          </a:p>
          <a:p>
            <a:pPr lvl="2">
              <a:spcBef>
                <a:spcPts val="800"/>
              </a:spcBef>
              <a:buFont typeface="Arial" pitchFamily="34" charset="0"/>
              <a:buChar char="•"/>
            </a:pPr>
            <a:r>
              <a:rPr lang="de-CH" dirty="0" smtClean="0"/>
              <a:t>Control </a:t>
            </a:r>
            <a:r>
              <a:rPr lang="de-CH" dirty="0" err="1" smtClean="0"/>
              <a:t>of</a:t>
            </a:r>
            <a:r>
              <a:rPr lang="de-CH" dirty="0" smtClean="0"/>
              <a:t> </a:t>
            </a:r>
            <a:r>
              <a:rPr lang="de-CH" dirty="0" err="1" smtClean="0"/>
              <a:t>litigation</a:t>
            </a:r>
            <a:endParaRPr lang="de-CH" dirty="0" smtClean="0"/>
          </a:p>
          <a:p>
            <a:pPr lvl="2">
              <a:spcBef>
                <a:spcPts val="800"/>
              </a:spcBef>
              <a:buFont typeface="Arial" pitchFamily="34" charset="0"/>
              <a:buChar char="•"/>
            </a:pPr>
            <a:r>
              <a:rPr lang="de-CH" dirty="0" err="1" smtClean="0"/>
              <a:t>No</a:t>
            </a:r>
            <a:r>
              <a:rPr lang="de-CH" dirty="0" smtClean="0"/>
              <a:t> </a:t>
            </a:r>
            <a:r>
              <a:rPr lang="de-CH" dirty="0" err="1" smtClean="0"/>
              <a:t>settlement</a:t>
            </a:r>
            <a:r>
              <a:rPr lang="de-CH" dirty="0" smtClean="0"/>
              <a:t> </a:t>
            </a:r>
            <a:r>
              <a:rPr lang="de-CH" dirty="0" err="1" smtClean="0"/>
              <a:t>without</a:t>
            </a:r>
            <a:r>
              <a:rPr lang="de-CH" dirty="0" smtClean="0"/>
              <a:t> </a:t>
            </a:r>
            <a:r>
              <a:rPr lang="de-CH" dirty="0" err="1" smtClean="0"/>
              <a:t>licensor’s</a:t>
            </a:r>
            <a:r>
              <a:rPr lang="de-CH" dirty="0" smtClean="0"/>
              <a:t> </a:t>
            </a:r>
            <a:r>
              <a:rPr lang="de-CH" dirty="0" err="1" smtClean="0"/>
              <a:t>approval</a:t>
            </a:r>
            <a:endParaRPr lang="de-CH" dirty="0" smtClean="0"/>
          </a:p>
          <a:p>
            <a:pPr lvl="2">
              <a:spcBef>
                <a:spcPts val="800"/>
              </a:spcBef>
              <a:buFont typeface="Arial" pitchFamily="34" charset="0"/>
              <a:buChar char="•"/>
            </a:pPr>
            <a:r>
              <a:rPr lang="de-CH" dirty="0" smtClean="0"/>
              <a:t>Limitation in </a:t>
            </a:r>
            <a:r>
              <a:rPr lang="de-CH" dirty="0" err="1" smtClean="0"/>
              <a:t>territory</a:t>
            </a:r>
            <a:r>
              <a:rPr lang="de-CH" dirty="0" smtClean="0"/>
              <a:t>?</a:t>
            </a:r>
          </a:p>
          <a:p>
            <a:pPr lvl="2">
              <a:spcBef>
                <a:spcPts val="800"/>
              </a:spcBef>
              <a:buFont typeface="Arial" pitchFamily="34" charset="0"/>
              <a:buChar char="•"/>
            </a:pPr>
            <a:r>
              <a:rPr lang="de-CH" dirty="0" smtClean="0"/>
              <a:t>Limitation </a:t>
            </a:r>
            <a:r>
              <a:rPr lang="de-CH" dirty="0" err="1" smtClean="0"/>
              <a:t>to</a:t>
            </a:r>
            <a:r>
              <a:rPr lang="de-CH" dirty="0"/>
              <a:t> </a:t>
            </a:r>
            <a:r>
              <a:rPr lang="de-CH" dirty="0" err="1" smtClean="0"/>
              <a:t>damages</a:t>
            </a:r>
            <a:r>
              <a:rPr lang="de-CH" dirty="0" smtClean="0"/>
              <a:t> </a:t>
            </a:r>
            <a:r>
              <a:rPr lang="de-CH" dirty="0" err="1" smtClean="0"/>
              <a:t>awarded</a:t>
            </a:r>
            <a:r>
              <a:rPr lang="de-CH" dirty="0" smtClean="0"/>
              <a:t> </a:t>
            </a:r>
            <a:r>
              <a:rPr lang="de-CH" dirty="0" err="1" smtClean="0"/>
              <a:t>by</a:t>
            </a:r>
            <a:r>
              <a:rPr lang="de-CH" dirty="0" smtClean="0"/>
              <a:t> final </a:t>
            </a:r>
            <a:r>
              <a:rPr lang="de-CH" dirty="0" err="1" smtClean="0"/>
              <a:t>court</a:t>
            </a:r>
            <a:r>
              <a:rPr lang="de-CH" dirty="0" smtClean="0"/>
              <a:t> </a:t>
            </a:r>
            <a:r>
              <a:rPr lang="de-CH" dirty="0" err="1" smtClean="0"/>
              <a:t>decision</a:t>
            </a:r>
            <a:endParaRPr lang="de-CH" dirty="0" smtClean="0"/>
          </a:p>
          <a:p>
            <a:pPr lvl="2">
              <a:spcBef>
                <a:spcPts val="800"/>
              </a:spcBef>
              <a:buFont typeface="Arial" pitchFamily="34" charset="0"/>
              <a:buChar char="•"/>
            </a:pPr>
            <a:r>
              <a:rPr lang="de-CH" dirty="0" err="1" smtClean="0"/>
              <a:t>Exclusion</a:t>
            </a:r>
            <a:r>
              <a:rPr lang="de-CH" dirty="0" smtClean="0"/>
              <a:t> </a:t>
            </a:r>
            <a:r>
              <a:rPr lang="de-CH" dirty="0" err="1" smtClean="0"/>
              <a:t>of</a:t>
            </a:r>
            <a:r>
              <a:rPr lang="de-CH" dirty="0" smtClean="0"/>
              <a:t> lost </a:t>
            </a:r>
            <a:r>
              <a:rPr lang="de-CH" dirty="0" err="1" smtClean="0"/>
              <a:t>profits</a:t>
            </a:r>
            <a:endParaRPr lang="de-CH" dirty="0" smtClean="0"/>
          </a:p>
          <a:p>
            <a:pPr lvl="2">
              <a:spcBef>
                <a:spcPts val="800"/>
              </a:spcBef>
              <a:buFont typeface="Arial" pitchFamily="34" charset="0"/>
              <a:buChar char="•"/>
            </a:pPr>
            <a:r>
              <a:rPr lang="de-CH" dirty="0" smtClean="0"/>
              <a:t>Cap?</a:t>
            </a:r>
          </a:p>
          <a:p>
            <a:pPr lvl="1">
              <a:spcBef>
                <a:spcPts val="800"/>
              </a:spcBef>
            </a:pPr>
            <a:endParaRPr lang="de-CH" dirty="0" smtClean="0"/>
          </a:p>
          <a:p>
            <a:pPr>
              <a:spcBef>
                <a:spcPts val="800"/>
              </a:spcBef>
            </a:pPr>
            <a:r>
              <a:rPr lang="de-CH" dirty="0" smtClean="0"/>
              <a:t>IP </a:t>
            </a:r>
            <a:r>
              <a:rPr lang="de-CH" dirty="0" err="1" smtClean="0"/>
              <a:t>rights</a:t>
            </a:r>
            <a:r>
              <a:rPr lang="de-CH" dirty="0" smtClean="0"/>
              <a:t> in separate </a:t>
            </a:r>
            <a:r>
              <a:rPr lang="de-CH" dirty="0" err="1" smtClean="0"/>
              <a:t>entity</a:t>
            </a:r>
            <a:endParaRPr lang="de-CH" dirty="0"/>
          </a:p>
        </p:txBody>
      </p:sp>
      <p:sp>
        <p:nvSpPr>
          <p:cNvPr id="4" name="Date Placeholder 3"/>
          <p:cNvSpPr>
            <a:spLocks noGrp="1"/>
          </p:cNvSpPr>
          <p:nvPr>
            <p:ph type="dt" sz="half" idx="10"/>
          </p:nvPr>
        </p:nvSpPr>
        <p:spPr/>
        <p:txBody>
          <a:bodyPr/>
          <a:lstStyle/>
          <a:p>
            <a:r>
              <a:rPr lang="de-DE" smtClean="0"/>
              <a:t>16.11.2016</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19</a:t>
            </a:fld>
            <a:endParaRPr lang="de-CH"/>
          </a:p>
        </p:txBody>
      </p:sp>
    </p:spTree>
    <p:extLst>
      <p:ext uri="{BB962C8B-B14F-4D97-AF65-F5344CB8AC3E}">
        <p14:creationId xmlns:p14="http://schemas.microsoft.com/office/powerpoint/2010/main" val="941614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539552" y="1484784"/>
            <a:ext cx="5832648" cy="923330"/>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spAutoFit/>
          </a:bodyPr>
          <a:lstStyle/>
          <a:p>
            <a:pPr algn="ctr"/>
            <a:r>
              <a:rPr lang="de-DE" sz="5400" b="0" cap="none" spc="0" dirty="0" smtClean="0">
                <a:ln w="0"/>
                <a:solidFill>
                  <a:schemeClr val="tx1"/>
                </a:solidFill>
                <a:effectLst>
                  <a:outerShdw blurRad="38100" dist="19050" dir="2700000" algn="tl" rotWithShape="0">
                    <a:schemeClr val="dk1">
                      <a:alpha val="40000"/>
                    </a:schemeClr>
                  </a:outerShdw>
                </a:effectLst>
              </a:rPr>
              <a:t>IT Agreements</a:t>
            </a:r>
          </a:p>
        </p:txBody>
      </p:sp>
      <p:sp>
        <p:nvSpPr>
          <p:cNvPr id="10" name="Rechteck 9"/>
          <p:cNvSpPr/>
          <p:nvPr/>
        </p:nvSpPr>
        <p:spPr>
          <a:xfrm>
            <a:off x="2627784" y="4077072"/>
            <a:ext cx="5616624" cy="1323439"/>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spAutoFit/>
          </a:bodyPr>
          <a:lstStyle/>
          <a:p>
            <a:pPr algn="ctr"/>
            <a:r>
              <a:rPr lang="de-DE" sz="4000" b="0" cap="none" spc="0" dirty="0" smtClean="0">
                <a:ln w="0"/>
                <a:solidFill>
                  <a:schemeClr val="tx1"/>
                </a:solidFill>
                <a:effectLst>
                  <a:outerShdw blurRad="38100" dist="19050" dir="2700000" algn="tl" rotWithShape="0">
                    <a:schemeClr val="dk1">
                      <a:alpha val="40000"/>
                    </a:schemeClr>
                  </a:outerShdw>
                </a:effectLst>
              </a:rPr>
              <a:t>The </a:t>
            </a:r>
            <a:r>
              <a:rPr lang="de-DE" sz="4000" dirty="0" err="1">
                <a:ln w="0"/>
                <a:solidFill>
                  <a:schemeClr val="tx1"/>
                </a:solidFill>
                <a:effectLst>
                  <a:outerShdw blurRad="38100" dist="19050" dir="2700000" algn="tl" rotWithShape="0">
                    <a:schemeClr val="dk1">
                      <a:alpha val="40000"/>
                    </a:schemeClr>
                  </a:outerShdw>
                </a:effectLst>
              </a:rPr>
              <a:t>V</a:t>
            </a:r>
            <a:r>
              <a:rPr lang="de-DE" sz="4000" b="0" cap="none" spc="0" dirty="0" err="1" smtClean="0">
                <a:ln w="0"/>
                <a:solidFill>
                  <a:schemeClr val="tx1"/>
                </a:solidFill>
                <a:effectLst>
                  <a:outerShdw blurRad="38100" dist="19050" dir="2700000" algn="tl" rotWithShape="0">
                    <a:schemeClr val="dk1">
                      <a:alpha val="40000"/>
                    </a:schemeClr>
                  </a:outerShdw>
                </a:effectLst>
              </a:rPr>
              <a:t>endor‘s</a:t>
            </a:r>
            <a:r>
              <a:rPr lang="de-DE" sz="4000" b="0" cap="none" spc="0" dirty="0" smtClean="0">
                <a:ln w="0"/>
                <a:solidFill>
                  <a:schemeClr val="tx1"/>
                </a:solidFill>
                <a:effectLst>
                  <a:outerShdw blurRad="38100" dist="19050" dir="2700000" algn="tl" rotWithShape="0">
                    <a:schemeClr val="dk1">
                      <a:alpha val="40000"/>
                    </a:schemeClr>
                  </a:outerShdw>
                </a:effectLst>
              </a:rPr>
              <a:t> </a:t>
            </a:r>
            <a:r>
              <a:rPr lang="de-DE" sz="4000" dirty="0" err="1">
                <a:ln w="0"/>
                <a:solidFill>
                  <a:schemeClr val="tx1"/>
                </a:solidFill>
                <a:effectLst>
                  <a:outerShdw blurRad="38100" dist="19050" dir="2700000" algn="tl" rotWithShape="0">
                    <a:schemeClr val="dk1">
                      <a:alpha val="40000"/>
                    </a:schemeClr>
                  </a:outerShdw>
                </a:effectLst>
              </a:rPr>
              <a:t>P</a:t>
            </a:r>
            <a:r>
              <a:rPr lang="de-DE" sz="4000" b="0" cap="none" spc="0" dirty="0" err="1" smtClean="0">
                <a:ln w="0"/>
                <a:solidFill>
                  <a:schemeClr val="tx1"/>
                </a:solidFill>
                <a:effectLst>
                  <a:outerShdw blurRad="38100" dist="19050" dir="2700000" algn="tl" rotWithShape="0">
                    <a:schemeClr val="dk1">
                      <a:alpha val="40000"/>
                    </a:schemeClr>
                  </a:outerShdw>
                </a:effectLst>
              </a:rPr>
              <a:t>erspective</a:t>
            </a:r>
            <a:endParaRPr lang="de-DE" sz="4000" b="0" cap="none" spc="0" dirty="0" smtClean="0">
              <a:ln w="0"/>
              <a:solidFill>
                <a:schemeClr val="tx1"/>
              </a:solidFill>
              <a:effectLst>
                <a:outerShdw blurRad="38100" dist="19050" dir="2700000" algn="tl" rotWithShape="0">
                  <a:schemeClr val="dk1">
                    <a:alpha val="40000"/>
                  </a:schemeClr>
                </a:outerShdw>
              </a:effectLst>
            </a:endParaRPr>
          </a:p>
        </p:txBody>
      </p:sp>
      <p:pic>
        <p:nvPicPr>
          <p:cNvPr id="6" name="Bildplatzhalter 5"/>
          <p:cNvPicPr>
            <a:picLocks noGrp="1" noChangeAspect="1"/>
          </p:cNvPicPr>
          <p:nvPr>
            <p:ph type="pic" sz="quarter" idx="13"/>
          </p:nvPr>
        </p:nvPicPr>
        <p:blipFill>
          <a:blip r:embed="rId2"/>
          <a:srcRect t="1719" b="1719"/>
          <a:stretch>
            <a:fillRect/>
          </a:stretch>
        </p:blipFill>
        <p:spPr>
          <a:xfrm>
            <a:off x="0" y="966788"/>
            <a:ext cx="9144000" cy="5910262"/>
          </a:xfrm>
          <a:prstGeom prst="rect">
            <a:avLst/>
          </a:prstGeom>
        </p:spPr>
      </p:pic>
      <p:sp>
        <p:nvSpPr>
          <p:cNvPr id="7" name="Rechteck 6"/>
          <p:cNvSpPr/>
          <p:nvPr/>
        </p:nvSpPr>
        <p:spPr>
          <a:xfrm>
            <a:off x="535385" y="1598600"/>
            <a:ext cx="6264696" cy="923330"/>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spAutoFit/>
          </a:bodyPr>
          <a:lstStyle/>
          <a:p>
            <a:pPr algn="ctr"/>
            <a:r>
              <a:rPr lang="de-DE" sz="5400" b="0" cap="none" spc="0" dirty="0" smtClean="0">
                <a:ln w="0"/>
                <a:solidFill>
                  <a:schemeClr val="tx1"/>
                </a:solidFill>
                <a:effectLst>
                  <a:outerShdw blurRad="38100" dist="19050" dir="2700000" algn="tl" rotWithShape="0">
                    <a:schemeClr val="dk1">
                      <a:alpha val="40000"/>
                    </a:schemeClr>
                  </a:outerShdw>
                </a:effectLst>
              </a:rPr>
              <a:t>IT Agreements</a:t>
            </a:r>
          </a:p>
        </p:txBody>
      </p:sp>
      <p:sp>
        <p:nvSpPr>
          <p:cNvPr id="9" name="Rechteck 8"/>
          <p:cNvSpPr/>
          <p:nvPr/>
        </p:nvSpPr>
        <p:spPr>
          <a:xfrm>
            <a:off x="2555776" y="5091842"/>
            <a:ext cx="6264696"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spAutoFit/>
          </a:bodyPr>
          <a:lstStyle/>
          <a:p>
            <a:pPr algn="ctr"/>
            <a:r>
              <a:rPr lang="de-DE" sz="5400" b="0" cap="none" spc="0" dirty="0" smtClean="0">
                <a:ln w="0"/>
                <a:solidFill>
                  <a:schemeClr val="tx1"/>
                </a:solidFill>
                <a:effectLst>
                  <a:outerShdw blurRad="38100" dist="19050" dir="2700000" algn="tl" rotWithShape="0">
                    <a:schemeClr val="dk1">
                      <a:alpha val="40000"/>
                    </a:schemeClr>
                  </a:outerShdw>
                </a:effectLst>
              </a:rPr>
              <a:t>The </a:t>
            </a:r>
            <a:r>
              <a:rPr lang="de-DE" sz="5400" b="0" cap="none" spc="0" dirty="0" err="1" smtClean="0">
                <a:ln w="0"/>
                <a:solidFill>
                  <a:schemeClr val="tx1"/>
                </a:solidFill>
                <a:effectLst>
                  <a:outerShdw blurRad="38100" dist="19050" dir="2700000" algn="tl" rotWithShape="0">
                    <a:schemeClr val="dk1">
                      <a:alpha val="40000"/>
                    </a:schemeClr>
                  </a:outerShdw>
                </a:effectLst>
              </a:rPr>
              <a:t>Vendor‘s</a:t>
            </a:r>
            <a:r>
              <a:rPr lang="de-DE" sz="5400" b="0" cap="none" spc="0" dirty="0" smtClean="0">
                <a:ln w="0"/>
                <a:solidFill>
                  <a:schemeClr val="tx1"/>
                </a:solidFill>
                <a:effectLst>
                  <a:outerShdw blurRad="38100" dist="19050" dir="2700000" algn="tl" rotWithShape="0">
                    <a:schemeClr val="dk1">
                      <a:alpha val="40000"/>
                    </a:schemeClr>
                  </a:outerShdw>
                </a:effectLst>
              </a:rPr>
              <a:t> </a:t>
            </a:r>
            <a:r>
              <a:rPr lang="de-DE" sz="5400" b="0" cap="none" spc="0" dirty="0" err="1" smtClean="0">
                <a:ln w="0"/>
                <a:solidFill>
                  <a:schemeClr val="tx1"/>
                </a:solidFill>
                <a:effectLst>
                  <a:outerShdw blurRad="38100" dist="19050" dir="2700000" algn="tl" rotWithShape="0">
                    <a:schemeClr val="dk1">
                      <a:alpha val="40000"/>
                    </a:schemeClr>
                  </a:outerShdw>
                </a:effectLst>
              </a:rPr>
              <a:t>Perspective</a:t>
            </a:r>
            <a:endParaRPr lang="de-DE" sz="5400" b="0" cap="none" spc="0" dirty="0" smtClean="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244156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	The Basics: </a:t>
            </a:r>
            <a:r>
              <a:rPr lang="de-CH" dirty="0" err="1" smtClean="0"/>
              <a:t>What</a:t>
            </a:r>
            <a:r>
              <a:rPr lang="de-CH" dirty="0" smtClean="0"/>
              <a:t> </a:t>
            </a:r>
            <a:r>
              <a:rPr lang="de-CH" dirty="0" err="1" smtClean="0"/>
              <a:t>is</a:t>
            </a:r>
            <a:r>
              <a:rPr lang="de-CH" dirty="0" smtClean="0"/>
              <a:t> an Agreement?</a:t>
            </a:r>
            <a:endParaRPr lang="de-CH" dirty="0"/>
          </a:p>
        </p:txBody>
      </p:sp>
      <p:sp>
        <p:nvSpPr>
          <p:cNvPr id="3" name="Content Placeholder 2"/>
          <p:cNvSpPr>
            <a:spLocks noGrp="1"/>
          </p:cNvSpPr>
          <p:nvPr>
            <p:ph idx="1"/>
          </p:nvPr>
        </p:nvSpPr>
        <p:spPr>
          <a:xfrm>
            <a:off x="971599" y="1844676"/>
            <a:ext cx="7200851" cy="4471940"/>
          </a:xfrm>
        </p:spPr>
        <p:txBody>
          <a:bodyPr/>
          <a:lstStyle/>
          <a:p>
            <a:pPr marL="0" indent="0">
              <a:buNone/>
            </a:pP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21</a:t>
            </a:fld>
            <a:endParaRPr lang="de-CH"/>
          </a:p>
        </p:txBody>
      </p:sp>
      <p:pic>
        <p:nvPicPr>
          <p:cNvPr id="7" name="Picture 8"/>
          <p:cNvPicPr>
            <a:picLocks noChangeAspect="1" noChangeArrowheads="1"/>
          </p:cNvPicPr>
          <p:nvPr/>
        </p:nvPicPr>
        <p:blipFill>
          <a:blip r:embed="rId2" cstate="print">
            <a:duotone>
              <a:schemeClr val="accent2">
                <a:shade val="45000"/>
                <a:satMod val="135000"/>
              </a:schemeClr>
              <a:prstClr val="white"/>
            </a:duotone>
            <a:lum bright="4000" contrast="20000"/>
          </a:blip>
          <a:srcRect/>
          <a:stretch>
            <a:fillRect/>
          </a:stretch>
        </p:blipFill>
        <p:spPr bwMode="auto">
          <a:xfrm>
            <a:off x="5321676" y="2348880"/>
            <a:ext cx="2016224" cy="1751856"/>
          </a:xfrm>
          <a:prstGeom prst="rect">
            <a:avLst/>
          </a:prstGeom>
          <a:noFill/>
          <a:ln w="9525">
            <a:noFill/>
            <a:miter lim="800000"/>
            <a:headEnd/>
            <a:tailEnd/>
          </a:ln>
          <a:effectLst/>
        </p:spPr>
      </p:pic>
      <p:pic>
        <p:nvPicPr>
          <p:cNvPr id="8" name="Picture 8"/>
          <p:cNvPicPr>
            <a:picLocks noChangeAspect="1" noChangeArrowheads="1"/>
          </p:cNvPicPr>
          <p:nvPr/>
        </p:nvPicPr>
        <p:blipFill>
          <a:blip r:embed="rId2" cstate="print">
            <a:duotone>
              <a:schemeClr val="accent2">
                <a:shade val="45000"/>
                <a:satMod val="135000"/>
              </a:schemeClr>
              <a:prstClr val="white"/>
            </a:duotone>
            <a:lum bright="3000" contrast="20000"/>
          </a:blip>
          <a:srcRect/>
          <a:stretch>
            <a:fillRect/>
          </a:stretch>
        </p:blipFill>
        <p:spPr bwMode="auto">
          <a:xfrm>
            <a:off x="1115616" y="2348880"/>
            <a:ext cx="2016224" cy="1751856"/>
          </a:xfrm>
          <a:prstGeom prst="rect">
            <a:avLst/>
          </a:prstGeom>
          <a:noFill/>
          <a:ln w="9525">
            <a:noFill/>
            <a:miter lim="800000"/>
            <a:headEnd/>
            <a:tailEnd/>
          </a:ln>
          <a:effectLst/>
        </p:spPr>
      </p:pic>
      <p:sp>
        <p:nvSpPr>
          <p:cNvPr id="9" name="Pfeil nach links und rechts 8"/>
          <p:cNvSpPr/>
          <p:nvPr/>
        </p:nvSpPr>
        <p:spPr>
          <a:xfrm>
            <a:off x="3144858" y="2598441"/>
            <a:ext cx="2160587" cy="1079500"/>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de-CH">
              <a:ln>
                <a:solidFill>
                  <a:schemeClr val="bg1"/>
                </a:solidFill>
              </a:ln>
            </a:endParaRPr>
          </a:p>
        </p:txBody>
      </p:sp>
      <p:sp>
        <p:nvSpPr>
          <p:cNvPr id="10" name="Text Box 7"/>
          <p:cNvSpPr txBox="1">
            <a:spLocks noChangeArrowheads="1"/>
          </p:cNvSpPr>
          <p:nvPr/>
        </p:nvSpPr>
        <p:spPr bwMode="auto">
          <a:xfrm>
            <a:off x="3131764" y="5299819"/>
            <a:ext cx="4103985" cy="3778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r" fontAlgn="auto">
              <a:spcBef>
                <a:spcPct val="50000"/>
              </a:spcBef>
              <a:spcAft>
                <a:spcPts val="0"/>
              </a:spcAft>
              <a:tabLst>
                <a:tab pos="1617663" algn="l"/>
              </a:tabLst>
              <a:defRPr/>
            </a:pPr>
            <a:r>
              <a:rPr lang="de-CH" altLang="de-DE" dirty="0" err="1" smtClean="0"/>
              <a:t>Accept</a:t>
            </a:r>
            <a:r>
              <a:rPr lang="de-CH" altLang="de-DE" dirty="0" smtClean="0"/>
              <a:t>: Great, </a:t>
            </a:r>
            <a:r>
              <a:rPr lang="de-CH" altLang="de-DE" dirty="0" err="1" smtClean="0"/>
              <a:t>we</a:t>
            </a:r>
            <a:r>
              <a:rPr lang="de-CH" altLang="de-DE" dirty="0" smtClean="0"/>
              <a:t> </a:t>
            </a:r>
            <a:r>
              <a:rPr lang="de-CH" altLang="de-DE" dirty="0" err="1" smtClean="0"/>
              <a:t>have</a:t>
            </a:r>
            <a:r>
              <a:rPr lang="de-CH" altLang="de-DE" dirty="0" smtClean="0"/>
              <a:t> a deal!</a:t>
            </a:r>
            <a:endParaRPr lang="de-CH" altLang="de-DE" dirty="0"/>
          </a:p>
        </p:txBody>
      </p:sp>
      <p:sp>
        <p:nvSpPr>
          <p:cNvPr id="11" name="Text Box 6"/>
          <p:cNvSpPr txBox="1">
            <a:spLocks noChangeArrowheads="1"/>
          </p:cNvSpPr>
          <p:nvPr/>
        </p:nvSpPr>
        <p:spPr bwMode="auto">
          <a:xfrm>
            <a:off x="1010950" y="4725144"/>
            <a:ext cx="6192613" cy="36933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fontAlgn="auto">
              <a:spcBef>
                <a:spcPct val="50000"/>
              </a:spcBef>
              <a:spcAft>
                <a:spcPts val="0"/>
              </a:spcAft>
              <a:defRPr/>
            </a:pPr>
            <a:r>
              <a:rPr lang="de-CH" altLang="de-DE" dirty="0" err="1" smtClean="0"/>
              <a:t>Offer</a:t>
            </a:r>
            <a:r>
              <a:rPr lang="de-CH" altLang="de-DE" dirty="0" smtClean="0"/>
              <a:t>: </a:t>
            </a:r>
            <a:r>
              <a:rPr lang="de-CH" altLang="de-DE" dirty="0" err="1" smtClean="0"/>
              <a:t>One</a:t>
            </a:r>
            <a:r>
              <a:rPr lang="de-CH" altLang="de-DE" dirty="0" smtClean="0"/>
              <a:t> off </a:t>
            </a:r>
            <a:r>
              <a:rPr lang="de-CH" altLang="de-DE" dirty="0" err="1" smtClean="0"/>
              <a:t>license</a:t>
            </a:r>
            <a:r>
              <a:rPr lang="de-CH" altLang="de-DE" dirty="0" smtClean="0"/>
              <a:t>, 2 </a:t>
            </a:r>
            <a:r>
              <a:rPr lang="de-CH" altLang="de-DE" dirty="0" err="1" smtClean="0"/>
              <a:t>users</a:t>
            </a:r>
            <a:r>
              <a:rPr lang="de-CH" altLang="de-DE" dirty="0" smtClean="0"/>
              <a:t>, </a:t>
            </a:r>
            <a:r>
              <a:rPr lang="de-CH" altLang="de-DE" dirty="0"/>
              <a:t>CHF </a:t>
            </a:r>
            <a:r>
              <a:rPr lang="de-CH" altLang="de-DE" dirty="0" smtClean="0"/>
              <a:t>20‘000.00 </a:t>
            </a:r>
            <a:endParaRPr lang="de-CH" altLang="de-DE" dirty="0"/>
          </a:p>
        </p:txBody>
      </p:sp>
      <p:sp>
        <p:nvSpPr>
          <p:cNvPr id="12" name="Pfeil nach rechts 11"/>
          <p:cNvSpPr/>
          <p:nvPr/>
        </p:nvSpPr>
        <p:spPr>
          <a:xfrm>
            <a:off x="7306393" y="4724548"/>
            <a:ext cx="792163" cy="358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CH"/>
          </a:p>
        </p:txBody>
      </p:sp>
      <p:sp>
        <p:nvSpPr>
          <p:cNvPr id="13" name="Pfeil nach links 12"/>
          <p:cNvSpPr/>
          <p:nvPr/>
        </p:nvSpPr>
        <p:spPr>
          <a:xfrm>
            <a:off x="2123653" y="5300612"/>
            <a:ext cx="833438" cy="36036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CH"/>
          </a:p>
        </p:txBody>
      </p:sp>
    </p:spTree>
    <p:extLst>
      <p:ext uri="{BB962C8B-B14F-4D97-AF65-F5344CB8AC3E}">
        <p14:creationId xmlns:p14="http://schemas.microsoft.com/office/powerpoint/2010/main" val="337062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	The Basics: </a:t>
            </a:r>
            <a:r>
              <a:rPr lang="de-CH" dirty="0" err="1" smtClean="0"/>
              <a:t>What</a:t>
            </a:r>
            <a:r>
              <a:rPr lang="de-CH" dirty="0" smtClean="0"/>
              <a:t> </a:t>
            </a:r>
            <a:r>
              <a:rPr lang="de-CH" dirty="0" err="1" smtClean="0"/>
              <a:t>is</a:t>
            </a:r>
            <a:r>
              <a:rPr lang="de-CH" dirty="0" smtClean="0"/>
              <a:t> </a:t>
            </a:r>
            <a:r>
              <a:rPr lang="de-CH" dirty="0" err="1" smtClean="0"/>
              <a:t>this</a:t>
            </a:r>
            <a:r>
              <a:rPr lang="de-CH" dirty="0" smtClean="0"/>
              <a:t> all </a:t>
            </a:r>
            <a:r>
              <a:rPr lang="de-CH" dirty="0" err="1" smtClean="0"/>
              <a:t>about</a:t>
            </a:r>
            <a:r>
              <a:rPr lang="de-CH" dirty="0" smtClean="0"/>
              <a:t>?</a:t>
            </a:r>
            <a:endParaRPr lang="de-CH" dirty="0"/>
          </a:p>
        </p:txBody>
      </p:sp>
      <p:sp>
        <p:nvSpPr>
          <p:cNvPr id="3" name="Content Placeholder 2"/>
          <p:cNvSpPr>
            <a:spLocks noGrp="1"/>
          </p:cNvSpPr>
          <p:nvPr>
            <p:ph idx="1"/>
          </p:nvPr>
        </p:nvSpPr>
        <p:spPr/>
        <p:txBody>
          <a:bodyPr/>
          <a:lstStyle/>
          <a:p>
            <a:pPr>
              <a:buFont typeface="Symbol" pitchFamily="18" charset="2"/>
              <a:buChar char="-"/>
              <a:defRPr/>
            </a:pPr>
            <a:r>
              <a:rPr lang="de-CH" dirty="0" err="1" smtClean="0"/>
              <a:t>Clear terms and conditions governing the relationship</a:t>
            </a:r>
          </a:p>
          <a:p>
            <a:pPr>
              <a:buFont typeface="Symbol" pitchFamily="18" charset="2"/>
              <a:buChar char="-"/>
              <a:defRPr/>
            </a:pPr>
            <a:endParaRPr lang="de-CH" dirty="0" smtClean="0"/>
          </a:p>
          <a:p>
            <a:pPr>
              <a:buFont typeface="Symbol" pitchFamily="18" charset="2"/>
              <a:buChar char="-"/>
              <a:defRPr/>
            </a:pPr>
            <a:r>
              <a:rPr lang="de-CH" dirty="0" err="1" smtClean="0"/>
              <a:t>Continuity</a:t>
            </a:r>
            <a:r>
              <a:rPr lang="de-CH" dirty="0" smtClean="0"/>
              <a:t>/</a:t>
            </a:r>
            <a:r>
              <a:rPr lang="de-CH" dirty="0" err="1" smtClean="0"/>
              <a:t>stability</a:t>
            </a:r>
            <a:endParaRPr lang="de-CH" dirty="0" smtClean="0"/>
          </a:p>
          <a:p>
            <a:pPr>
              <a:buFont typeface="Symbol" pitchFamily="18" charset="2"/>
              <a:buChar char="-"/>
              <a:defRPr/>
            </a:pPr>
            <a:endParaRPr lang="de-CH" dirty="0" smtClean="0"/>
          </a:p>
          <a:p>
            <a:pPr>
              <a:buFont typeface="Symbol" pitchFamily="18" charset="2"/>
              <a:buChar char="-"/>
              <a:defRPr/>
            </a:pPr>
            <a:r>
              <a:rPr lang="de-CH" dirty="0" err="1" smtClean="0"/>
              <a:t>Allocation</a:t>
            </a:r>
            <a:r>
              <a:rPr lang="de-CH" dirty="0" smtClean="0"/>
              <a:t> </a:t>
            </a:r>
            <a:r>
              <a:rPr lang="de-CH" dirty="0" err="1" smtClean="0"/>
              <a:t>of</a:t>
            </a:r>
            <a:r>
              <a:rPr lang="de-CH" dirty="0" smtClean="0"/>
              <a:t> </a:t>
            </a:r>
            <a:r>
              <a:rPr lang="de-CH" dirty="0" err="1" smtClean="0"/>
              <a:t>risks</a:t>
            </a:r>
            <a:endParaRPr lang="de-CH" dirty="0" smtClean="0"/>
          </a:p>
          <a:p>
            <a:pPr>
              <a:buFont typeface="Symbol" pitchFamily="18" charset="2"/>
              <a:buChar char="-"/>
              <a:defRPr/>
            </a:pPr>
            <a:endParaRPr lang="de-CH" dirty="0" smtClean="0"/>
          </a:p>
          <a:p>
            <a:pPr>
              <a:buFont typeface="Symbol" pitchFamily="18" charset="2"/>
              <a:buChar char="-"/>
              <a:defRPr/>
            </a:pPr>
            <a:r>
              <a:rPr lang="de-CH" dirty="0" smtClean="0"/>
              <a:t>Legal </a:t>
            </a:r>
            <a:r>
              <a:rPr lang="de-CH" dirty="0" err="1" smtClean="0"/>
              <a:t>enforcement</a:t>
            </a:r>
            <a:r>
              <a:rPr lang="de-CH" dirty="0" smtClean="0"/>
              <a:t> </a:t>
            </a:r>
            <a:r>
              <a:rPr lang="de-CH" dirty="0" err="1" smtClean="0"/>
              <a:t>of</a:t>
            </a:r>
            <a:r>
              <a:rPr lang="de-CH" dirty="0" smtClean="0"/>
              <a:t> </a:t>
            </a:r>
            <a:r>
              <a:rPr lang="de-CH" dirty="0" err="1" smtClean="0"/>
              <a:t>rights</a:t>
            </a:r>
            <a:endParaRPr lang="de-CH" dirty="0" smtClean="0"/>
          </a:p>
          <a:p>
            <a:pPr>
              <a:buFont typeface="Symbol" pitchFamily="18" charset="2"/>
              <a:buChar char="-"/>
              <a:defRPr/>
            </a:pPr>
            <a:endParaRPr lang="de-CH" dirty="0" smtClean="0"/>
          </a:p>
          <a:p>
            <a:pPr>
              <a:buFont typeface="Symbol" pitchFamily="18" charset="2"/>
              <a:buChar char="-"/>
              <a:defRPr/>
            </a:pPr>
            <a:r>
              <a:rPr lang="de-CH" dirty="0" smtClean="0"/>
              <a:t>Enterprise </a:t>
            </a:r>
            <a:r>
              <a:rPr lang="de-CH" dirty="0" err="1" smtClean="0"/>
              <a:t>value</a:t>
            </a:r>
            <a:r>
              <a:rPr lang="de-CH" dirty="0" smtClean="0"/>
              <a:t> (due </a:t>
            </a:r>
            <a:r>
              <a:rPr lang="de-CH" dirty="0" err="1" smtClean="0"/>
              <a:t>diligence</a:t>
            </a:r>
            <a:r>
              <a:rPr lang="de-CH" dirty="0" smtClean="0"/>
              <a:t>)</a:t>
            </a:r>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22</a:t>
            </a:fld>
            <a:endParaRPr lang="de-CH"/>
          </a:p>
        </p:txBody>
      </p:sp>
    </p:spTree>
    <p:extLst>
      <p:ext uri="{BB962C8B-B14F-4D97-AF65-F5344CB8AC3E}">
        <p14:creationId xmlns:p14="http://schemas.microsoft.com/office/powerpoint/2010/main" val="2638731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II	</a:t>
            </a:r>
            <a:r>
              <a:rPr lang="de-CH" dirty="0" err="1" smtClean="0"/>
              <a:t>Know</a:t>
            </a:r>
            <a:r>
              <a:rPr lang="de-CH" dirty="0" smtClean="0"/>
              <a:t> </a:t>
            </a:r>
            <a:r>
              <a:rPr lang="de-CH" dirty="0" err="1" smtClean="0"/>
              <a:t>your</a:t>
            </a:r>
            <a:r>
              <a:rPr lang="de-CH" dirty="0" smtClean="0"/>
              <a:t> Client: Who </a:t>
            </a:r>
            <a:r>
              <a:rPr lang="de-CH" dirty="0" err="1" smtClean="0"/>
              <a:t>is</a:t>
            </a:r>
            <a:r>
              <a:rPr lang="de-CH" dirty="0" smtClean="0"/>
              <a:t> </a:t>
            </a:r>
            <a:r>
              <a:rPr lang="de-CH" dirty="0" err="1" smtClean="0"/>
              <a:t>party</a:t>
            </a:r>
            <a:r>
              <a:rPr lang="de-CH" dirty="0" smtClean="0"/>
              <a:t> </a:t>
            </a:r>
            <a:r>
              <a:rPr lang="de-CH" dirty="0" err="1" smtClean="0"/>
              <a:t>to</a:t>
            </a:r>
            <a:r>
              <a:rPr lang="de-CH" dirty="0" smtClean="0"/>
              <a:t> </a:t>
            </a:r>
            <a:r>
              <a:rPr lang="de-CH" dirty="0" err="1" smtClean="0"/>
              <a:t>the</a:t>
            </a:r>
            <a:r>
              <a:rPr lang="de-CH" dirty="0" smtClean="0"/>
              <a:t> </a:t>
            </a:r>
            <a:r>
              <a:rPr lang="de-CH" dirty="0" err="1" smtClean="0"/>
              <a:t>Contract</a:t>
            </a:r>
            <a:r>
              <a:rPr lang="de-CH" dirty="0" smtClean="0"/>
              <a:t>?</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23</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noProof="0" dirty="0" err="1" smtClean="0"/>
              <a:t>Contractual</a:t>
            </a:r>
            <a:r>
              <a:rPr lang="de-CH" spc="-40" noProof="0" dirty="0" smtClean="0"/>
              <a:t> </a:t>
            </a:r>
            <a:r>
              <a:rPr lang="de-CH" spc="-40" dirty="0" smtClean="0"/>
              <a:t>o</a:t>
            </a:r>
            <a:r>
              <a:rPr lang="de-CH" spc="-40" noProof="0" dirty="0" err="1" smtClean="0"/>
              <a:t>bligations</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lang="de-CH" spc="-40" dirty="0" err="1" smtClean="0"/>
              <a:t>only</a:t>
            </a:r>
            <a:r>
              <a:rPr lang="de-CH" spc="-40" dirty="0" smtClean="0"/>
              <a:t> </a:t>
            </a:r>
            <a:r>
              <a:rPr lang="de-CH" spc="-40" dirty="0" err="1" smtClean="0"/>
              <a:t>oblige</a:t>
            </a:r>
            <a:r>
              <a:rPr lang="de-CH" spc="-40" dirty="0" smtClean="0"/>
              <a:t> </a:t>
            </a:r>
            <a:r>
              <a:rPr lang="de-CH" spc="-40" dirty="0" err="1" smtClean="0"/>
              <a:t>the</a:t>
            </a:r>
            <a:r>
              <a:rPr lang="de-CH" spc="-40" dirty="0" smtClean="0"/>
              <a:t> </a:t>
            </a:r>
            <a:r>
              <a:rPr lang="de-CH" spc="-40" dirty="0" err="1" smtClean="0"/>
              <a:t>parties</a:t>
            </a:r>
            <a:r>
              <a:rPr lang="de-CH" spc="-40" dirty="0" smtClean="0"/>
              <a:t> </a:t>
            </a:r>
            <a:r>
              <a:rPr lang="de-CH" spc="-40" dirty="0" err="1" smtClean="0"/>
              <a:t>to</a:t>
            </a:r>
            <a:r>
              <a:rPr lang="de-CH" spc="-40" dirty="0" smtClean="0"/>
              <a:t> </a:t>
            </a:r>
            <a:r>
              <a:rPr lang="de-CH" spc="-40" dirty="0" err="1" smtClean="0"/>
              <a:t>the</a:t>
            </a:r>
            <a:r>
              <a:rPr lang="de-CH" spc="-40" dirty="0" smtClean="0"/>
              <a:t> </a:t>
            </a:r>
            <a:r>
              <a:rPr lang="de-CH" spc="-40" dirty="0" err="1" smtClean="0"/>
              <a:t>agreement</a:t>
            </a: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ct val="200000"/>
              </a:lnSpc>
              <a:spcBef>
                <a:spcPts val="800"/>
              </a:spcBef>
              <a:spcAft>
                <a:spcPts val="0"/>
              </a:spcAft>
              <a:buClrTx/>
              <a:buSzTx/>
              <a:buFont typeface="Symbol" pitchFamily="18" charset="2"/>
              <a:buChar char="-"/>
              <a:tabLst/>
              <a:defRPr/>
            </a:pPr>
            <a:r>
              <a:rPr lang="de-CH" spc="-40" dirty="0" err="1" smtClean="0"/>
              <a:t>Which</a:t>
            </a:r>
            <a:r>
              <a:rPr lang="de-CH" spc="-40" dirty="0" smtClean="0"/>
              <a:t> </a:t>
            </a:r>
            <a:r>
              <a:rPr lang="de-CH" spc="-40" dirty="0" err="1" smtClean="0"/>
              <a:t>party</a:t>
            </a:r>
            <a:r>
              <a:rPr lang="de-CH" spc="-40" dirty="0" smtClean="0"/>
              <a:t> </a:t>
            </a:r>
            <a:r>
              <a:rPr lang="de-CH" spc="-40" dirty="0" err="1" smtClean="0"/>
              <a:t>can</a:t>
            </a:r>
            <a:r>
              <a:rPr lang="de-CH" spc="-40" dirty="0" smtClean="0"/>
              <a:t> I </a:t>
            </a:r>
            <a:r>
              <a:rPr lang="de-CH" spc="-40" dirty="0" err="1" smtClean="0"/>
              <a:t>sue</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a:t>
            </a:r>
          </a:p>
          <a:p>
            <a:pPr marL="358775" marR="0" lvl="0" indent="-358775" algn="l" defTabSz="914400" rtl="0" eaLnBrk="1" fontAlgn="auto" latinLnBrk="0" hangingPunct="1">
              <a:lnSpc>
                <a:spcPct val="200000"/>
              </a:lnSpc>
              <a:spcBef>
                <a:spcPts val="800"/>
              </a:spcBef>
              <a:spcAft>
                <a:spcPts val="0"/>
              </a:spcAft>
              <a:buClrTx/>
              <a:buSzTx/>
              <a:buFont typeface="Symbol" pitchFamily="18" charset="2"/>
              <a:buChar char="-"/>
              <a:tabLst/>
              <a:defRPr/>
            </a:pP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Shady</a:t>
            </a:r>
            <a:r>
              <a:rPr kumimoji="0" lang="de-CH" sz="1800" b="0" i="0" u="none" strike="noStrike" kern="1200" cap="none" spc="-40" normalizeH="0" noProof="0" dirty="0" smtClean="0">
                <a:ln>
                  <a:noFill/>
                </a:ln>
                <a:solidFill>
                  <a:schemeClr val="tx1"/>
                </a:solidFill>
                <a:effectLst/>
                <a:uLnTx/>
                <a:uFillTx/>
                <a:latin typeface="+mn-lt"/>
                <a:ea typeface="+mn-ea"/>
                <a:cs typeface="+mn-cs"/>
              </a:rPr>
              <a:t> Inc.</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Shady</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Group</a:t>
            </a:r>
          </a:p>
          <a:p>
            <a:pPr marL="358775" marR="0" lvl="0" indent="-358775" algn="l" defTabSz="914400" rtl="0" eaLnBrk="1" fontAlgn="auto" latinLnBrk="0" hangingPunct="1">
              <a:lnSpc>
                <a:spcPct val="200000"/>
              </a:lnSpc>
              <a:spcBef>
                <a:spcPts val="800"/>
              </a:spcBef>
              <a:spcAft>
                <a:spcPts val="0"/>
              </a:spcAft>
              <a:buClrTx/>
              <a:buSzTx/>
              <a:buFont typeface="Symbol" pitchFamily="18" charset="2"/>
              <a:buChar char="-"/>
              <a:tabLst/>
              <a:defRPr/>
            </a:pP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What</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is</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the</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contracting</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party‘s</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solvency</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capacity</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to</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 </a:t>
            </a:r>
            <a:r>
              <a:rPr kumimoji="0" lang="de-CH" sz="1800" b="0" i="0" u="none" strike="noStrike" kern="1200" cap="none" spc="-40" normalizeH="0" baseline="0" noProof="0" dirty="0" err="1" smtClean="0">
                <a:ln>
                  <a:noFill/>
                </a:ln>
                <a:solidFill>
                  <a:schemeClr val="tx1"/>
                </a:solidFill>
                <a:effectLst/>
                <a:uLnTx/>
                <a:uFillTx/>
                <a:latin typeface="+mn-lt"/>
                <a:ea typeface="+mn-ea"/>
                <a:cs typeface="+mn-cs"/>
              </a:rPr>
              <a:t>pay</a:t>
            </a:r>
            <a:r>
              <a:rPr kumimoji="0" lang="de-CH" sz="1800" b="0" i="0" u="none" strike="noStrike" kern="1200" cap="none" spc="-40" normalizeH="0" baseline="0" noProof="0" dirty="0" smtClean="0">
                <a:ln>
                  <a:noFill/>
                </a:ln>
                <a:solidFill>
                  <a:schemeClr val="tx1"/>
                </a:solidFill>
                <a:effectLst/>
                <a:uLnTx/>
                <a:uFillTx/>
                <a:latin typeface="+mn-lt"/>
                <a:ea typeface="+mn-ea"/>
                <a:cs typeface="+mn-cs"/>
              </a:rPr>
              <a:t>?</a:t>
            </a:r>
          </a:p>
          <a:p>
            <a:pPr marL="358775" marR="0" lvl="0" indent="-358775" algn="l" defTabSz="914400" rtl="0" eaLnBrk="1" fontAlgn="auto" latinLnBrk="0" hangingPunct="1">
              <a:lnSpc>
                <a:spcPct val="200000"/>
              </a:lnSpc>
              <a:spcBef>
                <a:spcPts val="800"/>
              </a:spcBef>
              <a:spcAft>
                <a:spcPts val="0"/>
              </a:spcAft>
              <a:buClrTx/>
              <a:buSzTx/>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6374175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III	 </a:t>
            </a:r>
            <a:r>
              <a:rPr lang="de-CH" dirty="0" err="1" smtClean="0"/>
              <a:t>License</a:t>
            </a:r>
            <a:r>
              <a:rPr lang="de-CH" dirty="0" smtClean="0"/>
              <a:t>: </a:t>
            </a:r>
            <a:r>
              <a:rPr lang="de-CH" dirty="0" err="1" smtClean="0"/>
              <a:t>What</a:t>
            </a:r>
            <a:r>
              <a:rPr lang="de-CH" dirty="0" smtClean="0"/>
              <a:t> </a:t>
            </a:r>
            <a:r>
              <a:rPr lang="de-CH" dirty="0" err="1" smtClean="0"/>
              <a:t>is</a:t>
            </a:r>
            <a:r>
              <a:rPr lang="de-CH" dirty="0" smtClean="0"/>
              <a:t> a </a:t>
            </a:r>
            <a:r>
              <a:rPr lang="de-CH" dirty="0" err="1" smtClean="0"/>
              <a:t>license</a:t>
            </a:r>
            <a:r>
              <a:rPr lang="de-CH" dirty="0" smtClean="0"/>
              <a:t>?</a:t>
            </a:r>
            <a:endParaRPr lang="de-CH" dirty="0"/>
          </a:p>
        </p:txBody>
      </p:sp>
      <p:sp>
        <p:nvSpPr>
          <p:cNvPr id="4" name="Date Placeholder 3"/>
          <p:cNvSpPr>
            <a:spLocks noGrp="1"/>
          </p:cNvSpPr>
          <p:nvPr>
            <p:ph type="dt" sz="half" idx="10"/>
          </p:nvPr>
        </p:nvSpPr>
        <p:spPr>
          <a:xfrm>
            <a:off x="6997400" y="6629866"/>
            <a:ext cx="1391913" cy="145747"/>
          </a:xfrm>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24</a:t>
            </a:fld>
            <a:endParaRPr lang="de-CH"/>
          </a:p>
        </p:txBody>
      </p:sp>
      <p:sp>
        <p:nvSpPr>
          <p:cNvPr id="8" name="Inhaltsplatzhalter 2"/>
          <p:cNvSpPr txBox="1">
            <a:spLocks/>
          </p:cNvSpPr>
          <p:nvPr/>
        </p:nvSpPr>
        <p:spPr>
          <a:xfrm>
            <a:off x="971600" y="1916832"/>
            <a:ext cx="7200900" cy="43924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lang="de-CH" spc="-40" dirty="0" smtClean="0"/>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dirty="0" err="1" smtClean="0"/>
              <a:t>Right</a:t>
            </a:r>
            <a:r>
              <a:rPr lang="de-CH" spc="-40" dirty="0" smtClean="0"/>
              <a:t> </a:t>
            </a:r>
            <a:r>
              <a:rPr lang="de-CH" spc="-40" dirty="0" err="1" smtClean="0"/>
              <a:t>to</a:t>
            </a:r>
            <a:r>
              <a:rPr lang="de-CH" spc="-40" dirty="0" smtClean="0"/>
              <a:t> do </a:t>
            </a:r>
            <a:r>
              <a:rPr lang="de-CH" spc="-40" dirty="0" err="1" smtClean="0"/>
              <a:t>something</a:t>
            </a:r>
            <a:r>
              <a:rPr lang="de-CH" spc="-40" dirty="0" smtClean="0"/>
              <a:t> </a:t>
            </a:r>
            <a:r>
              <a:rPr lang="de-CH" spc="-40" dirty="0" err="1" smtClean="0"/>
              <a:t>with</a:t>
            </a:r>
            <a:r>
              <a:rPr lang="de-CH" spc="-40" dirty="0" smtClean="0"/>
              <a:t> </a:t>
            </a:r>
            <a:r>
              <a:rPr lang="de-CH" spc="-40" dirty="0" err="1" smtClean="0"/>
              <a:t>something</a:t>
            </a:r>
            <a:r>
              <a:rPr lang="de-CH" spc="-40" dirty="0" smtClean="0"/>
              <a:t>, e.g.</a:t>
            </a:r>
          </a:p>
          <a:p>
            <a:pPr marL="815975" lvl="1" indent="-358775">
              <a:lnSpc>
                <a:spcPts val="2000"/>
              </a:lnSpc>
              <a:spcBef>
                <a:spcPts val="800"/>
              </a:spcBef>
              <a:buFont typeface="Arial" pitchFamily="34" charset="0"/>
              <a:buChar char="•"/>
              <a:defRPr/>
            </a:pPr>
            <a:r>
              <a:rPr lang="de-CH" spc="-40" dirty="0" err="1" smtClean="0"/>
              <a:t>use</a:t>
            </a:r>
            <a:r>
              <a:rPr lang="de-CH" spc="-40" dirty="0" smtClean="0"/>
              <a:t>, </a:t>
            </a:r>
            <a:r>
              <a:rPr lang="de-CH" spc="-40" dirty="0" err="1" smtClean="0"/>
              <a:t>modify</a:t>
            </a:r>
            <a:r>
              <a:rPr lang="de-CH" spc="-40" dirty="0" smtClean="0"/>
              <a:t>, </a:t>
            </a:r>
            <a:r>
              <a:rPr lang="de-CH" spc="-40" dirty="0" err="1" smtClean="0"/>
              <a:t>exploit</a:t>
            </a:r>
            <a:r>
              <a:rPr lang="de-CH" spc="-40" dirty="0" smtClean="0"/>
              <a:t>, </a:t>
            </a:r>
            <a:r>
              <a:rPr lang="de-CH" spc="-40" dirty="0" err="1" smtClean="0"/>
              <a:t>reproduce</a:t>
            </a:r>
            <a:r>
              <a:rPr lang="de-CH" spc="-40" dirty="0" smtClean="0"/>
              <a:t>, </a:t>
            </a:r>
            <a:r>
              <a:rPr lang="de-CH" spc="-40" dirty="0" err="1" smtClean="0"/>
              <a:t>display</a:t>
            </a:r>
            <a:r>
              <a:rPr lang="de-CH" spc="-40" dirty="0" smtClean="0"/>
              <a:t>, </a:t>
            </a:r>
            <a:r>
              <a:rPr lang="de-CH" spc="-40" dirty="0" err="1" smtClean="0"/>
              <a:t>access</a:t>
            </a:r>
            <a:r>
              <a:rPr lang="de-CH" spc="-40" dirty="0" smtClean="0"/>
              <a:t>, </a:t>
            </a:r>
            <a:r>
              <a:rPr lang="de-CH" spc="-40" dirty="0" err="1" smtClean="0"/>
              <a:t>produce</a:t>
            </a:r>
            <a:endParaRPr lang="de-CH" spc="-40" dirty="0" smtClean="0"/>
          </a:p>
          <a:p>
            <a:pPr marL="815975" lvl="1" indent="-358775">
              <a:lnSpc>
                <a:spcPts val="2000"/>
              </a:lnSpc>
              <a:spcBef>
                <a:spcPts val="800"/>
              </a:spcBef>
              <a:buFont typeface="Arial" pitchFamily="34" charset="0"/>
              <a:buChar char="•"/>
              <a:defRPr/>
            </a:pPr>
            <a:r>
              <a:rPr lang="de-CH" spc="-40" dirty="0" smtClean="0"/>
              <a:t>Software (</a:t>
            </a:r>
            <a:r>
              <a:rPr lang="de-CH" spc="-40" dirty="0" err="1" smtClean="0"/>
              <a:t>object</a:t>
            </a:r>
            <a:r>
              <a:rPr lang="de-CH" spc="-40" dirty="0" smtClean="0"/>
              <a:t> </a:t>
            </a:r>
            <a:r>
              <a:rPr lang="de-CH" spc="-40" dirty="0" err="1" smtClean="0"/>
              <a:t>or</a:t>
            </a:r>
            <a:r>
              <a:rPr lang="de-CH" spc="-40" dirty="0" smtClean="0"/>
              <a:t> </a:t>
            </a:r>
            <a:r>
              <a:rPr lang="de-CH" spc="-40" dirty="0" err="1" smtClean="0"/>
              <a:t>source</a:t>
            </a:r>
            <a:r>
              <a:rPr lang="de-CH" spc="-40" dirty="0" smtClean="0"/>
              <a:t> </a:t>
            </a:r>
            <a:r>
              <a:rPr lang="de-CH" spc="-40" dirty="0" err="1" smtClean="0"/>
              <a:t>code</a:t>
            </a:r>
            <a:r>
              <a:rPr lang="de-CH" spc="-40" dirty="0" smtClean="0"/>
              <a:t>), </a:t>
            </a:r>
            <a:r>
              <a:rPr lang="de-CH" spc="-40" dirty="0" err="1" smtClean="0"/>
              <a:t>music</a:t>
            </a:r>
            <a:r>
              <a:rPr lang="de-CH" spc="-40" dirty="0" smtClean="0"/>
              <a:t>, film, </a:t>
            </a:r>
            <a:r>
              <a:rPr lang="de-CH" spc="-40" dirty="0" err="1" smtClean="0"/>
              <a:t>recipe</a:t>
            </a:r>
            <a:r>
              <a:rPr lang="de-CH" spc="-40" dirty="0" smtClean="0"/>
              <a:t>/</a:t>
            </a:r>
            <a:r>
              <a:rPr lang="de-CH" spc="-40" dirty="0" err="1" smtClean="0"/>
              <a:t>formula</a:t>
            </a:r>
            <a:r>
              <a:rPr lang="de-CH" spc="-40" dirty="0" smtClean="0"/>
              <a:t>, </a:t>
            </a:r>
            <a:r>
              <a:rPr lang="de-CH" spc="-40" dirty="0" err="1" smtClean="0"/>
              <a:t>drug</a:t>
            </a:r>
            <a:r>
              <a:rPr lang="de-CH" spc="-40" dirty="0" smtClean="0"/>
              <a:t>, plan, </a:t>
            </a:r>
            <a:r>
              <a:rPr lang="de-CH" spc="-40" dirty="0" err="1" smtClean="0"/>
              <a:t>concept</a:t>
            </a:r>
            <a:r>
              <a:rPr lang="de-CH" spc="-40" dirty="0" smtClean="0"/>
              <a:t>, </a:t>
            </a:r>
            <a:r>
              <a:rPr lang="de-CH" spc="-40" dirty="0" err="1" smtClean="0"/>
              <a:t>trademark</a:t>
            </a:r>
            <a:r>
              <a:rPr lang="de-CH" spc="-40" dirty="0" smtClean="0"/>
              <a:t>, design, patent</a:t>
            </a:r>
          </a:p>
          <a:p>
            <a:pPr marL="1273175" lvl="2" indent="-358775">
              <a:lnSpc>
                <a:spcPts val="2000"/>
              </a:lnSpc>
              <a:spcBef>
                <a:spcPts val="800"/>
              </a:spcBef>
              <a:defRPr/>
            </a:pPr>
            <a:r>
              <a:rPr lang="de-CH" spc="-40" dirty="0" smtClean="0"/>
              <a:t>	</a:t>
            </a:r>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kumimoji="0" lang="de-CH" b="0" i="0" u="none" strike="noStrike" kern="1200" cap="none" spc="-40" normalizeH="0" baseline="0" noProof="0" dirty="0" smtClean="0">
                <a:ln>
                  <a:noFill/>
                </a:ln>
                <a:solidFill>
                  <a:schemeClr val="tx1"/>
                </a:solidFill>
                <a:effectLst/>
                <a:uLnTx/>
                <a:uFillTx/>
                <a:latin typeface="+mn-lt"/>
                <a:ea typeface="+mn-ea"/>
                <a:cs typeface="+mn-cs"/>
              </a:rPr>
              <a:t>E.g.:</a:t>
            </a:r>
          </a:p>
          <a:p>
            <a:pPr marL="815975" lvl="1" indent="-358775">
              <a:lnSpc>
                <a:spcPts val="2000"/>
              </a:lnSpc>
              <a:spcBef>
                <a:spcPts val="800"/>
              </a:spcBef>
              <a:buFont typeface="Arial" pitchFamily="34" charset="0"/>
              <a:buChar char="•"/>
              <a:defRPr/>
            </a:pPr>
            <a:r>
              <a:rPr kumimoji="0" lang="de-CH" b="0" i="0" u="none" strike="noStrike" kern="1200" cap="none" spc="-40" normalizeH="0" baseline="0" noProof="0" dirty="0" err="1" smtClean="0">
                <a:ln>
                  <a:noFill/>
                </a:ln>
                <a:solidFill>
                  <a:schemeClr val="tx1"/>
                </a:solidFill>
                <a:effectLst/>
                <a:uLnTx/>
                <a:uFillTx/>
                <a:latin typeface="+mn-lt"/>
                <a:ea typeface="+mn-ea"/>
                <a:cs typeface="+mn-cs"/>
              </a:rPr>
              <a:t>Produce</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and</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sell</a:t>
            </a:r>
            <a:r>
              <a:rPr kumimoji="0" lang="de-CH" b="0" i="0" u="none" strike="noStrike" kern="1200" cap="none" spc="-40" normalizeH="0" baseline="0" noProof="0" dirty="0" smtClean="0">
                <a:ln>
                  <a:noFill/>
                </a:ln>
                <a:solidFill>
                  <a:schemeClr val="tx1"/>
                </a:solidFill>
                <a:effectLst/>
                <a:uLnTx/>
                <a:uFillTx/>
                <a:latin typeface="+mn-lt"/>
                <a:ea typeface="+mn-ea"/>
                <a:cs typeface="+mn-cs"/>
              </a:rPr>
              <a:t> Coca</a:t>
            </a:r>
            <a:r>
              <a:rPr lang="de-CH" spc="-40" dirty="0" smtClean="0"/>
              <a:t>-</a:t>
            </a:r>
            <a:r>
              <a:rPr kumimoji="0" lang="de-CH" b="0" i="0" u="none" strike="noStrike" kern="1200" cap="none" spc="-40" normalizeH="0" baseline="0" noProof="0" dirty="0" smtClean="0">
                <a:ln>
                  <a:noFill/>
                </a:ln>
                <a:solidFill>
                  <a:schemeClr val="tx1"/>
                </a:solidFill>
                <a:effectLst/>
                <a:uLnTx/>
                <a:uFillTx/>
                <a:latin typeface="+mn-lt"/>
                <a:ea typeface="+mn-ea"/>
                <a:cs typeface="+mn-cs"/>
              </a:rPr>
              <a:t>Cola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using</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the</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secret</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formula</a:t>
            </a:r>
            <a:r>
              <a:rPr kumimoji="0" lang="de-CH" b="0" i="0" u="none" strike="noStrike" kern="1200" cap="none" spc="-40" normalizeH="0" baseline="0" noProof="0" dirty="0" smtClean="0">
                <a:ln>
                  <a:noFill/>
                </a:ln>
                <a:solidFill>
                  <a:schemeClr val="tx1"/>
                </a:solidFill>
                <a:effectLst/>
                <a:uLnTx/>
                <a:uFillTx/>
                <a:latin typeface="+mn-lt"/>
                <a:ea typeface="+mn-ea"/>
                <a:cs typeface="+mn-cs"/>
              </a:rPr>
              <a:t> (i.e.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know</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how</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and</a:t>
            </a:r>
            <a:r>
              <a:rPr kumimoji="0" lang="de-CH" b="0" i="0" u="none" strike="noStrike" kern="1200" cap="none" spc="-40" normalizeH="0" baseline="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the</a:t>
            </a:r>
            <a:r>
              <a:rPr kumimoji="0" lang="de-CH" b="0" i="0" u="none" strike="noStrike" kern="1200" cap="none" spc="-40" normalizeH="0" baseline="0" noProof="0" dirty="0" smtClean="0">
                <a:ln>
                  <a:noFill/>
                </a:ln>
                <a:solidFill>
                  <a:schemeClr val="tx1"/>
                </a:solidFill>
                <a:effectLst/>
                <a:uLnTx/>
                <a:uFillTx/>
                <a:latin typeface="+mn-lt"/>
                <a:ea typeface="+mn-ea"/>
                <a:cs typeface="+mn-cs"/>
              </a:rPr>
              <a:t> Coca-Cola</a:t>
            </a:r>
            <a:r>
              <a:rPr kumimoji="0" lang="de-CH" b="0" i="0" u="none" strike="noStrike" kern="1200" cap="none" spc="-40" normalizeH="0" noProof="0" dirty="0" smtClean="0">
                <a:ln>
                  <a:noFill/>
                </a:ln>
                <a:solidFill>
                  <a:schemeClr val="tx1"/>
                </a:solidFill>
                <a:effectLst/>
                <a:uLnTx/>
                <a:uFillTx/>
                <a:latin typeface="+mn-lt"/>
                <a:ea typeface="+mn-ea"/>
                <a:cs typeface="+mn-cs"/>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rPr>
              <a:t>trademarks</a:t>
            </a:r>
            <a:r>
              <a:rPr kumimoji="0" lang="de-CH" b="0" i="0" u="none" strike="noStrike" kern="1200" cap="none" spc="-40" normalizeH="0" baseline="0" noProof="0" dirty="0" smtClean="0">
                <a:ln>
                  <a:noFill/>
                </a:ln>
                <a:solidFill>
                  <a:schemeClr val="tx1"/>
                </a:solidFill>
                <a:effectLst/>
                <a:uLnTx/>
                <a:uFillTx/>
                <a:latin typeface="+mn-lt"/>
                <a:ea typeface="+mn-ea"/>
                <a:cs typeface="+mn-cs"/>
              </a:rPr>
              <a:t>.</a:t>
            </a:r>
          </a:p>
          <a:p>
            <a:pPr marL="815975" lvl="1" indent="-358775">
              <a:lnSpc>
                <a:spcPts val="2000"/>
              </a:lnSpc>
              <a:spcBef>
                <a:spcPts val="800"/>
              </a:spcBef>
              <a:buFont typeface="Arial" pitchFamily="34" charset="0"/>
              <a:buChar char="•"/>
              <a:defRPr/>
            </a:pPr>
            <a:r>
              <a:rPr lang="de-CH" spc="-40" dirty="0" err="1" smtClean="0"/>
              <a:t>Offer</a:t>
            </a:r>
            <a:r>
              <a:rPr lang="de-CH" spc="-40" dirty="0" smtClean="0"/>
              <a:t> </a:t>
            </a:r>
            <a:r>
              <a:rPr lang="de-CH" spc="-40" noProof="0" dirty="0" smtClean="0"/>
              <a:t>a </a:t>
            </a:r>
            <a:r>
              <a:rPr lang="de-CH" spc="-40" noProof="0" dirty="0" err="1" smtClean="0"/>
              <a:t>band‘s</a:t>
            </a:r>
            <a:r>
              <a:rPr lang="de-CH" spc="-40" noProof="0" dirty="0" smtClean="0"/>
              <a:t> </a:t>
            </a:r>
            <a:r>
              <a:rPr lang="de-CH" spc="-40" noProof="0" dirty="0" err="1" smtClean="0"/>
              <a:t>record</a:t>
            </a:r>
            <a:r>
              <a:rPr lang="de-CH" spc="-40" noProof="0" dirty="0" smtClean="0"/>
              <a:t> via a </a:t>
            </a:r>
            <a:r>
              <a:rPr lang="de-CH" spc="-40" noProof="0" dirty="0" err="1" smtClean="0"/>
              <a:t>streaming</a:t>
            </a:r>
            <a:r>
              <a:rPr lang="de-CH" spc="-40" noProof="0" dirty="0" smtClean="0"/>
              <a:t> </a:t>
            </a:r>
            <a:r>
              <a:rPr lang="de-CH" spc="-40" noProof="0" dirty="0" err="1" smtClean="0"/>
              <a:t>service</a:t>
            </a:r>
            <a:endParaRPr lang="de-CH" spc="-40" noProof="0" dirty="0" smtClean="0"/>
          </a:p>
          <a:p>
            <a:pPr marL="815975" lvl="1" indent="-358775">
              <a:lnSpc>
                <a:spcPts val="2000"/>
              </a:lnSpc>
              <a:spcBef>
                <a:spcPts val="800"/>
              </a:spcBef>
              <a:buFont typeface="Arial" pitchFamily="34" charset="0"/>
              <a:buChar char="•"/>
              <a:defRPr/>
            </a:pPr>
            <a:r>
              <a:rPr lang="de-CH" spc="-40" noProof="0" dirty="0" err="1" smtClean="0"/>
              <a:t>Install</a:t>
            </a:r>
            <a:r>
              <a:rPr lang="de-CH" spc="-40" noProof="0" dirty="0" smtClean="0"/>
              <a:t> </a:t>
            </a:r>
            <a:r>
              <a:rPr lang="de-CH" spc="-40" noProof="0" dirty="0" err="1" smtClean="0"/>
              <a:t>and</a:t>
            </a:r>
            <a:r>
              <a:rPr lang="de-CH" spc="-40" noProof="0" dirty="0" smtClean="0"/>
              <a:t> </a:t>
            </a:r>
            <a:r>
              <a:rPr lang="de-CH" spc="-40" noProof="0" dirty="0" err="1" smtClean="0"/>
              <a:t>use</a:t>
            </a:r>
            <a:r>
              <a:rPr lang="de-CH" spc="-40" noProof="0" dirty="0" smtClean="0"/>
              <a:t> a </a:t>
            </a:r>
            <a:r>
              <a:rPr lang="de-CH" spc="-40" noProof="0" dirty="0" err="1" smtClean="0"/>
              <a:t>software</a:t>
            </a:r>
            <a:endParaRPr lang="de-CH" spc="-40" dirty="0"/>
          </a:p>
          <a:p>
            <a:pPr marL="815975" lvl="1" indent="-358775">
              <a:lnSpc>
                <a:spcPts val="2000"/>
              </a:lnSpc>
              <a:spcBef>
                <a:spcPts val="800"/>
              </a:spcBef>
              <a:buFont typeface="Arial" pitchFamily="34" charset="0"/>
              <a:buChar char="•"/>
              <a:defRPr/>
            </a:pPr>
            <a:r>
              <a:rPr lang="de-CH" spc="-40" noProof="0" dirty="0" err="1" smtClean="0"/>
              <a:t>Use</a:t>
            </a:r>
            <a:r>
              <a:rPr lang="de-CH" spc="-40" noProof="0" dirty="0" smtClean="0"/>
              <a:t> a SaaS</a:t>
            </a:r>
          </a:p>
          <a:p>
            <a:pPr lvl="1">
              <a:lnSpc>
                <a:spcPts val="2000"/>
              </a:lnSpc>
              <a:spcBef>
                <a:spcPts val="800"/>
              </a:spcBef>
              <a:defRPr/>
            </a:pPr>
            <a:endParaRPr lang="de-CH" spc="-40" dirty="0" smtClean="0"/>
          </a:p>
        </p:txBody>
      </p:sp>
    </p:spTree>
    <p:extLst>
      <p:ext uri="{BB962C8B-B14F-4D97-AF65-F5344CB8AC3E}">
        <p14:creationId xmlns:p14="http://schemas.microsoft.com/office/powerpoint/2010/main" val="1955284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III	 </a:t>
            </a:r>
            <a:r>
              <a:rPr lang="de-CH" dirty="0" err="1" smtClean="0"/>
              <a:t>License</a:t>
            </a:r>
            <a:r>
              <a:rPr lang="de-CH" dirty="0" smtClean="0"/>
              <a:t>: </a:t>
            </a:r>
            <a:r>
              <a:rPr lang="de-CH" dirty="0" err="1" smtClean="0"/>
              <a:t>Why</a:t>
            </a:r>
            <a:r>
              <a:rPr lang="de-CH" dirty="0" smtClean="0"/>
              <a:t> </a:t>
            </a:r>
            <a:r>
              <a:rPr lang="de-CH" dirty="0" err="1" smtClean="0"/>
              <a:t>does</a:t>
            </a:r>
            <a:r>
              <a:rPr lang="de-CH" dirty="0" smtClean="0"/>
              <a:t> </a:t>
            </a:r>
            <a:r>
              <a:rPr lang="de-CH" dirty="0" err="1" smtClean="0"/>
              <a:t>the</a:t>
            </a:r>
            <a:r>
              <a:rPr lang="de-CH" dirty="0" smtClean="0"/>
              <a:t> Customer </a:t>
            </a:r>
            <a:r>
              <a:rPr lang="de-CH" dirty="0" err="1" smtClean="0"/>
              <a:t>need</a:t>
            </a:r>
            <a:r>
              <a:rPr lang="de-CH" dirty="0" smtClean="0"/>
              <a:t> </a:t>
            </a:r>
            <a:r>
              <a:rPr lang="de-CH" dirty="0" err="1" smtClean="0"/>
              <a:t>one</a:t>
            </a:r>
            <a:r>
              <a:rPr lang="de-CH" dirty="0" smtClean="0"/>
              <a:t>?</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25</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lang="de-CH" spc="-40" dirty="0" smtClean="0"/>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dirty="0" smtClean="0"/>
              <a:t>Startup </a:t>
            </a:r>
            <a:r>
              <a:rPr lang="de-CH" spc="-40" dirty="0" err="1" smtClean="0"/>
              <a:t>owns</a:t>
            </a:r>
            <a:r>
              <a:rPr lang="de-CH" spc="-40" dirty="0" smtClean="0"/>
              <a:t> </a:t>
            </a:r>
            <a:r>
              <a:rPr lang="de-CH" spc="-40" dirty="0" err="1" smtClean="0"/>
              <a:t>intellectual</a:t>
            </a:r>
            <a:r>
              <a:rPr lang="de-CH" spc="-40" dirty="0" smtClean="0"/>
              <a:t> </a:t>
            </a:r>
            <a:r>
              <a:rPr lang="de-CH" spc="-40" dirty="0" err="1" smtClean="0"/>
              <a:t>property</a:t>
            </a:r>
            <a:r>
              <a:rPr lang="de-CH" spc="-40" dirty="0" smtClean="0"/>
              <a:t> </a:t>
            </a:r>
            <a:r>
              <a:rPr lang="de-CH" spc="-40" dirty="0" err="1" smtClean="0"/>
              <a:t>rights</a:t>
            </a:r>
            <a:r>
              <a:rPr lang="de-CH" spc="-40" dirty="0" smtClean="0"/>
              <a:t> </a:t>
            </a:r>
            <a:r>
              <a:rPr lang="de-CH" spc="-40" dirty="0" err="1" smtClean="0"/>
              <a:t>relating</a:t>
            </a:r>
            <a:r>
              <a:rPr lang="de-CH" spc="-40" dirty="0" smtClean="0"/>
              <a:t> </a:t>
            </a:r>
            <a:r>
              <a:rPr lang="de-CH" spc="-40" dirty="0" err="1" smtClean="0"/>
              <a:t>to</a:t>
            </a:r>
            <a:r>
              <a:rPr lang="de-CH" spc="-40" dirty="0" smtClean="0"/>
              <a:t> </a:t>
            </a:r>
            <a:r>
              <a:rPr lang="de-CH" spc="-40" dirty="0" err="1" smtClean="0"/>
              <a:t>the</a:t>
            </a:r>
            <a:r>
              <a:rPr lang="de-CH" spc="-40" dirty="0" smtClean="0"/>
              <a:t> </a:t>
            </a:r>
            <a:r>
              <a:rPr lang="de-CH" spc="-40" dirty="0" err="1" smtClean="0"/>
              <a:t>software</a:t>
            </a:r>
            <a:endParaRPr lang="de-CH" spc="-40" dirty="0" smtClean="0"/>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dirty="0" smtClean="0"/>
              <a:t>IP </a:t>
            </a:r>
            <a:r>
              <a:rPr lang="de-CH" spc="-40" dirty="0" err="1" smtClean="0"/>
              <a:t>rights</a:t>
            </a:r>
            <a:r>
              <a:rPr lang="de-CH" spc="-40" dirty="0" smtClean="0"/>
              <a:t>: </a:t>
            </a:r>
            <a:r>
              <a:rPr lang="de-CH" spc="-40" dirty="0" err="1" smtClean="0"/>
              <a:t>monopoly</a:t>
            </a:r>
            <a:r>
              <a:rPr lang="de-CH" spc="-40" dirty="0" smtClean="0"/>
              <a:t> </a:t>
            </a:r>
            <a:r>
              <a:rPr lang="de-CH" spc="-40" dirty="0" err="1" smtClean="0"/>
              <a:t>to</a:t>
            </a:r>
            <a:r>
              <a:rPr lang="de-CH" spc="-40" dirty="0" smtClean="0"/>
              <a:t> </a:t>
            </a:r>
            <a:r>
              <a:rPr lang="de-CH" b="1" spc="-40" dirty="0" err="1" smtClean="0"/>
              <a:t>exploit</a:t>
            </a:r>
            <a:r>
              <a:rPr lang="de-CH" spc="-40" dirty="0" smtClean="0"/>
              <a:t> </a:t>
            </a:r>
            <a:r>
              <a:rPr lang="de-CH" spc="-40" dirty="0" err="1" smtClean="0"/>
              <a:t>and</a:t>
            </a:r>
            <a:r>
              <a:rPr lang="de-CH" spc="-40" dirty="0" smtClean="0"/>
              <a:t> </a:t>
            </a:r>
            <a:r>
              <a:rPr lang="de-CH" b="1" spc="-40" dirty="0" err="1" smtClean="0"/>
              <a:t>oppose</a:t>
            </a:r>
            <a:r>
              <a:rPr lang="de-CH" spc="-40" dirty="0" smtClean="0"/>
              <a:t> </a:t>
            </a:r>
            <a:r>
              <a:rPr lang="de-CH" spc="-40" dirty="0" err="1" smtClean="0"/>
              <a:t>any</a:t>
            </a:r>
            <a:r>
              <a:rPr lang="de-CH" spc="-40" dirty="0" smtClean="0"/>
              <a:t> </a:t>
            </a:r>
            <a:r>
              <a:rPr lang="de-CH" spc="-40" dirty="0" err="1" smtClean="0"/>
              <a:t>unauthorized</a:t>
            </a:r>
            <a:r>
              <a:rPr lang="de-CH" spc="-40" dirty="0" smtClean="0"/>
              <a:t> </a:t>
            </a:r>
            <a:r>
              <a:rPr lang="de-CH" spc="-40" dirty="0" err="1" smtClean="0"/>
              <a:t>use</a:t>
            </a:r>
            <a:endParaRPr lang="de-CH" spc="-40" dirty="0" smtClean="0"/>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dirty="0" smtClean="0"/>
              <a:t>IP </a:t>
            </a:r>
            <a:r>
              <a:rPr lang="de-CH" spc="-40" dirty="0" err="1" smtClean="0"/>
              <a:t>rights</a:t>
            </a:r>
            <a:r>
              <a:rPr lang="de-CH" spc="-40" dirty="0" smtClean="0"/>
              <a:t> </a:t>
            </a:r>
            <a:r>
              <a:rPr lang="de-CH" spc="-40" dirty="0" err="1" smtClean="0"/>
              <a:t>can</a:t>
            </a:r>
            <a:r>
              <a:rPr lang="de-CH" spc="-40" dirty="0" smtClean="0"/>
              <a:t> </a:t>
            </a:r>
            <a:r>
              <a:rPr lang="de-CH" spc="-40" dirty="0" err="1" smtClean="0"/>
              <a:t>be</a:t>
            </a:r>
            <a:r>
              <a:rPr lang="de-CH" spc="-40" dirty="0" smtClean="0"/>
              <a:t> </a:t>
            </a:r>
            <a:r>
              <a:rPr lang="de-CH" spc="-40" dirty="0" err="1" smtClean="0"/>
              <a:t>enforced</a:t>
            </a:r>
            <a:r>
              <a:rPr lang="de-CH" spc="-40" dirty="0" smtClean="0"/>
              <a:t> </a:t>
            </a:r>
            <a:r>
              <a:rPr lang="de-CH" spc="-40" dirty="0" err="1" smtClean="0"/>
              <a:t>against</a:t>
            </a:r>
            <a:r>
              <a:rPr lang="de-CH" spc="-40" dirty="0" smtClean="0"/>
              <a:t> </a:t>
            </a:r>
            <a:r>
              <a:rPr lang="de-CH" b="1" spc="-40" dirty="0" err="1" smtClean="0"/>
              <a:t>anyone</a:t>
            </a:r>
            <a:endParaRPr lang="de-CH" b="1" spc="-40" dirty="0" smtClean="0"/>
          </a:p>
          <a:p>
            <a:pPr marL="1273175" lvl="2" indent="-358775">
              <a:lnSpc>
                <a:spcPts val="2000"/>
              </a:lnSpc>
              <a:spcBef>
                <a:spcPts val="800"/>
              </a:spcBef>
              <a:defRPr/>
            </a:pPr>
            <a:r>
              <a:rPr lang="de-CH" spc="-40" dirty="0" smtClean="0"/>
              <a:t>	</a:t>
            </a:r>
          </a:p>
          <a:p>
            <a:pPr marL="815975" lvl="1" indent="-358775">
              <a:lnSpc>
                <a:spcPts val="2000"/>
              </a:lnSpc>
              <a:spcBef>
                <a:spcPts val="800"/>
              </a:spcBef>
              <a:defRPr/>
            </a:pPr>
            <a:r>
              <a:rPr lang="de-CH" spc="-40" dirty="0" smtClean="0"/>
              <a:t>Customers </a:t>
            </a:r>
            <a:r>
              <a:rPr lang="de-CH" spc="-40" dirty="0" err="1" smtClean="0"/>
              <a:t>need</a:t>
            </a:r>
            <a:r>
              <a:rPr lang="de-CH" spc="-40" dirty="0" smtClean="0"/>
              <a:t> </a:t>
            </a:r>
            <a:r>
              <a:rPr lang="de-CH" spc="-40" dirty="0" err="1" smtClean="0"/>
              <a:t>permission</a:t>
            </a:r>
            <a:r>
              <a:rPr lang="de-CH" spc="-40" dirty="0" smtClean="0"/>
              <a:t> </a:t>
            </a:r>
            <a:r>
              <a:rPr lang="de-CH" spc="-40" dirty="0" err="1" smtClean="0"/>
              <a:t>to</a:t>
            </a:r>
            <a:r>
              <a:rPr lang="de-CH" spc="-40" dirty="0" smtClean="0"/>
              <a:t> </a:t>
            </a:r>
            <a:r>
              <a:rPr lang="de-CH" spc="-40" dirty="0" err="1" smtClean="0"/>
              <a:t>use</a:t>
            </a:r>
            <a:r>
              <a:rPr lang="de-CH" spc="-40" dirty="0" smtClean="0"/>
              <a:t> </a:t>
            </a:r>
            <a:r>
              <a:rPr lang="de-CH" spc="-40" dirty="0" err="1" smtClean="0"/>
              <a:t>startup’s</a:t>
            </a:r>
            <a:r>
              <a:rPr lang="de-CH" spc="-40" dirty="0" smtClean="0"/>
              <a:t> </a:t>
            </a:r>
            <a:r>
              <a:rPr lang="de-CH" spc="-40" dirty="0" err="1" smtClean="0"/>
              <a:t>source</a:t>
            </a:r>
            <a:r>
              <a:rPr lang="de-CH" spc="-40" dirty="0" smtClean="0"/>
              <a:t> </a:t>
            </a:r>
          </a:p>
          <a:p>
            <a:pPr marL="815975" lvl="1" indent="-358775">
              <a:lnSpc>
                <a:spcPts val="2000"/>
              </a:lnSpc>
              <a:spcBef>
                <a:spcPts val="800"/>
              </a:spcBef>
              <a:defRPr/>
            </a:pPr>
            <a:r>
              <a:rPr lang="de-CH" spc="-40" dirty="0" err="1" smtClean="0"/>
              <a:t>or</a:t>
            </a:r>
            <a:r>
              <a:rPr lang="de-CH" spc="-40" dirty="0" smtClean="0"/>
              <a:t> </a:t>
            </a:r>
            <a:r>
              <a:rPr lang="de-CH" spc="-40" dirty="0" err="1" smtClean="0"/>
              <a:t>object</a:t>
            </a:r>
            <a:r>
              <a:rPr lang="de-CH" spc="-40" dirty="0" smtClean="0"/>
              <a:t> </a:t>
            </a:r>
            <a:r>
              <a:rPr lang="de-CH" spc="-40" dirty="0" err="1" smtClean="0"/>
              <a:t>code</a:t>
            </a:r>
            <a:endParaRPr lang="de-CH" spc="-40" dirty="0" smtClean="0"/>
          </a:p>
          <a:p>
            <a:pPr marL="815975" lvl="1" indent="-358775">
              <a:lnSpc>
                <a:spcPts val="2000"/>
              </a:lnSpc>
              <a:spcBef>
                <a:spcPts val="800"/>
              </a:spcBef>
              <a:buFont typeface="Symbol" pitchFamily="18" charset="2"/>
              <a:buChar char="-"/>
              <a:defRPr/>
            </a:pPr>
            <a:endParaRPr kumimoji="0" lang="de-CH"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ts val="2000"/>
              </a:lnSpc>
              <a:spcBef>
                <a:spcPts val="800"/>
              </a:spcBef>
              <a:spcAft>
                <a:spcPts val="0"/>
              </a:spcAft>
              <a:buClrTx/>
              <a:buSzTx/>
              <a:tabLst/>
              <a:defRPr/>
            </a:pPr>
            <a:r>
              <a:rPr lang="de-CH" spc="-40" dirty="0" smtClean="0"/>
              <a:t>	</a:t>
            </a: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Pfeil nach rechts 6"/>
          <p:cNvSpPr/>
          <p:nvPr/>
        </p:nvSpPr>
        <p:spPr>
          <a:xfrm>
            <a:off x="539552" y="4149080"/>
            <a:ext cx="792163" cy="35877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endParaRPr lang="de-CH"/>
          </a:p>
        </p:txBody>
      </p:sp>
    </p:spTree>
    <p:extLst>
      <p:ext uri="{BB962C8B-B14F-4D97-AF65-F5344CB8AC3E}">
        <p14:creationId xmlns:p14="http://schemas.microsoft.com/office/powerpoint/2010/main" val="41277167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IV	</a:t>
            </a:r>
            <a:r>
              <a:rPr lang="de-CH" dirty="0" err="1" smtClean="0"/>
              <a:t>Negotiating</a:t>
            </a:r>
            <a:r>
              <a:rPr lang="de-CH" dirty="0" smtClean="0"/>
              <a:t> an Agreement</a:t>
            </a:r>
            <a:endParaRPr lang="de-CH" dirty="0"/>
          </a:p>
        </p:txBody>
      </p:sp>
      <p:pic>
        <p:nvPicPr>
          <p:cNvPr id="7" name="Inhaltsplatzhalter 6" descr="negotiating.PNG"/>
          <p:cNvPicPr>
            <a:picLocks noGrp="1" noChangeAspect="1"/>
          </p:cNvPicPr>
          <p:nvPr>
            <p:ph idx="1"/>
          </p:nvPr>
        </p:nvPicPr>
        <p:blipFill>
          <a:blip r:embed="rId2" cstate="print"/>
          <a:stretch>
            <a:fillRect/>
          </a:stretch>
        </p:blipFill>
        <p:spPr>
          <a:xfrm>
            <a:off x="1462825" y="1844675"/>
            <a:ext cx="6218349" cy="4471988"/>
          </a:xfrm>
        </p:spPr>
      </p:pic>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26</a:t>
            </a:fld>
            <a:endParaRPr lang="de-CH"/>
          </a:p>
        </p:txBody>
      </p:sp>
      <p:sp>
        <p:nvSpPr>
          <p:cNvPr id="8" name="Textfeld 7"/>
          <p:cNvSpPr txBox="1"/>
          <p:nvPr/>
        </p:nvSpPr>
        <p:spPr>
          <a:xfrm>
            <a:off x="7524328" y="6093296"/>
            <a:ext cx="936104" cy="215444"/>
          </a:xfrm>
          <a:prstGeom prst="rect">
            <a:avLst/>
          </a:prstGeom>
          <a:noFill/>
        </p:spPr>
        <p:txBody>
          <a:bodyPr wrap="square" rtlCol="0">
            <a:spAutoFit/>
          </a:bodyPr>
          <a:lstStyle/>
          <a:p>
            <a:r>
              <a:rPr lang="de-CH" sz="800" dirty="0" smtClean="0"/>
              <a:t>© HBR.ORG</a:t>
            </a:r>
            <a:endParaRPr lang="de-CH" sz="800" dirty="0"/>
          </a:p>
        </p:txBody>
      </p:sp>
    </p:spTree>
    <p:extLst>
      <p:ext uri="{BB962C8B-B14F-4D97-AF65-F5344CB8AC3E}">
        <p14:creationId xmlns:p14="http://schemas.microsoft.com/office/powerpoint/2010/main" val="10738487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IV	</a:t>
            </a:r>
            <a:r>
              <a:rPr lang="de-CH" dirty="0" err="1" smtClean="0"/>
              <a:t>Negotiating</a:t>
            </a:r>
            <a:r>
              <a:rPr lang="de-CH" dirty="0" smtClean="0"/>
              <a:t> An Agreement</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27</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r>
              <a:rPr lang="de-CH" spc="-40" noProof="0" dirty="0" err="1" smtClean="0"/>
              <a:t>Give</a:t>
            </a:r>
            <a:r>
              <a:rPr lang="de-CH" spc="-40" noProof="0" dirty="0" smtClean="0"/>
              <a:t> </a:t>
            </a:r>
            <a:r>
              <a:rPr lang="de-CH" spc="-40" noProof="0" dirty="0" err="1" smtClean="0"/>
              <a:t>reasons</a:t>
            </a:r>
            <a:r>
              <a:rPr lang="de-CH" spc="-40" dirty="0" smtClean="0"/>
              <a:t>/</a:t>
            </a:r>
            <a:r>
              <a:rPr lang="de-CH" spc="-40" dirty="0" err="1" smtClean="0"/>
              <a:t>explain</a:t>
            </a:r>
            <a:r>
              <a:rPr lang="de-CH" spc="-40" dirty="0" smtClean="0"/>
              <a:t>!</a:t>
            </a:r>
          </a:p>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kumimoji="0" lang="de-CH"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ts val="2000"/>
              </a:lnSpc>
              <a:spcBef>
                <a:spcPts val="800"/>
              </a:spcBef>
              <a:spcAft>
                <a:spcPts val="0"/>
              </a:spcAft>
              <a:buClrTx/>
              <a:buSzTx/>
              <a:tabLst/>
              <a:defRPr/>
            </a:pPr>
            <a:r>
              <a:rPr lang="de-CH" spc="-40" dirty="0" smtClean="0"/>
              <a:t>	„</a:t>
            </a:r>
            <a:r>
              <a:rPr lang="de-CH" spc="-40" dirty="0" err="1" smtClean="0"/>
              <a:t>You</a:t>
            </a:r>
            <a:r>
              <a:rPr lang="de-CH" spc="-40" dirty="0" smtClean="0"/>
              <a:t> will understand </a:t>
            </a:r>
            <a:r>
              <a:rPr lang="de-CH" spc="-40" dirty="0" err="1" smtClean="0"/>
              <a:t>that</a:t>
            </a:r>
            <a:r>
              <a:rPr lang="de-CH" spc="-40" dirty="0" smtClean="0"/>
              <a:t> </a:t>
            </a:r>
            <a:r>
              <a:rPr lang="de-CH" spc="-40" dirty="0" err="1" smtClean="0"/>
              <a:t>we</a:t>
            </a:r>
            <a:r>
              <a:rPr lang="de-CH" spc="-40" dirty="0" smtClean="0"/>
              <a:t> </a:t>
            </a:r>
            <a:r>
              <a:rPr lang="de-CH" spc="-40" dirty="0" err="1" smtClean="0"/>
              <a:t>cannot</a:t>
            </a:r>
            <a:r>
              <a:rPr lang="de-CH" spc="-40" dirty="0" smtClean="0"/>
              <a:t> do </a:t>
            </a:r>
            <a:r>
              <a:rPr lang="de-CH" spc="-40" dirty="0" err="1" smtClean="0"/>
              <a:t>this</a:t>
            </a:r>
            <a:r>
              <a:rPr lang="de-CH" spc="-40" dirty="0" smtClean="0"/>
              <a:t> </a:t>
            </a:r>
            <a:r>
              <a:rPr lang="de-CH" spc="-40" dirty="0" err="1" smtClean="0"/>
              <a:t>because</a:t>
            </a:r>
            <a:r>
              <a:rPr lang="de-CH" spc="-40" dirty="0" smtClean="0"/>
              <a:t>…“</a:t>
            </a:r>
          </a:p>
          <a:p>
            <a:pPr marL="358775" marR="0" lvl="0" indent="-358775" algn="l" defTabSz="914400" rtl="0" eaLnBrk="1" fontAlgn="auto" latinLnBrk="0" hangingPunct="1">
              <a:lnSpc>
                <a:spcPts val="2000"/>
              </a:lnSpc>
              <a:spcBef>
                <a:spcPts val="800"/>
              </a:spcBef>
              <a:spcAft>
                <a:spcPts val="0"/>
              </a:spcAft>
              <a:buClrTx/>
              <a:buSzTx/>
              <a:tabLst/>
              <a:defRPr/>
            </a:pPr>
            <a:endParaRPr kumimoji="0" lang="de-CH"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ts val="2000"/>
              </a:lnSpc>
              <a:spcBef>
                <a:spcPts val="800"/>
              </a:spcBef>
              <a:spcAft>
                <a:spcPts val="0"/>
              </a:spcAft>
              <a:buClrTx/>
              <a:buSzTx/>
              <a:tabLst/>
              <a:defRPr/>
            </a:pPr>
            <a:endParaRPr lang="de-CH" spc="-40" dirty="0" smtClean="0"/>
          </a:p>
          <a:p>
            <a:pPr marL="358775" marR="0" lvl="0" indent="-358775" algn="l" defTabSz="914400" rtl="0" eaLnBrk="1" fontAlgn="auto" latinLnBrk="0" hangingPunct="1">
              <a:lnSpc>
                <a:spcPts val="2000"/>
              </a:lnSpc>
              <a:spcBef>
                <a:spcPts val="800"/>
              </a:spcBef>
              <a:spcAft>
                <a:spcPts val="0"/>
              </a:spcAft>
              <a:buClrTx/>
              <a:buSzTx/>
              <a:tabLst/>
              <a:defRPr/>
            </a:pPr>
            <a:r>
              <a:rPr lang="de-CH" spc="-40" dirty="0" smtClean="0">
                <a:sym typeface="Wingdings" pitchFamily="2" charset="2"/>
              </a:rPr>
              <a:t>		</a:t>
            </a:r>
            <a:r>
              <a:rPr kumimoji="0" lang="de-CH" b="0" i="0" u="none" strike="noStrike" kern="1200" cap="none" spc="-40" normalizeH="0" baseline="0" noProof="0" dirty="0" err="1" smtClean="0">
                <a:ln>
                  <a:noFill/>
                </a:ln>
                <a:solidFill>
                  <a:schemeClr val="tx1"/>
                </a:solidFill>
                <a:effectLst/>
                <a:uLnTx/>
                <a:uFillTx/>
                <a:latin typeface="+mn-lt"/>
                <a:ea typeface="+mn-ea"/>
                <a:cs typeface="+mn-cs"/>
                <a:sym typeface="Wingdings" pitchFamily="2" charset="2"/>
              </a:rPr>
              <a:t>You</a:t>
            </a:r>
            <a:r>
              <a:rPr kumimoji="0" lang="de-CH" b="0" i="0" u="none" strike="noStrike" kern="1200" cap="none" spc="-40" normalizeH="0" baseline="0" noProof="0" dirty="0" smtClean="0">
                <a:ln>
                  <a:noFill/>
                </a:ln>
                <a:solidFill>
                  <a:schemeClr val="tx1"/>
                </a:solidFill>
                <a:effectLst/>
                <a:uLnTx/>
                <a:uFillTx/>
                <a:latin typeface="+mn-lt"/>
                <a:ea typeface="+mn-ea"/>
                <a:cs typeface="+mn-cs"/>
                <a:sym typeface="Wingdings" pitchFamily="2" charset="2"/>
              </a:rPr>
              <a:t> must</a:t>
            </a:r>
            <a:r>
              <a:rPr lang="de-CH" spc="-40" dirty="0" smtClean="0">
                <a:sym typeface="Wingdings" pitchFamily="2" charset="2"/>
              </a:rPr>
              <a:t> understand </a:t>
            </a:r>
            <a:r>
              <a:rPr lang="de-CH" spc="-40" dirty="0" err="1" smtClean="0">
                <a:sym typeface="Wingdings" pitchFamily="2" charset="2"/>
              </a:rPr>
              <a:t>the</a:t>
            </a:r>
            <a:r>
              <a:rPr lang="de-CH" spc="-40" dirty="0" smtClean="0">
                <a:sym typeface="Wingdings" pitchFamily="2" charset="2"/>
              </a:rPr>
              <a:t> </a:t>
            </a:r>
            <a:r>
              <a:rPr lang="de-CH" spc="-40" dirty="0" err="1" smtClean="0">
                <a:sym typeface="Wingdings" pitchFamily="2" charset="2"/>
              </a:rPr>
              <a:t>agreement</a:t>
            </a:r>
            <a:r>
              <a:rPr lang="de-CH" spc="-40" dirty="0" smtClean="0">
                <a:sym typeface="Wingdings" pitchFamily="2" charset="2"/>
              </a:rPr>
              <a:t> </a:t>
            </a:r>
            <a:r>
              <a:rPr lang="de-CH" spc="-40" dirty="0" err="1" smtClean="0">
                <a:sym typeface="Wingdings" pitchFamily="2" charset="2"/>
              </a:rPr>
              <a:t>and</a:t>
            </a:r>
            <a:r>
              <a:rPr lang="de-CH" spc="-40" dirty="0" smtClean="0">
                <a:sym typeface="Wingdings" pitchFamily="2" charset="2"/>
              </a:rPr>
              <a:t> </a:t>
            </a:r>
            <a:r>
              <a:rPr lang="de-CH" spc="-40" dirty="0" err="1" smtClean="0">
                <a:sym typeface="Wingdings" pitchFamily="2" charset="2"/>
              </a:rPr>
              <a:t>each</a:t>
            </a:r>
            <a:r>
              <a:rPr lang="de-CH" spc="-40" dirty="0" smtClean="0">
                <a:sym typeface="Wingdings" pitchFamily="2" charset="2"/>
              </a:rPr>
              <a:t> </a:t>
            </a:r>
            <a:r>
              <a:rPr lang="de-CH" spc="-40" dirty="0" err="1" smtClean="0">
                <a:sym typeface="Wingdings" pitchFamily="2" charset="2"/>
              </a:rPr>
              <a:t>party‘s</a:t>
            </a:r>
            <a:r>
              <a:rPr lang="de-CH" spc="-40" dirty="0" smtClean="0">
                <a:sym typeface="Wingdings" pitchFamily="2" charset="2"/>
              </a:rPr>
              <a:t> 	</a:t>
            </a:r>
            <a:r>
              <a:rPr lang="de-CH" spc="-40" dirty="0" err="1" smtClean="0">
                <a:sym typeface="Wingdings" pitchFamily="2" charset="2"/>
              </a:rPr>
              <a:t>interests</a:t>
            </a:r>
            <a:endParaRPr kumimoji="0" lang="de-CH" b="0" i="0" u="none" strike="noStrike" kern="1200" cap="none" spc="-40" normalizeH="0" baseline="0" noProof="0" dirty="0" smtClean="0">
              <a:ln>
                <a:noFill/>
              </a:ln>
              <a:solidFill>
                <a:schemeClr val="tx1"/>
              </a:solidFill>
              <a:effectLst/>
              <a:uLnTx/>
              <a:uFillTx/>
              <a:latin typeface="+mn-lt"/>
              <a:ea typeface="+mn-ea"/>
              <a:cs typeface="+mn-cs"/>
            </a:endParaRPr>
          </a:p>
          <a:p>
            <a:pPr marL="358775" marR="0" lvl="0" indent="-358775" algn="l" defTabSz="914400" rtl="0" eaLnBrk="1" fontAlgn="auto" latinLnBrk="0" hangingPunct="1">
              <a:lnSpc>
                <a:spcPct val="200000"/>
              </a:lnSpc>
              <a:spcBef>
                <a:spcPts val="800"/>
              </a:spcBef>
              <a:spcAft>
                <a:spcPts val="0"/>
              </a:spcAft>
              <a:buClrTx/>
              <a:buSzTx/>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Pfeil nach rechts 6"/>
          <p:cNvSpPr/>
          <p:nvPr/>
        </p:nvSpPr>
        <p:spPr>
          <a:xfrm>
            <a:off x="971600" y="3717032"/>
            <a:ext cx="792163" cy="35877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endParaRPr lang="de-CH"/>
          </a:p>
        </p:txBody>
      </p:sp>
    </p:spTree>
    <p:extLst>
      <p:ext uri="{BB962C8B-B14F-4D97-AF65-F5344CB8AC3E}">
        <p14:creationId xmlns:p14="http://schemas.microsoft.com/office/powerpoint/2010/main" val="40760144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	</a:t>
            </a:r>
            <a:r>
              <a:rPr lang="de-CH" dirty="0" err="1" smtClean="0"/>
              <a:t>License</a:t>
            </a:r>
            <a:r>
              <a:rPr lang="de-CH" dirty="0" smtClean="0"/>
              <a:t> Agreements: Key Terms </a:t>
            </a:r>
            <a:r>
              <a:rPr lang="de-CH" dirty="0" err="1" smtClean="0"/>
              <a:t>and</a:t>
            </a:r>
            <a:r>
              <a:rPr lang="de-CH" dirty="0" smtClean="0"/>
              <a:t> </a:t>
            </a:r>
            <a:r>
              <a:rPr lang="de-CH" dirty="0" err="1" smtClean="0"/>
              <a:t>Interests</a:t>
            </a:r>
            <a:r>
              <a:rPr lang="de-CH" dirty="0" smtClean="0"/>
              <a:t>	</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28</a:t>
            </a:fld>
            <a:endParaRPr lang="de-CH"/>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2544966687"/>
              </p:ext>
            </p:extLst>
          </p:nvPr>
        </p:nvGraphicFramePr>
        <p:xfrm>
          <a:off x="971550" y="1844676"/>
          <a:ext cx="7200900" cy="4124559"/>
        </p:xfrm>
        <a:graphic>
          <a:graphicData uri="http://schemas.openxmlformats.org/drawingml/2006/table">
            <a:tbl>
              <a:tblPr firstRow="1" bandRow="1">
                <a:tableStyleId>{2D5ABB26-0587-4C30-8999-92F81FD0307C}</a:tableStyleId>
              </a:tblPr>
              <a:tblGrid>
                <a:gridCol w="3600450"/>
                <a:gridCol w="3600450"/>
              </a:tblGrid>
              <a:tr h="439222">
                <a:tc>
                  <a:txBody>
                    <a:bodyPr/>
                    <a:lstStyle/>
                    <a:p>
                      <a:pPr>
                        <a:spcBef>
                          <a:spcPts val="1200"/>
                        </a:spcBef>
                        <a:spcAft>
                          <a:spcPts val="1200"/>
                        </a:spcAft>
                      </a:pPr>
                      <a:r>
                        <a:rPr lang="de-CH" sz="1050" b="1" spc="-30" dirty="0" smtClean="0"/>
                        <a:t>Topic/</a:t>
                      </a:r>
                      <a:r>
                        <a:rPr lang="de-CH" sz="1050" b="1" spc="-30" dirty="0" err="1" smtClean="0"/>
                        <a:t>Clause</a:t>
                      </a:r>
                      <a:endParaRPr lang="de-CH" sz="1050" b="1" spc="-30" dirty="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spcBef>
                          <a:spcPts val="1200"/>
                        </a:spcBef>
                        <a:spcAft>
                          <a:spcPts val="1200"/>
                        </a:spcAft>
                      </a:pPr>
                      <a:r>
                        <a:rPr lang="de-CH" sz="1050" b="1" spc="-30" dirty="0" err="1" smtClean="0"/>
                        <a:t>Startup’s</a:t>
                      </a:r>
                      <a:r>
                        <a:rPr lang="de-CH" sz="1050" b="1" spc="-30" dirty="0" smtClean="0"/>
                        <a:t> </a:t>
                      </a:r>
                      <a:r>
                        <a:rPr lang="de-CH" sz="1050" b="1" spc="-30" dirty="0" err="1" smtClean="0"/>
                        <a:t>Interests</a:t>
                      </a:r>
                      <a:endParaRPr lang="de-CH" sz="1050" b="1" spc="-30" dirty="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94660">
                <a:tc>
                  <a:txBody>
                    <a:bodyPr/>
                    <a:lstStyle/>
                    <a:p>
                      <a:pPr>
                        <a:spcBef>
                          <a:spcPts val="600"/>
                        </a:spcBef>
                        <a:spcAft>
                          <a:spcPts val="600"/>
                        </a:spcAft>
                      </a:pPr>
                      <a:r>
                        <a:rPr lang="de-CH" sz="1050" b="1" spc="-30" dirty="0" err="1" smtClean="0"/>
                        <a:t>Scope</a:t>
                      </a:r>
                      <a:r>
                        <a:rPr lang="de-CH" sz="1050" b="1" spc="-30" dirty="0" smtClean="0"/>
                        <a:t> </a:t>
                      </a:r>
                      <a:r>
                        <a:rPr lang="de-CH" sz="1050" b="1" spc="-30" dirty="0" err="1" smtClean="0"/>
                        <a:t>of</a:t>
                      </a:r>
                      <a:r>
                        <a:rPr lang="de-CH" sz="1050" b="1" spc="-30" dirty="0" smtClean="0"/>
                        <a:t> </a:t>
                      </a:r>
                      <a:r>
                        <a:rPr lang="de-CH" sz="1050" b="1" spc="-30" dirty="0" err="1" smtClean="0"/>
                        <a:t>license</a:t>
                      </a:r>
                      <a:endParaRPr lang="de-CH" sz="1050" b="1" spc="-30" baseline="0" dirty="0" smtClean="0"/>
                    </a:p>
                    <a:p>
                      <a:pPr>
                        <a:spcBef>
                          <a:spcPts val="600"/>
                        </a:spcBef>
                        <a:spcAft>
                          <a:spcPts val="600"/>
                        </a:spcAft>
                      </a:pPr>
                      <a:endParaRPr lang="de-CH" sz="1050" spc="-30" baseline="0" dirty="0" smtClean="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marR="0" indent="-171450" algn="l" defTabSz="914400" rtl="0" eaLnBrk="1" fontAlgn="auto" latinLnBrk="0" hangingPunct="1">
                        <a:lnSpc>
                          <a:spcPct val="100000"/>
                        </a:lnSpc>
                        <a:spcBef>
                          <a:spcPts val="600"/>
                        </a:spcBef>
                        <a:spcAft>
                          <a:spcPts val="600"/>
                        </a:spcAft>
                        <a:buClrTx/>
                        <a:buSzTx/>
                        <a:buFont typeface="Verdana" panose="020B0604030504040204" pitchFamily="34" charset="0"/>
                        <a:buChar char="–"/>
                        <a:tabLst/>
                        <a:defRPr/>
                      </a:pPr>
                      <a:r>
                        <a:rPr lang="en-US" sz="1050" spc="-30" baseline="0" dirty="0" smtClean="0"/>
                        <a:t>Key business term</a:t>
                      </a:r>
                    </a:p>
                    <a:p>
                      <a:pPr marL="171450" marR="0" indent="-171450" algn="l" defTabSz="914400" rtl="0" eaLnBrk="1" fontAlgn="auto" latinLnBrk="0" hangingPunct="1">
                        <a:lnSpc>
                          <a:spcPct val="100000"/>
                        </a:lnSpc>
                        <a:spcBef>
                          <a:spcPts val="600"/>
                        </a:spcBef>
                        <a:spcAft>
                          <a:spcPts val="600"/>
                        </a:spcAft>
                        <a:buClrTx/>
                        <a:buSzTx/>
                        <a:buFont typeface="Verdana" panose="020B0604030504040204" pitchFamily="34" charset="0"/>
                        <a:buChar char="–"/>
                        <a:tabLst/>
                        <a:defRPr/>
                      </a:pPr>
                      <a:r>
                        <a:rPr lang="de-CH" sz="1050" spc="-30" dirty="0" smtClean="0"/>
                        <a:t>User </a:t>
                      </a:r>
                      <a:r>
                        <a:rPr lang="de-CH" sz="1050" spc="-30" dirty="0" err="1" smtClean="0"/>
                        <a:t>groups</a:t>
                      </a:r>
                      <a:r>
                        <a:rPr lang="de-CH" sz="1050" spc="-30" dirty="0" smtClean="0"/>
                        <a:t>, </a:t>
                      </a:r>
                      <a:r>
                        <a:rPr lang="de-CH" sz="1050" spc="-30" dirty="0" err="1" smtClean="0"/>
                        <a:t>territory</a:t>
                      </a:r>
                      <a:r>
                        <a:rPr lang="de-CH" sz="1050" spc="-30" dirty="0" smtClean="0"/>
                        <a:t>,</a:t>
                      </a:r>
                      <a:r>
                        <a:rPr lang="de-CH" sz="1050" spc="-30" baseline="0" dirty="0" smtClean="0"/>
                        <a:t> </a:t>
                      </a:r>
                      <a:r>
                        <a:rPr lang="de-CH" sz="1050" spc="-30" baseline="0" dirty="0" err="1" smtClean="0"/>
                        <a:t>afiiliates</a:t>
                      </a:r>
                      <a:r>
                        <a:rPr lang="de-CH" sz="1050" spc="-30" baseline="0" dirty="0" smtClean="0"/>
                        <a:t>, </a:t>
                      </a:r>
                      <a:r>
                        <a:rPr lang="de-CH" sz="1050" spc="-30" baseline="0" dirty="0" err="1" smtClean="0"/>
                        <a:t>third</a:t>
                      </a:r>
                      <a:r>
                        <a:rPr lang="de-CH" sz="1050" spc="-30" baseline="0" dirty="0" smtClean="0"/>
                        <a:t> </a:t>
                      </a:r>
                      <a:r>
                        <a:rPr lang="de-CH" sz="1050" spc="-30" baseline="0" dirty="0" err="1" smtClean="0"/>
                        <a:t>parties</a:t>
                      </a:r>
                      <a:r>
                        <a:rPr lang="de-CH" sz="1050" spc="-30" baseline="0" dirty="0" smtClean="0"/>
                        <a:t>, </a:t>
                      </a:r>
                      <a:r>
                        <a:rPr lang="de-CH" sz="1050" spc="-30" baseline="0" dirty="0" err="1" smtClean="0"/>
                        <a:t>usage</a:t>
                      </a:r>
                      <a:endParaRPr lang="de-CH" sz="1050" spc="-30" dirty="0" smtClean="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26506">
                <a:tc>
                  <a:txBody>
                    <a:bodyPr/>
                    <a:lstStyle/>
                    <a:p>
                      <a:pPr>
                        <a:spcBef>
                          <a:spcPts val="600"/>
                        </a:spcBef>
                        <a:spcAft>
                          <a:spcPts val="600"/>
                        </a:spcAft>
                      </a:pPr>
                      <a:r>
                        <a:rPr lang="de-CH" sz="1050" b="1" spc="-30" dirty="0" smtClean="0"/>
                        <a:t>Term </a:t>
                      </a:r>
                      <a:r>
                        <a:rPr lang="de-CH" sz="1050" b="1" spc="-30" dirty="0" err="1" smtClean="0"/>
                        <a:t>and</a:t>
                      </a:r>
                      <a:r>
                        <a:rPr lang="de-CH" sz="1050" b="1" spc="-30" dirty="0" smtClean="0"/>
                        <a:t> Termination</a:t>
                      </a:r>
                    </a:p>
                    <a:p>
                      <a:pPr>
                        <a:spcBef>
                          <a:spcPts val="600"/>
                        </a:spcBef>
                        <a:spcAft>
                          <a:spcPts val="600"/>
                        </a:spcAft>
                      </a:pPr>
                      <a:endParaRPr lang="de-CH" sz="1050" spc="-30" dirty="0" smtClean="0"/>
                    </a:p>
                    <a:p>
                      <a:pPr>
                        <a:spcBef>
                          <a:spcPts val="600"/>
                        </a:spcBef>
                        <a:spcAft>
                          <a:spcPts val="600"/>
                        </a:spcAft>
                      </a:pPr>
                      <a:endParaRPr lang="de-CH" sz="1050" spc="-30" dirty="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dirty="0" smtClean="0">
                          <a:solidFill>
                            <a:schemeClr val="tx1"/>
                          </a:solidFill>
                          <a:latin typeface="+mn-lt"/>
                          <a:ea typeface="+mn-ea"/>
                          <a:cs typeface="+mn-cs"/>
                        </a:rPr>
                        <a:t>Fixed </a:t>
                      </a:r>
                      <a:r>
                        <a:rPr lang="de-DE" sz="1050" kern="1200" spc="-30" dirty="0" err="1" smtClean="0">
                          <a:solidFill>
                            <a:schemeClr val="tx1"/>
                          </a:solidFill>
                          <a:latin typeface="+mn-lt"/>
                          <a:ea typeface="+mn-ea"/>
                          <a:cs typeface="+mn-cs"/>
                        </a:rPr>
                        <a:t>term</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green</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clause</a:t>
                      </a:r>
                      <a:r>
                        <a:rPr lang="de-DE" sz="1050" kern="1200" spc="-30" baseline="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stability</a:t>
                      </a:r>
                      <a:r>
                        <a:rPr lang="de-DE" sz="1050" kern="1200" spc="-30" dirty="0" smtClean="0">
                          <a:solidFill>
                            <a:schemeClr val="tx1"/>
                          </a:solidFill>
                          <a:latin typeface="+mn-lt"/>
                          <a:ea typeface="+mn-ea"/>
                          <a:cs typeface="+mn-cs"/>
                        </a:rPr>
                        <a:t>,</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enterprise</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value</a:t>
                      </a:r>
                      <a:endParaRPr lang="de-DE" sz="1050" kern="1200" spc="-30" dirty="0" smtClean="0">
                        <a:solidFill>
                          <a:schemeClr val="tx1"/>
                        </a:solidFill>
                        <a:latin typeface="+mn-lt"/>
                        <a:ea typeface="+mn-ea"/>
                        <a:cs typeface="+mn-cs"/>
                      </a:endParaRPr>
                    </a:p>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dirty="0" err="1" smtClean="0">
                          <a:solidFill>
                            <a:schemeClr val="tx1"/>
                          </a:solidFill>
                          <a:latin typeface="+mn-lt"/>
                          <a:ea typeface="+mn-ea"/>
                          <a:cs typeface="+mn-cs"/>
                        </a:rPr>
                        <a:t>No</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change</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of</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control</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clauses</a:t>
                      </a:r>
                      <a:endParaRPr lang="de-DE" sz="1050" kern="1200" spc="-30" baseline="0" dirty="0" smtClean="0">
                        <a:solidFill>
                          <a:schemeClr val="tx1"/>
                        </a:solidFill>
                        <a:latin typeface="+mn-lt"/>
                        <a:ea typeface="+mn-ea"/>
                        <a:cs typeface="+mn-cs"/>
                      </a:endParaRPr>
                    </a:p>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baseline="0" dirty="0" err="1" smtClean="0">
                          <a:solidFill>
                            <a:schemeClr val="tx1"/>
                          </a:solidFill>
                          <a:latin typeface="+mn-lt"/>
                          <a:ea typeface="+mn-ea"/>
                          <a:cs typeface="+mn-cs"/>
                        </a:rPr>
                        <a:t>Used</a:t>
                      </a:r>
                      <a:r>
                        <a:rPr lang="de-DE" sz="1050" kern="1200" spc="-30" baseline="0" dirty="0" smtClean="0">
                          <a:solidFill>
                            <a:schemeClr val="tx1"/>
                          </a:solidFill>
                          <a:latin typeface="+mn-lt"/>
                          <a:ea typeface="+mn-ea"/>
                          <a:cs typeface="+mn-cs"/>
                        </a:rPr>
                        <a:t> soft </a:t>
                      </a:r>
                      <a:r>
                        <a:rPr lang="de-DE" sz="1050" kern="1200" spc="-30" baseline="0" dirty="0" err="1" smtClean="0">
                          <a:solidFill>
                            <a:schemeClr val="tx1"/>
                          </a:solidFill>
                          <a:latin typeface="+mn-lt"/>
                          <a:ea typeface="+mn-ea"/>
                          <a:cs typeface="+mn-cs"/>
                        </a:rPr>
                        <a:t>cases</a:t>
                      </a:r>
                      <a:endParaRPr lang="de-CH" sz="1050" kern="1200" spc="-30" dirty="0">
                        <a:solidFill>
                          <a:schemeClr val="tx1"/>
                        </a:solidFill>
                        <a:latin typeface="+mn-lt"/>
                        <a:ea typeface="+mn-ea"/>
                        <a:cs typeface="+mn-cs"/>
                      </a:endParaRPr>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963054">
                <a:tc>
                  <a:txBody>
                    <a:bodyPr/>
                    <a:lstStyle/>
                    <a:p>
                      <a:pPr>
                        <a:spcBef>
                          <a:spcPts val="600"/>
                        </a:spcBef>
                        <a:spcAft>
                          <a:spcPts val="600"/>
                        </a:spcAft>
                      </a:pPr>
                      <a:r>
                        <a:rPr lang="de-CH" sz="1050" b="1" spc="-30" baseline="0" dirty="0" err="1" smtClean="0"/>
                        <a:t>Availability</a:t>
                      </a:r>
                      <a:r>
                        <a:rPr lang="de-CH" sz="1050" b="1" spc="-30" baseline="0" dirty="0" smtClean="0"/>
                        <a:t> </a:t>
                      </a:r>
                      <a:r>
                        <a:rPr lang="de-CH" sz="1050" b="1" spc="-30" baseline="0" dirty="0" err="1" smtClean="0"/>
                        <a:t>and</a:t>
                      </a:r>
                      <a:r>
                        <a:rPr lang="de-CH" sz="1050" b="1" spc="-30" baseline="0" dirty="0" smtClean="0"/>
                        <a:t> </a:t>
                      </a:r>
                      <a:r>
                        <a:rPr lang="de-CH" sz="1050" b="1" spc="-30" baseline="0" dirty="0" err="1" smtClean="0"/>
                        <a:t>warranty</a:t>
                      </a:r>
                      <a:endParaRPr lang="de-CH" sz="1050" b="1" spc="-30" dirty="0" smtClean="0"/>
                    </a:p>
                    <a:p>
                      <a:pPr>
                        <a:spcBef>
                          <a:spcPts val="600"/>
                        </a:spcBef>
                        <a:spcAft>
                          <a:spcPts val="600"/>
                        </a:spcAft>
                      </a:pPr>
                      <a:endParaRPr lang="de-CH" sz="1050" spc="-30" dirty="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dirty="0" err="1" smtClean="0">
                          <a:solidFill>
                            <a:schemeClr val="tx1"/>
                          </a:solidFill>
                          <a:latin typeface="+mn-lt"/>
                          <a:ea typeface="+mn-ea"/>
                          <a:cs typeface="+mn-cs"/>
                        </a:rPr>
                        <a:t>Only</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best</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efforts</a:t>
                      </a:r>
                      <a:endParaRPr lang="de-DE" sz="1050" kern="1200" spc="-30" baseline="0" dirty="0" smtClean="0">
                        <a:solidFill>
                          <a:schemeClr val="tx1"/>
                        </a:solidFill>
                        <a:latin typeface="+mn-lt"/>
                        <a:ea typeface="+mn-ea"/>
                        <a:cs typeface="+mn-cs"/>
                      </a:endParaRPr>
                    </a:p>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baseline="0" dirty="0" err="1" smtClean="0">
                          <a:solidFill>
                            <a:schemeClr val="tx1"/>
                          </a:solidFill>
                          <a:latin typeface="+mn-lt"/>
                          <a:ea typeface="+mn-ea"/>
                          <a:cs typeface="+mn-cs"/>
                        </a:rPr>
                        <a:t>No</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specific</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warranty</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as</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is</a:t>
                      </a:r>
                      <a:r>
                        <a:rPr lang="de-DE" sz="1050" kern="1200" spc="-30" baseline="0" dirty="0" smtClean="0">
                          <a:solidFill>
                            <a:schemeClr val="tx1"/>
                          </a:solidFill>
                          <a:latin typeface="+mn-lt"/>
                          <a:ea typeface="+mn-ea"/>
                          <a:cs typeface="+mn-cs"/>
                        </a:rPr>
                        <a:t>)</a:t>
                      </a:r>
                      <a:endParaRPr lang="de-CH" sz="1050" kern="1200" spc="-30" dirty="0">
                        <a:solidFill>
                          <a:schemeClr val="tx1"/>
                        </a:solidFill>
                        <a:latin typeface="+mn-lt"/>
                        <a:ea typeface="+mn-ea"/>
                        <a:cs typeface="+mn-cs"/>
                      </a:endParaRPr>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951323">
                <a:tc>
                  <a:txBody>
                    <a:bodyPr/>
                    <a:lstStyle/>
                    <a:p>
                      <a:pPr>
                        <a:spcBef>
                          <a:spcPts val="600"/>
                        </a:spcBef>
                        <a:spcAft>
                          <a:spcPts val="600"/>
                        </a:spcAft>
                      </a:pPr>
                      <a:r>
                        <a:rPr lang="de-CH" sz="1050" b="1" spc="-30" dirty="0" err="1" smtClean="0"/>
                        <a:t>Liability</a:t>
                      </a:r>
                      <a:endParaRPr lang="de-CH" sz="1050" b="1" spc="-30" dirty="0" smtClean="0"/>
                    </a:p>
                    <a:p>
                      <a:pPr>
                        <a:spcBef>
                          <a:spcPts val="600"/>
                        </a:spcBef>
                        <a:spcAft>
                          <a:spcPts val="600"/>
                        </a:spcAft>
                      </a:pPr>
                      <a:endParaRPr lang="de-CH" sz="1050" spc="-30" dirty="0" smtClean="0"/>
                    </a:p>
                    <a:p>
                      <a:pPr>
                        <a:spcBef>
                          <a:spcPts val="600"/>
                        </a:spcBef>
                        <a:spcAft>
                          <a:spcPts val="600"/>
                        </a:spcAft>
                      </a:pPr>
                      <a:endParaRPr lang="de-CH" sz="1050" spc="-30" dirty="0"/>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indent="-171450" algn="l" defTabSz="914400" rtl="0" eaLnBrk="1" latinLnBrk="0" hangingPunct="1">
                        <a:spcBef>
                          <a:spcPts val="600"/>
                        </a:spcBef>
                        <a:spcAft>
                          <a:spcPts val="600"/>
                        </a:spcAft>
                        <a:buFont typeface="Verdana" panose="020B0604030504040204" pitchFamily="34" charset="0"/>
                        <a:buChar char="–"/>
                      </a:pPr>
                      <a:r>
                        <a:rPr lang="de-DE" sz="1050" kern="1200" spc="-30" dirty="0" smtClean="0">
                          <a:solidFill>
                            <a:schemeClr val="tx1"/>
                          </a:solidFill>
                          <a:latin typeface="+mn-lt"/>
                          <a:ea typeface="+mn-ea"/>
                          <a:cs typeface="+mn-cs"/>
                        </a:rPr>
                        <a:t>Limitation </a:t>
                      </a:r>
                      <a:r>
                        <a:rPr lang="de-DE" sz="1050" kern="1200" spc="-30" dirty="0" err="1" smtClean="0">
                          <a:solidFill>
                            <a:schemeClr val="tx1"/>
                          </a:solidFill>
                          <a:latin typeface="+mn-lt"/>
                          <a:ea typeface="+mn-ea"/>
                          <a:cs typeface="+mn-cs"/>
                        </a:rPr>
                        <a:t>of</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liability</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as</a:t>
                      </a:r>
                      <a:r>
                        <a:rPr lang="de-DE" sz="1050" kern="1200" spc="-30" dirty="0" smtClean="0">
                          <a:solidFill>
                            <a:schemeClr val="tx1"/>
                          </a:solidFill>
                          <a:latin typeface="+mn-lt"/>
                          <a:ea typeface="+mn-ea"/>
                          <a:cs typeface="+mn-cs"/>
                        </a:rPr>
                        <a:t> a </a:t>
                      </a:r>
                      <a:r>
                        <a:rPr lang="de-DE" sz="1050" kern="1200" spc="-30" dirty="0" err="1" smtClean="0">
                          <a:solidFill>
                            <a:schemeClr val="tx1"/>
                          </a:solidFill>
                          <a:latin typeface="+mn-lt"/>
                          <a:ea typeface="+mn-ea"/>
                          <a:cs typeface="+mn-cs"/>
                        </a:rPr>
                        <a:t>result</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of</a:t>
                      </a:r>
                      <a:r>
                        <a:rPr lang="de-DE" sz="1050" kern="1200" spc="-30" dirty="0" smtClean="0">
                          <a:solidFill>
                            <a:schemeClr val="tx1"/>
                          </a:solidFill>
                          <a:latin typeface="+mn-lt"/>
                          <a:ea typeface="+mn-ea"/>
                          <a:cs typeface="+mn-cs"/>
                        </a:rPr>
                        <a:t> </a:t>
                      </a:r>
                      <a:r>
                        <a:rPr lang="de-DE" sz="1050" kern="1200" spc="-30" dirty="0" err="1" smtClean="0">
                          <a:solidFill>
                            <a:schemeClr val="tx1"/>
                          </a:solidFill>
                          <a:latin typeface="+mn-lt"/>
                          <a:ea typeface="+mn-ea"/>
                          <a:cs typeface="+mn-cs"/>
                        </a:rPr>
                        <a:t>software</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errors</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bad</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support</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or</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violation</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of</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third</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party</a:t>
                      </a:r>
                      <a:r>
                        <a:rPr lang="de-DE" sz="1050" kern="1200" spc="-30" baseline="0" dirty="0" smtClean="0">
                          <a:solidFill>
                            <a:schemeClr val="tx1"/>
                          </a:solidFill>
                          <a:latin typeface="+mn-lt"/>
                          <a:ea typeface="+mn-ea"/>
                          <a:cs typeface="+mn-cs"/>
                        </a:rPr>
                        <a:t> </a:t>
                      </a:r>
                      <a:r>
                        <a:rPr lang="de-DE" sz="1050" kern="1200" spc="-30" baseline="0" dirty="0" err="1" smtClean="0">
                          <a:solidFill>
                            <a:schemeClr val="tx1"/>
                          </a:solidFill>
                          <a:latin typeface="+mn-lt"/>
                          <a:ea typeface="+mn-ea"/>
                          <a:cs typeface="+mn-cs"/>
                        </a:rPr>
                        <a:t>rights</a:t>
                      </a:r>
                      <a:endParaRPr lang="de-DE" sz="1050" kern="1200" spc="-30" dirty="0" smtClean="0">
                        <a:solidFill>
                          <a:schemeClr val="tx1"/>
                        </a:solidFill>
                        <a:latin typeface="+mn-lt"/>
                        <a:ea typeface="+mn-ea"/>
                        <a:cs typeface="+mn-cs"/>
                      </a:endParaRPr>
                    </a:p>
                  </a:txBody>
                  <a:tcPr marL="45720" marR="4572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cxnSp>
        <p:nvCxnSpPr>
          <p:cNvPr id="15" name="Straight Arrow Connector 14"/>
          <p:cNvCxnSpPr/>
          <p:nvPr/>
        </p:nvCxnSpPr>
        <p:spPr>
          <a:xfrm>
            <a:off x="3203848" y="2780928"/>
            <a:ext cx="1296144" cy="0"/>
          </a:xfrm>
          <a:prstGeom prst="straightConnector1">
            <a:avLst/>
          </a:prstGeom>
          <a:ln>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203848" y="3717032"/>
            <a:ext cx="1296144" cy="0"/>
          </a:xfrm>
          <a:prstGeom prst="straightConnector1">
            <a:avLst/>
          </a:prstGeom>
          <a:ln>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203848" y="4581128"/>
            <a:ext cx="1296144" cy="0"/>
          </a:xfrm>
          <a:prstGeom prst="straightConnector1">
            <a:avLst/>
          </a:prstGeom>
          <a:ln>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03848" y="5517232"/>
            <a:ext cx="1296144" cy="0"/>
          </a:xfrm>
          <a:prstGeom prst="straightConnector1">
            <a:avLst/>
          </a:prstGeom>
          <a:ln>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0294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	</a:t>
            </a:r>
            <a:r>
              <a:rPr lang="de-CH" dirty="0" err="1" smtClean="0"/>
              <a:t>License</a:t>
            </a:r>
            <a:r>
              <a:rPr lang="de-CH" dirty="0" smtClean="0"/>
              <a:t> Agreements: Support </a:t>
            </a:r>
            <a:r>
              <a:rPr lang="de-CH" dirty="0" err="1" smtClean="0"/>
              <a:t>and</a:t>
            </a:r>
            <a:r>
              <a:rPr lang="de-CH" dirty="0" smtClean="0"/>
              <a:t> </a:t>
            </a:r>
            <a:r>
              <a:rPr lang="de-CH" dirty="0" err="1" smtClean="0"/>
              <a:t>Warranty</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29</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Content Placeholder 2"/>
          <p:cNvSpPr>
            <a:spLocks noGrp="1"/>
          </p:cNvSpPr>
          <p:nvPr>
            <p:ph idx="1"/>
          </p:nvPr>
        </p:nvSpPr>
        <p:spPr>
          <a:xfrm>
            <a:off x="971599" y="1844676"/>
            <a:ext cx="7200851" cy="4471940"/>
          </a:xfrm>
        </p:spPr>
        <p:txBody>
          <a:bodyPr/>
          <a:lstStyle/>
          <a:p>
            <a:pPr>
              <a:buFont typeface="Symbol" pitchFamily="18" charset="2"/>
              <a:buChar char="-"/>
              <a:defRPr/>
            </a:pPr>
            <a:r>
              <a:rPr lang="de-CH" dirty="0" smtClean="0"/>
              <a:t>Further </a:t>
            </a:r>
            <a:r>
              <a:rPr lang="de-CH" dirty="0" err="1" smtClean="0"/>
              <a:t>key</a:t>
            </a:r>
            <a:r>
              <a:rPr lang="de-CH" dirty="0" smtClean="0"/>
              <a:t> </a:t>
            </a:r>
            <a:r>
              <a:rPr lang="de-CH" dirty="0" err="1" smtClean="0"/>
              <a:t>terms</a:t>
            </a:r>
            <a:r>
              <a:rPr lang="de-CH" dirty="0" smtClean="0"/>
              <a:t>:</a:t>
            </a:r>
          </a:p>
          <a:p>
            <a:pPr>
              <a:buFont typeface="Symbol" pitchFamily="18" charset="2"/>
              <a:buChar char="-"/>
              <a:defRPr/>
            </a:pPr>
            <a:endParaRPr lang="de-CH" dirty="0" smtClean="0"/>
          </a:p>
          <a:p>
            <a:pPr lvl="1">
              <a:buFont typeface="Arial" pitchFamily="34" charset="0"/>
              <a:buChar char="•"/>
              <a:defRPr/>
            </a:pPr>
            <a:r>
              <a:rPr lang="de-CH" dirty="0" err="1" smtClean="0">
                <a:sym typeface="Wingdings" pitchFamily="2" charset="2"/>
              </a:rPr>
              <a:t>Documentation</a:t>
            </a:r>
            <a:r>
              <a:rPr lang="de-CH" dirty="0" smtClean="0">
                <a:sym typeface="Wingdings" pitchFamily="2" charset="2"/>
              </a:rPr>
              <a:t> (online, </a:t>
            </a:r>
            <a:r>
              <a:rPr lang="de-CH" dirty="0" err="1" smtClean="0">
                <a:sym typeface="Wingdings" pitchFamily="2" charset="2"/>
              </a:rPr>
              <a:t>as</a:t>
            </a:r>
            <a:r>
              <a:rPr lang="de-CH" dirty="0" smtClean="0">
                <a:sym typeface="Wingdings" pitchFamily="2" charset="2"/>
              </a:rPr>
              <a:t> </a:t>
            </a:r>
            <a:r>
              <a:rPr lang="de-CH" dirty="0" err="1" smtClean="0">
                <a:sym typeface="Wingdings" pitchFamily="2" charset="2"/>
              </a:rPr>
              <a:t>amended</a:t>
            </a:r>
            <a:r>
              <a:rPr lang="de-CH" dirty="0" smtClean="0">
                <a:sym typeface="Wingdings" pitchFamily="2" charset="2"/>
              </a:rPr>
              <a:t> </a:t>
            </a:r>
            <a:r>
              <a:rPr lang="de-CH" dirty="0" err="1" smtClean="0">
                <a:sym typeface="Wingdings" pitchFamily="2" charset="2"/>
              </a:rPr>
              <a:t>from</a:t>
            </a:r>
            <a:r>
              <a:rPr lang="de-CH" dirty="0" smtClean="0">
                <a:sym typeface="Wingdings" pitchFamily="2" charset="2"/>
              </a:rPr>
              <a:t> time </a:t>
            </a:r>
            <a:r>
              <a:rPr lang="de-CH" dirty="0" err="1" smtClean="0">
                <a:sym typeface="Wingdings" pitchFamily="2" charset="2"/>
              </a:rPr>
              <a:t>to</a:t>
            </a:r>
            <a:r>
              <a:rPr lang="de-CH" dirty="0" smtClean="0">
                <a:sym typeface="Wingdings" pitchFamily="2" charset="2"/>
              </a:rPr>
              <a:t> time)</a:t>
            </a:r>
          </a:p>
          <a:p>
            <a:pPr lvl="1">
              <a:buFont typeface="Arial" pitchFamily="34" charset="0"/>
              <a:buChar char="•"/>
              <a:defRPr/>
            </a:pPr>
            <a:endParaRPr lang="de-CH" dirty="0" smtClean="0"/>
          </a:p>
          <a:p>
            <a:pPr lvl="1">
              <a:buFont typeface="Arial" pitchFamily="34" charset="0"/>
              <a:buChar char="•"/>
              <a:defRPr/>
            </a:pPr>
            <a:r>
              <a:rPr lang="de-CH" dirty="0" smtClean="0"/>
              <a:t>System </a:t>
            </a:r>
            <a:r>
              <a:rPr lang="de-CH" dirty="0" err="1" smtClean="0"/>
              <a:t>requirements</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err="1" smtClean="0"/>
              <a:t>Reproduction</a:t>
            </a:r>
            <a:r>
              <a:rPr lang="de-CH" dirty="0" smtClean="0"/>
              <a:t> on in-</a:t>
            </a:r>
            <a:r>
              <a:rPr lang="de-CH" dirty="0" err="1" smtClean="0"/>
              <a:t>house</a:t>
            </a:r>
            <a:r>
              <a:rPr lang="de-CH" dirty="0" smtClean="0"/>
              <a:t> </a:t>
            </a:r>
            <a:r>
              <a:rPr lang="de-CH" dirty="0" err="1" smtClean="0"/>
              <a:t>installation</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err="1" smtClean="0"/>
              <a:t>Product</a:t>
            </a:r>
            <a:r>
              <a:rPr lang="de-CH" dirty="0" smtClean="0"/>
              <a:t> </a:t>
            </a:r>
            <a:r>
              <a:rPr lang="de-CH" dirty="0" err="1" smtClean="0"/>
              <a:t>support</a:t>
            </a:r>
            <a:r>
              <a:rPr lang="de-CH" dirty="0" smtClean="0"/>
              <a:t> (i.e. 3rd </a:t>
            </a:r>
            <a:r>
              <a:rPr lang="de-CH" dirty="0" err="1" smtClean="0"/>
              <a:t>level</a:t>
            </a:r>
            <a:r>
              <a:rPr lang="de-CH" dirty="0" smtClean="0"/>
              <a:t> </a:t>
            </a:r>
            <a:r>
              <a:rPr lang="de-CH" dirty="0" err="1" smtClean="0"/>
              <a:t>support</a:t>
            </a:r>
            <a:r>
              <a:rPr lang="de-CH" dirty="0" smtClean="0"/>
              <a:t>)</a:t>
            </a:r>
          </a:p>
          <a:p>
            <a:pPr lvl="1">
              <a:buFont typeface="Arial" pitchFamily="34" charset="0"/>
              <a:buChar char="•"/>
              <a:defRPr/>
            </a:pPr>
            <a:endParaRPr lang="de-CH" dirty="0" smtClean="0"/>
          </a:p>
          <a:p>
            <a:pPr lvl="1">
              <a:buFont typeface="Arial" pitchFamily="34" charset="0"/>
              <a:buChar char="•"/>
              <a:defRPr/>
            </a:pPr>
            <a:r>
              <a:rPr lang="de-CH" dirty="0" err="1" smtClean="0"/>
              <a:t>No</a:t>
            </a:r>
            <a:r>
              <a:rPr lang="de-CH" dirty="0" smtClean="0"/>
              <a:t> </a:t>
            </a:r>
            <a:r>
              <a:rPr lang="de-CH" dirty="0" err="1" smtClean="0"/>
              <a:t>resolution</a:t>
            </a:r>
            <a:r>
              <a:rPr lang="de-CH" dirty="0" smtClean="0"/>
              <a:t> </a:t>
            </a:r>
            <a:r>
              <a:rPr lang="de-CH" dirty="0"/>
              <a:t>t</a:t>
            </a:r>
            <a:r>
              <a:rPr lang="de-CH" dirty="0" smtClean="0"/>
              <a:t>ime – just </a:t>
            </a:r>
            <a:r>
              <a:rPr lang="de-CH" dirty="0" err="1" smtClean="0"/>
              <a:t>best</a:t>
            </a:r>
            <a:r>
              <a:rPr lang="de-CH" dirty="0" smtClean="0"/>
              <a:t> </a:t>
            </a:r>
            <a:r>
              <a:rPr lang="de-CH" dirty="0" err="1" smtClean="0"/>
              <a:t>efforts</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err="1" smtClean="0"/>
              <a:t>No</a:t>
            </a:r>
            <a:r>
              <a:rPr lang="de-CH" dirty="0" smtClean="0"/>
              <a:t> </a:t>
            </a:r>
            <a:r>
              <a:rPr lang="de-CH" dirty="0" err="1" smtClean="0"/>
              <a:t>support</a:t>
            </a:r>
            <a:r>
              <a:rPr lang="de-CH" dirty="0" smtClean="0"/>
              <a:t> </a:t>
            </a:r>
            <a:r>
              <a:rPr lang="de-CH" dirty="0" err="1" smtClean="0"/>
              <a:t>of</a:t>
            </a:r>
            <a:r>
              <a:rPr lang="de-CH" dirty="0" smtClean="0"/>
              <a:t> </a:t>
            </a:r>
            <a:r>
              <a:rPr lang="de-CH" dirty="0" err="1" smtClean="0"/>
              <a:t>outdated</a:t>
            </a:r>
            <a:r>
              <a:rPr lang="de-CH" dirty="0" smtClean="0"/>
              <a:t> </a:t>
            </a:r>
            <a:r>
              <a:rPr lang="de-CH" dirty="0" err="1" smtClean="0"/>
              <a:t>versions</a:t>
            </a:r>
            <a:r>
              <a:rPr lang="de-CH" dirty="0" smtClean="0"/>
              <a:t> / </a:t>
            </a:r>
            <a:r>
              <a:rPr lang="de-CH" dirty="0" err="1" smtClean="0"/>
              <a:t>obligation</a:t>
            </a:r>
            <a:r>
              <a:rPr lang="de-CH" dirty="0" smtClean="0"/>
              <a:t> </a:t>
            </a:r>
            <a:r>
              <a:rPr lang="de-CH" dirty="0" err="1" smtClean="0"/>
              <a:t>to</a:t>
            </a:r>
            <a:r>
              <a:rPr lang="de-CH" dirty="0" smtClean="0"/>
              <a:t> upgrade</a:t>
            </a:r>
          </a:p>
          <a:p>
            <a:pPr lvl="1">
              <a:buFont typeface="Arial" pitchFamily="34" charset="0"/>
              <a:buChar char="•"/>
              <a:defRPr/>
            </a:pPr>
            <a:endParaRPr lang="de-CH" dirty="0" smtClean="0"/>
          </a:p>
          <a:p>
            <a:pPr>
              <a:buFont typeface="Symbol" pitchFamily="18" charset="2"/>
              <a:buChar char="-"/>
              <a:defRPr/>
            </a:pPr>
            <a:endParaRPr lang="de-CH" dirty="0" smtClean="0"/>
          </a:p>
          <a:p>
            <a:pPr>
              <a:buNone/>
              <a:defRPr/>
            </a:pPr>
            <a:endParaRPr lang="de-CH" dirty="0" smtClean="0"/>
          </a:p>
          <a:p>
            <a:pPr marL="358775" lvl="1">
              <a:spcBef>
                <a:spcPts val="800"/>
              </a:spcBef>
              <a:buNone/>
              <a:defRPr/>
            </a:pPr>
            <a:r>
              <a:rPr lang="en-US" i="1" dirty="0" smtClean="0"/>
              <a:t>	</a:t>
            </a:r>
            <a:endParaRPr lang="de-CH" i="1" dirty="0" smtClean="0"/>
          </a:p>
          <a:p>
            <a:pPr>
              <a:buFont typeface="Symbol" pitchFamily="18" charset="2"/>
              <a:buChar char="-"/>
              <a:defRPr/>
            </a:pPr>
            <a:endParaRPr lang="de-CH" dirty="0" smtClean="0"/>
          </a:p>
          <a:p>
            <a:pPr>
              <a:buFont typeface="Symbol" pitchFamily="18" charset="2"/>
              <a:buChar char="-"/>
              <a:defRPr/>
            </a:pPr>
            <a:endParaRPr lang="de-CH" dirty="0" smtClean="0"/>
          </a:p>
        </p:txBody>
      </p:sp>
    </p:spTree>
    <p:extLst>
      <p:ext uri="{BB962C8B-B14F-4D97-AF65-F5344CB8AC3E}">
        <p14:creationId xmlns:p14="http://schemas.microsoft.com/office/powerpoint/2010/main" val="9039007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	</a:t>
            </a:r>
            <a:r>
              <a:rPr lang="de-CH" dirty="0"/>
              <a:t> </a:t>
            </a:r>
            <a:r>
              <a:rPr lang="de-CH" dirty="0" err="1"/>
              <a:t>License</a:t>
            </a:r>
            <a:r>
              <a:rPr lang="de-CH" dirty="0"/>
              <a:t> Agreements: </a:t>
            </a:r>
            <a:r>
              <a:rPr lang="de-CH" dirty="0" err="1" smtClean="0"/>
              <a:t>Liability</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30</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Content Placeholder 2"/>
          <p:cNvSpPr>
            <a:spLocks noGrp="1"/>
          </p:cNvSpPr>
          <p:nvPr>
            <p:ph idx="1"/>
          </p:nvPr>
        </p:nvSpPr>
        <p:spPr>
          <a:xfrm>
            <a:off x="971599" y="1844676"/>
            <a:ext cx="7200851" cy="4471940"/>
          </a:xfrm>
        </p:spPr>
        <p:txBody>
          <a:bodyPr/>
          <a:lstStyle/>
          <a:p>
            <a:pPr>
              <a:buFont typeface="Symbol" pitchFamily="18" charset="2"/>
              <a:buChar char="-"/>
              <a:defRPr/>
            </a:pPr>
            <a:r>
              <a:rPr lang="de-CH" dirty="0" err="1" smtClean="0"/>
              <a:t>Beware</a:t>
            </a:r>
            <a:r>
              <a:rPr lang="de-CH" dirty="0" smtClean="0"/>
              <a:t> </a:t>
            </a:r>
            <a:r>
              <a:rPr lang="de-CH" dirty="0" err="1" smtClean="0"/>
              <a:t>of</a:t>
            </a:r>
            <a:r>
              <a:rPr lang="de-CH" dirty="0" smtClean="0"/>
              <a:t>:</a:t>
            </a:r>
          </a:p>
          <a:p>
            <a:pPr>
              <a:buFont typeface="Symbol" pitchFamily="18" charset="2"/>
              <a:buChar char="-"/>
              <a:defRPr/>
            </a:pPr>
            <a:endParaRPr lang="de-CH" dirty="0" smtClean="0"/>
          </a:p>
          <a:p>
            <a:pPr lvl="1">
              <a:buFont typeface="Arial" pitchFamily="34" charset="0"/>
              <a:buChar char="•"/>
              <a:defRPr/>
            </a:pPr>
            <a:r>
              <a:rPr lang="de-CH" dirty="0" err="1"/>
              <a:t>l</a:t>
            </a:r>
            <a:r>
              <a:rPr lang="de-CH" dirty="0" err="1" smtClean="0"/>
              <a:t>iability</a:t>
            </a:r>
            <a:r>
              <a:rPr lang="de-CH" dirty="0" smtClean="0"/>
              <a:t> </a:t>
            </a:r>
            <a:r>
              <a:rPr lang="de-CH" dirty="0" err="1" smtClean="0"/>
              <a:t>for</a:t>
            </a:r>
            <a:r>
              <a:rPr lang="de-CH" dirty="0" smtClean="0"/>
              <a:t> lost </a:t>
            </a:r>
            <a:r>
              <a:rPr lang="de-CH" dirty="0" err="1" smtClean="0"/>
              <a:t>profits</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err="1"/>
              <a:t>u</a:t>
            </a:r>
            <a:r>
              <a:rPr lang="de-CH" dirty="0" err="1" smtClean="0"/>
              <a:t>ncapped</a:t>
            </a:r>
            <a:r>
              <a:rPr lang="de-CH" dirty="0" smtClean="0"/>
              <a:t> </a:t>
            </a:r>
            <a:r>
              <a:rPr lang="de-CH" dirty="0" err="1" smtClean="0"/>
              <a:t>liability</a:t>
            </a:r>
            <a:r>
              <a:rPr lang="de-CH" dirty="0" smtClean="0"/>
              <a:t> </a:t>
            </a:r>
            <a:r>
              <a:rPr lang="de-CH" dirty="0" err="1" smtClean="0"/>
              <a:t>for</a:t>
            </a:r>
            <a:r>
              <a:rPr lang="de-CH" dirty="0" smtClean="0"/>
              <a:t> </a:t>
            </a:r>
            <a:r>
              <a:rPr lang="de-CH" dirty="0" err="1" smtClean="0"/>
              <a:t>direct</a:t>
            </a:r>
            <a:r>
              <a:rPr lang="de-CH" dirty="0" smtClean="0"/>
              <a:t>/</a:t>
            </a:r>
            <a:r>
              <a:rPr lang="de-CH" dirty="0" err="1" smtClean="0"/>
              <a:t>indirect</a:t>
            </a:r>
            <a:r>
              <a:rPr lang="de-CH" dirty="0" smtClean="0"/>
              <a:t> </a:t>
            </a:r>
            <a:r>
              <a:rPr lang="de-CH" dirty="0" err="1" smtClean="0"/>
              <a:t>damages</a:t>
            </a:r>
            <a:endParaRPr lang="de-CH" dirty="0" smtClean="0"/>
          </a:p>
          <a:p>
            <a:pPr lvl="1">
              <a:buFont typeface="Arial" pitchFamily="34" charset="0"/>
              <a:buChar char="•"/>
              <a:defRPr/>
            </a:pPr>
            <a:endParaRPr lang="de-CH" dirty="0" smtClean="0">
              <a:sym typeface="Wingdings" pitchFamily="2" charset="2"/>
            </a:endParaRPr>
          </a:p>
          <a:p>
            <a:pPr lvl="1">
              <a:buNone/>
              <a:defRPr/>
            </a:pPr>
            <a:endParaRPr lang="de-CH" dirty="0" smtClean="0"/>
          </a:p>
          <a:p>
            <a:pPr>
              <a:buFont typeface="Symbol" pitchFamily="18" charset="2"/>
              <a:buChar char="-"/>
              <a:defRPr/>
            </a:pPr>
            <a:r>
              <a:rPr lang="de-CH" dirty="0" err="1" smtClean="0"/>
              <a:t>Exclusions</a:t>
            </a:r>
            <a:r>
              <a:rPr lang="de-CH" dirty="0" smtClean="0"/>
              <a:t>/</a:t>
            </a:r>
            <a:r>
              <a:rPr lang="de-CH" dirty="0" err="1" smtClean="0"/>
              <a:t>limitations</a:t>
            </a:r>
            <a:endParaRPr lang="de-CH" dirty="0" smtClean="0"/>
          </a:p>
          <a:p>
            <a:pPr lvl="1">
              <a:buFont typeface="Symbol" pitchFamily="18" charset="2"/>
              <a:buChar char="-"/>
              <a:defRPr/>
            </a:pPr>
            <a:endParaRPr lang="de-CH" dirty="0" smtClean="0"/>
          </a:p>
          <a:p>
            <a:pPr lvl="1">
              <a:buFont typeface="Arial" pitchFamily="34" charset="0"/>
              <a:buChar char="•"/>
              <a:defRPr/>
            </a:pPr>
            <a:r>
              <a:rPr lang="de-CH" dirty="0" err="1" smtClean="0"/>
              <a:t>Exclusion</a:t>
            </a:r>
            <a:r>
              <a:rPr lang="de-CH" dirty="0" smtClean="0"/>
              <a:t> </a:t>
            </a:r>
            <a:r>
              <a:rPr lang="de-CH" dirty="0" err="1" smtClean="0"/>
              <a:t>of</a:t>
            </a:r>
            <a:r>
              <a:rPr lang="de-CH" dirty="0" smtClean="0"/>
              <a:t> </a:t>
            </a:r>
            <a:r>
              <a:rPr lang="de-CH" dirty="0" err="1" smtClean="0"/>
              <a:t>indirect</a:t>
            </a:r>
            <a:r>
              <a:rPr lang="de-CH" dirty="0" smtClean="0"/>
              <a:t> </a:t>
            </a:r>
            <a:r>
              <a:rPr lang="de-CH" dirty="0" err="1" smtClean="0"/>
              <a:t>damages</a:t>
            </a:r>
            <a:r>
              <a:rPr lang="de-CH" dirty="0" smtClean="0"/>
              <a:t> (</a:t>
            </a:r>
            <a:r>
              <a:rPr lang="de-CH" dirty="0" err="1" smtClean="0"/>
              <a:t>including</a:t>
            </a:r>
            <a:r>
              <a:rPr lang="de-CH" dirty="0" smtClean="0"/>
              <a:t> lost </a:t>
            </a:r>
            <a:r>
              <a:rPr lang="de-CH" dirty="0" err="1" smtClean="0"/>
              <a:t>profits</a:t>
            </a:r>
            <a:r>
              <a:rPr lang="de-CH" dirty="0" smtClean="0"/>
              <a:t>)</a:t>
            </a:r>
          </a:p>
          <a:p>
            <a:pPr lvl="1">
              <a:buFont typeface="Arial" pitchFamily="34" charset="0"/>
              <a:buChar char="•"/>
              <a:defRPr/>
            </a:pPr>
            <a:endParaRPr lang="de-CH" dirty="0" smtClean="0"/>
          </a:p>
          <a:p>
            <a:pPr lvl="1">
              <a:buFont typeface="Arial" pitchFamily="34" charset="0"/>
              <a:buChar char="•"/>
              <a:defRPr/>
            </a:pPr>
            <a:r>
              <a:rPr lang="de-CH" dirty="0" smtClean="0"/>
              <a:t>Part </a:t>
            </a:r>
            <a:r>
              <a:rPr lang="de-CH" dirty="0" err="1" smtClean="0"/>
              <a:t>of</a:t>
            </a:r>
            <a:r>
              <a:rPr lang="de-CH" dirty="0" smtClean="0"/>
              <a:t> </a:t>
            </a:r>
            <a:r>
              <a:rPr lang="de-CH" dirty="0" err="1" smtClean="0"/>
              <a:t>the</a:t>
            </a:r>
            <a:r>
              <a:rPr lang="de-CH" dirty="0" smtClean="0"/>
              <a:t> </a:t>
            </a:r>
            <a:r>
              <a:rPr lang="de-CH" dirty="0" err="1" smtClean="0"/>
              <a:t>pricing</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smtClean="0"/>
              <a:t>Startup </a:t>
            </a:r>
            <a:r>
              <a:rPr lang="de-CH" dirty="0" err="1" smtClean="0"/>
              <a:t>is</a:t>
            </a:r>
            <a:r>
              <a:rPr lang="de-CH" dirty="0" smtClean="0"/>
              <a:t> not </a:t>
            </a:r>
            <a:r>
              <a:rPr lang="de-CH" dirty="0" err="1" smtClean="0"/>
              <a:t>able</a:t>
            </a:r>
            <a:r>
              <a:rPr lang="de-CH" dirty="0" smtClean="0"/>
              <a:t> </a:t>
            </a:r>
            <a:r>
              <a:rPr lang="de-CH" dirty="0" err="1" smtClean="0"/>
              <a:t>to</a:t>
            </a:r>
            <a:r>
              <a:rPr lang="de-CH" dirty="0" smtClean="0"/>
              <a:t> </a:t>
            </a:r>
            <a:r>
              <a:rPr lang="de-CH" dirty="0" err="1" smtClean="0"/>
              <a:t>bear</a:t>
            </a:r>
            <a:r>
              <a:rPr lang="de-CH" dirty="0" smtClean="0"/>
              <a:t> </a:t>
            </a:r>
            <a:r>
              <a:rPr lang="de-CH" dirty="0" err="1" smtClean="0"/>
              <a:t>client‘s</a:t>
            </a:r>
            <a:r>
              <a:rPr lang="de-CH" dirty="0" smtClean="0"/>
              <a:t> </a:t>
            </a:r>
            <a:r>
              <a:rPr lang="de-CH" dirty="0" err="1" smtClean="0"/>
              <a:t>business</a:t>
            </a:r>
            <a:r>
              <a:rPr lang="de-CH" dirty="0" smtClean="0"/>
              <a:t> </a:t>
            </a:r>
            <a:r>
              <a:rPr lang="de-CH" dirty="0" err="1" smtClean="0"/>
              <a:t>risk</a:t>
            </a:r>
            <a:endParaRPr lang="de-CH" dirty="0" smtClean="0"/>
          </a:p>
          <a:p>
            <a:pPr lvl="1">
              <a:buFont typeface="Arial" pitchFamily="34" charset="0"/>
              <a:buChar char="•"/>
              <a:defRPr/>
            </a:pPr>
            <a:endParaRPr lang="de-CH" dirty="0" smtClean="0"/>
          </a:p>
          <a:p>
            <a:pPr lvl="1">
              <a:buFont typeface="Arial" pitchFamily="34" charset="0"/>
              <a:buChar char="•"/>
              <a:defRPr/>
            </a:pPr>
            <a:r>
              <a:rPr lang="de-CH" dirty="0" smtClean="0"/>
              <a:t>Cap in </a:t>
            </a:r>
            <a:r>
              <a:rPr lang="de-CH" dirty="0" err="1" smtClean="0"/>
              <a:t>the</a:t>
            </a:r>
            <a:r>
              <a:rPr lang="de-CH" dirty="0" smtClean="0"/>
              <a:t> </a:t>
            </a:r>
            <a:r>
              <a:rPr lang="de-CH" dirty="0" err="1" smtClean="0"/>
              <a:t>amount</a:t>
            </a:r>
            <a:r>
              <a:rPr lang="de-CH" dirty="0" smtClean="0"/>
              <a:t> </a:t>
            </a:r>
            <a:r>
              <a:rPr lang="de-CH" dirty="0" err="1" smtClean="0"/>
              <a:t>of</a:t>
            </a:r>
            <a:r>
              <a:rPr lang="de-CH" dirty="0" smtClean="0"/>
              <a:t> </a:t>
            </a:r>
            <a:r>
              <a:rPr lang="de-CH" dirty="0" err="1" smtClean="0"/>
              <a:t>yearly</a:t>
            </a:r>
            <a:r>
              <a:rPr lang="de-CH" dirty="0" smtClean="0"/>
              <a:t> </a:t>
            </a:r>
            <a:r>
              <a:rPr lang="de-CH" dirty="0" err="1" smtClean="0"/>
              <a:t>license</a:t>
            </a:r>
            <a:r>
              <a:rPr lang="de-CH" dirty="0" smtClean="0"/>
              <a:t> </a:t>
            </a:r>
            <a:r>
              <a:rPr lang="de-CH" dirty="0" err="1" smtClean="0"/>
              <a:t>fees</a:t>
            </a:r>
            <a:endParaRPr lang="de-CH" dirty="0" smtClean="0"/>
          </a:p>
          <a:p>
            <a:pPr marL="358775" lvl="1">
              <a:spcBef>
                <a:spcPts val="800"/>
              </a:spcBef>
              <a:buNone/>
              <a:defRPr/>
            </a:pPr>
            <a:r>
              <a:rPr lang="en-US" i="1" dirty="0" smtClean="0"/>
              <a:t>	</a:t>
            </a:r>
            <a:endParaRPr lang="de-CH" i="1" dirty="0" smtClean="0"/>
          </a:p>
          <a:p>
            <a:pPr>
              <a:buFont typeface="Symbol" pitchFamily="18" charset="2"/>
              <a:buChar char="-"/>
              <a:defRPr/>
            </a:pPr>
            <a:endParaRPr lang="de-CH" dirty="0" smtClean="0"/>
          </a:p>
          <a:p>
            <a:pPr>
              <a:buFont typeface="Symbol" pitchFamily="18" charset="2"/>
              <a:buChar char="-"/>
              <a:defRPr/>
            </a:pPr>
            <a:endParaRPr lang="de-CH" dirty="0" smtClean="0"/>
          </a:p>
        </p:txBody>
      </p:sp>
    </p:spTree>
    <p:extLst>
      <p:ext uri="{BB962C8B-B14F-4D97-AF65-F5344CB8AC3E}">
        <p14:creationId xmlns:p14="http://schemas.microsoft.com/office/powerpoint/2010/main" val="19330269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smtClean="0"/>
              <a:t>VII	Maintenance </a:t>
            </a:r>
            <a:r>
              <a:rPr lang="de-CH" dirty="0" err="1" smtClean="0"/>
              <a:t>and</a:t>
            </a:r>
            <a:r>
              <a:rPr lang="de-CH" dirty="0" smtClean="0"/>
              <a:t> Support Agreements</a:t>
            </a:r>
            <a:endParaRPr lang="de-CH" dirty="0"/>
          </a:p>
        </p:txBody>
      </p:sp>
      <p:sp>
        <p:nvSpPr>
          <p:cNvPr id="3" name="Inhaltsplatzhalter 2"/>
          <p:cNvSpPr>
            <a:spLocks noGrp="1"/>
          </p:cNvSpPr>
          <p:nvPr>
            <p:ph idx="1"/>
          </p:nvPr>
        </p:nvSpPr>
        <p:spPr/>
        <p:txBody>
          <a:bodyPr/>
          <a:lstStyle/>
          <a:p>
            <a:r>
              <a:rPr lang="de-CH" dirty="0" smtClean="0"/>
              <a:t>Description </a:t>
            </a:r>
            <a:r>
              <a:rPr lang="de-CH" dirty="0" err="1" smtClean="0"/>
              <a:t>of</a:t>
            </a:r>
            <a:r>
              <a:rPr lang="de-CH" dirty="0" smtClean="0"/>
              <a:t> </a:t>
            </a:r>
            <a:r>
              <a:rPr lang="de-CH" dirty="0" err="1" smtClean="0"/>
              <a:t>services</a:t>
            </a:r>
            <a:endParaRPr lang="de-CH" dirty="0" smtClean="0"/>
          </a:p>
          <a:p>
            <a:r>
              <a:rPr lang="de-CH" dirty="0" smtClean="0"/>
              <a:t>Definition </a:t>
            </a:r>
            <a:r>
              <a:rPr lang="de-CH" dirty="0" err="1" smtClean="0"/>
              <a:t>of</a:t>
            </a:r>
            <a:r>
              <a:rPr lang="de-CH" dirty="0" smtClean="0"/>
              <a:t> </a:t>
            </a:r>
            <a:r>
              <a:rPr lang="de-CH" dirty="0" err="1" smtClean="0"/>
              <a:t>provider’s</a:t>
            </a:r>
            <a:r>
              <a:rPr lang="de-CH" dirty="0" smtClean="0"/>
              <a:t> </a:t>
            </a:r>
            <a:r>
              <a:rPr lang="de-CH" dirty="0" err="1" smtClean="0"/>
              <a:t>obligations</a:t>
            </a:r>
            <a:r>
              <a:rPr lang="de-CH" dirty="0" smtClean="0"/>
              <a:t> (</a:t>
            </a:r>
            <a:r>
              <a:rPr lang="de-CH" dirty="0" err="1" smtClean="0"/>
              <a:t>duty</a:t>
            </a:r>
            <a:r>
              <a:rPr lang="de-CH" dirty="0" smtClean="0"/>
              <a:t> </a:t>
            </a:r>
            <a:r>
              <a:rPr lang="de-CH" dirty="0" err="1" smtClean="0"/>
              <a:t>of</a:t>
            </a:r>
            <a:r>
              <a:rPr lang="de-CH" dirty="0" smtClean="0"/>
              <a:t> care, </a:t>
            </a:r>
            <a:r>
              <a:rPr lang="de-CH" dirty="0" err="1" smtClean="0"/>
              <a:t>guarantee</a:t>
            </a:r>
            <a:r>
              <a:rPr lang="de-CH" dirty="0" smtClean="0"/>
              <a:t> </a:t>
            </a:r>
            <a:r>
              <a:rPr lang="de-CH" dirty="0" err="1" smtClean="0"/>
              <a:t>of</a:t>
            </a:r>
            <a:r>
              <a:rPr lang="de-CH" dirty="0" smtClean="0"/>
              <a:t> </a:t>
            </a:r>
            <a:r>
              <a:rPr lang="de-CH" dirty="0" err="1" smtClean="0"/>
              <a:t>results</a:t>
            </a:r>
            <a:r>
              <a:rPr lang="de-CH" dirty="0" smtClean="0"/>
              <a:t>)</a:t>
            </a:r>
          </a:p>
          <a:p>
            <a:r>
              <a:rPr lang="de-CH" dirty="0" smtClean="0"/>
              <a:t>1st </a:t>
            </a:r>
            <a:r>
              <a:rPr lang="de-CH" dirty="0" err="1" smtClean="0"/>
              <a:t>level</a:t>
            </a:r>
            <a:r>
              <a:rPr lang="de-CH" dirty="0" smtClean="0"/>
              <a:t>, 2nd </a:t>
            </a:r>
            <a:r>
              <a:rPr lang="de-CH" dirty="0" err="1" smtClean="0"/>
              <a:t>level</a:t>
            </a:r>
            <a:r>
              <a:rPr lang="de-CH" dirty="0" smtClean="0"/>
              <a:t>, 3rd </a:t>
            </a:r>
            <a:r>
              <a:rPr lang="de-CH" dirty="0" err="1" smtClean="0"/>
              <a:t>level</a:t>
            </a:r>
            <a:r>
              <a:rPr lang="de-CH" dirty="0" smtClean="0"/>
              <a:t> </a:t>
            </a:r>
            <a:r>
              <a:rPr lang="de-CH" dirty="0" err="1" smtClean="0"/>
              <a:t>support</a:t>
            </a:r>
            <a:r>
              <a:rPr lang="de-CH" dirty="0" smtClean="0"/>
              <a:t>?</a:t>
            </a:r>
          </a:p>
          <a:p>
            <a:r>
              <a:rPr lang="de-CH" dirty="0" err="1" smtClean="0"/>
              <a:t>Exlusions</a:t>
            </a:r>
            <a:r>
              <a:rPr lang="de-CH" dirty="0" smtClean="0"/>
              <a:t> </a:t>
            </a:r>
            <a:r>
              <a:rPr lang="de-CH" dirty="0" err="1" smtClean="0"/>
              <a:t>of</a:t>
            </a:r>
            <a:r>
              <a:rPr lang="de-CH" dirty="0" smtClean="0"/>
              <a:t> </a:t>
            </a:r>
            <a:r>
              <a:rPr lang="de-CH" dirty="0" err="1" smtClean="0"/>
              <a:t>certain</a:t>
            </a:r>
            <a:r>
              <a:rPr lang="de-CH" dirty="0" smtClean="0"/>
              <a:t> </a:t>
            </a:r>
            <a:r>
              <a:rPr lang="de-CH" dirty="0" err="1" smtClean="0"/>
              <a:t>support</a:t>
            </a:r>
            <a:r>
              <a:rPr lang="de-CH" dirty="0" smtClean="0"/>
              <a:t> </a:t>
            </a:r>
            <a:r>
              <a:rPr lang="de-CH" dirty="0" err="1" smtClean="0"/>
              <a:t>cases</a:t>
            </a:r>
            <a:r>
              <a:rPr lang="de-CH" dirty="0" smtClean="0"/>
              <a:t>?</a:t>
            </a:r>
          </a:p>
          <a:p>
            <a:r>
              <a:rPr lang="de-CH" dirty="0" smtClean="0"/>
              <a:t>Communication (</a:t>
            </a:r>
            <a:r>
              <a:rPr lang="de-CH" dirty="0" err="1" smtClean="0"/>
              <a:t>ticketing</a:t>
            </a:r>
            <a:r>
              <a:rPr lang="de-CH" dirty="0" smtClean="0"/>
              <a:t> </a:t>
            </a:r>
            <a:r>
              <a:rPr lang="de-CH" dirty="0" err="1" smtClean="0"/>
              <a:t>system</a:t>
            </a:r>
            <a:r>
              <a:rPr lang="de-CH" dirty="0" smtClean="0"/>
              <a:t>, </a:t>
            </a:r>
            <a:r>
              <a:rPr lang="de-CH" dirty="0" err="1" smtClean="0"/>
              <a:t>call</a:t>
            </a:r>
            <a:r>
              <a:rPr lang="de-CH" dirty="0" smtClean="0"/>
              <a:t> </a:t>
            </a:r>
            <a:r>
              <a:rPr lang="de-CH" dirty="0" err="1" smtClean="0"/>
              <a:t>center</a:t>
            </a:r>
            <a:r>
              <a:rPr lang="de-CH" dirty="0" smtClean="0"/>
              <a:t>)</a:t>
            </a:r>
          </a:p>
          <a:p>
            <a:r>
              <a:rPr lang="de-CH" dirty="0" smtClean="0"/>
              <a:t>Service </a:t>
            </a:r>
            <a:r>
              <a:rPr lang="de-CH" dirty="0" err="1" smtClean="0"/>
              <a:t>levels</a:t>
            </a:r>
            <a:endParaRPr lang="de-CH" dirty="0" smtClean="0"/>
          </a:p>
          <a:p>
            <a:r>
              <a:rPr lang="de-CH" dirty="0" smtClean="0"/>
              <a:t>Service </a:t>
            </a:r>
            <a:r>
              <a:rPr lang="de-CH" dirty="0" err="1" smtClean="0"/>
              <a:t>credits</a:t>
            </a:r>
            <a:endParaRPr lang="de-CH" dirty="0" smtClean="0"/>
          </a:p>
          <a:p>
            <a:r>
              <a:rPr lang="de-CH" dirty="0" smtClean="0"/>
              <a:t>Price: flat </a:t>
            </a:r>
            <a:r>
              <a:rPr lang="de-CH" dirty="0" err="1" smtClean="0"/>
              <a:t>fee</a:t>
            </a:r>
            <a:r>
              <a:rPr lang="de-CH" dirty="0" smtClean="0"/>
              <a:t>, on a time </a:t>
            </a:r>
            <a:r>
              <a:rPr lang="de-CH" dirty="0" err="1" smtClean="0"/>
              <a:t>spent</a:t>
            </a:r>
            <a:r>
              <a:rPr lang="de-CH" dirty="0" smtClean="0"/>
              <a:t> </a:t>
            </a:r>
            <a:r>
              <a:rPr lang="de-CH" dirty="0" err="1" smtClean="0"/>
              <a:t>basis</a:t>
            </a:r>
            <a:r>
              <a:rPr lang="de-CH" dirty="0" smtClean="0"/>
              <a:t>, </a:t>
            </a:r>
            <a:r>
              <a:rPr lang="de-CH" dirty="0" err="1" smtClean="0"/>
              <a:t>capped</a:t>
            </a:r>
            <a:r>
              <a:rPr lang="de-CH" dirty="0" smtClean="0"/>
              <a:t>?</a:t>
            </a:r>
          </a:p>
        </p:txBody>
      </p:sp>
      <p:sp>
        <p:nvSpPr>
          <p:cNvPr id="4" name="Datumsplatzhalter 3"/>
          <p:cNvSpPr>
            <a:spLocks noGrp="1"/>
          </p:cNvSpPr>
          <p:nvPr>
            <p:ph type="dt" sz="half" idx="10"/>
          </p:nvPr>
        </p:nvSpPr>
        <p:spPr/>
        <p:txBody>
          <a:bodyPr/>
          <a:lstStyle/>
          <a:p>
            <a:r>
              <a:rPr lang="de-DE" smtClean="0"/>
              <a:t>16.11.2016</a:t>
            </a:r>
            <a:endParaRPr lang="de-CH"/>
          </a:p>
        </p:txBody>
      </p:sp>
      <p:sp>
        <p:nvSpPr>
          <p:cNvPr id="5" name="Fußzeilenplatzhalter 4"/>
          <p:cNvSpPr>
            <a:spLocks noGrp="1"/>
          </p:cNvSpPr>
          <p:nvPr>
            <p:ph type="ftr" sz="quarter" idx="11"/>
          </p:nvPr>
        </p:nvSpPr>
        <p:spPr/>
        <p:txBody>
          <a:bodyPr/>
          <a:lstStyle/>
          <a:p>
            <a:r>
              <a:rPr lang="de-CH" dirty="0"/>
              <a:t>nicolas.mosimann@kellerhals-carrard.ch</a:t>
            </a:r>
          </a:p>
        </p:txBody>
      </p:sp>
      <p:sp>
        <p:nvSpPr>
          <p:cNvPr id="6" name="Foliennummernplatzhalter 5"/>
          <p:cNvSpPr>
            <a:spLocks noGrp="1"/>
          </p:cNvSpPr>
          <p:nvPr>
            <p:ph type="sldNum" sz="quarter" idx="12"/>
          </p:nvPr>
        </p:nvSpPr>
        <p:spPr/>
        <p:txBody>
          <a:bodyPr/>
          <a:lstStyle/>
          <a:p>
            <a:fld id="{1E75EF35-6B25-4B85-9696-D7065EDA5E63}" type="slidenum">
              <a:rPr lang="de-CH" smtClean="0"/>
              <a:pPr/>
              <a:t>31</a:t>
            </a:fld>
            <a:endParaRPr lang="de-CH"/>
          </a:p>
        </p:txBody>
      </p:sp>
    </p:spTree>
    <p:extLst>
      <p:ext uri="{BB962C8B-B14F-4D97-AF65-F5344CB8AC3E}">
        <p14:creationId xmlns:p14="http://schemas.microsoft.com/office/powerpoint/2010/main" val="24848555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smtClean="0"/>
              <a:t>hosting</a:t>
            </a:r>
            <a:r>
              <a:rPr lang="de-CH" dirty="0" smtClean="0"/>
              <a:t> </a:t>
            </a:r>
            <a:r>
              <a:rPr lang="de-CH" dirty="0" err="1" smtClean="0"/>
              <a:t>agreements</a:t>
            </a:r>
            <a:endParaRPr lang="de-CH" dirty="0"/>
          </a:p>
        </p:txBody>
      </p:sp>
      <p:sp>
        <p:nvSpPr>
          <p:cNvPr id="3" name="Content Placeholder 2"/>
          <p:cNvSpPr>
            <a:spLocks noGrp="1"/>
          </p:cNvSpPr>
          <p:nvPr>
            <p:ph idx="1"/>
          </p:nvPr>
        </p:nvSpPr>
        <p:spPr/>
        <p:txBody>
          <a:bodyPr/>
          <a:lstStyle/>
          <a:p>
            <a:r>
              <a:rPr lang="de-CH" dirty="0" smtClean="0"/>
              <a:t>In </a:t>
            </a:r>
            <a:r>
              <a:rPr lang="de-CH" dirty="0" err="1" smtClean="0"/>
              <a:t>practice</a:t>
            </a:r>
            <a:r>
              <a:rPr lang="de-CH" dirty="0" smtClean="0"/>
              <a:t> (B2B)</a:t>
            </a:r>
          </a:p>
          <a:p>
            <a:pPr lvl="1">
              <a:spcBef>
                <a:spcPts val="800"/>
              </a:spcBef>
              <a:buFont typeface="Arial" pitchFamily="34" charset="0"/>
              <a:buChar char="•"/>
            </a:pPr>
            <a:r>
              <a:rPr lang="de-CH" dirty="0" err="1" smtClean="0"/>
              <a:t>Contractual</a:t>
            </a:r>
            <a:r>
              <a:rPr lang="de-CH" dirty="0" smtClean="0"/>
              <a:t> </a:t>
            </a:r>
            <a:r>
              <a:rPr lang="de-CH" dirty="0" err="1" smtClean="0"/>
              <a:t>obligations</a:t>
            </a:r>
            <a:r>
              <a:rPr lang="de-CH" dirty="0" smtClean="0"/>
              <a:t>/</a:t>
            </a:r>
            <a:r>
              <a:rPr lang="de-CH" dirty="0" err="1" smtClean="0"/>
              <a:t>services</a:t>
            </a:r>
            <a:r>
              <a:rPr lang="de-CH" dirty="0" smtClean="0"/>
              <a:t> </a:t>
            </a:r>
            <a:r>
              <a:rPr lang="de-CH" dirty="0" err="1" smtClean="0"/>
              <a:t>often</a:t>
            </a:r>
            <a:r>
              <a:rPr lang="de-CH" dirty="0" smtClean="0"/>
              <a:t> not </a:t>
            </a:r>
            <a:r>
              <a:rPr lang="de-CH" dirty="0" err="1" smtClean="0"/>
              <a:t>clear</a:t>
            </a: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endParaRPr lang="de-CH" dirty="0" smtClean="0"/>
          </a:p>
          <a:p>
            <a:pPr lvl="1">
              <a:spcBef>
                <a:spcPts val="800"/>
              </a:spcBef>
              <a:buFont typeface="Arial" pitchFamily="34" charset="0"/>
              <a:buChar char="•"/>
            </a:pPr>
            <a:r>
              <a:rPr lang="de-CH" dirty="0" smtClean="0"/>
              <a:t>A </a:t>
            </a:r>
            <a:r>
              <a:rPr lang="de-CH" dirty="0" err="1" smtClean="0"/>
              <a:t>mere</a:t>
            </a:r>
            <a:r>
              <a:rPr lang="de-CH" dirty="0" smtClean="0"/>
              <a:t> SLA </a:t>
            </a:r>
            <a:r>
              <a:rPr lang="de-CH" dirty="0" err="1" smtClean="0"/>
              <a:t>is</a:t>
            </a:r>
            <a:r>
              <a:rPr lang="de-CH" dirty="0" smtClean="0"/>
              <a:t> </a:t>
            </a:r>
            <a:r>
              <a:rPr lang="de-CH" dirty="0" err="1" smtClean="0"/>
              <a:t>worthless</a:t>
            </a:r>
            <a:endParaRPr lang="de-CH" dirty="0" smtClean="0"/>
          </a:p>
          <a:p>
            <a:pPr lvl="1">
              <a:spcBef>
                <a:spcPts val="800"/>
              </a:spcBef>
              <a:buFont typeface="Arial" pitchFamily="34" charset="0"/>
              <a:buChar char="•"/>
            </a:pPr>
            <a:r>
              <a:rPr lang="de-CH" dirty="0" err="1" smtClean="0"/>
              <a:t>Ask</a:t>
            </a:r>
            <a:r>
              <a:rPr lang="de-CH" dirty="0" smtClean="0"/>
              <a:t> </a:t>
            </a:r>
            <a:r>
              <a:rPr lang="de-CH" dirty="0" err="1" smtClean="0"/>
              <a:t>questions</a:t>
            </a:r>
            <a:r>
              <a:rPr lang="de-CH" dirty="0" smtClean="0"/>
              <a:t>!</a:t>
            </a:r>
          </a:p>
          <a:p>
            <a:pPr lvl="1">
              <a:spcBef>
                <a:spcPts val="800"/>
              </a:spcBef>
              <a:buFont typeface="Arial" pitchFamily="34" charset="0"/>
              <a:buChar char="•"/>
            </a:pPr>
            <a:endParaRPr lang="de-CH" dirty="0" smtClean="0"/>
          </a:p>
          <a:p>
            <a:pPr lvl="1">
              <a:buNone/>
            </a:pPr>
            <a:endParaRPr lang="de-CH" dirty="0" smtClean="0"/>
          </a:p>
          <a:p>
            <a:pPr lvl="1">
              <a:spcBef>
                <a:spcPts val="800"/>
              </a:spcBef>
              <a:buFont typeface="Arial" pitchFamily="34" charset="0"/>
              <a:buChar char="•"/>
            </a:pPr>
            <a:endParaRPr lang="de-CH" dirty="0" smtClean="0"/>
          </a:p>
        </p:txBody>
      </p:sp>
      <p:sp>
        <p:nvSpPr>
          <p:cNvPr id="4" name="Date Placeholder 3"/>
          <p:cNvSpPr>
            <a:spLocks noGrp="1"/>
          </p:cNvSpPr>
          <p:nvPr>
            <p:ph type="dt" sz="half" idx="10"/>
          </p:nvPr>
        </p:nvSpPr>
        <p:spPr/>
        <p:txBody>
          <a:bodyPr/>
          <a:lstStyle/>
          <a:p>
            <a:r>
              <a:rPr lang="de-CH" smtClean="0"/>
              <a:t>21.08.2015</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32</a:t>
            </a:fld>
            <a:endParaRPr lang="de-CH"/>
          </a:p>
        </p:txBody>
      </p:sp>
      <p:pic>
        <p:nvPicPr>
          <p:cNvPr id="8" name="Grafik 7" descr="bad-parking1.jpg"/>
          <p:cNvPicPr>
            <a:picLocks noChangeAspect="1"/>
          </p:cNvPicPr>
          <p:nvPr/>
        </p:nvPicPr>
        <p:blipFill>
          <a:blip r:embed="rId3" cstate="print"/>
          <a:stretch>
            <a:fillRect/>
          </a:stretch>
        </p:blipFill>
        <p:spPr>
          <a:xfrm>
            <a:off x="4746124" y="2708920"/>
            <a:ext cx="3645060" cy="2304256"/>
          </a:xfrm>
          <a:prstGeom prst="rect">
            <a:avLst/>
          </a:prstGeom>
        </p:spPr>
      </p:pic>
      <p:pic>
        <p:nvPicPr>
          <p:cNvPr id="9" name="Grafik 8" descr="car_parking_boxes-570x385.jpg"/>
          <p:cNvPicPr>
            <a:picLocks noChangeAspect="1"/>
          </p:cNvPicPr>
          <p:nvPr/>
        </p:nvPicPr>
        <p:blipFill>
          <a:blip r:embed="rId4" cstate="print"/>
          <a:stretch>
            <a:fillRect/>
          </a:stretch>
        </p:blipFill>
        <p:spPr>
          <a:xfrm>
            <a:off x="1043608" y="2708920"/>
            <a:ext cx="3421782" cy="2311204"/>
          </a:xfrm>
          <a:prstGeom prst="rect">
            <a:avLst/>
          </a:prstGeom>
        </p:spPr>
      </p:pic>
      <p:sp>
        <p:nvSpPr>
          <p:cNvPr id="10" name="Textfeld 9"/>
          <p:cNvSpPr txBox="1"/>
          <p:nvPr/>
        </p:nvSpPr>
        <p:spPr>
          <a:xfrm>
            <a:off x="1043608" y="4869160"/>
            <a:ext cx="3528392" cy="169277"/>
          </a:xfrm>
          <a:prstGeom prst="rect">
            <a:avLst/>
          </a:prstGeom>
          <a:noFill/>
        </p:spPr>
        <p:txBody>
          <a:bodyPr wrap="square" rtlCol="0">
            <a:spAutoFit/>
          </a:bodyPr>
          <a:lstStyle/>
          <a:p>
            <a:r>
              <a:rPr lang="de-CH" sz="500" dirty="0" smtClean="0">
                <a:solidFill>
                  <a:schemeClr val="bg1"/>
                </a:solidFill>
              </a:rPr>
              <a:t>© http://www.therichtimes.com/car-safety-lockers-are-the-ultimate-in-luxury-parking/</a:t>
            </a:r>
            <a:endParaRPr lang="de-CH" sz="500" dirty="0">
              <a:solidFill>
                <a:schemeClr val="bg1"/>
              </a:solidFill>
            </a:endParaRPr>
          </a:p>
        </p:txBody>
      </p:sp>
    </p:spTree>
    <p:extLst>
      <p:ext uri="{BB962C8B-B14F-4D97-AF65-F5344CB8AC3E}">
        <p14:creationId xmlns:p14="http://schemas.microsoft.com/office/powerpoint/2010/main" val="89708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blinds(horizontal)">
                                      <p:cBhvr>
                                        <p:cTn id="17" dur="500"/>
                                        <p:tgtEl>
                                          <p:spTgt spid="3">
                                            <p:txEl>
                                              <p:pRg st="10" end="1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3">
                                            <p:txEl>
                                              <p:pRg st="11" end="11"/>
                                            </p:txEl>
                                          </p:spTgt>
                                        </p:tgtEl>
                                        <p:attrNameLst>
                                          <p:attrName>style.visibility</p:attrName>
                                        </p:attrNameLst>
                                      </p:cBhvr>
                                      <p:to>
                                        <p:strVal val="visible"/>
                                      </p:to>
                                    </p:set>
                                    <p:animEffect transition="in" filter="blinds(horizontal)">
                                      <p:cBhvr>
                                        <p:cTn id="2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smtClean="0"/>
              <a:t>VIII	</a:t>
            </a:r>
            <a:r>
              <a:rPr lang="de-CH" dirty="0" err="1" smtClean="0"/>
              <a:t>hosting</a:t>
            </a:r>
            <a:r>
              <a:rPr lang="de-CH" dirty="0" smtClean="0"/>
              <a:t> </a:t>
            </a:r>
            <a:r>
              <a:rPr lang="de-CH" dirty="0" err="1" smtClean="0"/>
              <a:t>agreeements</a:t>
            </a:r>
            <a:r>
              <a:rPr lang="de-CH" dirty="0"/>
              <a:t>: Key Deal </a:t>
            </a:r>
            <a:r>
              <a:rPr lang="de-CH" dirty="0" err="1" smtClean="0"/>
              <a:t>points</a:t>
            </a:r>
            <a:endParaRPr lang="de-CH" dirty="0"/>
          </a:p>
        </p:txBody>
      </p:sp>
      <p:sp>
        <p:nvSpPr>
          <p:cNvPr id="3" name="Inhaltsplatzhalter 2"/>
          <p:cNvSpPr>
            <a:spLocks noGrp="1"/>
          </p:cNvSpPr>
          <p:nvPr>
            <p:ph idx="1"/>
          </p:nvPr>
        </p:nvSpPr>
        <p:spPr/>
        <p:txBody>
          <a:bodyPr/>
          <a:lstStyle/>
          <a:p>
            <a:r>
              <a:rPr lang="de-CH" dirty="0" err="1" smtClean="0"/>
              <a:t>Desciption</a:t>
            </a:r>
            <a:r>
              <a:rPr lang="de-CH" dirty="0" smtClean="0"/>
              <a:t> </a:t>
            </a:r>
            <a:r>
              <a:rPr lang="de-CH" dirty="0" err="1" smtClean="0"/>
              <a:t>of</a:t>
            </a:r>
            <a:r>
              <a:rPr lang="de-CH" dirty="0" smtClean="0"/>
              <a:t> </a:t>
            </a:r>
            <a:r>
              <a:rPr lang="de-CH" dirty="0" err="1" smtClean="0"/>
              <a:t>services</a:t>
            </a:r>
            <a:endParaRPr lang="de-CH" dirty="0" smtClean="0"/>
          </a:p>
          <a:p>
            <a:r>
              <a:rPr lang="de-CH" dirty="0" err="1" smtClean="0"/>
              <a:t>Dedicated</a:t>
            </a:r>
            <a:r>
              <a:rPr lang="de-CH" dirty="0" smtClean="0"/>
              <a:t> </a:t>
            </a:r>
            <a:r>
              <a:rPr lang="de-CH" dirty="0" err="1" smtClean="0"/>
              <a:t>server</a:t>
            </a:r>
            <a:r>
              <a:rPr lang="de-CH" dirty="0" smtClean="0"/>
              <a:t> vs. </a:t>
            </a:r>
            <a:r>
              <a:rPr lang="de-CH" dirty="0" err="1"/>
              <a:t>s</a:t>
            </a:r>
            <a:r>
              <a:rPr lang="de-CH" dirty="0" err="1" smtClean="0"/>
              <a:t>hared</a:t>
            </a:r>
            <a:r>
              <a:rPr lang="de-CH" dirty="0" smtClean="0"/>
              <a:t>/</a:t>
            </a:r>
            <a:r>
              <a:rPr lang="de-CH" dirty="0" err="1" smtClean="0"/>
              <a:t>virtual</a:t>
            </a:r>
            <a:r>
              <a:rPr lang="de-CH" dirty="0" smtClean="0"/>
              <a:t> </a:t>
            </a:r>
            <a:r>
              <a:rPr lang="de-CH" dirty="0" err="1" smtClean="0"/>
              <a:t>server</a:t>
            </a:r>
            <a:endParaRPr lang="de-CH" dirty="0" smtClean="0"/>
          </a:p>
          <a:p>
            <a:r>
              <a:rPr lang="de-CH" dirty="0" err="1" smtClean="0"/>
              <a:t>Redundancy</a:t>
            </a:r>
            <a:r>
              <a:rPr lang="de-CH" dirty="0" smtClean="0"/>
              <a:t> (</a:t>
            </a:r>
            <a:r>
              <a:rPr lang="de-CH" dirty="0" err="1" smtClean="0"/>
              <a:t>network</a:t>
            </a:r>
            <a:r>
              <a:rPr lang="de-CH" dirty="0" smtClean="0"/>
              <a:t>, </a:t>
            </a:r>
            <a:r>
              <a:rPr lang="de-CH" dirty="0" err="1" smtClean="0"/>
              <a:t>hardware</a:t>
            </a:r>
            <a:r>
              <a:rPr lang="de-CH" dirty="0" smtClean="0"/>
              <a:t>, power, </a:t>
            </a:r>
            <a:r>
              <a:rPr lang="de-CH" dirty="0" err="1" smtClean="0"/>
              <a:t>geographic</a:t>
            </a:r>
            <a:r>
              <a:rPr lang="de-CH" dirty="0" smtClean="0"/>
              <a:t>)</a:t>
            </a:r>
          </a:p>
          <a:p>
            <a:r>
              <a:rPr lang="de-CH" dirty="0" smtClean="0"/>
              <a:t>Audit </a:t>
            </a:r>
            <a:r>
              <a:rPr lang="de-CH" dirty="0" err="1" smtClean="0"/>
              <a:t>rights</a:t>
            </a:r>
            <a:endParaRPr lang="de-CH" dirty="0" smtClean="0"/>
          </a:p>
          <a:p>
            <a:r>
              <a:rPr lang="de-CH" dirty="0" err="1" smtClean="0"/>
              <a:t>Availability</a:t>
            </a:r>
            <a:r>
              <a:rPr lang="de-CH" dirty="0" smtClean="0"/>
              <a:t>: </a:t>
            </a:r>
            <a:r>
              <a:rPr lang="de-CH" dirty="0" err="1" smtClean="0"/>
              <a:t>it’s</a:t>
            </a:r>
            <a:r>
              <a:rPr lang="de-CH" dirty="0" smtClean="0"/>
              <a:t> </a:t>
            </a:r>
            <a:r>
              <a:rPr lang="de-CH" dirty="0" err="1" smtClean="0"/>
              <a:t>about</a:t>
            </a:r>
            <a:r>
              <a:rPr lang="de-CH" dirty="0" smtClean="0"/>
              <a:t> </a:t>
            </a:r>
            <a:r>
              <a:rPr lang="de-CH" dirty="0" err="1" smtClean="0"/>
              <a:t>the</a:t>
            </a:r>
            <a:r>
              <a:rPr lang="de-CH" dirty="0" smtClean="0"/>
              <a:t> </a:t>
            </a:r>
            <a:r>
              <a:rPr lang="de-CH" dirty="0" err="1" smtClean="0"/>
              <a:t>details</a:t>
            </a:r>
            <a:r>
              <a:rPr lang="de-CH" dirty="0" smtClean="0"/>
              <a:t>!</a:t>
            </a:r>
          </a:p>
          <a:p>
            <a:r>
              <a:rPr lang="de-CH" dirty="0" smtClean="0"/>
              <a:t>Service </a:t>
            </a:r>
            <a:r>
              <a:rPr lang="de-CH" dirty="0" err="1" smtClean="0"/>
              <a:t>credits</a:t>
            </a:r>
            <a:r>
              <a:rPr lang="de-CH" dirty="0" smtClean="0"/>
              <a:t> </a:t>
            </a:r>
          </a:p>
          <a:p>
            <a:r>
              <a:rPr lang="de-CH" dirty="0" smtClean="0"/>
              <a:t>Service </a:t>
            </a:r>
            <a:r>
              <a:rPr lang="de-CH" dirty="0" err="1" smtClean="0"/>
              <a:t>continuity</a:t>
            </a:r>
            <a:r>
              <a:rPr lang="de-CH" dirty="0"/>
              <a:t> </a:t>
            </a:r>
            <a:r>
              <a:rPr lang="de-CH" dirty="0" smtClean="0"/>
              <a:t>(e.g. </a:t>
            </a:r>
            <a:r>
              <a:rPr lang="de-CH" dirty="0" err="1" smtClean="0"/>
              <a:t>arrangements</a:t>
            </a:r>
            <a:r>
              <a:rPr lang="de-CH" dirty="0" smtClean="0"/>
              <a:t> </a:t>
            </a:r>
            <a:r>
              <a:rPr lang="de-CH" dirty="0" err="1" smtClean="0"/>
              <a:t>with</a:t>
            </a:r>
            <a:r>
              <a:rPr lang="de-CH" dirty="0" smtClean="0"/>
              <a:t> </a:t>
            </a:r>
            <a:r>
              <a:rPr lang="de-CH" dirty="0" err="1" smtClean="0"/>
              <a:t>third</a:t>
            </a:r>
            <a:r>
              <a:rPr lang="de-CH" dirty="0" smtClean="0"/>
              <a:t> </a:t>
            </a:r>
            <a:r>
              <a:rPr lang="de-CH" dirty="0" err="1" smtClean="0"/>
              <a:t>parties</a:t>
            </a:r>
            <a:r>
              <a:rPr lang="de-CH" dirty="0" smtClean="0"/>
              <a:t>)</a:t>
            </a:r>
            <a:endParaRPr lang="de-CH" dirty="0"/>
          </a:p>
        </p:txBody>
      </p:sp>
      <p:sp>
        <p:nvSpPr>
          <p:cNvPr id="4" name="Datumsplatzhalter 3"/>
          <p:cNvSpPr>
            <a:spLocks noGrp="1"/>
          </p:cNvSpPr>
          <p:nvPr>
            <p:ph type="dt" sz="half" idx="10"/>
          </p:nvPr>
        </p:nvSpPr>
        <p:spPr/>
        <p:txBody>
          <a:bodyPr/>
          <a:lstStyle/>
          <a:p>
            <a:r>
              <a:rPr lang="de-CH" smtClean="0"/>
              <a:t>21.08.2015</a:t>
            </a:r>
            <a:endParaRPr lang="de-CH"/>
          </a:p>
        </p:txBody>
      </p:sp>
      <p:sp>
        <p:nvSpPr>
          <p:cNvPr id="5" name="Fußzeilenplatzhalter 4"/>
          <p:cNvSpPr>
            <a:spLocks noGrp="1"/>
          </p:cNvSpPr>
          <p:nvPr>
            <p:ph type="ftr" sz="quarter" idx="11"/>
          </p:nvPr>
        </p:nvSpPr>
        <p:spPr/>
        <p:txBody>
          <a:bodyPr/>
          <a:lstStyle/>
          <a:p>
            <a:r>
              <a:rPr lang="de-CH" smtClean="0"/>
              <a:t>vorname.nachname@kellerhals-carrard.ch</a:t>
            </a:r>
            <a:endParaRPr lang="de-CH"/>
          </a:p>
        </p:txBody>
      </p:sp>
      <p:sp>
        <p:nvSpPr>
          <p:cNvPr id="6" name="Foliennummernplatzhalter 5"/>
          <p:cNvSpPr>
            <a:spLocks noGrp="1"/>
          </p:cNvSpPr>
          <p:nvPr>
            <p:ph type="sldNum" sz="quarter" idx="12"/>
          </p:nvPr>
        </p:nvSpPr>
        <p:spPr/>
        <p:txBody>
          <a:bodyPr/>
          <a:lstStyle/>
          <a:p>
            <a:fld id="{1E75EF35-6B25-4B85-9696-D7065EDA5E63}" type="slidenum">
              <a:rPr lang="de-CH" smtClean="0"/>
              <a:pPr/>
              <a:t>33</a:t>
            </a:fld>
            <a:endParaRPr lang="de-CH"/>
          </a:p>
        </p:txBody>
      </p:sp>
    </p:spTree>
    <p:extLst>
      <p:ext uri="{BB962C8B-B14F-4D97-AF65-F5344CB8AC3E}">
        <p14:creationId xmlns:p14="http://schemas.microsoft.com/office/powerpoint/2010/main" val="1871869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a:t>hosting</a:t>
            </a:r>
            <a:r>
              <a:rPr lang="de-CH" dirty="0"/>
              <a:t> </a:t>
            </a:r>
            <a:r>
              <a:rPr lang="de-CH" dirty="0" err="1"/>
              <a:t>agreeements</a:t>
            </a:r>
            <a:r>
              <a:rPr lang="de-CH" dirty="0" smtClean="0"/>
              <a:t>: SLA </a:t>
            </a:r>
            <a:endParaRPr lang="de-CH" dirty="0"/>
          </a:p>
        </p:txBody>
      </p:sp>
      <p:sp>
        <p:nvSpPr>
          <p:cNvPr id="3" name="Content Placeholder 2"/>
          <p:cNvSpPr>
            <a:spLocks noGrp="1"/>
          </p:cNvSpPr>
          <p:nvPr>
            <p:ph idx="1"/>
          </p:nvPr>
        </p:nvSpPr>
        <p:spPr/>
        <p:txBody>
          <a:bodyPr/>
          <a:lstStyle/>
          <a:p>
            <a:r>
              <a:rPr lang="de-CH" dirty="0" smtClean="0"/>
              <a:t>Service Levels</a:t>
            </a:r>
          </a:p>
          <a:p>
            <a:pPr lvl="1">
              <a:spcBef>
                <a:spcPts val="800"/>
              </a:spcBef>
              <a:buFont typeface="Arial" pitchFamily="34" charset="0"/>
              <a:buChar char="•"/>
            </a:pPr>
            <a:r>
              <a:rPr lang="de-CH" dirty="0" smtClean="0"/>
              <a:t>99.5</a:t>
            </a:r>
            <a:r>
              <a:rPr lang="de-CH" dirty="0"/>
              <a:t>%, 99.95?, 99.80%?</a:t>
            </a:r>
          </a:p>
          <a:p>
            <a:pPr lvl="1">
              <a:spcBef>
                <a:spcPts val="800"/>
              </a:spcBef>
              <a:buFont typeface="Arial" pitchFamily="34" charset="0"/>
              <a:buChar char="•"/>
            </a:pPr>
            <a:r>
              <a:rPr lang="de-CH" dirty="0" smtClean="0"/>
              <a:t>Service </a:t>
            </a:r>
            <a:r>
              <a:rPr lang="de-CH" dirty="0" err="1" smtClean="0"/>
              <a:t>availability</a:t>
            </a:r>
            <a:r>
              <a:rPr lang="de-CH" dirty="0" smtClean="0"/>
              <a:t> </a:t>
            </a:r>
            <a:r>
              <a:rPr lang="de-CH" dirty="0" err="1" smtClean="0"/>
              <a:t>and</a:t>
            </a:r>
            <a:r>
              <a:rPr lang="de-CH" dirty="0" smtClean="0"/>
              <a:t> </a:t>
            </a:r>
            <a:r>
              <a:rPr lang="de-CH" dirty="0" err="1" smtClean="0"/>
              <a:t>service</a:t>
            </a:r>
            <a:r>
              <a:rPr lang="de-CH" dirty="0" smtClean="0"/>
              <a:t> </a:t>
            </a:r>
            <a:r>
              <a:rPr lang="de-CH" dirty="0" err="1" smtClean="0"/>
              <a:t>credits</a:t>
            </a:r>
            <a:endParaRPr lang="de-CH" dirty="0"/>
          </a:p>
          <a:p>
            <a:pPr lvl="1">
              <a:spcBef>
                <a:spcPts val="800"/>
              </a:spcBef>
              <a:buFont typeface="Arial" pitchFamily="34" charset="0"/>
              <a:buChar char="•"/>
            </a:pPr>
            <a:endParaRPr lang="de-CH" dirty="0"/>
          </a:p>
        </p:txBody>
      </p:sp>
      <p:sp>
        <p:nvSpPr>
          <p:cNvPr id="4" name="Date Placeholder 3"/>
          <p:cNvSpPr>
            <a:spLocks noGrp="1"/>
          </p:cNvSpPr>
          <p:nvPr>
            <p:ph type="dt" sz="half" idx="10"/>
          </p:nvPr>
        </p:nvSpPr>
        <p:spPr/>
        <p:txBody>
          <a:bodyPr/>
          <a:lstStyle/>
          <a:p>
            <a:r>
              <a:rPr lang="de-CH" smtClean="0"/>
              <a:t>21.08.2015</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34</a:t>
            </a:fld>
            <a:endParaRPr lang="de-CH"/>
          </a:p>
        </p:txBody>
      </p:sp>
      <p:pic>
        <p:nvPicPr>
          <p:cNvPr id="2050" name="Picture 2" descr="C:\Users\nmosimann\AppData\Local\Microsoft\Windows\Temporary Internet Files\Content.IE5\M8TDSTZF\question_mark[1].png"/>
          <p:cNvPicPr>
            <a:picLocks noChangeAspect="1" noChangeArrowheads="1"/>
          </p:cNvPicPr>
          <p:nvPr/>
        </p:nvPicPr>
        <p:blipFill>
          <a:blip r:embed="rId3" cstate="print"/>
          <a:srcRect/>
          <a:stretch>
            <a:fillRect/>
          </a:stretch>
        </p:blipFill>
        <p:spPr bwMode="auto">
          <a:xfrm>
            <a:off x="2195736" y="3059886"/>
            <a:ext cx="3079673" cy="3284984"/>
          </a:xfrm>
          <a:prstGeom prst="rect">
            <a:avLst/>
          </a:prstGeom>
          <a:noFill/>
        </p:spPr>
      </p:pic>
    </p:spTree>
    <p:extLst>
      <p:ext uri="{BB962C8B-B14F-4D97-AF65-F5344CB8AC3E}">
        <p14:creationId xmlns:p14="http://schemas.microsoft.com/office/powerpoint/2010/main" val="90357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smtClean="0"/>
              <a:t>VIII	 </a:t>
            </a:r>
            <a:r>
              <a:rPr lang="de-CH" dirty="0" err="1"/>
              <a:t>hosting</a:t>
            </a:r>
            <a:r>
              <a:rPr lang="de-CH" dirty="0"/>
              <a:t> </a:t>
            </a:r>
            <a:r>
              <a:rPr lang="de-CH" dirty="0" err="1"/>
              <a:t>agreeements</a:t>
            </a:r>
            <a:r>
              <a:rPr lang="de-CH" dirty="0"/>
              <a:t>: SLA</a:t>
            </a:r>
          </a:p>
        </p:txBody>
      </p:sp>
      <p:sp>
        <p:nvSpPr>
          <p:cNvPr id="3" name="Content Placeholder 2"/>
          <p:cNvSpPr>
            <a:spLocks noGrp="1"/>
          </p:cNvSpPr>
          <p:nvPr>
            <p:ph idx="1"/>
          </p:nvPr>
        </p:nvSpPr>
        <p:spPr/>
        <p:txBody>
          <a:bodyPr/>
          <a:lstStyle/>
          <a:p>
            <a:pPr marL="358775" lvl="1">
              <a:spcBef>
                <a:spcPts val="800"/>
              </a:spcBef>
            </a:pPr>
            <a:r>
              <a:rPr lang="de-CH" dirty="0" smtClean="0"/>
              <a:t>Service </a:t>
            </a:r>
            <a:r>
              <a:rPr lang="de-CH" dirty="0" err="1" smtClean="0"/>
              <a:t>level</a:t>
            </a:r>
            <a:r>
              <a:rPr lang="de-CH" dirty="0" smtClean="0"/>
              <a:t> </a:t>
            </a:r>
            <a:r>
              <a:rPr lang="de-CH" dirty="0" err="1" smtClean="0"/>
              <a:t>example</a:t>
            </a:r>
            <a:r>
              <a:rPr lang="de-CH" dirty="0" smtClean="0"/>
              <a:t>: „Service </a:t>
            </a:r>
            <a:r>
              <a:rPr lang="de-CH" dirty="0" err="1" smtClean="0"/>
              <a:t>availablilty</a:t>
            </a:r>
            <a:r>
              <a:rPr lang="de-CH" dirty="0" smtClean="0"/>
              <a:t> </a:t>
            </a:r>
            <a:r>
              <a:rPr lang="de-CH" dirty="0" err="1" smtClean="0"/>
              <a:t>of</a:t>
            </a:r>
            <a:r>
              <a:rPr lang="de-CH" dirty="0" smtClean="0"/>
              <a:t> 99.5%“</a:t>
            </a:r>
          </a:p>
          <a:p>
            <a:pPr lvl="2">
              <a:spcBef>
                <a:spcPts val="800"/>
              </a:spcBef>
              <a:buFont typeface="Arial" pitchFamily="34" charset="0"/>
              <a:buChar char="•"/>
            </a:pPr>
            <a:r>
              <a:rPr lang="de-CH" dirty="0" smtClean="0"/>
              <a:t>Service </a:t>
            </a:r>
            <a:r>
              <a:rPr lang="de-CH" dirty="0" err="1" smtClean="0"/>
              <a:t>measurement</a:t>
            </a:r>
            <a:r>
              <a:rPr lang="de-CH" dirty="0" smtClean="0"/>
              <a:t> </a:t>
            </a:r>
            <a:r>
              <a:rPr lang="de-CH" dirty="0" err="1" smtClean="0"/>
              <a:t>period</a:t>
            </a:r>
            <a:r>
              <a:rPr lang="de-CH" dirty="0" smtClean="0"/>
              <a:t>: „on </a:t>
            </a:r>
            <a:r>
              <a:rPr lang="de-CH" dirty="0" err="1" smtClean="0"/>
              <a:t>yearly</a:t>
            </a:r>
            <a:r>
              <a:rPr lang="de-CH" dirty="0" smtClean="0"/>
              <a:t> </a:t>
            </a:r>
            <a:r>
              <a:rPr lang="de-CH" dirty="0" err="1" smtClean="0"/>
              <a:t>average</a:t>
            </a:r>
            <a:r>
              <a:rPr lang="de-CH" dirty="0" smtClean="0"/>
              <a:t>“ </a:t>
            </a:r>
            <a:r>
              <a:rPr lang="de-CH" dirty="0" smtClean="0">
                <a:sym typeface="Wingdings" pitchFamily="2" charset="2"/>
              </a:rPr>
              <a:t> 44 </a:t>
            </a:r>
            <a:r>
              <a:rPr lang="de-CH" dirty="0" err="1" smtClean="0">
                <a:sym typeface="Wingdings" pitchFamily="2" charset="2"/>
              </a:rPr>
              <a:t>hours</a:t>
            </a:r>
            <a:r>
              <a:rPr lang="de-CH" dirty="0" smtClean="0">
                <a:sym typeface="Wingdings" pitchFamily="2" charset="2"/>
              </a:rPr>
              <a:t> (</a:t>
            </a:r>
            <a:r>
              <a:rPr lang="de-CH" dirty="0" err="1" smtClean="0">
                <a:sym typeface="Wingdings" pitchFamily="2" charset="2"/>
              </a:rPr>
              <a:t>almost</a:t>
            </a:r>
            <a:r>
              <a:rPr lang="de-CH" dirty="0" smtClean="0">
                <a:sym typeface="Wingdings" pitchFamily="2" charset="2"/>
              </a:rPr>
              <a:t> </a:t>
            </a:r>
            <a:r>
              <a:rPr lang="de-CH" dirty="0" err="1" smtClean="0">
                <a:sym typeface="Wingdings" pitchFamily="2" charset="2"/>
              </a:rPr>
              <a:t>two</a:t>
            </a:r>
            <a:r>
              <a:rPr lang="de-CH" dirty="0" smtClean="0">
                <a:sym typeface="Wingdings" pitchFamily="2" charset="2"/>
              </a:rPr>
              <a:t> </a:t>
            </a:r>
            <a:r>
              <a:rPr lang="de-CH" dirty="0" err="1" smtClean="0">
                <a:sym typeface="Wingdings" pitchFamily="2" charset="2"/>
              </a:rPr>
              <a:t>days</a:t>
            </a:r>
            <a:r>
              <a:rPr lang="de-CH" dirty="0" smtClean="0">
                <a:sym typeface="Wingdings" pitchFamily="2" charset="2"/>
              </a:rPr>
              <a:t>) </a:t>
            </a:r>
            <a:r>
              <a:rPr lang="de-CH" dirty="0" err="1" smtClean="0">
                <a:sym typeface="Wingdings" pitchFamily="2" charset="2"/>
              </a:rPr>
              <a:t>of</a:t>
            </a:r>
            <a:r>
              <a:rPr lang="de-CH" dirty="0" smtClean="0">
                <a:sym typeface="Wingdings" pitchFamily="2" charset="2"/>
              </a:rPr>
              <a:t> </a:t>
            </a:r>
            <a:r>
              <a:rPr lang="de-CH" dirty="0" err="1" smtClean="0">
                <a:sym typeface="Wingdings" pitchFamily="2" charset="2"/>
              </a:rPr>
              <a:t>downtime</a:t>
            </a:r>
            <a:r>
              <a:rPr lang="de-CH" dirty="0" smtClean="0">
                <a:sym typeface="Wingdings" pitchFamily="2" charset="2"/>
              </a:rPr>
              <a:t> </a:t>
            </a:r>
            <a:r>
              <a:rPr lang="de-CH" dirty="0" err="1" smtClean="0">
                <a:sym typeface="Wingdings" pitchFamily="2" charset="2"/>
              </a:rPr>
              <a:t>possible</a:t>
            </a:r>
            <a:r>
              <a:rPr lang="de-CH" dirty="0" smtClean="0">
                <a:sym typeface="Wingdings" pitchFamily="2" charset="2"/>
              </a:rPr>
              <a:t>; on a </a:t>
            </a:r>
            <a:r>
              <a:rPr lang="de-CH" dirty="0" err="1" smtClean="0">
                <a:sym typeface="Wingdings" pitchFamily="2" charset="2"/>
              </a:rPr>
              <a:t>monthly</a:t>
            </a:r>
            <a:r>
              <a:rPr lang="de-CH" dirty="0" smtClean="0">
                <a:sym typeface="Wingdings" pitchFamily="2" charset="2"/>
              </a:rPr>
              <a:t> </a:t>
            </a:r>
            <a:r>
              <a:rPr lang="de-CH" dirty="0" err="1" smtClean="0">
                <a:sym typeface="Wingdings" pitchFamily="2" charset="2"/>
              </a:rPr>
              <a:t>basis</a:t>
            </a:r>
            <a:r>
              <a:rPr lang="de-CH" dirty="0" smtClean="0">
                <a:sym typeface="Wingdings" pitchFamily="2" charset="2"/>
              </a:rPr>
              <a:t> 3.6 </a:t>
            </a:r>
            <a:r>
              <a:rPr lang="de-CH" dirty="0" err="1" smtClean="0">
                <a:sym typeface="Wingdings" pitchFamily="2" charset="2"/>
              </a:rPr>
              <a:t>hours</a:t>
            </a:r>
            <a:r>
              <a:rPr lang="de-CH" dirty="0" smtClean="0">
                <a:sym typeface="Wingdings" pitchFamily="2" charset="2"/>
              </a:rPr>
              <a:t> (per </a:t>
            </a:r>
            <a:r>
              <a:rPr lang="de-CH" dirty="0" err="1" smtClean="0">
                <a:sym typeface="Wingdings" pitchFamily="2" charset="2"/>
              </a:rPr>
              <a:t>month</a:t>
            </a:r>
            <a:r>
              <a:rPr lang="de-CH" dirty="0" smtClean="0">
                <a:sym typeface="Wingdings" pitchFamily="2" charset="2"/>
              </a:rPr>
              <a:t>)</a:t>
            </a:r>
            <a:endParaRPr lang="de-CH" dirty="0" smtClean="0"/>
          </a:p>
          <a:p>
            <a:pPr lvl="2">
              <a:spcBef>
                <a:spcPts val="800"/>
              </a:spcBef>
              <a:buFont typeface="Arial" pitchFamily="34" charset="0"/>
              <a:buChar char="•"/>
            </a:pPr>
            <a:r>
              <a:rPr lang="de-CH" dirty="0" err="1" smtClean="0"/>
              <a:t>Exclusion</a:t>
            </a:r>
            <a:r>
              <a:rPr lang="de-CH" dirty="0" smtClean="0"/>
              <a:t> </a:t>
            </a:r>
            <a:r>
              <a:rPr lang="de-CH" dirty="0" err="1" smtClean="0"/>
              <a:t>of</a:t>
            </a:r>
            <a:r>
              <a:rPr lang="de-CH" dirty="0" smtClean="0"/>
              <a:t> </a:t>
            </a:r>
            <a:r>
              <a:rPr lang="de-CH" dirty="0" err="1" smtClean="0"/>
              <a:t>maintenance</a:t>
            </a:r>
            <a:r>
              <a:rPr lang="de-CH" dirty="0" smtClean="0"/>
              <a:t> time (</a:t>
            </a:r>
            <a:r>
              <a:rPr lang="de-CH" dirty="0" err="1" smtClean="0"/>
              <a:t>no</a:t>
            </a:r>
            <a:r>
              <a:rPr lang="de-CH" dirty="0" smtClean="0"/>
              <a:t> </a:t>
            </a:r>
            <a:r>
              <a:rPr lang="de-CH" dirty="0" err="1" smtClean="0"/>
              <a:t>limit</a:t>
            </a:r>
            <a:r>
              <a:rPr lang="de-CH" dirty="0" smtClean="0"/>
              <a:t>)</a:t>
            </a:r>
          </a:p>
          <a:p>
            <a:pPr lvl="2">
              <a:spcBef>
                <a:spcPts val="800"/>
              </a:spcBef>
              <a:buFont typeface="Arial" pitchFamily="34" charset="0"/>
              <a:buChar char="•"/>
            </a:pPr>
            <a:r>
              <a:rPr lang="de-CH" dirty="0" err="1" smtClean="0"/>
              <a:t>Only</a:t>
            </a:r>
            <a:r>
              <a:rPr lang="de-CH" dirty="0" smtClean="0"/>
              <a:t> </a:t>
            </a:r>
            <a:r>
              <a:rPr lang="de-CH" dirty="0" err="1" smtClean="0"/>
              <a:t>applies</a:t>
            </a:r>
            <a:r>
              <a:rPr lang="de-CH" dirty="0" smtClean="0"/>
              <a:t> in </a:t>
            </a:r>
            <a:r>
              <a:rPr lang="de-CH" dirty="0" err="1" smtClean="0"/>
              <a:t>the</a:t>
            </a:r>
            <a:r>
              <a:rPr lang="de-CH" dirty="0" smtClean="0"/>
              <a:t> </a:t>
            </a:r>
            <a:r>
              <a:rPr lang="de-CH" dirty="0" err="1" smtClean="0"/>
              <a:t>event</a:t>
            </a:r>
            <a:r>
              <a:rPr lang="de-CH" dirty="0" smtClean="0"/>
              <a:t> </a:t>
            </a:r>
            <a:r>
              <a:rPr lang="de-CH" dirty="0" err="1" smtClean="0"/>
              <a:t>of</a:t>
            </a:r>
            <a:r>
              <a:rPr lang="de-CH" dirty="0" smtClean="0"/>
              <a:t> a total </a:t>
            </a:r>
            <a:r>
              <a:rPr lang="de-CH" dirty="0" err="1" smtClean="0"/>
              <a:t>fail</a:t>
            </a:r>
            <a:r>
              <a:rPr lang="de-CH" dirty="0" smtClean="0"/>
              <a:t> </a:t>
            </a:r>
            <a:r>
              <a:rPr lang="de-CH" dirty="0" err="1" smtClean="0"/>
              <a:t>of</a:t>
            </a:r>
            <a:r>
              <a:rPr lang="de-CH" dirty="0" smtClean="0"/>
              <a:t> </a:t>
            </a:r>
            <a:r>
              <a:rPr lang="de-CH" dirty="0" err="1" smtClean="0"/>
              <a:t>service</a:t>
            </a:r>
            <a:r>
              <a:rPr lang="de-CH" dirty="0" smtClean="0"/>
              <a:t>, not </a:t>
            </a:r>
            <a:r>
              <a:rPr lang="de-CH" dirty="0" err="1" smtClean="0"/>
              <a:t>if</a:t>
            </a:r>
            <a:r>
              <a:rPr lang="de-CH" dirty="0" smtClean="0"/>
              <a:t> </a:t>
            </a:r>
            <a:r>
              <a:rPr lang="de-CH" dirty="0" err="1" smtClean="0"/>
              <a:t>only</a:t>
            </a:r>
            <a:r>
              <a:rPr lang="de-CH" dirty="0" smtClean="0"/>
              <a:t> </a:t>
            </a:r>
            <a:r>
              <a:rPr lang="de-CH" dirty="0" err="1" smtClean="0"/>
              <a:t>partly</a:t>
            </a:r>
            <a:r>
              <a:rPr lang="de-CH" dirty="0" smtClean="0"/>
              <a:t> </a:t>
            </a:r>
            <a:r>
              <a:rPr lang="de-CH" dirty="0" err="1" smtClean="0"/>
              <a:t>impaired</a:t>
            </a:r>
            <a:endParaRPr lang="de-CH" dirty="0" smtClean="0"/>
          </a:p>
          <a:p>
            <a:pPr lvl="2">
              <a:spcBef>
                <a:spcPts val="800"/>
              </a:spcBef>
              <a:buFont typeface="Arial" pitchFamily="34" charset="0"/>
              <a:buChar char="•"/>
            </a:pPr>
            <a:r>
              <a:rPr lang="de-CH" dirty="0" err="1" smtClean="0"/>
              <a:t>Calculation</a:t>
            </a:r>
            <a:r>
              <a:rPr lang="de-CH" dirty="0"/>
              <a:t> </a:t>
            </a:r>
            <a:r>
              <a:rPr lang="de-CH" dirty="0" err="1" smtClean="0"/>
              <a:t>of</a:t>
            </a:r>
            <a:r>
              <a:rPr lang="de-CH" dirty="0" smtClean="0"/>
              <a:t> </a:t>
            </a:r>
            <a:r>
              <a:rPr lang="de-CH" dirty="0" err="1" smtClean="0"/>
              <a:t>downtime</a:t>
            </a:r>
            <a:r>
              <a:rPr lang="de-CH" dirty="0" smtClean="0"/>
              <a:t> </a:t>
            </a:r>
            <a:r>
              <a:rPr lang="de-CH" dirty="0" err="1" smtClean="0"/>
              <a:t>only</a:t>
            </a:r>
            <a:r>
              <a:rPr lang="de-CH" dirty="0" smtClean="0"/>
              <a:t> after 4 </a:t>
            </a:r>
            <a:r>
              <a:rPr lang="de-CH" dirty="0" err="1" smtClean="0"/>
              <a:t>hours</a:t>
            </a:r>
            <a:r>
              <a:rPr lang="de-CH" dirty="0" smtClean="0"/>
              <a:t> </a:t>
            </a:r>
            <a:r>
              <a:rPr lang="de-CH" dirty="0" err="1" smtClean="0"/>
              <a:t>of</a:t>
            </a:r>
            <a:r>
              <a:rPr lang="de-CH" dirty="0" smtClean="0"/>
              <a:t> </a:t>
            </a:r>
            <a:r>
              <a:rPr lang="de-CH" dirty="0" err="1" smtClean="0"/>
              <a:t>notice</a:t>
            </a:r>
            <a:r>
              <a:rPr lang="de-CH" dirty="0" smtClean="0"/>
              <a:t> </a:t>
            </a:r>
            <a:r>
              <a:rPr lang="de-CH" dirty="0" err="1" smtClean="0"/>
              <a:t>of</a:t>
            </a:r>
            <a:r>
              <a:rPr lang="de-CH" dirty="0" smtClean="0"/>
              <a:t> such </a:t>
            </a:r>
            <a:r>
              <a:rPr lang="de-CH" dirty="0" err="1" smtClean="0"/>
              <a:t>downtime</a:t>
            </a:r>
            <a:endParaRPr lang="de-CH" dirty="0" smtClean="0"/>
          </a:p>
          <a:p>
            <a:pPr lvl="2">
              <a:spcBef>
                <a:spcPts val="800"/>
              </a:spcBef>
              <a:buFont typeface="Arial" pitchFamily="34" charset="0"/>
              <a:buChar char="•"/>
            </a:pPr>
            <a:r>
              <a:rPr lang="de-CH" dirty="0" err="1" smtClean="0"/>
              <a:t>Only</a:t>
            </a:r>
            <a:r>
              <a:rPr lang="de-CH" dirty="0" smtClean="0"/>
              <a:t> </a:t>
            </a:r>
            <a:r>
              <a:rPr lang="de-CH" dirty="0" err="1" smtClean="0"/>
              <a:t>if</a:t>
            </a:r>
            <a:r>
              <a:rPr lang="de-CH" dirty="0" smtClean="0"/>
              <a:t> </a:t>
            </a:r>
            <a:r>
              <a:rPr lang="de-CH" dirty="0" err="1" smtClean="0"/>
              <a:t>permitted</a:t>
            </a:r>
            <a:r>
              <a:rPr lang="de-CH" dirty="0" smtClean="0"/>
              <a:t> </a:t>
            </a:r>
            <a:r>
              <a:rPr lang="de-CH" dirty="0" err="1" smtClean="0"/>
              <a:t>usage</a:t>
            </a:r>
            <a:r>
              <a:rPr lang="de-CH" dirty="0" smtClean="0"/>
              <a:t> not </a:t>
            </a:r>
            <a:r>
              <a:rPr lang="de-CH" dirty="0" err="1" smtClean="0"/>
              <a:t>exceeded</a:t>
            </a:r>
            <a:endParaRPr lang="de-CH" dirty="0" smtClean="0"/>
          </a:p>
          <a:p>
            <a:pPr lvl="2">
              <a:spcBef>
                <a:spcPts val="800"/>
              </a:spcBef>
              <a:buFont typeface="Arial" pitchFamily="34" charset="0"/>
              <a:buChar char="•"/>
            </a:pPr>
            <a:r>
              <a:rPr lang="de-CH" dirty="0" smtClean="0"/>
              <a:t>Point </a:t>
            </a:r>
            <a:r>
              <a:rPr lang="de-CH" dirty="0" err="1" smtClean="0"/>
              <a:t>of</a:t>
            </a:r>
            <a:r>
              <a:rPr lang="de-CH" dirty="0" smtClean="0"/>
              <a:t> </a:t>
            </a:r>
            <a:r>
              <a:rPr lang="de-CH" dirty="0" err="1" smtClean="0"/>
              <a:t>measurement</a:t>
            </a:r>
            <a:r>
              <a:rPr lang="de-CH" dirty="0" smtClean="0"/>
              <a:t>: </a:t>
            </a:r>
            <a:r>
              <a:rPr lang="de-CH" dirty="0" err="1"/>
              <a:t>o</a:t>
            </a:r>
            <a:r>
              <a:rPr lang="de-CH" dirty="0" err="1" smtClean="0"/>
              <a:t>nly</a:t>
            </a:r>
            <a:r>
              <a:rPr lang="de-CH" dirty="0" smtClean="0"/>
              <a:t> </a:t>
            </a:r>
            <a:r>
              <a:rPr lang="de-CH" dirty="0" err="1" smtClean="0"/>
              <a:t>if</a:t>
            </a:r>
            <a:r>
              <a:rPr lang="de-CH" dirty="0" smtClean="0"/>
              <a:t> </a:t>
            </a:r>
            <a:r>
              <a:rPr lang="de-CH" dirty="0" err="1" smtClean="0"/>
              <a:t>downtime</a:t>
            </a:r>
            <a:r>
              <a:rPr lang="de-CH" dirty="0" smtClean="0"/>
              <a:t> </a:t>
            </a:r>
            <a:r>
              <a:rPr lang="de-CH" dirty="0" err="1" smtClean="0"/>
              <a:t>is</a:t>
            </a:r>
            <a:r>
              <a:rPr lang="de-CH" dirty="0" smtClean="0"/>
              <a:t> registered </a:t>
            </a:r>
            <a:r>
              <a:rPr lang="de-CH" dirty="0" err="1" smtClean="0"/>
              <a:t>by</a:t>
            </a:r>
            <a:r>
              <a:rPr lang="de-CH" dirty="0" smtClean="0"/>
              <a:t> </a:t>
            </a:r>
            <a:r>
              <a:rPr lang="de-CH" dirty="0" err="1" smtClean="0"/>
              <a:t>provider’s</a:t>
            </a:r>
            <a:r>
              <a:rPr lang="de-CH" dirty="0" smtClean="0"/>
              <a:t> </a:t>
            </a:r>
            <a:r>
              <a:rPr lang="de-CH" dirty="0" err="1" smtClean="0"/>
              <a:t>systems</a:t>
            </a:r>
            <a:endParaRPr lang="de-CH" dirty="0" smtClean="0"/>
          </a:p>
          <a:p>
            <a:pPr marL="358775" lvl="1">
              <a:spcBef>
                <a:spcPts val="800"/>
              </a:spcBef>
            </a:pPr>
            <a:r>
              <a:rPr lang="de-CH" dirty="0" err="1" smtClean="0"/>
              <a:t>Availability</a:t>
            </a:r>
            <a:r>
              <a:rPr lang="de-CH" dirty="0" smtClean="0"/>
              <a:t> </a:t>
            </a:r>
            <a:r>
              <a:rPr lang="de-CH" dirty="0" err="1" smtClean="0"/>
              <a:t>as</a:t>
            </a:r>
            <a:r>
              <a:rPr lang="de-CH" dirty="0" smtClean="0"/>
              <a:t> </a:t>
            </a:r>
            <a:r>
              <a:rPr lang="de-CH" dirty="0" err="1" smtClean="0"/>
              <a:t>guarantee</a:t>
            </a:r>
            <a:r>
              <a:rPr lang="de-CH" dirty="0" smtClean="0"/>
              <a:t> </a:t>
            </a:r>
            <a:r>
              <a:rPr lang="de-CH" i="1" dirty="0" smtClean="0"/>
              <a:t>(selbständige Garantie)</a:t>
            </a:r>
            <a:r>
              <a:rPr lang="de-CH" dirty="0" smtClean="0"/>
              <a:t>?</a:t>
            </a:r>
            <a:endParaRPr lang="de-CH" dirty="0"/>
          </a:p>
          <a:p>
            <a:pPr lvl="1">
              <a:buNone/>
            </a:pPr>
            <a:endParaRPr lang="de-CH" dirty="0" smtClean="0"/>
          </a:p>
          <a:p>
            <a:pPr lvl="1">
              <a:spcBef>
                <a:spcPts val="800"/>
              </a:spcBef>
              <a:buFont typeface="Arial" pitchFamily="34" charset="0"/>
              <a:buChar char="•"/>
            </a:pPr>
            <a:endParaRPr lang="de-CH" dirty="0" smtClean="0"/>
          </a:p>
        </p:txBody>
      </p:sp>
      <p:sp>
        <p:nvSpPr>
          <p:cNvPr id="4" name="Date Placeholder 3"/>
          <p:cNvSpPr>
            <a:spLocks noGrp="1"/>
          </p:cNvSpPr>
          <p:nvPr>
            <p:ph type="dt" sz="half" idx="10"/>
          </p:nvPr>
        </p:nvSpPr>
        <p:spPr/>
        <p:txBody>
          <a:bodyPr/>
          <a:lstStyle/>
          <a:p>
            <a:r>
              <a:rPr lang="de-CH" smtClean="0"/>
              <a:t>21.08.2015</a:t>
            </a:r>
            <a:endParaRPr lang="de-CH"/>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35</a:t>
            </a:fld>
            <a:endParaRPr lang="de-CH"/>
          </a:p>
        </p:txBody>
      </p:sp>
    </p:spTree>
    <p:extLst>
      <p:ext uri="{BB962C8B-B14F-4D97-AF65-F5344CB8AC3E}">
        <p14:creationId xmlns:p14="http://schemas.microsoft.com/office/powerpoint/2010/main" val="174101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245" y="1156636"/>
            <a:ext cx="8246195" cy="538815"/>
          </a:xfrm>
        </p:spPr>
        <p:txBody>
          <a:bodyPr/>
          <a:lstStyle/>
          <a:p>
            <a:r>
              <a:rPr lang="de-CH" dirty="0" smtClean="0"/>
              <a:t>IX	</a:t>
            </a:r>
            <a:r>
              <a:rPr lang="de-CH" dirty="0"/>
              <a:t> </a:t>
            </a:r>
            <a:r>
              <a:rPr lang="de-CH" dirty="0" err="1" smtClean="0"/>
              <a:t>Jurisdiction</a:t>
            </a:r>
            <a:r>
              <a:rPr lang="de-CH" dirty="0" smtClean="0"/>
              <a:t> </a:t>
            </a:r>
            <a:r>
              <a:rPr lang="de-CH" dirty="0" err="1" smtClean="0"/>
              <a:t>and</a:t>
            </a:r>
            <a:r>
              <a:rPr lang="de-CH" dirty="0" smtClean="0"/>
              <a:t> </a:t>
            </a:r>
            <a:r>
              <a:rPr lang="de-CH" dirty="0" err="1" smtClean="0"/>
              <a:t>choice</a:t>
            </a:r>
            <a:r>
              <a:rPr lang="de-CH" dirty="0" smtClean="0"/>
              <a:t> </a:t>
            </a:r>
            <a:r>
              <a:rPr lang="de-CH" dirty="0" err="1" smtClean="0"/>
              <a:t>of</a:t>
            </a:r>
            <a:r>
              <a:rPr lang="de-CH" dirty="0" smtClean="0"/>
              <a:t> Law</a:t>
            </a:r>
            <a:endParaRPr lang="de-CH" dirty="0"/>
          </a:p>
        </p:txBody>
      </p:sp>
      <p:sp>
        <p:nvSpPr>
          <p:cNvPr id="4" name="Date Placeholder 3"/>
          <p:cNvSpPr>
            <a:spLocks noGrp="1"/>
          </p:cNvSpPr>
          <p:nvPr>
            <p:ph type="dt" sz="half" idx="10"/>
          </p:nvPr>
        </p:nvSpPr>
        <p:spPr/>
        <p:txBody>
          <a:bodyPr/>
          <a:lstStyle/>
          <a:p>
            <a:r>
              <a:rPr lang="de-DE" smtClean="0"/>
              <a:t>16.11.2016</a:t>
            </a:r>
            <a:endParaRPr lang="de-CH" dirty="0"/>
          </a:p>
        </p:txBody>
      </p:sp>
      <p:sp>
        <p:nvSpPr>
          <p:cNvPr id="5" name="Footer Placeholder 4"/>
          <p:cNvSpPr>
            <a:spLocks noGrp="1"/>
          </p:cNvSpPr>
          <p:nvPr>
            <p:ph type="ftr" sz="quarter" idx="11"/>
          </p:nvPr>
        </p:nvSpPr>
        <p:spPr/>
        <p:txBody>
          <a:bodyPr/>
          <a:lstStyle/>
          <a:p>
            <a:r>
              <a:rPr lang="de-CH" dirty="0" smtClean="0"/>
              <a:t>nicolas.mosimann@kellerhals-carrard.ch</a:t>
            </a:r>
            <a:endParaRPr lang="de-CH" dirty="0"/>
          </a:p>
        </p:txBody>
      </p:sp>
      <p:sp>
        <p:nvSpPr>
          <p:cNvPr id="6" name="Slide Number Placeholder 5"/>
          <p:cNvSpPr>
            <a:spLocks noGrp="1"/>
          </p:cNvSpPr>
          <p:nvPr>
            <p:ph type="sldNum" sz="quarter" idx="12"/>
          </p:nvPr>
        </p:nvSpPr>
        <p:spPr/>
        <p:txBody>
          <a:bodyPr/>
          <a:lstStyle/>
          <a:p>
            <a:fld id="{1E75EF35-6B25-4B85-9696-D7065EDA5E63}" type="slidenum">
              <a:rPr lang="de-CH" smtClean="0"/>
              <a:pPr/>
              <a:t>36</a:t>
            </a:fld>
            <a:endParaRPr lang="de-CH"/>
          </a:p>
        </p:txBody>
      </p:sp>
      <p:sp>
        <p:nvSpPr>
          <p:cNvPr id="8" name="Inhaltsplatzhalter 2"/>
          <p:cNvSpPr txBox="1">
            <a:spLocks/>
          </p:cNvSpPr>
          <p:nvPr/>
        </p:nvSpPr>
        <p:spPr>
          <a:xfrm>
            <a:off x="971600" y="1916832"/>
            <a:ext cx="7200900" cy="4471988"/>
          </a:xfrm>
          <a:prstGeom prst="rect">
            <a:avLst/>
          </a:prstGeom>
        </p:spPr>
        <p:txBody>
          <a:bodyPr vert="horz" lIns="0" tIns="0" rIns="0" bIns="0" rtlCol="0">
            <a:noAutofit/>
          </a:bodyPr>
          <a:lstStyle/>
          <a:p>
            <a:pPr marL="358775" marR="0" lvl="0" indent="-358775" algn="l" defTabSz="914400" rtl="0" eaLnBrk="1" fontAlgn="auto" latinLnBrk="0" hangingPunct="1">
              <a:lnSpc>
                <a:spcPts val="2000"/>
              </a:lnSpc>
              <a:spcBef>
                <a:spcPts val="800"/>
              </a:spcBef>
              <a:spcAft>
                <a:spcPts val="0"/>
              </a:spcAft>
              <a:buClrTx/>
              <a:buSzTx/>
              <a:buFont typeface="Symbol" pitchFamily="18" charset="2"/>
              <a:buChar char="-"/>
              <a:tabLst/>
              <a:defRPr/>
            </a:pPr>
            <a:endParaRPr kumimoji="0" lang="de-CH" sz="1800" b="0" i="0" u="none" strike="noStrike" kern="1200" cap="none" spc="-40" normalizeH="0" baseline="0" noProof="0" dirty="0" smtClean="0">
              <a:ln>
                <a:noFill/>
              </a:ln>
              <a:solidFill>
                <a:schemeClr val="tx1"/>
              </a:solidFill>
              <a:effectLst/>
              <a:uLnTx/>
              <a:uFillTx/>
              <a:latin typeface="+mn-lt"/>
              <a:ea typeface="+mn-ea"/>
              <a:cs typeface="+mn-cs"/>
            </a:endParaRPr>
          </a:p>
        </p:txBody>
      </p:sp>
      <p:sp>
        <p:nvSpPr>
          <p:cNvPr id="7" name="Content Placeholder 2"/>
          <p:cNvSpPr>
            <a:spLocks noGrp="1"/>
          </p:cNvSpPr>
          <p:nvPr>
            <p:ph idx="1"/>
          </p:nvPr>
        </p:nvSpPr>
        <p:spPr>
          <a:xfrm>
            <a:off x="971599" y="1844676"/>
            <a:ext cx="7200851" cy="4471940"/>
          </a:xfrm>
        </p:spPr>
        <p:txBody>
          <a:bodyPr/>
          <a:lstStyle/>
          <a:p>
            <a:pPr marL="358775" lvl="1">
              <a:spcBef>
                <a:spcPts val="800"/>
              </a:spcBef>
              <a:buFont typeface="Symbol" pitchFamily="18" charset="2"/>
              <a:buChar char="-"/>
              <a:defRPr/>
            </a:pPr>
            <a:r>
              <a:rPr lang="de-CH" dirty="0" smtClean="0"/>
              <a:t>Courts in </a:t>
            </a:r>
            <a:r>
              <a:rPr lang="de-CH" dirty="0" err="1" smtClean="0"/>
              <a:t>Switzerland</a:t>
            </a:r>
            <a:r>
              <a:rPr lang="de-CH" dirty="0" smtClean="0"/>
              <a:t>/Swiss </a:t>
            </a:r>
            <a:r>
              <a:rPr lang="de-CH" dirty="0" err="1" smtClean="0"/>
              <a:t>law</a:t>
            </a:r>
            <a:r>
              <a:rPr lang="de-CH" dirty="0" smtClean="0"/>
              <a:t>:</a:t>
            </a:r>
          </a:p>
          <a:p>
            <a:pPr marL="358775" lvl="1">
              <a:spcBef>
                <a:spcPts val="800"/>
              </a:spcBef>
              <a:buFont typeface="Symbol" pitchFamily="18" charset="2"/>
              <a:buChar char="-"/>
              <a:defRPr/>
            </a:pPr>
            <a:endParaRPr lang="de-CH" dirty="0" smtClean="0"/>
          </a:p>
          <a:p>
            <a:pPr marL="718775" lvl="2">
              <a:spcBef>
                <a:spcPts val="800"/>
              </a:spcBef>
              <a:buFont typeface="Arial" pitchFamily="34" charset="0"/>
              <a:buChar char="•"/>
              <a:defRPr/>
            </a:pPr>
            <a:r>
              <a:rPr lang="de-CH" dirty="0" smtClean="0"/>
              <a:t>Home </a:t>
            </a:r>
            <a:r>
              <a:rPr lang="de-CH" dirty="0" err="1" smtClean="0"/>
              <a:t>field</a:t>
            </a:r>
            <a:r>
              <a:rPr lang="de-CH" dirty="0" smtClean="0"/>
              <a:t> </a:t>
            </a:r>
            <a:r>
              <a:rPr lang="de-CH" dirty="0" err="1" smtClean="0"/>
              <a:t>advantage</a:t>
            </a:r>
            <a:r>
              <a:rPr lang="de-CH" dirty="0" smtClean="0"/>
              <a:t> (</a:t>
            </a:r>
            <a:r>
              <a:rPr lang="de-CH" dirty="0" err="1" smtClean="0"/>
              <a:t>low</a:t>
            </a:r>
            <a:r>
              <a:rPr lang="de-CH" dirty="0" smtClean="0"/>
              <a:t> </a:t>
            </a:r>
            <a:r>
              <a:rPr lang="de-CH" dirty="0" err="1" smtClean="0"/>
              <a:t>costs</a:t>
            </a:r>
            <a:r>
              <a:rPr lang="de-CH" dirty="0" smtClean="0"/>
              <a:t>, </a:t>
            </a:r>
            <a:r>
              <a:rPr lang="de-CH" dirty="0" err="1" smtClean="0"/>
              <a:t>language</a:t>
            </a:r>
            <a:r>
              <a:rPr lang="de-CH" dirty="0" smtClean="0"/>
              <a:t>, </a:t>
            </a:r>
            <a:r>
              <a:rPr lang="de-CH" dirty="0" err="1" smtClean="0"/>
              <a:t>bias</a:t>
            </a:r>
            <a:r>
              <a:rPr lang="de-CH" dirty="0" smtClean="0"/>
              <a:t> </a:t>
            </a:r>
            <a:r>
              <a:rPr lang="de-CH" dirty="0" err="1" smtClean="0"/>
              <a:t>of</a:t>
            </a:r>
            <a:r>
              <a:rPr lang="de-CH" dirty="0" smtClean="0"/>
              <a:t> </a:t>
            </a:r>
            <a:r>
              <a:rPr lang="de-CH" dirty="0" err="1" smtClean="0"/>
              <a:t>judges</a:t>
            </a:r>
            <a:r>
              <a:rPr lang="de-CH" dirty="0" smtClean="0"/>
              <a:t>?)</a:t>
            </a:r>
          </a:p>
          <a:p>
            <a:pPr marL="358775" lvl="1">
              <a:spcBef>
                <a:spcPts val="800"/>
              </a:spcBef>
              <a:buFont typeface="Arial" pitchFamily="34" charset="0"/>
              <a:buChar char="•"/>
              <a:defRPr/>
            </a:pPr>
            <a:endParaRPr lang="de-CH" dirty="0" smtClean="0"/>
          </a:p>
          <a:p>
            <a:pPr marL="718775" lvl="2">
              <a:spcBef>
                <a:spcPts val="800"/>
              </a:spcBef>
              <a:buFont typeface="Arial" pitchFamily="34" charset="0"/>
              <a:buChar char="•"/>
              <a:defRPr/>
            </a:pPr>
            <a:r>
              <a:rPr lang="de-CH" dirty="0" smtClean="0"/>
              <a:t>Choice </a:t>
            </a:r>
            <a:r>
              <a:rPr lang="de-CH" dirty="0" err="1" smtClean="0"/>
              <a:t>of</a:t>
            </a:r>
            <a:r>
              <a:rPr lang="de-CH" dirty="0" smtClean="0"/>
              <a:t> </a:t>
            </a:r>
            <a:r>
              <a:rPr lang="de-CH" dirty="0" err="1" smtClean="0"/>
              <a:t>law</a:t>
            </a:r>
            <a:r>
              <a:rPr lang="de-CH" dirty="0" smtClean="0"/>
              <a:t> </a:t>
            </a:r>
            <a:r>
              <a:rPr lang="de-CH" dirty="0" err="1" smtClean="0"/>
              <a:t>and</a:t>
            </a:r>
            <a:r>
              <a:rPr lang="de-CH" dirty="0" smtClean="0"/>
              <a:t> </a:t>
            </a:r>
            <a:r>
              <a:rPr lang="de-CH" dirty="0" err="1" smtClean="0"/>
              <a:t>jurisdiction</a:t>
            </a:r>
            <a:r>
              <a:rPr lang="de-CH" dirty="0" smtClean="0"/>
              <a:t> </a:t>
            </a:r>
            <a:r>
              <a:rPr lang="de-CH" dirty="0" err="1" smtClean="0"/>
              <a:t>clause</a:t>
            </a:r>
            <a:r>
              <a:rPr lang="de-CH" dirty="0" smtClean="0"/>
              <a:t> </a:t>
            </a:r>
            <a:r>
              <a:rPr lang="de-CH" dirty="0" err="1" smtClean="0"/>
              <a:t>should</a:t>
            </a:r>
            <a:r>
              <a:rPr lang="de-CH" dirty="0" smtClean="0"/>
              <a:t> </a:t>
            </a:r>
            <a:r>
              <a:rPr lang="de-CH" dirty="0" err="1" smtClean="0"/>
              <a:t>be</a:t>
            </a:r>
            <a:r>
              <a:rPr lang="de-CH" dirty="0" smtClean="0"/>
              <a:t> in </a:t>
            </a:r>
            <a:r>
              <a:rPr lang="de-CH" dirty="0" err="1" smtClean="0"/>
              <a:t>line</a:t>
            </a:r>
            <a:endParaRPr lang="de-CH" dirty="0" smtClean="0"/>
          </a:p>
          <a:p>
            <a:pPr marL="358775" lvl="1">
              <a:spcBef>
                <a:spcPts val="800"/>
              </a:spcBef>
              <a:buFont typeface="Arial" pitchFamily="34" charset="0"/>
              <a:buChar char="•"/>
              <a:defRPr/>
            </a:pPr>
            <a:endParaRPr lang="de-CH" dirty="0" smtClean="0"/>
          </a:p>
          <a:p>
            <a:pPr lvl="1">
              <a:buNone/>
              <a:defRPr/>
            </a:pPr>
            <a:endParaRPr lang="de-CH" dirty="0" smtClean="0">
              <a:sym typeface="Wingdings" pitchFamily="2" charset="2"/>
            </a:endParaRPr>
          </a:p>
          <a:p>
            <a:pPr lvl="1">
              <a:buFont typeface="Arial" pitchFamily="34" charset="0"/>
              <a:buChar char="•"/>
              <a:defRPr/>
            </a:pPr>
            <a:endParaRPr lang="de-CH" dirty="0" smtClean="0">
              <a:sym typeface="Wingdings" pitchFamily="2" charset="2"/>
            </a:endParaRPr>
          </a:p>
          <a:p>
            <a:pPr lvl="1">
              <a:buNone/>
              <a:defRPr/>
            </a:pPr>
            <a:endParaRPr lang="de-CH" dirty="0" smtClean="0"/>
          </a:p>
          <a:p>
            <a:pPr marL="358775" lvl="1">
              <a:spcBef>
                <a:spcPts val="800"/>
              </a:spcBef>
              <a:buNone/>
              <a:defRPr/>
            </a:pPr>
            <a:r>
              <a:rPr lang="en-US" i="1" dirty="0" smtClean="0"/>
              <a:t>	</a:t>
            </a:r>
            <a:endParaRPr lang="de-CH" i="1" dirty="0" smtClean="0"/>
          </a:p>
          <a:p>
            <a:pPr>
              <a:buFont typeface="Symbol" pitchFamily="18" charset="2"/>
              <a:buChar char="-"/>
              <a:defRPr/>
            </a:pPr>
            <a:endParaRPr lang="de-CH" dirty="0" smtClean="0"/>
          </a:p>
          <a:p>
            <a:pPr>
              <a:buFont typeface="Symbol" pitchFamily="18" charset="2"/>
              <a:buChar char="-"/>
              <a:defRPr/>
            </a:pPr>
            <a:endParaRPr lang="de-CH" dirty="0" smtClean="0"/>
          </a:p>
        </p:txBody>
      </p:sp>
    </p:spTree>
    <p:extLst>
      <p:ext uri="{BB962C8B-B14F-4D97-AF65-F5344CB8AC3E}">
        <p14:creationId xmlns:p14="http://schemas.microsoft.com/office/powerpoint/2010/main" val="35437097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de-CH" dirty="0" smtClean="0"/>
              <a:t>Nicolas Mosimann</a:t>
            </a:r>
            <a:endParaRPr lang="de-CH" dirty="0"/>
          </a:p>
        </p:txBody>
      </p:sp>
      <p:sp>
        <p:nvSpPr>
          <p:cNvPr id="3" name="Text Placeholder 2"/>
          <p:cNvSpPr>
            <a:spLocks noGrp="1"/>
          </p:cNvSpPr>
          <p:nvPr>
            <p:ph type="body" sz="quarter" idx="11"/>
          </p:nvPr>
        </p:nvSpPr>
        <p:spPr>
          <a:xfrm>
            <a:off x="978143" y="3501008"/>
            <a:ext cx="7200900" cy="1800200"/>
          </a:xfrm>
        </p:spPr>
        <p:txBody>
          <a:bodyPr/>
          <a:lstStyle/>
          <a:p>
            <a:r>
              <a:rPr lang="de-CH" dirty="0" err="1" smtClean="0"/>
              <a:t>Attorney</a:t>
            </a:r>
            <a:r>
              <a:rPr lang="de-CH" dirty="0" smtClean="0"/>
              <a:t> at Law, Dr, LL.M.</a:t>
            </a:r>
          </a:p>
          <a:p>
            <a:endParaRPr lang="de-CH" dirty="0" smtClean="0"/>
          </a:p>
          <a:p>
            <a:r>
              <a:rPr lang="de-CH" dirty="0" smtClean="0"/>
              <a:t>Hirschgässlein 11</a:t>
            </a:r>
          </a:p>
          <a:p>
            <a:r>
              <a:rPr lang="de-CH" dirty="0" smtClean="0"/>
              <a:t>Postfach 257</a:t>
            </a:r>
          </a:p>
          <a:p>
            <a:r>
              <a:rPr lang="de-CH" dirty="0" smtClean="0"/>
              <a:t>4010 Basel</a:t>
            </a:r>
          </a:p>
          <a:p>
            <a:r>
              <a:rPr lang="de-CH" dirty="0" err="1" smtClean="0"/>
              <a:t>Switzerland</a:t>
            </a:r>
            <a:endParaRPr lang="de-CH" dirty="0" smtClean="0"/>
          </a:p>
          <a:p>
            <a:endParaRPr lang="de-CH" dirty="0" smtClean="0"/>
          </a:p>
          <a:p>
            <a:endParaRPr lang="de-CH" dirty="0" smtClean="0"/>
          </a:p>
          <a:p>
            <a:r>
              <a:rPr lang="de-CH" dirty="0" smtClean="0"/>
              <a:t>nicolas.mosimann@kellerhals-carrard.ch</a:t>
            </a:r>
            <a:endParaRPr lang="de-CH" dirty="0"/>
          </a:p>
        </p:txBody>
      </p:sp>
      <p:sp>
        <p:nvSpPr>
          <p:cNvPr id="4" name="Titel 1"/>
          <p:cNvSpPr txBox="1">
            <a:spLocks/>
          </p:cNvSpPr>
          <p:nvPr/>
        </p:nvSpPr>
        <p:spPr>
          <a:xfrm>
            <a:off x="909144" y="944402"/>
            <a:ext cx="7772400" cy="648072"/>
          </a:xfrm>
          <a:prstGeom prst="rect">
            <a:avLst/>
          </a:prstGeom>
        </p:spPr>
        <p:txBody>
          <a:bodyPr>
            <a:normAutofit/>
          </a:bodyPr>
          <a:lstStyle>
            <a:lvl1pPr marL="0" indent="0" algn="l" defTabSz="914400" rtl="0" eaLnBrk="1" latinLnBrk="0" hangingPunct="1">
              <a:lnSpc>
                <a:spcPct val="100000"/>
              </a:lnSpc>
              <a:spcBef>
                <a:spcPct val="0"/>
              </a:spcBef>
              <a:buFont typeface="+mj-lt"/>
              <a:buNone/>
              <a:tabLst>
                <a:tab pos="680400" algn="l"/>
              </a:tabLst>
              <a:defRPr sz="1700" b="1" i="0" u="none" kern="1200" cap="all" baseline="0">
                <a:solidFill>
                  <a:schemeClr val="tx1"/>
                </a:solidFill>
                <a:latin typeface="+mj-lt"/>
                <a:ea typeface="+mj-ea"/>
                <a:cs typeface="+mj-cs"/>
              </a:defRPr>
            </a:lvl1pPr>
          </a:lstStyle>
          <a:p>
            <a:r>
              <a:rPr lang="en-GB" sz="1800" dirty="0" smtClean="0"/>
              <a:t>Good luck and get in touch in case of questions!</a:t>
            </a:r>
            <a:endParaRPr lang="en-GB" sz="1800" dirty="0"/>
          </a:p>
        </p:txBody>
      </p:sp>
      <p:pic>
        <p:nvPicPr>
          <p:cNvPr id="5" name="Grafik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2077845"/>
            <a:ext cx="2510983" cy="2846326"/>
          </a:xfrm>
          <a:prstGeom prst="rect">
            <a:avLst/>
          </a:prstGeom>
        </p:spPr>
      </p:pic>
    </p:spTree>
    <p:extLst>
      <p:ext uri="{BB962C8B-B14F-4D97-AF65-F5344CB8AC3E}">
        <p14:creationId xmlns:p14="http://schemas.microsoft.com/office/powerpoint/2010/main" val="267761018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10.0&quot;&gt;&lt;object type=&quot;1&quot; unique_id=&quot;10001&quot;&gt;&lt;object type=&quot;8&quot; unique_id=&quot;10938&quot;&gt;&lt;/object&gt;&lt;object type=&quot;2&quot; unique_id=&quot;10939&quot;&gt;&lt;object type=&quot;3&quot; unique_id=&quot;10950&quot;&gt;&lt;property id=&quot;20148&quot; value=&quot;5&quot;/&gt;&lt;property id=&quot;20300&quot; value=&quot;Slide 3 - &amp;quot;I&amp;amp;#x09;Einspaltig Text&amp;quot;&quot;/&gt;&lt;property id=&quot;20307&quot; value=&quot;257&quot;/&gt;&lt;/object&gt;&lt;object type=&quot;3&quot; unique_id=&quot;11229&quot;&gt;&lt;property id=&quot;20148&quot; value=&quot;5&quot;/&gt;&lt;property id=&quot;20300&quot; value=&quot;Slide 1 - &amp;quot;Titel&amp;quot;&quot;/&gt;&lt;property id=&quot;20307&quot; value=&quot;258&quot;/&gt;&lt;/object&gt;&lt;object type=&quot;3&quot; unique_id=&quot;11230&quot;&gt;&lt;property id=&quot;20148&quot; value=&quot;5&quot;/&gt;&lt;property id=&quot;20300&quot; value=&quot;Slide 2&quot;/&gt;&lt;property id=&quot;20307&quot; value=&quot;259&quot;/&gt;&lt;/object&gt;&lt;object type=&quot;3&quot; unique_id=&quot;11231&quot;&gt;&lt;property id=&quot;20148&quot; value=&quot;5&quot;/&gt;&lt;property id=&quot;20300&quot; value=&quot;Slide 4 - &amp;quot;II&amp;amp;#x09;Einspaltig Aufzählung Bulletpoints&amp;quot;&quot;/&gt;&lt;property id=&quot;20307&quot; value=&quot;260&quot;/&gt;&lt;/object&gt;&lt;object type=&quot;3&quot; unique_id=&quot;11233&quot;&gt;&lt;property id=&quot;20148&quot; value=&quot;5&quot;/&gt;&lt;property id=&quot;20300&quot; value=&quot;Slide 7 - &amp;quot;III &amp;amp;#x09;Zweispaltig gem. Vorgabe&amp;quot;&quot;/&gt;&lt;property id=&quot;20307&quot; value=&quot;263&quot;/&gt;&lt;/object&gt;&lt;object type=&quot;3&quot; unique_id=&quot;11235&quot;&gt;&lt;property id=&quot;20148&quot; value=&quot;5&quot;/&gt;&lt;property id=&quot;20300&quot; value=&quot;Slide 6 - &amp;quot;III&amp;amp;#x09;Text &amp;amp; Bild&amp;quot;&quot;/&gt;&lt;property id=&quot;20307&quot; value=&quot;262&quot;/&gt;&lt;/object&gt;&lt;object type=&quot;3&quot; unique_id=&quot;11286&quot;&gt;&lt;property id=&quot;20148&quot; value=&quot;5&quot;/&gt;&lt;property id=&quot;20300&quot; value=&quot;Slide 5 - &amp;quot;II&amp;amp;#x09;Einspaltig Aufzählung Bulletpoints&amp;quot;&quot;/&gt;&lt;property id=&quot;20307&quot; value=&quot;265&quot;/&gt;&lt;/object&gt;&lt;object type=&quot;3&quot; unique_id=&quot;11287&quot;&gt;&lt;property id=&quot;20148&quot; value=&quot;5&quot;/&gt;&lt;property id=&quot;20300&quot; value=&quot;Slide 8 - &amp;quot;VI&amp;amp;#x09;Tätigkeitsgebiete&amp;quot;&quot;/&gt;&lt;property id=&quot;20307&quot; value=&quot;266&quot;/&gt;&lt;/object&gt;&lt;object type=&quot;3&quot; unique_id=&quot;11445&quot;&gt;&lt;property id=&quot;20148&quot; value=&quot;5&quot;/&gt;&lt;property id=&quot;20300&quot; value=&quot;Slide 9 - &amp;quot;VII&amp;amp;#x09;Manuell erstellte Tabelle&amp;amp;#x09;&amp;quot;&quot;/&gt;&lt;property id=&quot;20307&quot; value=&quot;267&quot;/&gt;&lt;/object&gt;&lt;object type=&quot;3&quot; unique_id=&quot;11446&quot;&gt;&lt;property id=&quot;20148&quot; value=&quot;5&quot;/&gt;&lt;property id=&quot;20300&quot; value=&quot;Slide 10 - &amp;quot;VIII&amp;amp;#x09;StandardTabelle&amp;amp;#x09;&amp;quot;&quot;/&gt;&lt;property id=&quot;20307&quot; value=&quot;268&quot;/&gt;&lt;/object&gt;&lt;object type=&quot;3&quot; unique_id=&quot;11447&quot;&gt;&lt;property id=&quot;20148&quot; value=&quot;5&quot;/&gt;&lt;property id=&quot;20300&quot; value=&quot;Slide 11&quot;/&gt;&lt;property id=&quot;20307&quot; value=&quot;269&quot;/&gt;&lt;/object&gt;&lt;object type=&quot;3&quot; unique_id=&quot;11448&quot;&gt;&lt;property id=&quot;20148&quot; value=&quot;5&quot;/&gt;&lt;property id=&quot;20300&quot; value=&quot;Slide 12&quot;/&gt;&lt;property id=&quot;20307&quot; value=&quot;270&quot;/&gt;&lt;/object&gt;&lt;/object&gt;&lt;/object&gt;&lt;/database&gt;"/>
  <p:tag name="SECTOMILLISECCONVERTED" val="1"/>
</p:tagLst>
</file>

<file path=ppt/theme/theme1.xml><?xml version="1.0" encoding="utf-8"?>
<a:theme xmlns:a="http://schemas.openxmlformats.org/drawingml/2006/main" name="WJDPRÄSENTATION">
  <a:themeElements>
    <a:clrScheme name="Kellerhals_Carrard2">
      <a:dk1>
        <a:sysClr val="windowText" lastClr="000000"/>
      </a:dk1>
      <a:lt1>
        <a:sysClr val="window" lastClr="FFFFFF"/>
      </a:lt1>
      <a:dk2>
        <a:srgbClr val="000000"/>
      </a:dk2>
      <a:lt2>
        <a:srgbClr val="FFF40E"/>
      </a:lt2>
      <a:accent1>
        <a:srgbClr val="000000"/>
      </a:accent1>
      <a:accent2>
        <a:srgbClr val="FFF40E"/>
      </a:accent2>
      <a:accent3>
        <a:srgbClr val="E0D60C"/>
      </a:accent3>
      <a:accent4>
        <a:srgbClr val="BEB60A"/>
      </a:accent4>
      <a:accent5>
        <a:srgbClr val="9B9408"/>
      </a:accent5>
      <a:accent6>
        <a:srgbClr val="756F06"/>
      </a:accent6>
      <a:hlink>
        <a:srgbClr val="000000"/>
      </a:hlink>
      <a:folHlink>
        <a:srgbClr val="7F7F7F"/>
      </a:folHlink>
    </a:clrScheme>
    <a:fontScheme name="KC">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WJdPräsentation.potx" id="{4F6E5F36-4757-4D2A-A5E2-190B82BE64ED}" vid="{E0BAEE17-6B7A-4821-B13E-508549CE4A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WJDPRÄSENTATION</Template>
  <TotalTime>0</TotalTime>
  <Words>1598</Words>
  <Application>Microsoft Office PowerPoint</Application>
  <PresentationFormat>Bildschirmpräsentation (4:3)</PresentationFormat>
  <Paragraphs>443</Paragraphs>
  <Slides>37</Slides>
  <Notes>11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37</vt:i4>
      </vt:variant>
    </vt:vector>
  </HeadingPairs>
  <TitlesOfParts>
    <vt:vector size="43" baseType="lpstr">
      <vt:lpstr>Arial</vt:lpstr>
      <vt:lpstr>Calibri</vt:lpstr>
      <vt:lpstr>Symbol</vt:lpstr>
      <vt:lpstr>Verdana</vt:lpstr>
      <vt:lpstr>Wingdings</vt:lpstr>
      <vt:lpstr>WJDPRÄSENTATION</vt:lpstr>
      <vt:lpstr>Legal Essentials for Software Startups</vt:lpstr>
      <vt:lpstr> Kellerhals carrard Startup Desk: Our Services</vt:lpstr>
      <vt:lpstr> References (Selection) </vt:lpstr>
      <vt:lpstr>PowerPoint-Präsentation</vt:lpstr>
      <vt:lpstr>PowerPoint-Präsentation</vt:lpstr>
      <vt:lpstr>I Ip relating to…?</vt:lpstr>
      <vt:lpstr>I  IP = $$$</vt:lpstr>
      <vt:lpstr>II Do‘s and Dont‘s: company Name and product name</vt:lpstr>
      <vt:lpstr>III Do‘s and Dont‘s: protection of product</vt:lpstr>
      <vt:lpstr>IV Protection of Software: Applicable Law (Basics)</vt:lpstr>
      <vt:lpstr>V Protection of Software</vt:lpstr>
      <vt:lpstr>VI Securing IP rights in the software (1)</vt:lpstr>
      <vt:lpstr>VII  Securing IP rights in the software (2)</vt:lpstr>
      <vt:lpstr>VIII no infringement upon third party rights (1)</vt:lpstr>
      <vt:lpstr>PowerPoint-Präsentation</vt:lpstr>
      <vt:lpstr>VIII no infringement upon third party rights  (3):  third party patents </vt:lpstr>
      <vt:lpstr>VIII no infringement upon third party rights  (4):  third party patents </vt:lpstr>
      <vt:lpstr>VIII No Infringement upon third party rights (5):  Copyright</vt:lpstr>
      <vt:lpstr>VIII No Infringement upon third party rights (6)</vt:lpstr>
      <vt:lpstr>PowerPoint-Präsentation</vt:lpstr>
      <vt:lpstr>I The Basics: What is an Agreement?</vt:lpstr>
      <vt:lpstr>I The Basics: What is this all about?</vt:lpstr>
      <vt:lpstr>II Know your Client: Who is party to the Contract?</vt:lpstr>
      <vt:lpstr>III  License: What is a license?</vt:lpstr>
      <vt:lpstr>III  License: Why does the Customer need one?</vt:lpstr>
      <vt:lpstr>IV Negotiating an Agreement</vt:lpstr>
      <vt:lpstr>IV Negotiating An Agreement</vt:lpstr>
      <vt:lpstr>VI License Agreements: Key Terms and Interests </vt:lpstr>
      <vt:lpstr>VI License Agreements: Support and Warranty</vt:lpstr>
      <vt:lpstr>VI  License Agreements: Liability</vt:lpstr>
      <vt:lpstr>VII Maintenance and Support Agreements</vt:lpstr>
      <vt:lpstr>VIII  hosting agreements</vt:lpstr>
      <vt:lpstr>VIII hosting agreeements: Key Deal points</vt:lpstr>
      <vt:lpstr>VIII  hosting agreeements: SLA </vt:lpstr>
      <vt:lpstr>VIII  hosting agreeements: SLA</vt:lpstr>
      <vt:lpstr>IX  Jurisdiction and choice of Law</vt:lpstr>
      <vt:lpstr>PowerPoint-Präsentation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Rechtliche Herausforderungen der Startups I - Panel</dc:title>
  <dc:creator>nmosimann</dc:creator>
  <cp:lastModifiedBy>Salome Aggeler</cp:lastModifiedBy>
  <cp:revision>78</cp:revision>
  <dcterms:created xsi:type="dcterms:W3CDTF">2016-01-31T13:30:35Z</dcterms:created>
  <dcterms:modified xsi:type="dcterms:W3CDTF">2016-11-16T07:32:44Z</dcterms:modified>
</cp:coreProperties>
</file>