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39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30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sentence on what we do and who keeps control. Swiss SMEs, AI-assisted, human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unchanged from v11-1. Same flow grid as slide 3: identical incoming column, identical resolved column. The difference is the middle (one person, sequential) and the staircase on the right (one after another) versus slide 3 (all at once).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"AI does the work / you approve each" softened to routine steps + defined control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figures unchanged. Only the source line now separates official data from our own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"approves every step" -&gt; defined control points; "black box" -&gt; less direct oversight; "no lock-in" -&gt; documented access, export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milestones unchanged from v11-1, now explicitly labelled as working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pricing and ARR band unchanged; the ownership line now matches the pricing catalogue, which does include Build-Transfer at the top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4: founders -&gt; key hires -&gt; board &amp; advisors. This slide covers the inner two layers only; advisors and board move to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"live pilot" -&gt; pilot in progress, unpaid; payback claim now framed as a model to be confirmed with the first paid client. BEFORE PRESENTING: confirm the Fit Check is actually live on vortexdeep.ch. If it is not, replace card 02 with "Discovery &amp; pricing tools - catalogue, discovery scripts and pricing logic, ready to scope consistently."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combines the v11-1 funding ask with the design-partner validation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work.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the decisions.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6928" y="3913632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 txBox="1"/>
          <p:nvPr/>
        </p:nvSpPr>
        <p:spPr>
          <a:xfrm>
            <a:off x="566928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 designs and runs AI-assisted workflows for Swiss SMEs.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AB0355-7313-1F86-4276-365B5BEB0E04}"/>
              </a:ext>
            </a:extLst>
          </p:cNvPr>
          <p:cNvGrpSpPr/>
          <p:nvPr/>
        </p:nvGrpSpPr>
        <p:grpSpPr>
          <a:xfrm>
            <a:off x="685800" y="5760720"/>
            <a:ext cx="10817352" cy="685800"/>
            <a:chOff x="685800" y="5760720"/>
            <a:chExt cx="10817352" cy="685800"/>
          </a:xfrm>
        </p:grpSpPr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00FAA246-E12C-74D3-393D-A85185003C28}"/>
                </a:ext>
              </a:extLst>
            </p:cNvPr>
            <p:cNvSpPr/>
            <p:nvPr/>
          </p:nvSpPr>
          <p:spPr>
            <a:xfrm>
              <a:off x="685800" y="5760720"/>
              <a:ext cx="10817352" cy="0"/>
            </a:xfrm>
            <a:prstGeom prst="line">
              <a:avLst/>
            </a:prstGeom>
            <a:noFill/>
            <a:ln w="9525">
              <a:solidFill>
                <a:srgbClr val="3A3A3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25E5FB2C-2929-BFDA-34EC-7ABC245F32DC}"/>
                </a:ext>
              </a:extLst>
            </p:cNvPr>
            <p:cNvSpPr txBox="1"/>
            <p:nvPr/>
          </p:nvSpPr>
          <p:spPr>
            <a:xfrm>
              <a:off x="685800" y="585216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9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A1A4A7D1-76FA-D9B3-C822-37CBD70AFA48}"/>
                </a:ext>
              </a:extLst>
            </p:cNvPr>
            <p:cNvSpPr txBox="1"/>
            <p:nvPr/>
          </p:nvSpPr>
          <p:spPr>
            <a:xfrm>
              <a:off x="685800" y="617220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7A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Maciek Szczech, Founder  ·  vortexdeep.ch  ·  info@vortexdeep.ch  ·  Claridapark 4, 8636 Wald ZH</a:t>
              </a:r>
              <a:endParaRPr lang="en-US" sz="9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3000">
        <p:checker/>
      </p:transition>
    </mc:Choice>
    <mc:Fallback>
      <p:transition spd="slow" advClick="0" advTm="13000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easy once. The cost is that it never stops.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75888" y="2651760"/>
            <a:ext cx="4837176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3675888" y="352958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393192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4297680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in parallel · every task waits its turn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· ONE AFTER ANOTHER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36024" y="2651760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task 1 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36024" y="5248656"/>
            <a:ext cx="2286000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 txBox="1"/>
          <p:nvPr/>
        </p:nvSpPr>
        <p:spPr>
          <a:xfrm>
            <a:off x="9336024" y="5285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 and pair of hands. The queue only clears as fast as you do.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The bottleneck isn't any one task. It's that they never stop.</a:t>
            </a:r>
            <a:endParaRPr lang="en-US" sz="1400" dirty="0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AC489B24-5477-A173-B2EA-BB49263D0D77}"/>
              </a:ext>
            </a:extLst>
          </p:cNvPr>
          <p:cNvSpPr/>
          <p:nvPr/>
        </p:nvSpPr>
        <p:spPr>
          <a:xfrm>
            <a:off x="9786024" y="3313530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2 …</a:t>
            </a:r>
            <a:endParaRPr lang="en-US" sz="1300" dirty="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B698A649-9B27-6C04-2AE2-7B436F917D07}"/>
              </a:ext>
            </a:extLst>
          </p:cNvPr>
          <p:cNvSpPr/>
          <p:nvPr/>
        </p:nvSpPr>
        <p:spPr>
          <a:xfrm>
            <a:off x="10236024" y="3968496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3 …</a:t>
            </a:r>
            <a:endParaRPr lang="en-US" sz="1300" dirty="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95955942-CF4C-67DA-CCA5-4B7E4AEA5214}"/>
              </a:ext>
            </a:extLst>
          </p:cNvPr>
          <p:cNvSpPr/>
          <p:nvPr/>
        </p:nvSpPr>
        <p:spPr>
          <a:xfrm>
            <a:off x="10686024" y="4623462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4 …</a:t>
            </a:r>
            <a:endParaRPr lang="en-US" sz="1300" dirty="0"/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4C8BF497-B254-8014-18E0-95C07FCC2E1B}"/>
              </a:ext>
            </a:extLst>
          </p:cNvPr>
          <p:cNvCxnSpPr>
            <a:stCxn id="27" idx="3"/>
            <a:endCxn id="40" idx="1"/>
          </p:cNvCxnSpPr>
          <p:nvPr/>
        </p:nvCxnSpPr>
        <p:spPr>
          <a:xfrm flipH="1">
            <a:off x="9786024" y="2916936"/>
            <a:ext cx="450000" cy="661770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ACE220-E858-F631-C711-0071E6DF038A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 flipH="1">
            <a:off x="10236024" y="3578706"/>
            <a:ext cx="450000" cy="654966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9CDFD2E-A259-B3EB-D665-4A93C42FA4A2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 flipH="1">
            <a:off x="10686024" y="4233672"/>
            <a:ext cx="450000" cy="654966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9">
            <a:extLst>
              <a:ext uri="{FF2B5EF4-FFF2-40B4-BE49-F238E27FC236}">
                <a16:creationId xmlns:a16="http://schemas.microsoft.com/office/drawing/2014/main" id="{A231185E-686C-D9BE-F65B-C4CA2440AFC2}"/>
              </a:ext>
            </a:extLst>
          </p:cNvPr>
          <p:cNvSpPr txBox="1"/>
          <p:nvPr/>
        </p:nvSpPr>
        <p:spPr>
          <a:xfrm>
            <a:off x="3675888" y="2307903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24F582-671A-8844-4BE3-08FB1771931B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624F74B0-58E3-0341-F35A-EBEFB4D649FF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50A3EC4E-7486-EF3C-5C75-2EB385B29D47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workflows handle the routine steps in parallel. Your team reviews decisions and exceptions at defined control points.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75888" y="2651760"/>
            <a:ext cx="2240280" cy="2505456"/>
          </a:xfrm>
          <a:prstGeom prst="roundRect">
            <a:avLst>
              <a:gd name="adj" fmla="val 163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3675888" y="3529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8953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and drafts,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3758184"/>
            <a:ext cx="384048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574536" y="2651760"/>
            <a:ext cx="1938528" cy="2505456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574536" y="3566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74536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52486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 · human-in-the-loop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· IN PARALLEL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336024" y="2651760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9464040" y="26517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36024" y="3310128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9464040" y="3310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36024" y="3968496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 txBox="1"/>
          <p:nvPr/>
        </p:nvSpPr>
        <p:spPr>
          <a:xfrm>
            <a:off x="9464040" y="39684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336024" y="4626864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9464040" y="46268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✓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prepares; your team decides. Nothing consequential goes out unreviewed.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Start with the task costing you the most hours. Add from there.</a:t>
            </a:r>
            <a:endParaRPr lang="en-US" sz="1400" dirty="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14D37515-F2C8-3635-70D8-8F5B8061790D}"/>
              </a:ext>
            </a:extLst>
          </p:cNvPr>
          <p:cNvSpPr txBox="1"/>
          <p:nvPr/>
        </p:nvSpPr>
        <p:spPr>
          <a:xfrm>
            <a:off x="6574536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EC32A61C-70B5-D1FC-72D8-C86603B3B908}"/>
              </a:ext>
            </a:extLst>
          </p:cNvPr>
          <p:cNvSpPr txBox="1"/>
          <p:nvPr/>
        </p:nvSpPr>
        <p:spPr>
          <a:xfrm>
            <a:off x="367588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AT THE SAME TIME</a:t>
            </a:r>
            <a:endParaRPr lang="en-US" sz="1000" dirty="0">
              <a:solidFill>
                <a:srgbClr val="00B050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166B44-F601-E5D0-323D-69D7182E00FF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6B504D93-201E-1448-6E00-7510CA72A6D4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51" name="Text 5">
              <a:extLst>
                <a:ext uri="{FF2B5EF4-FFF2-40B4-BE49-F238E27FC236}">
                  <a16:creationId xmlns:a16="http://schemas.microsoft.com/office/drawing/2014/main" id="{7261DB4C-616C-1DB3-8E1F-B6519D46BCEC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defined by industry. By the admin that repeats every day.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· SWISS BEACHHEAD · WORKING ESTIMATES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566928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SMEs with repetitive admin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has the problem. Mostly micro firms; a lighter tier could open them.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4297680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firms, 10–49 employees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we can serve with this model. CHF 400–750M ARR.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028432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8028432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clients by 2029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realistically win. CHF 0.25–0.6M ARR · under 0.1% of SAM.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28523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SECO / FSO (STATENT 2023) for company counts. SAM and SOM are VortexDeep estimates from stated targeting and pricing assumptions.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Our slice is the cautious middle: AI's help, not its autonomy.</a:t>
            </a:r>
            <a:endParaRPr lang="en-US" sz="1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5114E5-F30D-10CD-8107-890768CC7686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5F35C3E2-5CF4-9D06-E11E-98BD10FFF4F2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411DCEB5-3969-F581-BA79-3CDE16A0BB6B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ADVANTAGE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Human control where it matters.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handle the repetition, each with a catch, and our fifth.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OPTIONS · EACH WITH A CATCH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49808" y="261518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tools: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you build and maintain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419856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749808" y="341985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less direct oversight.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749808" y="422452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cost, and still manual.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749808" y="502920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quietly compounds every day.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304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FIFTH WAY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27648" y="2615184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6473952" y="261518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688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at defined control points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consequential goes out unreviewed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7648" y="3419856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473952" y="3419856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run 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12864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 to learn or maintain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27648" y="4224528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6473952" y="4224528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yours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access, export on request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27648" y="5029200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473952" y="5029200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5102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not replaced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work, not the person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Built for the cautious middle: a few clients at a time, fixed scope.</a:t>
            </a:r>
            <a:endParaRPr lang="en-US" sz="14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6E11FB9-BA7B-84D8-8DA5-B0DDF08EE8B1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39BC5411-D964-8F45-7767-582648838E48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C683115F-DC73-17D3-C4ED-409405A582EF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targets, based on current pricing and delivery assumptions.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Swiss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automation live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case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623598"/>
            <a:ext cx="2148840" cy="40233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64992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managed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 decided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50–120k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widen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→ EU expansion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workflows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63056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120–300k</a:t>
            </a:r>
            <a:endParaRPr lang="en-US" sz="11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FD04C28-233D-204B-C8BA-4C943AC026F8}"/>
              </a:ext>
            </a:extLst>
          </p:cNvPr>
          <p:cNvGrpSpPr/>
          <p:nvPr/>
        </p:nvGrpSpPr>
        <p:grpSpPr>
          <a:xfrm>
            <a:off x="566928" y="2505456"/>
            <a:ext cx="11057839" cy="237744"/>
            <a:chOff x="566928" y="2505456"/>
            <a:chExt cx="11057839" cy="237744"/>
          </a:xfrm>
        </p:grpSpPr>
        <p:sp>
          <p:nvSpPr>
            <p:cNvPr id="11" name="Shape 9"/>
            <p:cNvSpPr/>
            <p:nvPr/>
          </p:nvSpPr>
          <p:spPr>
            <a:xfrm>
              <a:off x="566928" y="2615184"/>
              <a:ext cx="11057839" cy="18288"/>
            </a:xfrm>
            <a:prstGeom prst="rect">
              <a:avLst/>
            </a:prstGeom>
            <a:solidFill>
              <a:srgbClr val="DADAD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2" name="Shape 10"/>
            <p:cNvSpPr/>
            <p:nvPr/>
          </p:nvSpPr>
          <p:spPr>
            <a:xfrm>
              <a:off x="566928" y="2505456"/>
              <a:ext cx="237744" cy="237744"/>
            </a:xfrm>
            <a:prstGeom prst="ellipse">
              <a:avLst/>
            </a:prstGeom>
            <a:solidFill>
              <a:srgbClr val="141414"/>
            </a:solidFill>
            <a:ln w="19050">
              <a:solidFill>
                <a:srgbClr val="141414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8" name="Shape 16"/>
            <p:cNvSpPr/>
            <p:nvPr/>
          </p:nvSpPr>
          <p:spPr>
            <a:xfrm>
              <a:off x="3364992" y="2505456"/>
              <a:ext cx="237744" cy="23774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4" name="Shape 22"/>
            <p:cNvSpPr/>
            <p:nvPr/>
          </p:nvSpPr>
          <p:spPr>
            <a:xfrm>
              <a:off x="6163056" y="2505456"/>
              <a:ext cx="237744" cy="23774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0" name="Shape 28"/>
            <p:cNvSpPr/>
            <p:nvPr/>
          </p:nvSpPr>
          <p:spPr>
            <a:xfrm>
              <a:off x="8961120" y="2505456"/>
              <a:ext cx="237744" cy="23774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</p:grpSp>
      <p:sp>
        <p:nvSpPr>
          <p:cNvPr id="31" name="Text 29"/>
          <p:cNvSpPr txBox="1"/>
          <p:nvPr/>
        </p:nvSpPr>
        <p:spPr>
          <a:xfrm>
            <a:off x="896112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30–40+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~5–8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IP, licensed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240–600k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1023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ARR scenario, not a forecast.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Land one process, expand within the account. Each stage funds the next.</a:t>
            </a:r>
            <a:endParaRPr lang="en-US" sz="1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2C60FA-BE15-4C28-EE6E-B3A3FEA28EB7}"/>
              </a:ext>
            </a:extLst>
          </p:cNvPr>
          <p:cNvGrpSpPr/>
          <p:nvPr/>
        </p:nvGrpSpPr>
        <p:grpSpPr>
          <a:xfrm>
            <a:off x="2172158" y="2531580"/>
            <a:ext cx="180000" cy="2176006"/>
            <a:chOff x="1960880" y="2531580"/>
            <a:chExt cx="180000" cy="2176006"/>
          </a:xfrm>
        </p:grpSpPr>
        <p:sp>
          <p:nvSpPr>
            <p:cNvPr id="39" name="Doughnut 38">
              <a:extLst>
                <a:ext uri="{FF2B5EF4-FFF2-40B4-BE49-F238E27FC236}">
                  <a16:creationId xmlns:a16="http://schemas.microsoft.com/office/drawing/2014/main" id="{CBD6D996-A57A-F657-A9B0-9A851B699005}"/>
                </a:ext>
              </a:extLst>
            </p:cNvPr>
            <p:cNvSpPr/>
            <p:nvPr/>
          </p:nvSpPr>
          <p:spPr>
            <a:xfrm>
              <a:off x="1960880" y="253158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bg1">
                <a:lumMod val="50000"/>
                <a:alpha val="4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sp>
          <p:nvSpPr>
            <p:cNvPr id="40" name="Doughnut 39">
              <a:extLst>
                <a:ext uri="{FF2B5EF4-FFF2-40B4-BE49-F238E27FC236}">
                  <a16:creationId xmlns:a16="http://schemas.microsoft.com/office/drawing/2014/main" id="{97A0CF7B-2EAE-8BD8-D19F-BC6A2760CB3D}"/>
                </a:ext>
              </a:extLst>
            </p:cNvPr>
            <p:cNvSpPr/>
            <p:nvPr/>
          </p:nvSpPr>
          <p:spPr>
            <a:xfrm>
              <a:off x="1960880" y="4527586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bg1">
                <a:lumMod val="50000"/>
                <a:alpha val="4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1070989-34B6-31ED-2959-770CD5934C60}"/>
                </a:ext>
              </a:extLst>
            </p:cNvPr>
            <p:cNvCxnSpPr>
              <a:stCxn id="39" idx="4"/>
              <a:endCxn id="40" idx="0"/>
            </p:cNvCxnSpPr>
            <p:nvPr/>
          </p:nvCxnSpPr>
          <p:spPr>
            <a:xfrm>
              <a:off x="2050880" y="2711580"/>
              <a:ext cx="0" cy="1816006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3616A8C-09B7-9CB6-7668-456D4CC82EB7}"/>
              </a:ext>
            </a:extLst>
          </p:cNvPr>
          <p:cNvGrpSpPr/>
          <p:nvPr/>
        </p:nvGrpSpPr>
        <p:grpSpPr>
          <a:xfrm>
            <a:off x="2588177" y="2532330"/>
            <a:ext cx="180000" cy="899460"/>
            <a:chOff x="1960880" y="2531580"/>
            <a:chExt cx="180000" cy="899460"/>
          </a:xfrm>
        </p:grpSpPr>
        <p:sp>
          <p:nvSpPr>
            <p:cNvPr id="45" name="Doughnut 44">
              <a:extLst>
                <a:ext uri="{FF2B5EF4-FFF2-40B4-BE49-F238E27FC236}">
                  <a16:creationId xmlns:a16="http://schemas.microsoft.com/office/drawing/2014/main" id="{E96D8939-3A73-1D7F-96AE-151748A32BE8}"/>
                </a:ext>
              </a:extLst>
            </p:cNvPr>
            <p:cNvSpPr/>
            <p:nvPr/>
          </p:nvSpPr>
          <p:spPr>
            <a:xfrm>
              <a:off x="1960880" y="253158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sp>
          <p:nvSpPr>
            <p:cNvPr id="46" name="Doughnut 45">
              <a:extLst>
                <a:ext uri="{FF2B5EF4-FFF2-40B4-BE49-F238E27FC236}">
                  <a16:creationId xmlns:a16="http://schemas.microsoft.com/office/drawing/2014/main" id="{7BD287A4-FFA0-4575-C51C-057B15065B18}"/>
                </a:ext>
              </a:extLst>
            </p:cNvPr>
            <p:cNvSpPr/>
            <p:nvPr/>
          </p:nvSpPr>
          <p:spPr>
            <a:xfrm>
              <a:off x="1960880" y="325104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F281C-64C4-6D66-FDA5-BBF70FFDA313}"/>
                </a:ext>
              </a:extLst>
            </p:cNvPr>
            <p:cNvCxnSpPr>
              <a:cxnSpLocks/>
              <a:stCxn id="45" idx="4"/>
            </p:cNvCxnSpPr>
            <p:nvPr/>
          </p:nvCxnSpPr>
          <p:spPr>
            <a:xfrm>
              <a:off x="2050880" y="2711580"/>
              <a:ext cx="0" cy="565020"/>
            </a:xfrm>
            <a:prstGeom prst="line">
              <a:avLst/>
            </a:prstGeom>
            <a:ln w="63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 15">
            <a:extLst>
              <a:ext uri="{FF2B5EF4-FFF2-40B4-BE49-F238E27FC236}">
                <a16:creationId xmlns:a16="http://schemas.microsoft.com/office/drawing/2014/main" id="{30324CA7-3571-EB75-A645-3A4C5A1DD74D}"/>
              </a:ext>
            </a:extLst>
          </p:cNvPr>
          <p:cNvSpPr txBox="1"/>
          <p:nvPr/>
        </p:nvSpPr>
        <p:spPr>
          <a:xfrm>
            <a:off x="2378177" y="3337560"/>
            <a:ext cx="581998" cy="402336"/>
          </a:xfrm>
          <a:prstGeom prst="rect">
            <a:avLst/>
          </a:prstGeom>
          <a:solidFill>
            <a:srgbClr val="0070C0">
              <a:alpha val="25029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ICT</a:t>
            </a:r>
            <a:endParaRPr lang="en-US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0A237F-32C6-3341-6394-10175ABCEF1F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8E6076EB-3FBD-BDE5-1249-962AFB87B70C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7B715B75-9A11-5D3B-95E9-C9FBDCBC1A14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funds the build; a monthly managed service is the recurring base. Five packages, priced by complexity and control.</a:t>
            </a:r>
            <a:endParaRPr lang="en-US" sz="15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18C1EB-17A6-E289-343F-0334CB275D48}"/>
              </a:ext>
            </a:extLst>
          </p:cNvPr>
          <p:cNvGrpSpPr/>
          <p:nvPr/>
        </p:nvGrpSpPr>
        <p:grpSpPr>
          <a:xfrm>
            <a:off x="566928" y="2286000"/>
            <a:ext cx="10543032" cy="786384"/>
            <a:chOff x="566928" y="2304288"/>
            <a:chExt cx="11009376" cy="786384"/>
          </a:xfrm>
        </p:grpSpPr>
        <p:sp>
          <p:nvSpPr>
            <p:cNvPr id="11" name="Shape 9"/>
            <p:cNvSpPr/>
            <p:nvPr/>
          </p:nvSpPr>
          <p:spPr>
            <a:xfrm>
              <a:off x="566928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3" name="Shape 11"/>
            <p:cNvSpPr/>
            <p:nvPr/>
          </p:nvSpPr>
          <p:spPr>
            <a:xfrm>
              <a:off x="2798064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0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7" name="Shape 15"/>
            <p:cNvSpPr/>
            <p:nvPr/>
          </p:nvSpPr>
          <p:spPr>
            <a:xfrm>
              <a:off x="7260336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9" name="Shape 17"/>
            <p:cNvSpPr/>
            <p:nvPr/>
          </p:nvSpPr>
          <p:spPr>
            <a:xfrm>
              <a:off x="9491472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87EC80-52C1-3DAB-7A5E-AD7801D60357}"/>
              </a:ext>
            </a:extLst>
          </p:cNvPr>
          <p:cNvGrpSpPr/>
          <p:nvPr/>
        </p:nvGrpSpPr>
        <p:grpSpPr>
          <a:xfrm>
            <a:off x="731520" y="2304288"/>
            <a:ext cx="10378440" cy="786384"/>
            <a:chOff x="731520" y="2304288"/>
            <a:chExt cx="10698480" cy="786384"/>
          </a:xfrm>
        </p:grpSpPr>
        <p:sp>
          <p:nvSpPr>
            <p:cNvPr id="12" name="Text 10"/>
            <p:cNvSpPr txBox="1"/>
            <p:nvPr/>
          </p:nvSpPr>
          <p:spPr>
            <a:xfrm>
              <a:off x="731520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Basic Intake</a:t>
              </a:r>
              <a:endParaRPr lang="en-US" sz="115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962656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Basic+ AI Triage</a:t>
              </a:r>
              <a:endParaRPr lang="en-US" sz="115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5193792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 Multi-Channel</a:t>
              </a:r>
              <a:endParaRPr lang="en-US" sz="115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424928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Managed Operations</a:t>
              </a:r>
              <a:endParaRPr lang="en-US" sz="115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9656064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Automation</a:t>
              </a:r>
              <a:endParaRPr lang="en-US" sz="115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566928" y="321868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768096" y="321868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750 → 30’000</a:t>
            </a: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Monthly  </a:t>
            </a: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150 → 6’000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404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· INDICATIVE SCENARIO, NOT A FORECAST · BLENDED ~CHF 8–15K PER ACTIVE 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230368"/>
            <a:ext cx="2148840" cy="20116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566928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64992" y="5047488"/>
            <a:ext cx="21488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3364992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~50–120k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364992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63056" y="4718304"/>
            <a:ext cx="2148840" cy="713232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163056" y="4443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~120–300k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1120" y="4297680"/>
            <a:ext cx="2148840" cy="1133856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8961120" y="4023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~240–600k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Licence by default; build-transfer only in the highest tier. Break-even at ~6–8 clients on current assumptions. Bootstrap-first.</a:t>
            </a:r>
            <a:endParaRPr lang="en-US"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21DDA44-8027-833B-CC32-70334202401A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2C0F2312-0E1C-5983-52CD-08408E114695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C987FB0E-14BE-81C9-646B-5B8172C955C1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today. A hiring plan, not a wish list.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Sell + Run all have to be covered. Each seat opens when revenue covers it — plan: hire from cashflow.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212848"/>
            <a:ext cx="11057839" cy="1024128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786384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</a:t>
            </a: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 + SELL + RUN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871216"/>
            <a:ext cx="10618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industrial operations, engineering, process and automation. 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01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· EACH SEAT OPENS WHEN ITS TRIGGER IS MET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731520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803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integrations, security. Equity, not salary.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paid clients.</a:t>
            </a:r>
          </a:p>
        </p:txBody>
      </p:sp>
      <p:sp>
        <p:nvSpPr>
          <p:cNvPr id="20" name="Shape 18"/>
          <p:cNvSpPr/>
          <p:nvPr/>
        </p:nvSpPr>
        <p:spPr>
          <a:xfrm>
            <a:off x="6199632" y="3694176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364224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803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Managed operations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monitoring, support, reporting.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base outgrows one person.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736592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731520" y="4855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B2B solution seller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5157216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scoping, quoting and renewals with SME owners.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paid clients.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99632" y="4736592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364224" y="4855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in, not hired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EXTERNAL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5157216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IP, accounting / fiduciary, data protection,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as a service. Fractional.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Order of hiring: BUILD first, then RUN, then SELL. Sales is the function I already cover; delivery capacity breaks before demand does.</a:t>
            </a:r>
            <a:endParaRPr lang="en-US" sz="1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1B3C16-80BB-E525-5FC1-97A311594B65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AF17D28B-E67E-1834-E966-C18911949CBF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6" name="Text 5">
              <a:extLst>
                <a:ext uri="{FF2B5EF4-FFF2-40B4-BE49-F238E27FC236}">
                  <a16:creationId xmlns:a16="http://schemas.microsoft.com/office/drawing/2014/main" id="{B2FD6606-77AA-7E1F-88E2-CB3E6D033269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 — and what still needs proof.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but not pre-proof. Three things exist right now.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86384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progress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unpaid email-handling automation with a Swiss SME, built around a real process. Technical proof and our first reference case — not yet a paid customer case.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4517136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self-check on vortexdeep.ch. The low-pressure front door that collects real data on who fits.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28432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247888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 a prospect's cost of doing nothing — time, errors, lost leads — against our fee. We model payback; the figure gets confirmed with the first paid client.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Narrow, but real. Technical proof is done; commercial proof is next.</a:t>
            </a:r>
            <a:endParaRPr lang="en-US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3700CB-5821-74BF-C62B-5230BA575E7A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6B889417-DBEA-27F7-D5CD-7B6A7AB2C3CD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FCA80726-678E-2A0E-9A06-61BB3C75CF7D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65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2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That’s exactly who we help.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66928" y="3675888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566928" y="391363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SMEs in the beachhead — ideally one design partner willing to map and test a process — and early capital to compress the timeline: earlier delivery hire, faster CH → EU. The model is built to stand on its own revenue; funding makes it faster.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029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937957-8652-560F-60B3-382774616448}"/>
              </a:ext>
            </a:extLst>
          </p:cNvPr>
          <p:cNvGrpSpPr/>
          <p:nvPr/>
        </p:nvGrpSpPr>
        <p:grpSpPr>
          <a:xfrm>
            <a:off x="685800" y="5760720"/>
            <a:ext cx="10817352" cy="685800"/>
            <a:chOff x="685800" y="5760720"/>
            <a:chExt cx="10817352" cy="685800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00E85373-CCA2-6033-373F-7673B3707E65}"/>
                </a:ext>
              </a:extLst>
            </p:cNvPr>
            <p:cNvSpPr/>
            <p:nvPr/>
          </p:nvSpPr>
          <p:spPr>
            <a:xfrm>
              <a:off x="685800" y="5760720"/>
              <a:ext cx="10817352" cy="0"/>
            </a:xfrm>
            <a:prstGeom prst="line">
              <a:avLst/>
            </a:prstGeom>
            <a:noFill/>
            <a:ln w="9525">
              <a:solidFill>
                <a:srgbClr val="3A3A3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2B18C2C0-4AE8-C496-0212-4986AD1E0468}"/>
                </a:ext>
              </a:extLst>
            </p:cNvPr>
            <p:cNvSpPr txBox="1"/>
            <p:nvPr/>
          </p:nvSpPr>
          <p:spPr>
            <a:xfrm>
              <a:off x="685800" y="585216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90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F8156C35-F1BA-144A-50D4-83A5D5821E87}"/>
                </a:ext>
              </a:extLst>
            </p:cNvPr>
            <p:cNvSpPr txBox="1"/>
            <p:nvPr/>
          </p:nvSpPr>
          <p:spPr>
            <a:xfrm>
              <a:off x="685800" y="617220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7A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Maciek Szczech, Founder  ·  vortexdeep.ch  ·  info@vortexdeep.ch  ·  Claridapark 4, 8636 Wald ZH</a:t>
              </a:r>
              <a:endParaRPr lang="en-US" sz="9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0000">
        <p:checker/>
      </p:transition>
    </mc:Choice>
    <mc:Fallback>
      <p:transition spd="slow" advClick="0" advTm="10000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1719</Words>
  <Application>Microsoft Macintosh PowerPoint</Application>
  <PresentationFormat>Widescreen</PresentationFormat>
  <Paragraphs>251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VortexDeep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VortexDeep - Business Creation ICT - v13</dc:title>
  <dc:subject>PptxGenJS Presentation</dc:subject>
  <dc:creator>Maciek Szczech</dc:creator>
  <cp:lastModifiedBy>maciek szczech</cp:lastModifiedBy>
  <cp:revision>17</cp:revision>
  <dcterms:created xsi:type="dcterms:W3CDTF">2026-09-01T17:37:29Z</dcterms:created>
  <dcterms:modified xsi:type="dcterms:W3CDTF">2026-09-21T17:48:32Z</dcterms:modified>
</cp:coreProperties>
</file>