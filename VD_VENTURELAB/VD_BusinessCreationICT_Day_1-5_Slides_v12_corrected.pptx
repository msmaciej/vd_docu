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22254e72044d0" /><Relationship Type="http://schemas.openxmlformats.org/officeDocument/2006/relationships/extended-properties" Target="/docProps/app.xml" Id="R0e1df27d5769410e" /><Relationship Type="http://schemas.openxmlformats.org/officeDocument/2006/relationships/officeDocument" Target="/ppt/presentation.xml" Id="Rb7c8d0c2f4644a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a5e46caa684c68"/>
  </p:sldMasterIdLst>
  <p:notesMasterIdLst>
    <p:notesMasterId xmlns:r="http://schemas.openxmlformats.org/officeDocument/2006/relationships" r:id="R74d7e56a9bb44672"/>
  </p:notesMasterIdLst>
  <p:sldIdLst>
    <p:sldId xmlns:r="http://schemas.openxmlformats.org/officeDocument/2006/relationships" id="256" r:id="Rdd963d27e4e34af8"/>
    <p:sldId xmlns:r="http://schemas.openxmlformats.org/officeDocument/2006/relationships" id="257" r:id="R6916693e2e574ec3"/>
    <p:sldId xmlns:r="http://schemas.openxmlformats.org/officeDocument/2006/relationships" id="258" r:id="Rea1aa4cea7714395"/>
    <p:sldId xmlns:r="http://schemas.openxmlformats.org/officeDocument/2006/relationships" id="259" r:id="Rc52d0999de414ae1"/>
    <p:sldId xmlns:r="http://schemas.openxmlformats.org/officeDocument/2006/relationships" id="260" r:id="R353c6a48023f4a88"/>
    <p:sldId xmlns:r="http://schemas.openxmlformats.org/officeDocument/2006/relationships" id="261" r:id="R85ddff61ca874b87"/>
    <p:sldId xmlns:r="http://schemas.openxmlformats.org/officeDocument/2006/relationships" id="262" r:id="R897ce59c3b674155"/>
    <p:sldId xmlns:r="http://schemas.openxmlformats.org/officeDocument/2006/relationships" id="263" r:id="R58966be78b4f461a"/>
    <p:sldId xmlns:r="http://schemas.openxmlformats.org/officeDocument/2006/relationships" id="264" r:id="R90b31642b4ba438b"/>
    <p:sldId xmlns:r="http://schemas.openxmlformats.org/officeDocument/2006/relationships" id="265" r:id="R96f1dc99732d4c7b"/>
    <p:sldId xmlns:r="http://schemas.openxmlformats.org/officeDocument/2006/relationships" id="266" r:id="R2edfb4c390fc45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cb4ddc1e146a4" /><Relationship Type="http://schemas.openxmlformats.org/officeDocument/2006/relationships/slideMaster" Target="/ppt/slideMasters/slideMaster1.xml" Id="R7ba5e46caa684c68" /><Relationship Type="http://schemas.openxmlformats.org/officeDocument/2006/relationships/notesMaster" Target="/ppt/notesMasters/notesMaster1.xml" Id="R74d7e56a9bb44672" /><Relationship Type="http://schemas.openxmlformats.org/officeDocument/2006/relationships/presProps" Target="/ppt/presProps.xml" Id="R0c1f37fa3f644ba5" /><Relationship Type="http://schemas.openxmlformats.org/officeDocument/2006/relationships/viewProps" Target="/ppt/viewProps.xml" Id="R1918e58453174b98" /><Relationship Type="http://schemas.openxmlformats.org/officeDocument/2006/relationships/tableStyles" Target="/ppt/tableStyles.xml" Id="R4cad694b950f4bc7" /><Relationship Type="http://schemas.openxmlformats.org/officeDocument/2006/relationships/slide" Target="/ppt/slides/slide1.xml" Id="Rdd963d27e4e34af8" /><Relationship Type="http://schemas.openxmlformats.org/officeDocument/2006/relationships/slide" Target="/ppt/slides/slide2.xml" Id="R6916693e2e574ec3" /><Relationship Type="http://schemas.openxmlformats.org/officeDocument/2006/relationships/slide" Target="/ppt/slides/slide3.xml" Id="Rea1aa4cea7714395" /><Relationship Type="http://schemas.openxmlformats.org/officeDocument/2006/relationships/slide" Target="/ppt/slides/slide4.xml" Id="Rc52d0999de414ae1" /><Relationship Type="http://schemas.openxmlformats.org/officeDocument/2006/relationships/slide" Target="/ppt/slides/slide5.xml" Id="R353c6a48023f4a88" /><Relationship Type="http://schemas.openxmlformats.org/officeDocument/2006/relationships/slide" Target="/ppt/slides/slide6.xml" Id="R85ddff61ca874b87" /><Relationship Type="http://schemas.openxmlformats.org/officeDocument/2006/relationships/slide" Target="/ppt/slides/slide7.xml" Id="R897ce59c3b674155" /><Relationship Type="http://schemas.openxmlformats.org/officeDocument/2006/relationships/slide" Target="/ppt/slides/slide8.xml" Id="R58966be78b4f461a" /><Relationship Type="http://schemas.openxmlformats.org/officeDocument/2006/relationships/slide" Target="/ppt/slides/slide9.xml" Id="R90b31642b4ba438b" /><Relationship Type="http://schemas.openxmlformats.org/officeDocument/2006/relationships/slide" Target="/ppt/slides/slide10.xml" Id="R96f1dc99732d4c7b" /><Relationship Type="http://schemas.openxmlformats.org/officeDocument/2006/relationships/slide" Target="/ppt/slides/slide11.xml" Id="R2edfb4c390fc45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27d6024717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d6dd35f3b4f9f" /><Relationship Type="http://schemas.openxmlformats.org/officeDocument/2006/relationships/notesMaster" Target="/ppt/notesMasters/notesMaster1.xml" Id="Rbc5aef30aa5941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686ac0c7aa4b84" /><Relationship Type="http://schemas.openxmlformats.org/officeDocument/2006/relationships/notesMaster" Target="/ppt/notesMasters/notesMaster1.xml" Id="Ref19f97f066a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43f6ec8294239" /><Relationship Type="http://schemas.openxmlformats.org/officeDocument/2006/relationships/notesMaster" Target="/ppt/notesMasters/notesMaster1.xml" Id="R9e49ef199e32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6b119961ef422f" /><Relationship Type="http://schemas.openxmlformats.org/officeDocument/2006/relationships/notesMaster" Target="/ppt/notesMasters/notesMaster1.xml" Id="Rbbc56ef0aaa2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82654a15e54b3f" /><Relationship Type="http://schemas.openxmlformats.org/officeDocument/2006/relationships/notesMaster" Target="/ppt/notesMasters/notesMaster1.xml" Id="R9a04ab40ca06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9e241961c44a60" /><Relationship Type="http://schemas.openxmlformats.org/officeDocument/2006/relationships/notesMaster" Target="/ppt/notesMasters/notesMaster1.xml" Id="Rb9866e44774f41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4f953e359742b7" /><Relationship Type="http://schemas.openxmlformats.org/officeDocument/2006/relationships/notesMaster" Target="/ppt/notesMasters/notesMaster1.xml" Id="Rf10be0f65ad54d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553f6e83b54674" /><Relationship Type="http://schemas.openxmlformats.org/officeDocument/2006/relationships/notesMaster" Target="/ppt/notesMasters/notesMaster1.xml" Id="Rb1ab731db21b44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6be115eec84118" /><Relationship Type="http://schemas.openxmlformats.org/officeDocument/2006/relationships/notesMaster" Target="/ppt/notesMasters/notesMaster1.xml" Id="Ra52d4cd84ff841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77cbbae2c4f32" /><Relationship Type="http://schemas.openxmlformats.org/officeDocument/2006/relationships/notesMaster" Target="/ppt/notesMasters/notesMaster1.xml" Id="Rb3a3d251ed3a42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a9ab1da3c14dbd" /><Relationship Type="http://schemas.openxmlformats.org/officeDocument/2006/relationships/notesMaster" Target="/ppt/notesMasters/notesMaster1.xml" Id="R0b6f85af27e4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SECO SME Portal / Federal Statistical Office STATENT: 624,219 Swiss SMEs in 2023. https://www.kmu.admin.ch/en/figures-on-smes-historical-development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VortexDeep package ranges as supplied in the source presentation; confirm against the current pricing catalogue before external use.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Venturelab Business Creation ICT, Day 4 preparation brief (user-provided PDF): dream team competence map and dream board slides.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Venturelab Business Creation ICT, Day 4 preparation brief (user-provided PDF): dream team competence map and dream board slides.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d324afb9d4d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8239c90aca417b" /><Relationship Type="http://schemas.openxmlformats.org/officeDocument/2006/relationships/slideLayout" Target="/ppt/slideLayouts/slideLayout1.xml" Id="R48bf3bc0733c410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f3bc0733c410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3044c1c8e4551" /><Relationship Type="http://schemas.openxmlformats.org/officeDocument/2006/relationships/notesSlide" Target="/ppt/notesSlides/notesSlide1.xml" Id="Rbfe64c7a7b3a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bf3afdccf433a" /><Relationship Type="http://schemas.openxmlformats.org/officeDocument/2006/relationships/notesSlide" Target="/ppt/notesSlides/notesSlide2.xml" Id="R7936a15ce3a844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7c274e5a84bfa" /><Relationship Type="http://schemas.openxmlformats.org/officeDocument/2006/relationships/notesSlide" Target="/ppt/notesSlides/notesSlide3.xml" Id="R73155e05e06543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0d8ad1ca94fa0" /><Relationship Type="http://schemas.openxmlformats.org/officeDocument/2006/relationships/notesSlide" Target="/ppt/notesSlides/notesSlide4.xml" Id="Rf5d65cb90d7242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81b02287b4966" /><Relationship Type="http://schemas.openxmlformats.org/officeDocument/2006/relationships/notesSlide" Target="/ppt/notesSlides/notesSlide5.xml" Id="R4964bb9a6298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b70899d404d93" /><Relationship Type="http://schemas.openxmlformats.org/officeDocument/2006/relationships/image" Target="/ppt/media/image.png" Id="Rc08925689f1b4165" /><Relationship Type="http://schemas.openxmlformats.org/officeDocument/2006/relationships/image" Target="/ppt/media/image.svg" Id="R114727cd6f894538" /><Relationship Type="http://schemas.openxmlformats.org/officeDocument/2006/relationships/image" Target="/ppt/media/image2.png" Id="R9750adda269d4bb9" /><Relationship Type="http://schemas.openxmlformats.org/officeDocument/2006/relationships/image" Target="/ppt/media/image2.svg" Id="Rdb94b84c63f143b5" /><Relationship Type="http://schemas.openxmlformats.org/officeDocument/2006/relationships/image" Target="/ppt/media/image3.png" Id="Rde295078858e4904" /><Relationship Type="http://schemas.openxmlformats.org/officeDocument/2006/relationships/image" Target="/ppt/media/image3.svg" Id="R7eec6a70aab14bc8" /><Relationship Type="http://schemas.openxmlformats.org/officeDocument/2006/relationships/image" Target="/ppt/media/image4.png" Id="R78ea62a50d2c45cb" /><Relationship Type="http://schemas.openxmlformats.org/officeDocument/2006/relationships/image" Target="/ppt/media/image4.svg" Id="R50fd7ad5aeeb42b2" /><Relationship Type="http://schemas.openxmlformats.org/officeDocument/2006/relationships/image" Target="/ppt/media/image5.png" Id="R7a10e53d47f14a6b" /><Relationship Type="http://schemas.openxmlformats.org/officeDocument/2006/relationships/image" Target="/ppt/media/image5.svg" Id="Re934e8dbe3b749d2" /><Relationship Type="http://schemas.openxmlformats.org/officeDocument/2006/relationships/image" Target="/ppt/media/image6.png" Id="R27aa9c363e424919" /><Relationship Type="http://schemas.openxmlformats.org/officeDocument/2006/relationships/image" Target="/ppt/media/image6.svg" Id="R4f7a029ba46949aa" /><Relationship Type="http://schemas.openxmlformats.org/officeDocument/2006/relationships/image" Target="/ppt/media/image7.png" Id="R453d0a6f4f654653" /><Relationship Type="http://schemas.openxmlformats.org/officeDocument/2006/relationships/image" Target="/ppt/media/image7.svg" Id="R8fb521563fed4474" /><Relationship Type="http://schemas.openxmlformats.org/officeDocument/2006/relationships/notesSlide" Target="/ppt/notesSlides/notesSlide6.xml" Id="R3d2f06d44a3440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5076a34a84d0b" /><Relationship Type="http://schemas.openxmlformats.org/officeDocument/2006/relationships/notesSlide" Target="/ppt/notesSlides/notesSlide7.xml" Id="R916c7a9143de45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41b8ef1054720" /><Relationship Type="http://schemas.openxmlformats.org/officeDocument/2006/relationships/notesSlide" Target="/ppt/notesSlides/notesSlide8.xml" Id="R1018649e06c6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23bd78bd646d7" /><Relationship Type="http://schemas.openxmlformats.org/officeDocument/2006/relationships/notesSlide" Target="/ppt/notesSlides/notesSlide9.xml" Id="Rf1724dcaa70b44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62a3689604a7f" /><Relationship Type="http://schemas.openxmlformats.org/officeDocument/2006/relationships/notesSlide" Target="/ppt/notesSlides/notesSlide10.xml" Id="R76623127e2a84a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5976623af407c" /><Relationship Type="http://schemas.openxmlformats.org/officeDocument/2006/relationships/notesSlide" Target="/ppt/notesSlides/notesSlide11.xml" Id="R4234de04c62b4d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17606F-4E93-42D1-9722-D95C431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78B3A1-15DB-4A89-AD6C-F9EAA4F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A15E67B-1A56-4B3A-AF4E-6671524A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7F3E36-7016-4C41-BD44-1EBCA40E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8C8C8C"/>
                </a:solidFill>
                <a:latin typeface="Arial"/>
                <a:ea typeface="Arial"/>
                <a:cs typeface="Arial"/>
              </a:rPr>
              <a:t>INTRODUCTION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67CB0B-EA59-4A4A-B9CE-6789548F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3120"/>
            <a:ext cx="1081735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automate repetitive admin.</a:t>
            </a:r>
            <a:endParaRPr sz="4000"/>
          </a:p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team keeps control.</a:t>
            </a:r>
            <a:endParaRPr sz="4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68D189-9C4F-4780-BCB4-DD0EF9D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17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7C7C7"/>
                </a:solidFill>
                <a:latin typeface="Arial"/>
                <a:ea typeface="Arial"/>
                <a:cs typeface="Arial"/>
              </a:rPr>
              <a:t>VortexDeep designs and manages AI-assisted workflows for Swiss SMEs.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24F11F4-2D37-4224-A3A2-553A2D9E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072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940C7E-2D3B-4631-90A2-48D4C621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2160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1F980E-1120-4C1E-9146-67269AD2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7A7A"/>
                </a:solidFill>
                <a:latin typeface="Arial"/>
                <a:ea typeface="Arial"/>
                <a:cs typeface="Arial"/>
              </a:rPr>
              <a:t>Maciek Szczech, Founder  ·  vortexdeep.ch  ·  info@vortexdeep.ch  ·  Claridapark 4, 8636 Wald ZH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04201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F97724-8FD5-4BCE-BA66-E20BB41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73264C-3FC8-4BB9-9587-E746442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219634-7785-480D-AD03-AA91529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A5403DD-0552-455A-9E77-B9185AE2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BD9B6D-EE43-4C8E-8A84-7DB614D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PROBLEM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137B22-AA92-467F-B0C5-D52A3C3C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5EAB3B1-BCB2-492C-9EFE-F96D0E0F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Small admin tasks become a permanent queue.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A61CF9-AF41-4E08-B857-C2E76260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Each request is manageable. Together, they consume time and delay more important work.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6FCC5E-A838-40CC-B414-5A15FB2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8A8A8A"/>
                </a:solidFill>
                <a:latin typeface="Arial"/>
                <a:ea typeface="Arial"/>
                <a:cs typeface="Arial"/>
              </a:rPr>
              <a:t>incoming work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41A15AB-F98E-479E-BD6B-2FDE780B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233172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3905AD-5A5A-4E74-8E95-39DB32B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23317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Customer messages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9FB9BBF-0D51-40E7-8BCB-1480F0BE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4680"/>
            <a:ext cx="233172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DA14F5B-05D9-4793-B5BF-B1253E70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4680"/>
            <a:ext cx="23317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Documents and data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8BCAE69-5FE0-4436-A5F4-DF575E83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233172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D25FADB-281E-4FC3-896B-38CE123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23317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Quotes and follow-ups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98B1A9D-1A5C-4BE6-97D2-E75B9AAF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33172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1E41F5D-54D5-4AF1-9F79-3468AC8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3317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Routine reports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2620D46-4CEE-485E-BE84-8FD56B2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852928"/>
            <a:ext cx="1810512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9851150-9D66-440E-A86F-BC287CCF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355848"/>
            <a:ext cx="1810512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2576FB3-EAA2-4285-8972-C8F14FFE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54680" y="3401568"/>
            <a:ext cx="1810512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E44954F-03DF-45F7-8DFD-7AFFFFA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54680" y="3401568"/>
            <a:ext cx="1810512" cy="960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D3B6824-272B-4B3A-AF23-395C20C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88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4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695CAFE-0374-437A-A62B-0D68BEE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88920"/>
            <a:ext cx="12344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Your team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F5F5F"/>
                </a:solidFill>
                <a:latin typeface="Arial"/>
                <a:ea typeface="Arial"/>
                <a:cs typeface="Arial"/>
              </a:rPr>
              <a:t>handles them in sequence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972C668-4F56-42E3-8F6C-B84027D2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01568"/>
            <a:ext cx="1234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8D9C9DB-D431-46F0-9249-1C30B2BA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072384"/>
            <a:ext cx="32461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AF840D1-78C7-4D49-BF25-33F1C99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072384"/>
            <a:ext cx="3246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Requests are completed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F5F5F"/>
                </a:solidFill>
                <a:latin typeface="Arial"/>
                <a:ea typeface="Arial"/>
                <a:cs typeface="Arial"/>
              </a:rPr>
              <a:t>one by one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025680-48C4-4FFE-A25F-2707BD56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730752"/>
            <a:ext cx="0" cy="4297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EEB0E1B-325F-486C-8BB5-821B3F6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4160520"/>
            <a:ext cx="356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7F3B424-7505-4A45-A2B2-8692D823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4023360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91136DA-7A22-4809-B8C9-B6F43A8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2062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8A8A8A"/>
                </a:solidFill>
                <a:latin typeface="Arial"/>
                <a:ea typeface="Arial"/>
                <a:cs typeface="Arial"/>
              </a:rPr>
              <a:t>One request resolved, then the next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2D248C2-CEFC-4EFA-880C-EDD4170E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56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F5F5F"/>
                </a:solidFill>
                <a:latin typeface="Arial"/>
                <a:ea typeface="Arial"/>
                <a:cs typeface="Arial"/>
              </a:rPr>
              <a:t>The queue moves only as fast as the available people can handle it.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6731C39-DE9A-45A5-93DC-174148B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The problem is not one difficult task. It is the steady volume of small ones.</a:t>
            </a:r>
            <a:endParaRPr sz="12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D831D90-629B-488D-A09F-65A4107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A9FB3B9-D6CD-44B4-9F51-26F324C9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CAE1446-A84B-40B0-AFF6-D69CAA53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02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5871148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4DE883-BBA1-4200-99C8-2D83F12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568907-7205-44B5-8309-6EC37FA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586BDB-0E8D-403E-960C-3A1D33C9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A0792A-D115-4653-9CE9-B608E833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7AF6D36-7FCF-4DBB-BF06-DBAB6CA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SOLUTION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766B086-970E-4D1A-8231-972EC843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1C91DB-ECEC-47DE-8E74-ADFC8DFC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A workflow prepares the routine work; people keep the decisions.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E5B249-D235-48D9-B92E-9D6CD3C0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8A8A8A"/>
                </a:solidFill>
                <a:latin typeface="Arial"/>
                <a:ea typeface="Arial"/>
                <a:cs typeface="Arial"/>
              </a:rPr>
              <a:t>incoming work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E72291-D85A-4B82-8590-8A6287E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201168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4B82CF-3B01-4D95-B85E-055F92F7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20116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request 1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E570694-7217-45AF-A5D4-52B8291F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4680"/>
            <a:ext cx="201168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058E19E-8CC3-4761-A902-5652AE60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4680"/>
            <a:ext cx="20116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request 2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D87B082-359C-4889-A84C-63735F4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201168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AFE6CD0-F648-4127-A00A-A1D89110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20116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request 3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64E37B1-CA20-40C2-B059-307957E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01168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354F39B-83C7-467F-9D22-FDF1FEAA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0116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request 4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E63D90B-7F70-481A-B1E3-5FC695CC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52928"/>
            <a:ext cx="64008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CD82031-163A-4762-BE62-D222C09B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355848"/>
            <a:ext cx="64008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404680F-164F-4610-A493-23AA941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4640" y="3401568"/>
            <a:ext cx="64008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E33653C-2263-47B8-B308-CC235FA5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4640" y="3401568"/>
            <a:ext cx="640080" cy="960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46579FE-1842-44CC-B657-7A393B41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26080"/>
            <a:ext cx="214884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CCCE0DA-AE35-448E-AC88-FB2E39A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26080"/>
            <a:ext cx="21488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7C7C7"/>
                </a:solidFill>
                <a:latin typeface="Arial"/>
                <a:ea typeface="Arial"/>
                <a:cs typeface="Arial"/>
              </a:rPr>
              <a:t>classifies, checks and drafts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5DE6AB4-1483-4C39-827D-1EC56514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01568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DBD5BA5-BA51-4C13-B14F-97F45F1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83464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4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783F574-7618-4C04-9B2B-2F5F9AFB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834640"/>
            <a:ext cx="114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Your team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F5F5F"/>
                </a:solidFill>
                <a:latin typeface="Arial"/>
                <a:ea typeface="Arial"/>
                <a:cs typeface="Arial"/>
              </a:rPr>
              <a:t>reviews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05623B9-68C8-453B-894D-1C1E678E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041648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8A8A8A"/>
                </a:solidFill>
                <a:latin typeface="Arial"/>
                <a:ea typeface="Arial"/>
                <a:cs typeface="Arial"/>
              </a:rPr>
              <a:t>defined review point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797463B-5C64-4E9D-A198-169CAF68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0156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4CE402A-E384-43CF-B1E6-143A043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072384"/>
            <a:ext cx="292608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4C44C73-FE1D-4814-9628-55927A6B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072384"/>
            <a:ext cx="29260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approved output is logged or sent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ED4C3C2-4304-4D22-8696-B6AB0700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F5F5F"/>
                </a:solidFill>
                <a:latin typeface="Arial"/>
                <a:ea typeface="Arial"/>
                <a:cs typeface="Arial"/>
              </a:rPr>
              <a:t>The workflow handles routine steps. Your team reviews exceptions and agreed approvals.</a:t>
            </a:r>
            <a:endParaRPr sz="11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CAD1640-FB0B-4A51-AD82-D5AB167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Start with one recurring process. Add another only after the first is useful.</a:t>
            </a:r>
            <a:endParaRPr sz="12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3492728-02FD-4204-9F6A-2429AD0E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A05C2E5-BC2A-4340-9089-B1C6E111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F6FA428-199D-4A80-AA6E-A04C6C7E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03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3940357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C3AD01-7D09-4DB3-AD21-8BF6877B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FB0691-FF3B-480A-A5B7-1D6F1C1F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ACE1F9-0F22-4641-A957-6A92B57F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7D0F4C1-D2D5-4748-8C70-1C9D5013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E4FB6E-9FE5-411B-B014-0D24DFAE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MARKET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BCDE53-D9B3-4C75-AFCA-70D25482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B4CF92-EA1E-47F2-B718-6864742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Start with Swiss SMEs where repetitive admin has a clear owner.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4A6DEDB-9ECE-4378-BD20-08B52E22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Company count shows context, not the size of our immediate market.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EEF8BD-A320-4066-B188-5F7663E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856"/>
            <a:ext cx="336499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83F0B79-3B4F-4485-8059-A9DB17F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856"/>
            <a:ext cx="33649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Switzerland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1FA293A-9B37-4525-9D5B-07694A45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276856"/>
            <a:ext cx="336499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0C7DFB7-3857-43CA-A239-42E3F4A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276856"/>
            <a:ext cx="33649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DACH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FF32082-B6BD-46C8-8CC2-77E4419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276856"/>
            <a:ext cx="336499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AB11C6-67D7-4AC3-B844-20EDE0FC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276856"/>
            <a:ext cx="33649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Selected markets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4FF8160-834F-4F5D-94DA-107F4D8E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76856"/>
            <a:ext cx="3291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8C8C8C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895CFD-EE2E-4A55-9F5B-706257F9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2276856"/>
            <a:ext cx="3291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8C8C8C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DABF96E-D197-4ADB-865A-6AB18500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2384"/>
            <a:ext cx="10817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5959"/>
                </a:solidFill>
                <a:latin typeface="Arial"/>
                <a:ea typeface="Arial"/>
                <a:cs typeface="Arial"/>
              </a:rPr>
              <a:t>MARKET VIEW  ·  CONTEXT, FILTER, FIRST PROOF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2259156-7FE1-48A4-BE4B-30048F0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1568"/>
            <a:ext cx="3419856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7AF60B4-8A62-4241-90B7-50B98360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529584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CONTEXT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62F8BC-D1BC-44CD-A5E9-E706E7CA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74904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624,219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67BE87-636A-47F5-B91A-4209718D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261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Swiss SMEs in 2023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182D04B-FEF5-4F5D-A0AB-23F841E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535424"/>
            <a:ext cx="3054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100">
                <a:solidFill>
                  <a:srgbClr val="595959"/>
                </a:solidFill>
                <a:latin typeface="Arial"/>
                <a:ea typeface="Arial"/>
                <a:cs typeface="Arial"/>
              </a:rPr>
              <a:t>Useful context, not a sales target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4F08310-3E8B-4D55-B6AA-A9142EE4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3401568"/>
            <a:ext cx="3419856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2725656-B3A1-491F-9A23-048E59F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529584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INITIAL FILTER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0F6BFE8-A09D-4C87-8118-70041C7B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74904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Problem fit</a:t>
            </a:r>
            <a:endParaRPr sz="3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3DCB8B0-65FE-484F-9FC2-5F9F9A0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261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Recurring, rules-based admin with measurable volume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FE83A29-E697-47B4-8F41-9A6F861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535424"/>
            <a:ext cx="3054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100">
                <a:solidFill>
                  <a:srgbClr val="595959"/>
                </a:solidFill>
                <a:latin typeface="Arial"/>
                <a:ea typeface="Arial"/>
                <a:cs typeface="Arial"/>
              </a:rPr>
              <a:t>A decision-maker owns the process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D8E2565-C07C-42C6-8633-1296D8F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401568"/>
            <a:ext cx="3419856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7CC1B79-17BF-47FF-89A4-05C85DB6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529584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FIRST PROOF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9B5630D-6762-4624-924D-C493B73F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4904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1–2</a:t>
            </a:r>
            <a:endParaRPr sz="30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0A515DE-EA1C-4F7C-B4E2-E3F59376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261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design partners or paid pilots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153F6AF-34C7-4A6C-945C-40A69AA0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35424"/>
            <a:ext cx="3054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100">
                <a:solidFill>
                  <a:srgbClr val="595959"/>
                </a:solidFill>
                <a:latin typeface="Arial"/>
                <a:ea typeface="Arial"/>
                <a:cs typeface="Arial"/>
              </a:rPr>
              <a:t>Enough to test scope, value and delivery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9DB4559-A135-4928-8560-3C28A960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10817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A8A8A"/>
                </a:solidFill>
                <a:latin typeface="Arial"/>
                <a:ea typeface="Arial"/>
                <a:cs typeface="Arial"/>
              </a:rPr>
              <a:t>Source: SECO SME Portal / FSO STATENT, 2023. Segment size still requires validation.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2778F3B-050F-4ED7-B36D-FACC5C40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6944"/>
            <a:ext cx="1081735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00">
                <a:solidFill>
                  <a:srgbClr val="8A8A8A"/>
                </a:solidFill>
                <a:latin typeface="Arial"/>
                <a:ea typeface="Arial"/>
                <a:cs typeface="Arial"/>
              </a:rPr>
              <a:t>Targeting logic:</a:t>
            </a:r>
            <a:endParaRPr sz="10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00">
                <a:solidFill>
                  <a:srgbClr val="8A8A8A"/>
                </a:solidFill>
                <a:latin typeface="Arial"/>
                <a:ea typeface="Arial"/>
                <a:cs typeface="Arial"/>
              </a:rPr>
              <a:t>Problem: repeated work that can be described clearly.</a:t>
            </a:r>
            <a:endParaRPr sz="10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00">
                <a:solidFill>
                  <a:srgbClr val="8A8A8A"/>
                </a:solidFill>
                <a:latin typeface="Arial"/>
                <a:ea typeface="Arial"/>
                <a:cs typeface="Arial"/>
              </a:rPr>
              <a:t>Economics: enough volume or risk to justify a managed solution.</a:t>
            </a:r>
            <a:endParaRPr sz="10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6B144BC-636B-48DB-AB56-386FF1CF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The beachhead is defined by problem, process volume and buyer - not by industry alone.</a:t>
            </a:r>
            <a:endParaRPr sz="12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9DC55C0-5497-4E27-9577-83B741EE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395E6C7-4D0A-4CF5-81F1-D27F04A6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43604A4-BD70-4570-8DDD-D850437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04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4896431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792B5F-9E47-441C-B3E7-4C50A300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578B3C-5E66-4F5B-96E1-E5F515E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2DA359-D33C-41E4-9D44-64712521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B5210D-2D8A-4FE1-AACF-65B2CEC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F5DB533-B0E9-472E-9901-60DEE98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COMPETITION &amp; ADVANTAGE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8DBA6C-B194-45C1-9AA5-8A137CEC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B484D1-4C30-425C-B077-78C3943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Managed automation with agreed human control points.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5F560F-FBE9-440B-9024-289EB84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The right choice depends on volume, risk, internal skills and the need for control.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96CD058-E6AE-4306-ADBE-C2B3E44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771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50">
                <a:solidFill>
                  <a:srgbClr val="8A8A8A"/>
                </a:solidFill>
                <a:latin typeface="Arial"/>
                <a:ea typeface="Arial"/>
                <a:cs typeface="Arial"/>
              </a:rPr>
              <a:t>FOUR COMMON OPTIONS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93F3B50-FF89-461D-99F0-28DAC25F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1760"/>
            <a:ext cx="4937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Keep it manual:  no setup, but the workload remains.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D2280D-73B9-42AB-834C-E0DD1620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6432"/>
            <a:ext cx="4937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Hire more capacity:  flexible, with recurring headcount cost.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73653F-202B-4EE3-AB16-9584F00D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1104"/>
            <a:ext cx="4937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Use DIY tools:  lower software cost; design and maintenance stay in-house.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C2C0B73-9B19-4AF2-8946-FA986E6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5776"/>
            <a:ext cx="4937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Use full autonomy:  efficient in suitable cases, but not right for every risk level.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40233A-3F3F-4ECC-8ED0-B51192D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67712"/>
            <a:ext cx="5468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50">
                <a:solidFill>
                  <a:srgbClr val="8A8A8A"/>
                </a:solidFill>
                <a:latin typeface="Arial"/>
                <a:ea typeface="Arial"/>
                <a:cs typeface="Arial"/>
              </a:rPr>
              <a:t>OUR MANAGED OPTION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79B15AC-39DC-4435-B94F-22C8B88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15184"/>
            <a:ext cx="5468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1AF929A-52F5-4856-9F18-226DE180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761488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01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D29E58A-85D2-4241-AC63-73E0D249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761488"/>
            <a:ext cx="46085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Human review at agreed control points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0881939-4C8A-4106-9D34-BEB57EF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072384"/>
            <a:ext cx="46085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not every step needs approval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F9D0F5-0D59-46BF-9472-747CE222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19856"/>
            <a:ext cx="5468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A8BBB9E-D34D-4E67-BDF1-7E82E8E7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566160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02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BC40F20-9B63-415C-8D63-DC3081E3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566160"/>
            <a:ext cx="46085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We design, build and manage it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8EDD29-4378-4B50-97AE-8475D96A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877056"/>
            <a:ext cx="46085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scope and responsibilities are agreed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95385C3-00C0-489F-985C-E4A4393A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24528"/>
            <a:ext cx="5468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65794F1-D9AF-4F7F-A384-3FFAD35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370832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03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DB5C50-4C14-42D8-9E55-2D544A3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370832"/>
            <a:ext cx="46085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Data access is documented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0453EFD-B3D9-46A7-945F-752B166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681728"/>
            <a:ext cx="46085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including what stays with the client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E3172E5-6F5F-4E3E-9E94-DDC40F9C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029200"/>
            <a:ext cx="546811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E96C0F-B9AA-48E3-8A44-395CAA1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175504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04</a:t>
            </a:r>
            <a:endParaRPr sz="15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87946DD-1834-4DBD-B4CA-F679969C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5175504"/>
            <a:ext cx="46085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Start with one process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7D88046-3744-4DD0-9AB2-C82F8122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5486400"/>
            <a:ext cx="46085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expand only when results justify it</a:t>
            </a:r>
            <a:endParaRPr sz="10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BCB788B-C770-4364-A2C2-4C56C30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For SMEs that want automation without giving up oversight.</a:t>
            </a:r>
            <a:endParaRPr sz="12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8C90DF5-2F3D-4BBB-97D1-2BE35745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38FE944-9067-4038-9D6A-E1F2402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2167358-6733-4538-A4E6-912C24BA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05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7200899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FD5AAE-573F-48B4-84A1-2953E172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831B7D-045E-49BE-9E46-626F98B3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94C207-5BDE-4654-8B6A-D9A06198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6FE1CBA-17AE-4DAE-A33A-FDDE7B2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3E272C-4545-4CE2-A0FE-61635571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ROADMAP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25D400-97BF-4AF4-A2AF-3CC67435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66D0C1-9B5C-41B8-BB55-72BE9CB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Prove one use case before scaling the business.</a:t>
            </a:r>
            <a:endParaRPr sz="2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CF1CB4E-787F-40CB-A1FC-75B5E2C7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2F5F3A-11CB-4285-BCD3-4D50FDF9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59689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2026 H2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2C6F359-BD34-48CF-AF5E-E57016E7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999232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Validate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C359545-A4D7-4B54-B153-DC022C5D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56432"/>
            <a:ext cx="2075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EE05884-F2C6-49FB-A1CB-F0C19565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9312"/>
            <a:ext cx="20574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Finish prototype pilot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Interview target SMEs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Define repeatable offer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A13095B-5091-4F06-B703-FAACED4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95728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BC4E87-B230-464F-BB75-31ADCFB5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59689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2027</a:t>
            </a:r>
            <a:endParaRPr sz="2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D8E762-8F65-474E-A8AA-A8E812B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999232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Convert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71B722-66CB-4C2A-A510-D2F5450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3456432"/>
            <a:ext cx="2075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FED489-0C77-4210-B8FB-D2118833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639312"/>
            <a:ext cx="20574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Secure paid pilots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Measure effort and value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Add technical capacity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73909C2-6270-4061-8BAD-7CDAA2CF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95728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AC44F9-C2DD-4765-8BDE-3E2E85B6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2028</a:t>
            </a:r>
            <a:endParaRPr sz="2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60983C-BC6D-46C1-8259-DA3B55A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99232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Standardise</a:t>
            </a:r>
            <a:endParaRPr sz="15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C7409B7-18EE-4D0F-ABCD-7191B2E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56432"/>
            <a:ext cx="2075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E60E069-36D3-4F81-BE72-8393828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639312"/>
            <a:ext cx="20574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Build stable client base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Reuse proven components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Test adjacent segment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9EC241E-BB30-4BC0-98FA-6FE2E2AA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395728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7794431-5AC9-4F5B-8C49-7E18A199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59689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2029</a:t>
            </a:r>
            <a:endParaRPr sz="2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0EEF923-CF01-467D-BF9B-0C1606D3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99232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Scale carefully</a:t>
            </a:r>
            <a:endParaRPr sz="15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A301B10-11CE-4A80-B4EA-00744D9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456432"/>
            <a:ext cx="2075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D19A9C-A316-4A56-BA8D-B9B5AFE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639312"/>
            <a:ext cx="20574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Scale proven offers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Build small delivery team</a:t>
            </a:r>
            <a:endParaRPr sz="1150"/>
          </a:p>
          <a:p xmlns:a="http://schemas.openxmlformats.org/drawingml/2006/main"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Assess DACH or licensing</a:t>
            </a:r>
            <a:endParaRPr sz="11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4D7E0E1-7407-40D9-8EEC-E749451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These are working milestones, not forecasts. Each stage depends on evidence from the previous one.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530A9EB-6E0D-41B6-8414-1D7D8372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EE4D7AD-8E85-41A4-A3B9-0BF3F63D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F52865D-D671-4290-9A7A-38EC533B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06 / 11</a:t>
            </a:r>
            <a:endParaRPr sz="850"/>
          </a:p>
        </p:txBody>
      </p:sp>
      <p:sp>
        <p:nvSpPr>
          <p:cNvPr id="36" name="Straight Connector 35">
            <a:extLst xmlns:a="http://schemas.openxmlformats.org/drawingml/2006/main">
              <a:ext uri="{FF2B5EF4-FFF2-40B4-BE49-F238E27FC236}">
                <a16:creationId xmlns:a16="http://schemas.microsoft.com/office/drawing/2014/main" id="{A86CA453-F204-4765-B92C-94DE7B41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4240" y="4861771"/>
            <a:ext cx="0" cy="45592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15BF915-6798-F4EC-A30F-3863B1F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9120" y="5296619"/>
            <a:ext cx="65024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6AE5536-277A-410E-AA75-1D087F4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8176" y="4857763"/>
            <a:ext cx="0" cy="45592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0B60223-0C0F-6304-8FD1-DC3568F2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3056" y="5292611"/>
            <a:ext cx="65024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COURSE</a:t>
            </a:r>
          </a:p>
        </p:txBody>
      </p:sp>
      <p:sp>
        <p:nvSpPr>
          <p:cNvPr id="52" name="Straight Connector 51">
            <a:extLst xmlns:a="http://schemas.openxmlformats.org/drawingml/2006/main">
              <a:ext uri="{FF2B5EF4-FFF2-40B4-BE49-F238E27FC236}">
                <a16:creationId xmlns:a16="http://schemas.microsoft.com/office/drawing/2014/main" id="{732A4130-E8E7-4824-AD72-2C2AED7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544" y="4868866"/>
            <a:ext cx="0" cy="45592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40074A1-1DBA-4BD1-C2BF-E20DCA7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7121" y="5303714"/>
            <a:ext cx="9445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58" name="Straight Connector 57">
            <a:extLst xmlns:a="http://schemas.openxmlformats.org/drawingml/2006/main">
              <a:ext uri="{FF2B5EF4-FFF2-40B4-BE49-F238E27FC236}">
                <a16:creationId xmlns:a16="http://schemas.microsoft.com/office/drawing/2014/main" id="{F6B2EABE-3529-40D3-93B9-3993C3F1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9399" y="4857763"/>
            <a:ext cx="0" cy="45592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D523EA91-337C-4D26-7FEF-589DC545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9976" y="5292611"/>
            <a:ext cx="9445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61" name="Straight Connector 60">
            <a:extLst xmlns:a="http://schemas.openxmlformats.org/drawingml/2006/main">
              <a:ext uri="{FF2B5EF4-FFF2-40B4-BE49-F238E27FC236}">
                <a16:creationId xmlns:a16="http://schemas.microsoft.com/office/drawing/2014/main" id="{A61CA40E-E9CD-46C6-A33F-51B50575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912" y="4887260"/>
            <a:ext cx="0" cy="45592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131AE5E-109C-7DB5-44C6-F88F959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6489" y="5322108"/>
            <a:ext cx="9445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PAID</a:t>
            </a:r>
          </a:p>
        </p:txBody>
      </p:sp>
      <p:sp>
        <p:nvSpPr>
          <p:cNvPr id="63" name="Right Arrow 62">
            <a:extLst xmlns:a="http://schemas.openxmlformats.org/drawingml/2006/main">
              <a:ext uri="{FF2B5EF4-FFF2-40B4-BE49-F238E27FC236}">
                <a16:creationId xmlns:a16="http://schemas.microsoft.com/office/drawing/2014/main" id="{ADE2C008-C96A-E73D-4A35-20B92C8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08" y="4386649"/>
            <a:ext cx="1521225" cy="349943"/>
          </a:xfrm>
          <a:prstGeom xmlns:a="http://schemas.openxmlformats.org/drawingml/2006/main" prst="rightArrow">
            <a:avLst/>
          </a:prstGeom>
          <a:gradFill xmlns:a="http://schemas.openxmlformats.org/drawingml/2006/main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xmlns:a="http://schemas.openxmlformats.org/drawingml/2006/main"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Right Arrow 63">
            <a:extLst xmlns:a="http://schemas.openxmlformats.org/drawingml/2006/main">
              <a:ext uri="{FF2B5EF4-FFF2-40B4-BE49-F238E27FC236}">
                <a16:creationId xmlns:a16="http://schemas.microsoft.com/office/drawing/2014/main" id="{91966F9E-AFF1-5B8B-04E3-E5835E34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839" y="4390603"/>
            <a:ext cx="1521225" cy="349943"/>
          </a:xfrm>
          <a:prstGeom xmlns:a="http://schemas.openxmlformats.org/drawingml/2006/main" prst="rightArrow">
            <a:avLst/>
          </a:prstGeom>
          <a:gradFill xmlns:a="http://schemas.openxmlformats.org/drawingml/2006/main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 xmlns:a="http://schemas.openxmlformats.org/drawingml/2006/main"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ight Arrow 65">
            <a:extLst xmlns:a="http://schemas.openxmlformats.org/drawingml/2006/main">
              <a:ext uri="{FF2B5EF4-FFF2-40B4-BE49-F238E27FC236}">
                <a16:creationId xmlns:a16="http://schemas.microsoft.com/office/drawing/2014/main" id="{0A9AF03A-972A-8AE5-4F9A-1BA661E6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27" y="4386648"/>
            <a:ext cx="1521225" cy="349943"/>
          </a:xfrm>
          <a:prstGeom xmlns:a="http://schemas.openxmlformats.org/drawingml/2006/main" prst="rightArrow">
            <a:avLst/>
          </a:prstGeom>
          <a:gradFill xmlns:a="http://schemas.openxmlformats.org/drawingml/2006/main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 xmlns:a="http://schemas.openxmlformats.org/drawingml/2006/main"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Right Arrow 66">
            <a:extLst xmlns:a="http://schemas.openxmlformats.org/drawingml/2006/main">
              <a:ext uri="{FF2B5EF4-FFF2-40B4-BE49-F238E27FC236}">
                <a16:creationId xmlns:a16="http://schemas.microsoft.com/office/drawing/2014/main" id="{73C66BCF-E0E7-1F30-588A-3679077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103" y="4386648"/>
            <a:ext cx="1521225" cy="349943"/>
          </a:xfrm>
          <a:prstGeom xmlns:a="http://schemas.openxmlformats.org/drawingml/2006/main" prst="rightArrow">
            <a:avLst/>
          </a:prstGeom>
          <a:gradFill xmlns:a="http://schemas.openxmlformats.org/drawingml/2006/main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 xmlns:a="http://schemas.openxmlformats.org/drawingml/2006/main"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21" name="Graphic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925689f1b4165">
            <a:extLst>
              <a:ext uri="{96DAC541-7B7A-43D3-8B79-37D633B846F1}">
                <asvg:svgBlip xmlns:asvg="http://schemas.microsoft.com/office/drawing/2016/SVG/main" r:embed="R114727cd6f8945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2756" y="5508060"/>
            <a:ext cx="457199" cy="457199"/>
          </a:xfrm>
          <a:prstGeom xmlns:a="http://schemas.openxmlformats.org/drawingml/2006/main" prst="rect">
            <a:avLst/>
          </a:prstGeom>
        </p:spPr>
      </p:pic>
      <p:pic>
        <p:nvPicPr>
          <p:cNvPr id="122" name="Graphic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0adda269d4bb9">
            <a:extLst>
              <a:ext uri="{96DAC541-7B7A-43D3-8B79-37D633B846F1}">
                <asvg:svgBlip xmlns:asvg="http://schemas.microsoft.com/office/drawing/2016/SVG/main" r:embed="Rdb94b84c63f143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5513" y="5511609"/>
            <a:ext cx="457199" cy="457199"/>
          </a:xfrm>
          <a:prstGeom xmlns:a="http://schemas.openxmlformats.org/drawingml/2006/main" prst="rect">
            <a:avLst/>
          </a:prstGeom>
        </p:spPr>
      </p:pic>
      <p:pic>
        <p:nvPicPr>
          <p:cNvPr id="123" name="Graphic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95078858e4904">
            <a:extLst>
              <a:ext uri="{96DAC541-7B7A-43D3-8B79-37D633B846F1}">
                <asvg:svgBlip xmlns:asvg="http://schemas.microsoft.com/office/drawing/2016/SVG/main" r:embed="R7eec6a70aab14b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9696" y="5581926"/>
            <a:ext cx="312432" cy="312432"/>
          </a:xfrm>
          <a:prstGeom xmlns:a="http://schemas.openxmlformats.org/drawingml/2006/main" prst="rect">
            <a:avLst/>
          </a:prstGeom>
        </p:spPr>
      </p:pic>
      <p:pic>
        <p:nvPicPr>
          <p:cNvPr id="124" name="Graphic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2a50d2c45cb">
            <a:extLst>
              <a:ext uri="{96DAC541-7B7A-43D3-8B79-37D633B846F1}">
                <asvg:svgBlip xmlns:asvg="http://schemas.microsoft.com/office/drawing/2016/SVG/main" r:embed="R50fd7ad5aeeb42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0328" y="5590302"/>
            <a:ext cx="312432" cy="312432"/>
          </a:xfrm>
          <a:prstGeom xmlns:a="http://schemas.openxmlformats.org/drawingml/2006/main" prst="rect">
            <a:avLst/>
          </a:prstGeom>
        </p:spPr>
      </p:pic>
      <p:pic>
        <p:nvPicPr>
          <p:cNvPr id="125" name="Graphic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2a50d2c45cb">
            <a:extLst>
              <a:ext uri="{96DAC541-7B7A-43D3-8B79-37D633B846F1}">
                <asvg:svgBlip xmlns:asvg="http://schemas.microsoft.com/office/drawing/2016/SVG/main" r:embed="R50fd7ad5aeeb42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0960" y="5578702"/>
            <a:ext cx="312432" cy="312432"/>
          </a:xfrm>
          <a:prstGeom xmlns:a="http://schemas.openxmlformats.org/drawingml/2006/main" prst="rect">
            <a:avLst/>
          </a:prstGeom>
        </p:spPr>
      </p:pic>
      <p:pic>
        <p:nvPicPr>
          <p:cNvPr id="126" name="Graphic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0e53d47f14a6b">
            <a:extLst>
              <a:ext uri="{96DAC541-7B7A-43D3-8B79-37D633B846F1}">
                <asvg:svgBlip xmlns:asvg="http://schemas.microsoft.com/office/drawing/2016/SVG/main" r:embed="Re934e8dbe3b749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22221" y="1531510"/>
            <a:ext cx="659360" cy="659360"/>
          </a:xfrm>
          <a:prstGeom xmlns:a="http://schemas.openxmlformats.org/drawingml/2006/main" prst="rect">
            <a:avLst/>
          </a:prstGeom>
        </p:spPr>
      </p:pic>
      <p:pic>
        <p:nvPicPr>
          <p:cNvPr id="127" name="Graphic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a9c363e424919">
            <a:extLst>
              <a:ext uri="{96DAC541-7B7A-43D3-8B79-37D633B846F1}">
                <asvg:svgBlip xmlns:asvg="http://schemas.microsoft.com/office/drawing/2016/SVG/main" r:embed="R4f7a029ba46949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83646" y="1519823"/>
            <a:ext cx="659360" cy="659360"/>
          </a:xfrm>
          <a:prstGeom xmlns:a="http://schemas.openxmlformats.org/drawingml/2006/main" prst="rect">
            <a:avLst/>
          </a:prstGeom>
        </p:spPr>
      </p:pic>
      <p:pic>
        <p:nvPicPr>
          <p:cNvPr id="128" name="Graphic 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d0a6f4f654653">
            <a:extLst>
              <a:ext uri="{96DAC541-7B7A-43D3-8B79-37D633B846F1}">
                <asvg:svgBlip xmlns:asvg="http://schemas.microsoft.com/office/drawing/2016/SVG/main" r:embed="R8fb521563fed44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061848" y="1624123"/>
            <a:ext cx="441304" cy="4413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879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B4F880-2663-430E-9799-E131110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435BEF-E949-4085-97E0-FF285039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BE94EB-40B6-4C91-82CC-E5CF8229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789AC97-EF41-4BA7-AC64-CFB090B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2B0281-80B0-4951-9C96-A461BD9A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FINANCIAL PLAN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0421594-46E4-46DC-B760-EE9F2B1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A27AC5-929A-4114-A843-A80B9F3A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Pricing follows scope; recurring service is optional.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BEFE41-F50B-48B8-AF2D-7A74DCC6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Catalogue ranges are starting points. A quote depends on workflow complexity, integrations, controls and support.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4A3606F-EB4F-4FE3-BBC6-BB3866A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5184"/>
            <a:ext cx="2011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DBAE0F-D7F5-4F0E-9A65-0E8E757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70662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01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A04335-CCF3-4EF6-A94B-4EFB89C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944368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Basic Intake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7A99BEC-BF88-419C-B632-4C400F2D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615184"/>
            <a:ext cx="2011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A56B79-2675-4459-B2AB-E3EEEA0C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70662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02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8142CB-8C24-4F27-8BB2-568960A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944368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Basic+ AI Triage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1145224-370C-4790-A4FD-F1FE6091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2615184"/>
            <a:ext cx="2011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6957E3-44AF-457E-98EB-20F46F84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70662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03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BD4656A-62B4-4935-B904-4EA1F5A8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944368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Pro Multi-Channel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CE0ADF0-F28C-45C0-BA4C-17A4AD1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615184"/>
            <a:ext cx="2011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303C47D-C005-48B7-8BD7-DA2A176C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270662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04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973B6D3-F524-4AB7-B06C-44A3F21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2944368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Managed Operations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4A04700-4B97-4177-B6B1-9A1E922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2615184"/>
            <a:ext cx="2011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CAE8093-A307-4744-AC7A-BCB537A3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0662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05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FD1B065-A79C-4EF0-981D-4FDFA16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44368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Agentic Automation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3E19271-B4A1-43E0-959F-94349CE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Setup  ~CHF 750 - 30'000          Monthly service  ~CHF 150 - 6'000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C327528-D75F-4DE1-98FB-583BC655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0208"/>
            <a:ext cx="108173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50">
                <a:solidFill>
                  <a:srgbClr val="8C8C8C"/>
                </a:solidFill>
                <a:latin typeface="Arial"/>
                <a:ea typeface="Arial"/>
                <a:cs typeface="Arial"/>
              </a:rPr>
              <a:t>HOW THE MODEL WORKS  ·  NOT A REVENUE FORECAST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14F068-B6D7-4F43-94A0-32B2C5A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6240"/>
            <a:ext cx="108173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5F5F5F"/>
                </a:solidFill>
                <a:latin typeface="Arial"/>
                <a:ea typeface="Arial"/>
                <a:cs typeface="Arial"/>
              </a:rPr>
              <a:t>Setup covers discovery, design, build, testing and launch. Monthly fees apply only when VortexDeep continues to run and improve the workflow.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3F7F951-B3C8-4960-B27A-420320DD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2395728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83F15DD-55D4-4C31-9E8F-0862441C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8304"/>
            <a:ext cx="23957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8A8A8A"/>
                </a:solidFill>
                <a:latin typeface="Arial"/>
                <a:ea typeface="Arial"/>
                <a:cs typeface="Arial"/>
              </a:rPr>
              <a:t>DISCOVERY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7FE0F33-83DE-4264-8230-74700F1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957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scope</a:t>
            </a:r>
            <a:endParaRPr sz="19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2279F59-E8BF-418F-9E2D-AE5ACA8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4617720"/>
            <a:ext cx="2395728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EA5127F-252E-476B-9204-D2B0FF01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4718304"/>
            <a:ext cx="23957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BFBFBF"/>
                </a:solidFill>
                <a:latin typeface="Arial"/>
                <a:ea typeface="Arial"/>
                <a:cs typeface="Arial"/>
              </a:rPr>
              <a:t>BUILD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BE24988-725C-4B33-8756-9ED08151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4956048"/>
            <a:ext cx="23957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setup fee</a:t>
            </a:r>
            <a:endParaRPr sz="19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BB03B04-C0CE-4FDE-9DFD-61D69260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617720"/>
            <a:ext cx="2395728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6B1FCF-021B-453E-A57A-DAD4F9B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718304"/>
            <a:ext cx="23957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BFBFBF"/>
                </a:solidFill>
                <a:latin typeface="Arial"/>
                <a:ea typeface="Arial"/>
                <a:cs typeface="Arial"/>
              </a:rPr>
              <a:t>RUN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26340DB-CAAA-4CC1-95A4-0EB0FE4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956048"/>
            <a:ext cx="23957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monthly service</a:t>
            </a:r>
            <a:endParaRPr sz="1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487A210-D6A8-4EF9-8B4E-AC21BF5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617720"/>
            <a:ext cx="2395728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DFF45C5E-2315-4A3B-B797-C2BE2B1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718304"/>
            <a:ext cx="23957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BFBFBF"/>
                </a:solidFill>
                <a:latin typeface="Arial"/>
                <a:ea typeface="Arial"/>
                <a:cs typeface="Arial"/>
              </a:rPr>
              <a:t>TRANSFER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47BB2E6-A9DA-4161-BB57-DBFBD367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956048"/>
            <a:ext cx="23957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highest tier only</a:t>
            </a:r>
            <a:endParaRPr sz="19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ADD9871-9BB4-481E-BA9D-0541E2EC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617720"/>
            <a:ext cx="2560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8C8C8C"/>
                </a:solidFill>
                <a:latin typeface="Arial"/>
                <a:ea typeface="Arial"/>
                <a:cs typeface="Arial"/>
              </a:rPr>
              <a:t>→</a:t>
            </a:r>
            <a:endParaRPr sz="16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0F0D21C-B5F8-4781-9A50-6EA6F1A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617720"/>
            <a:ext cx="2560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8C8C8C"/>
                </a:solidFill>
                <a:latin typeface="Arial"/>
                <a:ea typeface="Arial"/>
                <a:cs typeface="Arial"/>
              </a:rPr>
              <a:t>→</a:t>
            </a:r>
            <a:endParaRPr sz="16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882CD8C5-3CCA-4A5C-88CA-30F035B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4617720"/>
            <a:ext cx="2560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8C8C8C"/>
                </a:solidFill>
                <a:latin typeface="Arial"/>
                <a:ea typeface="Arial"/>
                <a:cs typeface="Arial"/>
              </a:rPr>
              <a:t>→</a:t>
            </a:r>
            <a:endParaRPr sz="16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5F51100-D78F-407C-83A9-31F03B2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Build-transfer is available only in the highest tier. Revenue and break-even remain scenarios until paid demand and delivery cost are measured.</a:t>
            </a:r>
            <a:endParaRPr sz="12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4B93234-5B7B-4AEB-B001-511714F6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B9C9299D-D85E-4000-A8EA-4322EBE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5A8A0405-8036-4488-BD1B-52B9A522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07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0265298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106DC7-A745-4B62-AF4E-B7EC49B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DCDE0C-984B-4A68-B8B6-BF9C1F2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5E1264-C93E-421D-838A-B3D1B6ED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0CF9D8-41E0-41B4-B275-0405C0E2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09C3E61-BAD0-47EF-B4E5-8793D39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TEAM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4813F0B-E0CC-46FF-BF4A-1EC2980C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A592BB-F12C-465D-8B24-4BCD8A5E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Founder-led today. Three roles complete Build + Sell + Run.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B1AA94-7FD1-4E9F-AAAA-3124D1F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Current strengths and missing capabilities are shown separately.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692EBDA-A02B-461C-ACBA-2CB6436E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7712"/>
            <a:ext cx="108173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50">
                <a:solidFill>
                  <a:srgbClr val="8A8A8A"/>
                </a:solidFill>
                <a:latin typeface="Arial"/>
                <a:ea typeface="Arial"/>
                <a:cs typeface="Arial"/>
              </a:rPr>
              <a:t>CURRENT CAPABILITY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780C12-3323-482B-A29D-EB5E728A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2032"/>
            <a:ext cx="108173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8C37A9-F3EA-4F3C-8373-5B91E2D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42032"/>
            <a:ext cx="31089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Maciek Szczech - Founder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329273-3793-48E0-8754-88600279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42032"/>
            <a:ext cx="7223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20+ years in industrial B2B engineering, technical sales and project delivery.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5F5F"/>
                </a:solidFill>
                <a:latin typeface="Arial"/>
                <a:ea typeface="Arial"/>
                <a:cs typeface="Arial"/>
              </a:rPr>
              <a:t>Leads discovery, solution scope, pricing, client work and project coordination.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EB53A28-F6B7-4532-8A7E-19C31BD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108173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50">
                <a:solidFill>
                  <a:srgbClr val="8A8A8A"/>
                </a:solidFill>
                <a:latin typeface="Arial"/>
                <a:ea typeface="Arial"/>
                <a:cs typeface="Arial"/>
              </a:rPr>
              <a:t>DREAM TEAM  ·  CAPABILITIES TO ADD AS DEMAND IS VALIDATED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5746914-32DF-423D-8D15-7DA6D29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5294376" cy="76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6E9E922-FF3B-4B34-8A53-6DC190E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840480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01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E9A846D-AF11-4035-9785-6DF3488C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84048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Founding Automation Engineer  ·  BUILD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1030AA-AB16-4E65-B35B-57F0FCB1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151376"/>
            <a:ext cx="4434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Architecture, integrations, security, testing and reusable workflows.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FE5FE4F-1EC8-49B6-98F8-9CF57F1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694176"/>
            <a:ext cx="5294376" cy="76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374E1EF-DC87-40CB-ADD8-DFF8BCD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840480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02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2B700DE-18DC-4776-B9FE-8D697771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84048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B2B Growth &amp; Partnerships  ·  SELL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5B0D822-C2C6-42EE-B666-C7A70FA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4151376"/>
            <a:ext cx="4434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Repeatable acquisition, partner channels and pipeline.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E86EFC9-973B-4AD2-BD6E-AE70BC4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3712"/>
            <a:ext cx="5294376" cy="76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6C4627F-FE06-4459-A583-2C4B9E23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700016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03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D503F17-71C5-4515-93E9-BAD8F1B1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700016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Customer Success &amp; Managed Operations  ·  RUN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629D763-06CC-464D-A021-0BD131F0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010912"/>
            <a:ext cx="4434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Onboarding, monitoring, support, reporting and improvement.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7D939B5-E386-4856-B3CE-6655977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4553712"/>
            <a:ext cx="5294376" cy="76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508BF00-D373-4ED0-80B2-30B455BD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700016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04</a:t>
            </a:r>
            <a:endParaRPr sz="15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D21A06A-34FF-4D82-84A9-9E7FD32A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4700016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Finance, Legal &amp; Data Protection  ·  EXTERNAL</a:t>
            </a:r>
            <a:endParaRPr sz="12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A2BE8E8-1139-48F3-95F9-BCC0B3B3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5010912"/>
            <a:ext cx="4434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Swiss contracts, accounting, privacy and specialist review when required.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424C1B3-3778-45FF-807C-9B2F07A2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1264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First priority: validate demand with customers. Then add technical delivery capacity before workload becomes a bottleneck.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6857048-4701-4A9E-A9CC-774B57A8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BE5829-1049-4E90-A484-37CA3DF7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38BB839-14E5-40D8-AE28-B99F5C33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08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31414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A1DBCE-CB0E-448A-85C9-F234A5C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7FF28-6DEF-4961-A7B5-D2CE4E30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03406F-8AFF-490A-9681-8FF41AC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DE89335-7B30-47FA-B84A-204C4918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E8DF65-4DFC-4DB4-B865-E22C103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BOARD &amp; ADVISORS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181592-E8FE-42D7-B433-B9C2A757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9447F2-F0BF-40E2-AAFB-6923B03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Dream board: the four profiles VortexDeep would need.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ED8998-08F0-4E80-8D92-02A13980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VortexDeep has no formal board today. These are future governance profiles, not current advisors.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334DFCC-1791-4542-8A39-5081B72D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108173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50">
                <a:solidFill>
                  <a:srgbClr val="8A8A8A"/>
                </a:solidFill>
                <a:latin typeface="Arial"/>
                <a:ea typeface="Arial"/>
                <a:cs typeface="Arial"/>
              </a:rPr>
              <a:t>DREAM BOARD  ·  PROFILES FOR FUTURE FORMAL GOVERNANCE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BEC7613-D6CB-493F-AB4B-066526E2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8336"/>
            <a:ext cx="52943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DB6651-7CC0-40EA-B649-38133D54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34640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01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D2DAA3-8F8C-44E9-B5E1-736E98BF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83464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Independent Chair / B2B operator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B3CC971-330A-4AED-B1E7-6122C7C9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145536"/>
            <a:ext cx="4434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Keeps strategy focused, challenges assumptions and brings experience scaling a Swiss services business.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CC79A11-C183-4B46-B36D-0EADC7C5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688336"/>
            <a:ext cx="52943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F6477F1-E032-4361-BDE0-B2D8DFE3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834640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02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5C01105-7E0A-4EFA-ADFB-A1ABD5F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83464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Customer &amp; commercial director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F52EF4A-7A2D-4631-9D24-A1D56BA5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145536"/>
            <a:ext cx="4434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Brings real SME buying behaviour, customer access and experience shaping a repeatable B2B offer.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D18E20-9006-4A49-A906-38D1BC2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0"/>
            <a:ext cx="52943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D34B7EF-CBB5-41C9-B2CF-367712A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69664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03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5949E-5932-48B2-8CCB-A298893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169664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AI automation &amp; data governance director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38082B8-8EB4-4617-AF85-5E16AACB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480560"/>
            <a:ext cx="4434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Challenges architecture, cyber and data risks, human controls and delivery quality.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6CFE867-147E-40A4-8A13-A498175A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4023360"/>
            <a:ext cx="52943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8DB809-C429-4D6B-9585-916B6990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169664"/>
            <a:ext cx="640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04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44201D6-C6D7-4BF5-96F0-DBEE918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4169664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Finance &amp; legal director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94B3E0E-708B-4C80-ABDB-512E3CD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4480560"/>
            <a:ext cx="4434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5F5F5F"/>
                </a:solidFill>
                <a:latin typeface="Arial"/>
                <a:ea typeface="Arial"/>
                <a:cs typeface="Arial"/>
              </a:rPr>
              <a:t>Brings financial discipline and experience with contracts, ownership, funding and governance.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02C32D-966C-40B5-A680-F20F288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Advisors stay separate: used for specific gaps and listed only when actively involved.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4C57F02-2FD8-45FC-9EED-666B7CF4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D581B5B-2C14-45BF-A248-22D466C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421D290-9306-45B7-8A32-1698A0DE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09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278789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A3B1A1-92D4-4FBA-81C3-386CE56A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145910-4780-46F8-9A55-A5E869D2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8493D9-4919-47EE-A2A4-B60190C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C44AC1-4E37-41EF-8DCD-9BB6BBEC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12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186CEE-1D24-42A5-B710-472E6296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300">
                <a:solidFill>
                  <a:srgbClr val="8C8C8C"/>
                </a:solidFill>
                <a:latin typeface="Arial"/>
                <a:ea typeface="Arial"/>
                <a:cs typeface="Arial"/>
              </a:rPr>
              <a:t>IN MOTION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FE6A91-5FE4-42E5-9672-3BA7FED2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905256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spc="15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D17B6C-F898-412C-B9AD-995650BD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6736"/>
            <a:ext cx="108173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What exists today - and what still needs proof.</a:t>
            </a:r>
            <a:endParaRPr sz="2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46F234-F768-40D0-B93C-D1518EA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0512"/>
            <a:ext cx="108173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F5F5F"/>
                </a:solidFill>
                <a:latin typeface="Arial"/>
                <a:ea typeface="Arial"/>
                <a:cs typeface="Arial"/>
              </a:rPr>
              <a:t>Pre-revenue. This shows preparation and technical ability, not repeatable commercial demand.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44748C-14B3-4788-84D4-07C87A9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3419856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A9EC36E-4642-4EE7-8CB2-629BAD89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670048"/>
            <a:ext cx="30540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01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D697845-B6A4-47DF-893A-B9F820A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108960"/>
            <a:ext cx="30540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Prototype implementation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AE39C3A-09FF-4265-B4FA-F53D8164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566160"/>
            <a:ext cx="2980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C2AA709-A1A5-45A6-991D-A17AC192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730752"/>
            <a:ext cx="2999232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F5F5F"/>
                </a:solidFill>
                <a:latin typeface="Arial"/>
                <a:ea typeface="Arial"/>
                <a:cs typeface="Arial"/>
              </a:rPr>
              <a:t>An unpaid email-handling workflow built around a real Swiss SME process. It demonstrates technical feasibility; it is not a paid customer case.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58125C-6686-4C5F-9694-AA1AF4BE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468880"/>
            <a:ext cx="3419856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79C9663-121E-4395-A99D-A689A9C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670048"/>
            <a:ext cx="30540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02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C8F264E-4D24-45C9-8F32-B4E219FE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108960"/>
            <a:ext cx="30540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Discovery and pricing tools</a:t>
            </a:r>
            <a:endParaRPr sz="15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6C5A7C4-5CF9-4876-A1F7-859987F3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566160"/>
            <a:ext cx="2980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9444A5-C955-4E68-AD1A-1A09179B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730752"/>
            <a:ext cx="2999232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F5F5F"/>
                </a:solidFill>
                <a:latin typeface="Arial"/>
                <a:ea typeface="Arial"/>
                <a:cs typeface="Arial"/>
              </a:rPr>
              <a:t>A product catalogue, discovery scripts and pricing logic are prepared to scope different automation needs consistently.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D16ADA-BAE9-464E-AB36-F45CDCDD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468880"/>
            <a:ext cx="3419856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16EF45-E05E-478F-8F84-CFCA1C7C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670048"/>
            <a:ext cx="30540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BCBCB"/>
                </a:solidFill>
                <a:latin typeface="Arial"/>
                <a:ea typeface="Arial"/>
                <a:cs typeface="Arial"/>
              </a:rPr>
              <a:t>03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EA85C78-8C4C-4DE2-988F-6B8F5A8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108960"/>
            <a:ext cx="30540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Next commercial proof</a:t>
            </a:r>
            <a:endParaRPr sz="15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57429A4-A0A9-4DCE-845B-850B3BD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566160"/>
            <a:ext cx="2980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4258554-5F15-479F-A945-A040F50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730752"/>
            <a:ext cx="2999232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F5F5F"/>
                </a:solidFill>
                <a:latin typeface="Arial"/>
                <a:ea typeface="Arial"/>
                <a:cs typeface="Arial"/>
              </a:rPr>
              <a:t>Interview target customers, confirm one painful process and secure a design partner or paid pilot.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EF41735-F294-4286-9B7D-8A1CF630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312"/>
            <a:ext cx="10817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→   Proven so far: ability to scope and build. Still unproven: repeatable demand and willingness to pay.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255F8D7-5F82-4FDD-99DB-29329898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3DD56E8-F9FE-4946-BB64-AC9D444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422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C8C8C"/>
                </a:solidFill>
                <a:latin typeface="Arial"/>
                <a:ea typeface="Arial"/>
                <a:cs typeface="Arial"/>
              </a:rPr>
              <a:t>vortexdeep.ch  ·  info@vortexdeep.ch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FE1B5B4-FCCA-4409-9321-501104C0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636422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C8C8C"/>
                </a:solidFill>
                <a:latin typeface="Arial"/>
                <a:ea typeface="Arial"/>
                <a:cs typeface="Arial"/>
              </a:rPr>
              <a:t>10 / 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55707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9EBED4-B869-46AF-9114-F7117E9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65EF33-9395-42FC-8757-42879289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VD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5032C1-F769-403F-B379-EEA0E9E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VortexDeep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D59C37-D756-4080-B8AD-A90B61B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8C8C8C"/>
                </a:solidFill>
                <a:latin typeface="Arial"/>
                <a:ea typeface="Arial"/>
                <a:cs typeface="Arial"/>
              </a:rPr>
              <a:t>THE ASK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A65BD9-9914-4256-AD9B-8B1B446B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4560"/>
            <a:ext cx="1081735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 test the first</a:t>
            </a:r>
            <a:endParaRPr sz="34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repeatable offer.</a:t>
            </a:r>
            <a:endParaRPr sz="3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E691CC-5E02-4EA2-BEF7-455337FD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1735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500">
                <a:solidFill>
                  <a:srgbClr val="C7C7C7"/>
                </a:solidFill>
                <a:latin typeface="Arial"/>
                <a:ea typeface="Arial"/>
                <a:cs typeface="Arial"/>
              </a:rPr>
              <a:t>Useful introductions: Swiss SME owners or operations managers with recurring admin work; one design partner willing to map and test a process; and experienced B2B or automation specialists who can challenge the team gaps.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F770B06-B3EA-4DB2-B3DA-8A21C25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17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you.</a:t>
            </a:r>
            <a:endParaRPr sz="2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BEAA404-89B5-4900-BD98-78DA46FB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072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F306B5B-AFD0-4E53-AC74-D00299FA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2160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8C8C8C"/>
                </a:solidFill>
                <a:latin typeface="Arial"/>
                <a:ea typeface="Arial"/>
                <a:cs typeface="Arial"/>
              </a:rPr>
              <a:t>BUSINESS CREATION ICT  ·  VENTURELAB  ·  AUG-SEP 2026  ·  ZÜRICH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3F40EF-B89F-4853-876F-8813E292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17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7A7A"/>
                </a:solidFill>
                <a:latin typeface="Arial"/>
                <a:ea typeface="Arial"/>
                <a:cs typeface="Arial"/>
              </a:rPr>
              <a:t>Maciek Szczech, Founder  ·  vortexdeep.ch  ·  info@vortexdeep.ch  ·  Claridapark 4, 8636 Wald ZH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942309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2026-09-01T12:39:33.4790000Z</dcterms:created>
  <dcterms:modified xsi:type="dcterms:W3CDTF">2026-09-01T12:39:33.4790000Z</dcterms:modified>
</coreProperties>
</file>