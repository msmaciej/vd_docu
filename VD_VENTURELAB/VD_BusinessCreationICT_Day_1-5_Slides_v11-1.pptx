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3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8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650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10817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the repetitive work.</a:t>
            </a:r>
            <a:endParaRPr lang="en-US" sz="4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the decisions.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862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AI workflows for small and mid-sized companies.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is easy once. The cost is that it never stops.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queue · 1…N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65176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822960" y="26517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15468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 txBox="1"/>
          <p:nvPr/>
        </p:nvSpPr>
        <p:spPr>
          <a:xfrm>
            <a:off x="822960" y="31546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6576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822960" y="36576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&amp; Renewals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16052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 txBox="1"/>
          <p:nvPr/>
        </p:nvSpPr>
        <p:spPr>
          <a:xfrm>
            <a:off x="822960" y="41605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154680" y="2852928"/>
            <a:ext cx="1810512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>
            <a:off x="3154680" y="3355848"/>
            <a:ext cx="1810512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 flipV="1">
            <a:off x="3154680" y="3401568"/>
            <a:ext cx="1810512" cy="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 flipV="1">
            <a:off x="3154680" y="3401568"/>
            <a:ext cx="1810512" cy="9601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3" name="Shape 21"/>
          <p:cNvSpPr/>
          <p:nvPr/>
        </p:nvSpPr>
        <p:spPr>
          <a:xfrm>
            <a:off x="4983480" y="2788920"/>
            <a:ext cx="1234440" cy="1234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4983480" y="27889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one at a time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3401568"/>
            <a:ext cx="123444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6" name="Shape 24"/>
          <p:cNvSpPr/>
          <p:nvPr/>
        </p:nvSpPr>
        <p:spPr>
          <a:xfrm>
            <a:off x="7635240" y="3072384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 txBox="1"/>
          <p:nvPr/>
        </p:nvSpPr>
        <p:spPr>
          <a:xfrm>
            <a:off x="7635240" y="30723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resolved, one after another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1, then 2, then 3 …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71432" y="3730752"/>
            <a:ext cx="0" cy="429768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9" name="Shape 27"/>
          <p:cNvSpPr/>
          <p:nvPr/>
        </p:nvSpPr>
        <p:spPr>
          <a:xfrm>
            <a:off x="5605272" y="4160520"/>
            <a:ext cx="3566160" cy="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30" name="Shape 28"/>
          <p:cNvSpPr/>
          <p:nvPr/>
        </p:nvSpPr>
        <p:spPr>
          <a:xfrm>
            <a:off x="5605272" y="4023360"/>
            <a:ext cx="0" cy="13716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 txBox="1"/>
          <p:nvPr/>
        </p:nvSpPr>
        <p:spPr>
          <a:xfrm>
            <a:off x="566928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resolved, then the next task …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956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pair of hands. The queue only clears as fast as you do.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isn't any one task. It's that they never stop.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5" name="Text 33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workflows, with a human in control.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· 1…N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822960" y="2651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822960" y="31546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822960" y="36576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822960" y="41605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834640" y="2852928"/>
            <a:ext cx="640080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19" name="Shape 17"/>
          <p:cNvSpPr/>
          <p:nvPr/>
        </p:nvSpPr>
        <p:spPr>
          <a:xfrm>
            <a:off x="2834640" y="3355848"/>
            <a:ext cx="640080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 flipV="1">
            <a:off x="2834640" y="3401568"/>
            <a:ext cx="640080" cy="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 flipV="1">
            <a:off x="2834640" y="3401568"/>
            <a:ext cx="640080" cy="9601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>
            <a:off x="3474720" y="29260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3474720" y="292608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work, in parallel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23560" y="3401568"/>
            <a:ext cx="41148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5" name="Shape 23"/>
          <p:cNvSpPr/>
          <p:nvPr/>
        </p:nvSpPr>
        <p:spPr>
          <a:xfrm>
            <a:off x="6144768" y="2834640"/>
            <a:ext cx="1143000" cy="1143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 txBox="1"/>
          <p:nvPr/>
        </p:nvSpPr>
        <p:spPr>
          <a:xfrm>
            <a:off x="6144768" y="28346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4041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point · human-in-the-loop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60920" y="3401568"/>
            <a:ext cx="50292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9" name="Shape 27"/>
          <p:cNvSpPr/>
          <p:nvPr/>
        </p:nvSpPr>
        <p:spPr>
          <a:xfrm>
            <a:off x="7955280" y="3072384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 txBox="1"/>
          <p:nvPr/>
        </p:nvSpPr>
        <p:spPr>
          <a:xfrm>
            <a:off x="7955280" y="307238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1…N resolved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846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does the work in parallel. You approve each. Your call.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task costing you the most hours. Add from there.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defined by industry. By the admin that repeats every 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99832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07238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 ·  SWISS BEACHHEAD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886968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~600k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SMEs with repetitive admin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micro firms; a lighter tier could open them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9976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4581144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~50k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4581144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firms, 10–49 employees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400–750M ARR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74152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 txBox="1"/>
          <p:nvPr/>
        </p:nvSpPr>
        <p:spPr>
          <a:xfrm>
            <a:off x="8275320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clients by 2029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0.25–0.6M ARR · under 0.1% of SAM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499262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SECO / Federal Statistical Office. Revenue indicative.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5266944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(Total Addressable Market) — everyone who has the problem, if you could reach them all.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(Serviceable Addressable Market) — the slice you could actually serve with your model and focus.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(Serviceable Obtainable Market) — what you can realistically win in the near term (your beachhead).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slice is the cautious middle: AI's help, not its autonomy.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&amp; ADVANTAGE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automation. A person approves every step.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handle the repetition, each with a catch, and our fifth.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OPTIONS  ·  EACH WITH A CATCH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51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tools: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cheap, but you build and maintain it.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4564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autonomy: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but a black box you can't oversee.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2611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Hire: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 cost, and still manual.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065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nothing: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quietly compounds every day.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267712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FIFTH WAY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615184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6236208" y="2761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276148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step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3072384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sent or done on its own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3419856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 txBox="1"/>
          <p:nvPr/>
        </p:nvSpPr>
        <p:spPr>
          <a:xfrm>
            <a:off x="6236208" y="3566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84848" y="3566160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it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84848" y="3877056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tool to learn or maintain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4224528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6236208" y="43708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784848" y="437083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yours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84848" y="4681728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nothing hidden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5029200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6236208" y="517550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784848" y="5175504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not replaced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84848" y="5486400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work, not the person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cautious middle: a few clients at a time, fixed scope.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 txBox="1"/>
          <p:nvPr/>
        </p:nvSpPr>
        <p:spPr>
          <a:xfrm>
            <a:off x="905256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05256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5256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960120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Swiss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automation live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56432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3675888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675888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75888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 txBox="1"/>
          <p:nvPr/>
        </p:nvSpPr>
        <p:spPr>
          <a:xfrm>
            <a:off x="3730752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managed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27064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6446520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widen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46520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6501384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97696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9217152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217152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17152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 txBox="1"/>
          <p:nvPr/>
        </p:nvSpPr>
        <p:spPr>
          <a:xfrm>
            <a:off x="9272016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30–40+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~6–8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one process, expand within the account. Each stage funds the next.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85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C8F846E-5AC9-36BA-1A22-85AA46AB27BD}"/>
              </a:ext>
            </a:extLst>
          </p:cNvPr>
          <p:cNvGrpSpPr/>
          <p:nvPr/>
        </p:nvGrpSpPr>
        <p:grpSpPr>
          <a:xfrm>
            <a:off x="1849120" y="4861771"/>
            <a:ext cx="650240" cy="696458"/>
            <a:chOff x="1605280" y="4634235"/>
            <a:chExt cx="650240" cy="696458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F3337C-5339-96B5-9B75-1EF0BCEAF447}"/>
                </a:ext>
              </a:extLst>
            </p:cNvPr>
            <p:cNvCxnSpPr>
              <a:cxnSpLocks/>
            </p:cNvCxnSpPr>
            <p:nvPr/>
          </p:nvCxnSpPr>
          <p:spPr>
            <a:xfrm>
              <a:off x="1930400" y="4634235"/>
              <a:ext cx="0" cy="455925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15BF915-6798-F4EC-A30F-3863B1F19949}"/>
                </a:ext>
              </a:extLst>
            </p:cNvPr>
            <p:cNvSpPr txBox="1"/>
            <p:nvPr/>
          </p:nvSpPr>
          <p:spPr>
            <a:xfrm>
              <a:off x="1605280" y="5069083"/>
              <a:ext cx="6502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PILOT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AF3E0A1-776F-40CE-A5BC-B43D3DEA831B}"/>
              </a:ext>
            </a:extLst>
          </p:cNvPr>
          <p:cNvGrpSpPr/>
          <p:nvPr/>
        </p:nvGrpSpPr>
        <p:grpSpPr>
          <a:xfrm>
            <a:off x="2353056" y="4857763"/>
            <a:ext cx="650240" cy="696458"/>
            <a:chOff x="1605280" y="4634235"/>
            <a:chExt cx="650240" cy="696458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00299F0-CFD1-49E7-46FB-A64B586571C7}"/>
                </a:ext>
              </a:extLst>
            </p:cNvPr>
            <p:cNvCxnSpPr>
              <a:cxnSpLocks/>
            </p:cNvCxnSpPr>
            <p:nvPr/>
          </p:nvCxnSpPr>
          <p:spPr>
            <a:xfrm>
              <a:off x="1930400" y="4634235"/>
              <a:ext cx="0" cy="455925"/>
            </a:xfrm>
            <a:prstGeom prst="line">
              <a:avLst/>
            </a:prstGeom>
            <a:ln w="76200"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0B60223-0C0F-6304-8FD1-DC3568F28188}"/>
                </a:ext>
              </a:extLst>
            </p:cNvPr>
            <p:cNvSpPr txBox="1"/>
            <p:nvPr/>
          </p:nvSpPr>
          <p:spPr>
            <a:xfrm>
              <a:off x="1605280" y="5069083"/>
              <a:ext cx="6502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BC ICT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FE300FF-44D2-E106-45F8-C5CF2ED03EE6}"/>
              </a:ext>
            </a:extLst>
          </p:cNvPr>
          <p:cNvGrpSpPr/>
          <p:nvPr/>
        </p:nvGrpSpPr>
        <p:grpSpPr>
          <a:xfrm>
            <a:off x="7797121" y="4868866"/>
            <a:ext cx="944544" cy="696458"/>
            <a:chOff x="1310977" y="4634235"/>
            <a:chExt cx="944544" cy="696458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146387A-E152-AAAE-7789-E3A31F551065}"/>
                </a:ext>
              </a:extLst>
            </p:cNvPr>
            <p:cNvCxnSpPr>
              <a:cxnSpLocks/>
            </p:cNvCxnSpPr>
            <p:nvPr/>
          </p:nvCxnSpPr>
          <p:spPr>
            <a:xfrm>
              <a:off x="1930400" y="4634235"/>
              <a:ext cx="0" cy="455925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40074A1-1DBA-4BD1-C2BF-E20DCA7B14A8}"/>
                </a:ext>
              </a:extLst>
            </p:cNvPr>
            <p:cNvSpPr txBox="1"/>
            <p:nvPr/>
          </p:nvSpPr>
          <p:spPr>
            <a:xfrm>
              <a:off x="1310977" y="5069083"/>
              <a:ext cx="9445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120 - 300K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E251171-F0E2-BDB6-28EE-E37626DA6354}"/>
              </a:ext>
            </a:extLst>
          </p:cNvPr>
          <p:cNvGrpSpPr/>
          <p:nvPr/>
        </p:nvGrpSpPr>
        <p:grpSpPr>
          <a:xfrm>
            <a:off x="10569976" y="4857763"/>
            <a:ext cx="944544" cy="696458"/>
            <a:chOff x="1310977" y="4634235"/>
            <a:chExt cx="944544" cy="696458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707BE9A-99BF-658D-FF58-267731273209}"/>
                </a:ext>
              </a:extLst>
            </p:cNvPr>
            <p:cNvCxnSpPr>
              <a:cxnSpLocks/>
            </p:cNvCxnSpPr>
            <p:nvPr/>
          </p:nvCxnSpPr>
          <p:spPr>
            <a:xfrm>
              <a:off x="1930400" y="4634235"/>
              <a:ext cx="0" cy="455925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523EA91-337C-4D26-7FEF-589DC5453B2F}"/>
                </a:ext>
              </a:extLst>
            </p:cNvPr>
            <p:cNvSpPr txBox="1"/>
            <p:nvPr/>
          </p:nvSpPr>
          <p:spPr>
            <a:xfrm>
              <a:off x="1310977" y="5069083"/>
              <a:ext cx="9445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240 - 600K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BA88985-F263-98B7-780C-519E3A8B4501}"/>
              </a:ext>
            </a:extLst>
          </p:cNvPr>
          <p:cNvGrpSpPr/>
          <p:nvPr/>
        </p:nvGrpSpPr>
        <p:grpSpPr>
          <a:xfrm>
            <a:off x="5026489" y="4887260"/>
            <a:ext cx="944544" cy="696458"/>
            <a:chOff x="1310977" y="4634235"/>
            <a:chExt cx="944544" cy="696458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EC288D7-4567-B47C-6469-BBA0113D6A7C}"/>
                </a:ext>
              </a:extLst>
            </p:cNvPr>
            <p:cNvCxnSpPr>
              <a:cxnSpLocks/>
            </p:cNvCxnSpPr>
            <p:nvPr/>
          </p:nvCxnSpPr>
          <p:spPr>
            <a:xfrm>
              <a:off x="1930400" y="4634235"/>
              <a:ext cx="0" cy="455925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131AE5E-109C-7DB5-44C6-F88F959D5106}"/>
                </a:ext>
              </a:extLst>
            </p:cNvPr>
            <p:cNvSpPr txBox="1"/>
            <p:nvPr/>
          </p:nvSpPr>
          <p:spPr>
            <a:xfrm>
              <a:off x="1310977" y="5069083"/>
              <a:ext cx="9445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50 - 120K</a:t>
              </a:r>
            </a:p>
          </p:txBody>
        </p:sp>
      </p:grpSp>
      <p:sp>
        <p:nvSpPr>
          <p:cNvPr id="63" name="Right Arrow 62">
            <a:extLst>
              <a:ext uri="{FF2B5EF4-FFF2-40B4-BE49-F238E27FC236}">
                <a16:creationId xmlns:a16="http://schemas.microsoft.com/office/drawing/2014/main" id="{ADE2C008-C96A-E73D-4A35-20B92C842E64}"/>
              </a:ext>
            </a:extLst>
          </p:cNvPr>
          <p:cNvSpPr/>
          <p:nvPr/>
        </p:nvSpPr>
        <p:spPr>
          <a:xfrm>
            <a:off x="1195208" y="4386649"/>
            <a:ext cx="1521225" cy="349943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gradFill>
              <a:gsLst>
                <a:gs pos="62974">
                  <a:srgbClr val="B6C8E8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64" name="Right Arrow 63">
            <a:extLst>
              <a:ext uri="{FF2B5EF4-FFF2-40B4-BE49-F238E27FC236}">
                <a16:creationId xmlns:a16="http://schemas.microsoft.com/office/drawing/2014/main" id="{91966F9E-AFF1-5B8B-04E3-E5835E34B62D}"/>
              </a:ext>
            </a:extLst>
          </p:cNvPr>
          <p:cNvSpPr/>
          <p:nvPr/>
        </p:nvSpPr>
        <p:spPr>
          <a:xfrm>
            <a:off x="3998839" y="4390603"/>
            <a:ext cx="1521225" cy="349943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gradFill>
              <a:gsLst>
                <a:gs pos="62974">
                  <a:srgbClr val="B6C8E8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66" name="Right Arrow 65">
            <a:extLst>
              <a:ext uri="{FF2B5EF4-FFF2-40B4-BE49-F238E27FC236}">
                <a16:creationId xmlns:a16="http://schemas.microsoft.com/office/drawing/2014/main" id="{0A9AF03A-972A-8AE5-4F9A-1BA661E6AEF9}"/>
              </a:ext>
            </a:extLst>
          </p:cNvPr>
          <p:cNvSpPr/>
          <p:nvPr/>
        </p:nvSpPr>
        <p:spPr>
          <a:xfrm>
            <a:off x="6760327" y="4386648"/>
            <a:ext cx="1521225" cy="349943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gradFill>
              <a:gsLst>
                <a:gs pos="62974">
                  <a:srgbClr val="B6C8E8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67" name="Right Arrow 66">
            <a:extLst>
              <a:ext uri="{FF2B5EF4-FFF2-40B4-BE49-F238E27FC236}">
                <a16:creationId xmlns:a16="http://schemas.microsoft.com/office/drawing/2014/main" id="{73C66BCF-E0E7-1F30-588A-3679077176E0}"/>
              </a:ext>
            </a:extLst>
          </p:cNvPr>
          <p:cNvSpPr/>
          <p:nvPr/>
        </p:nvSpPr>
        <p:spPr>
          <a:xfrm>
            <a:off x="9540103" y="4386648"/>
            <a:ext cx="1521225" cy="349943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gradFill>
              <a:gsLst>
                <a:gs pos="62974">
                  <a:srgbClr val="B6C8E8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pic>
        <p:nvPicPr>
          <p:cNvPr id="75" name="Graphic 74" descr="Checkbox Ticked with solid fill">
            <a:extLst>
              <a:ext uri="{FF2B5EF4-FFF2-40B4-BE49-F238E27FC236}">
                <a16:creationId xmlns:a16="http://schemas.microsoft.com/office/drawing/2014/main" id="{D3E5F3F7-A498-D2EC-625D-F5008F13AB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72756" y="5508060"/>
            <a:ext cx="457199" cy="457199"/>
          </a:xfrm>
          <a:prstGeom prst="rect">
            <a:avLst/>
          </a:prstGeom>
        </p:spPr>
      </p:pic>
      <p:pic>
        <p:nvPicPr>
          <p:cNvPr id="76" name="Graphic 75" descr="Checkbox Ticked with solid fill">
            <a:extLst>
              <a:ext uri="{FF2B5EF4-FFF2-40B4-BE49-F238E27FC236}">
                <a16:creationId xmlns:a16="http://schemas.microsoft.com/office/drawing/2014/main" id="{429F3C4A-C77D-F831-79A0-4DD0E46D4A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45513" y="5511609"/>
            <a:ext cx="457199" cy="457199"/>
          </a:xfrm>
          <a:prstGeom prst="rect">
            <a:avLst/>
          </a:prstGeom>
        </p:spPr>
      </p:pic>
      <p:pic>
        <p:nvPicPr>
          <p:cNvPr id="78" name="Graphic 77" descr="Stop outline">
            <a:extLst>
              <a:ext uri="{FF2B5EF4-FFF2-40B4-BE49-F238E27FC236}">
                <a16:creationId xmlns:a16="http://schemas.microsoft.com/office/drawing/2014/main" id="{BA507C11-8B2D-7E02-5FFB-8D5BBC6AC6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9696" y="5581926"/>
            <a:ext cx="312432" cy="312432"/>
          </a:xfrm>
          <a:prstGeom prst="rect">
            <a:avLst/>
          </a:prstGeom>
        </p:spPr>
      </p:pic>
      <p:pic>
        <p:nvPicPr>
          <p:cNvPr id="79" name="Graphic 78" descr="Stop outline">
            <a:extLst>
              <a:ext uri="{FF2B5EF4-FFF2-40B4-BE49-F238E27FC236}">
                <a16:creationId xmlns:a16="http://schemas.microsoft.com/office/drawing/2014/main" id="{BCC4FC30-FD91-2B8A-741F-6F54AFE895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60328" y="5590302"/>
            <a:ext cx="312432" cy="312432"/>
          </a:xfrm>
          <a:prstGeom prst="rect">
            <a:avLst/>
          </a:prstGeom>
        </p:spPr>
      </p:pic>
      <p:pic>
        <p:nvPicPr>
          <p:cNvPr id="80" name="Graphic 79" descr="Stop outline">
            <a:extLst>
              <a:ext uri="{FF2B5EF4-FFF2-40B4-BE49-F238E27FC236}">
                <a16:creationId xmlns:a16="http://schemas.microsoft.com/office/drawing/2014/main" id="{20EB5E76-7B27-158C-8FAF-9082F3C085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30960" y="5578702"/>
            <a:ext cx="312432" cy="312432"/>
          </a:xfrm>
          <a:prstGeom prst="rect">
            <a:avLst/>
          </a:prstGeom>
        </p:spPr>
      </p:pic>
      <p:grpSp>
        <p:nvGrpSpPr>
          <p:cNvPr id="83" name="Group 82">
            <a:extLst>
              <a:ext uri="{FF2B5EF4-FFF2-40B4-BE49-F238E27FC236}">
                <a16:creationId xmlns:a16="http://schemas.microsoft.com/office/drawing/2014/main" id="{26E51072-DDB7-843E-C770-CF1D72E099B6}"/>
              </a:ext>
            </a:extLst>
          </p:cNvPr>
          <p:cNvGrpSpPr/>
          <p:nvPr/>
        </p:nvGrpSpPr>
        <p:grpSpPr>
          <a:xfrm>
            <a:off x="10022221" y="1519823"/>
            <a:ext cx="1480931" cy="671047"/>
            <a:chOff x="10021701" y="1672467"/>
            <a:chExt cx="1480931" cy="671047"/>
          </a:xfrm>
        </p:grpSpPr>
        <p:pic>
          <p:nvPicPr>
            <p:cNvPr id="72" name="Graphic 71" descr="Checkbox Ticked with solid fill">
              <a:extLst>
                <a:ext uri="{FF2B5EF4-FFF2-40B4-BE49-F238E27FC236}">
                  <a16:creationId xmlns:a16="http://schemas.microsoft.com/office/drawing/2014/main" id="{A5509287-A850-B19F-6FE0-3A9DAB4744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021701" y="1684154"/>
              <a:ext cx="659360" cy="659360"/>
            </a:xfrm>
            <a:prstGeom prst="rect">
              <a:avLst/>
            </a:prstGeom>
          </p:spPr>
        </p:pic>
        <p:pic>
          <p:nvPicPr>
            <p:cNvPr id="74" name="Graphic 73" descr="Checkbox Crossed with solid fill">
              <a:extLst>
                <a:ext uri="{FF2B5EF4-FFF2-40B4-BE49-F238E27FC236}">
                  <a16:creationId xmlns:a16="http://schemas.microsoft.com/office/drawing/2014/main" id="{7E816392-510C-80CA-3D40-3FE4AD4FBC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483126" y="1672467"/>
              <a:ext cx="659360" cy="659360"/>
            </a:xfrm>
            <a:prstGeom prst="rect">
              <a:avLst/>
            </a:prstGeom>
          </p:spPr>
        </p:pic>
        <p:pic>
          <p:nvPicPr>
            <p:cNvPr id="82" name="Graphic 81" descr="Stop outline">
              <a:extLst>
                <a:ext uri="{FF2B5EF4-FFF2-40B4-BE49-F238E27FC236}">
                  <a16:creationId xmlns:a16="http://schemas.microsoft.com/office/drawing/2014/main" id="{57CDA9AF-367D-4935-B0E2-2CC23F4F0B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61328" y="1776767"/>
              <a:ext cx="441304" cy="4413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choose. Recurring by design.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lines. A one-time setup funds the build; a monthly managed service is the recurring base. Five packages, priced by complexity and control.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832104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Intake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43784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 txBox="1"/>
          <p:nvPr/>
        </p:nvSpPr>
        <p:spPr>
          <a:xfrm>
            <a:off x="2990088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990088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Basic+ AI Triage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1768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5148072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148072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Multi-Channel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59752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7306056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306056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Operations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17736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9464040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464040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Automation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511296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~CHF 750 → 30'000          Monthly  ~CHF 150 → 6'000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395020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RECURRING REVENUE (ARR)  ·  INDICATIVE, BLENDED ~CHF 8–15K PER ACTIVE CLIENT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206240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clients start lower; the blend rises as accounts expand.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4617720"/>
            <a:ext cx="2395728" cy="89611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685800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3374136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 txBox="1"/>
          <p:nvPr/>
        </p:nvSpPr>
        <p:spPr>
          <a:xfrm>
            <a:off x="3374136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374136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~50–120k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6062472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5" name="Text 33"/>
          <p:cNvSpPr txBox="1"/>
          <p:nvPr/>
        </p:nvSpPr>
        <p:spPr>
          <a:xfrm>
            <a:off x="6062472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062472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~120–300k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8750808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 txBox="1"/>
          <p:nvPr/>
        </p:nvSpPr>
        <p:spPr>
          <a:xfrm>
            <a:off x="8750808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750808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~240–600k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3118104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5806440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494776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a license, not a transfer. Break-even at ~6–8 clients. Bootstrap-first.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5" name="Text 43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operator today — the team the roadmap will need.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is added only when revenue covers it. We hire from cashflow, not speculation.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542032"/>
            <a:ext cx="10817352" cy="6766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886968" y="254203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542032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&gt;20 years in industrial operations (Eng. Process. Automation).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all four work packages today. Targets the real pain, not a demo.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41985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  ·  ADDED AS THE CLIENT LOAD (AND REVENUE) GROWS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694176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886968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Co-founders - Automation / delivery engineer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4151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hire, 2027/28. Scales the build beyond founder capacity. (WP2)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08776" y="3694176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6409944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58584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hires – Automation / Sales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958584" y="4151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2028, as clients reach 15–20. Frees the founder from outreach. (WP1)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4553712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886968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35608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 - Client success / operations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435608" y="50109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managed-service quality as the recurring base grows.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08776" y="4553712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 txBox="1"/>
          <p:nvPr/>
        </p:nvSpPr>
        <p:spPr>
          <a:xfrm>
            <a:off x="6409944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58584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- CH → EU expansion lead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958584" y="50109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2028+, to open the first EU market. (WP4)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541264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in now, not hired:  </a:t>
            </a:r>
            <a:r>
              <a:rPr lang="en-US" sz="105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IP counsel (contracts, licences, NDAs, data agreements) and accounting / fiduciary. Fractional, not headcount.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&amp; ADVISORS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yet. The advisors we'd bring in as we scale.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Advisory-first while founder-led. A formal board comes with funding. It's for credibility, introductions and governance, not titles.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 ADVISORY 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886968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/ industry operator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manufacturing or Treuhand veteran who knows the beachhead. Validates we target real pain and opens doors.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08776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6409944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58584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automation technical advisor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58584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build current and credible on safety and human-in-the-loop; sanity-checks the tech as it scales.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886968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35608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advisor (DACH B2B)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the positioning and the sales motion; referrals into high-trust niches.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08776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6409944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58584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IP &amp; governance advisor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58584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company law, IP licensing, data agreements, term sheets. Matters more as licensing and any raise grow.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fifth seat: a first design-partner client, to keep us honest.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MOTION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just a plan. It's already running.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Pre-revenue, but not pre-proof. Three things are live today.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905256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pilot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5256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 txBox="1"/>
          <p:nvPr/>
        </p:nvSpPr>
        <p:spPr>
          <a:xfrm>
            <a:off x="905256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unpaid email-handling automation with a Swiss SME. Our first real implementation and reference case, in progress. A build we can point to, not just a claim.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79976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4599432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Check live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99432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 txBox="1"/>
          <p:nvPr/>
        </p:nvSpPr>
        <p:spPr>
          <a:xfrm>
            <a:off x="4599432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self-check, live on vortexdeep.ch. The low-pressure front door that collects real data on who fits.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74152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 txBox="1"/>
          <p:nvPr/>
        </p:nvSpPr>
        <p:spPr>
          <a:xfrm>
            <a:off x="8293608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on the table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93608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8293608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quantify a prospect's cost of doing nothing (time, errors, lost leads) against our fee. Payback typically in a couple of months.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Narrow, but real. Proof, not a demo.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a small company drowning in</a:t>
            </a:r>
            <a:endParaRPr lang="en-US" sz="34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admin? That's exactly who we help.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57600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Introductions to SMEs in the beachhead, and early capital to compress the timeline: earlier delivery hire, faster CH → EU.  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stands on its own revenue; funding makes it faster.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84632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1542</Words>
  <Application>Microsoft Macintosh PowerPoint</Application>
  <PresentationFormat>Widescreen</PresentationFormat>
  <Paragraphs>258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maciek szczech</cp:lastModifiedBy>
  <cp:revision>10</cp:revision>
  <dcterms:created xsi:type="dcterms:W3CDTF">2026-08-29T17:23:06Z</dcterms:created>
  <dcterms:modified xsi:type="dcterms:W3CDTF">2026-09-01T11:51:48Z</dcterms:modified>
</cp:coreProperties>
</file>