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52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8650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 txBox="1"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7432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108173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handles the repetitive work.</a:t>
            </a:r>
            <a:endParaRPr lang="en-US" sz="400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keep the decisions.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88620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C7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build and run AI workflows for small and mid-sized companies.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5760720"/>
            <a:ext cx="10817352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 txBox="1"/>
          <p:nvPr/>
        </p:nvSpPr>
        <p:spPr>
          <a:xfrm>
            <a:off x="685800" y="585216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CREATION ICT  ·  VENTURELAB  ·  AUG-SEP 2026  ·  ZÜRICH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617220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Maciek Szczech, Founder  ·  vortexdeep.ch  ·  info@vortexdeep.ch  ·  Claridapark 4, 8636 Wald ZH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 txBox="1"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7432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8412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 txBox="1"/>
          <p:nvPr/>
        </p:nvSpPr>
        <p:spPr>
          <a:xfrm>
            <a:off x="685800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16752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CREATION ICT  ·  VENTURELAB  ·  AUG-SEP 2026  ·  ZÜRICH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316736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tasks, repeated every day.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10512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is easy once. The cost is that it never stops.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3317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queue · 1…N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" y="265176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 txBox="1"/>
          <p:nvPr/>
        </p:nvSpPr>
        <p:spPr>
          <a:xfrm>
            <a:off x="822960" y="265176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" y="315468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 txBox="1"/>
          <p:nvPr/>
        </p:nvSpPr>
        <p:spPr>
          <a:xfrm>
            <a:off x="822960" y="315468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Data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365760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6" name="Text 14"/>
          <p:cNvSpPr txBox="1"/>
          <p:nvPr/>
        </p:nvSpPr>
        <p:spPr>
          <a:xfrm>
            <a:off x="822960" y="36576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Quotes &amp; Renewals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960" y="416052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8" name="Text 16"/>
          <p:cNvSpPr txBox="1"/>
          <p:nvPr/>
        </p:nvSpPr>
        <p:spPr>
          <a:xfrm>
            <a:off x="822960" y="416052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154680" y="2852928"/>
            <a:ext cx="1810512" cy="548640"/>
          </a:xfrm>
          <a:prstGeom prst="line">
            <a:avLst/>
          </a:prstGeom>
          <a:noFill/>
          <a:ln w="12700">
            <a:solidFill>
              <a:srgbClr val="B4B4B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CH"/>
          </a:p>
        </p:txBody>
      </p:sp>
      <p:sp>
        <p:nvSpPr>
          <p:cNvPr id="20" name="Shape 18"/>
          <p:cNvSpPr/>
          <p:nvPr/>
        </p:nvSpPr>
        <p:spPr>
          <a:xfrm>
            <a:off x="3154680" y="3355848"/>
            <a:ext cx="1810512" cy="45720"/>
          </a:xfrm>
          <a:prstGeom prst="line">
            <a:avLst/>
          </a:prstGeom>
          <a:noFill/>
          <a:ln w="12700">
            <a:solidFill>
              <a:srgbClr val="B4B4B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CH"/>
          </a:p>
        </p:txBody>
      </p:sp>
      <p:sp>
        <p:nvSpPr>
          <p:cNvPr id="21" name="Shape 19"/>
          <p:cNvSpPr/>
          <p:nvPr/>
        </p:nvSpPr>
        <p:spPr>
          <a:xfrm flipV="1">
            <a:off x="3154680" y="3401568"/>
            <a:ext cx="1810512" cy="457200"/>
          </a:xfrm>
          <a:prstGeom prst="line">
            <a:avLst/>
          </a:prstGeom>
          <a:noFill/>
          <a:ln w="12700">
            <a:solidFill>
              <a:srgbClr val="B4B4B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CH"/>
          </a:p>
        </p:txBody>
      </p:sp>
      <p:sp>
        <p:nvSpPr>
          <p:cNvPr id="22" name="Shape 20"/>
          <p:cNvSpPr/>
          <p:nvPr/>
        </p:nvSpPr>
        <p:spPr>
          <a:xfrm flipV="1">
            <a:off x="3154680" y="3401568"/>
            <a:ext cx="1810512" cy="960120"/>
          </a:xfrm>
          <a:prstGeom prst="line">
            <a:avLst/>
          </a:prstGeom>
          <a:noFill/>
          <a:ln w="12700">
            <a:solidFill>
              <a:srgbClr val="B4B4B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CH"/>
          </a:p>
        </p:txBody>
      </p:sp>
      <p:sp>
        <p:nvSpPr>
          <p:cNvPr id="23" name="Shape 21"/>
          <p:cNvSpPr/>
          <p:nvPr/>
        </p:nvSpPr>
        <p:spPr>
          <a:xfrm>
            <a:off x="4983480" y="2788920"/>
            <a:ext cx="1234440" cy="12344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41414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4" name="Text 22"/>
          <p:cNvSpPr txBox="1"/>
          <p:nvPr/>
        </p:nvSpPr>
        <p:spPr>
          <a:xfrm>
            <a:off x="4983480" y="278892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endParaRPr lang="en-US" sz="13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/ one at a time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09360" y="3401568"/>
            <a:ext cx="123444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6" name="Shape 24"/>
          <p:cNvSpPr/>
          <p:nvPr/>
        </p:nvSpPr>
        <p:spPr>
          <a:xfrm>
            <a:off x="7635240" y="3072384"/>
            <a:ext cx="3246120" cy="658368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7" name="Text 25"/>
          <p:cNvSpPr txBox="1"/>
          <p:nvPr/>
        </p:nvSpPr>
        <p:spPr>
          <a:xfrm>
            <a:off x="7635240" y="3072384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resolved, one after another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1, then 2, then 3 …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71432" y="3730752"/>
            <a:ext cx="0" cy="429768"/>
          </a:xfrm>
          <a:prstGeom prst="line">
            <a:avLst/>
          </a:prstGeom>
          <a:noFill/>
          <a:ln w="12700">
            <a:solidFill>
              <a:srgbClr val="B4B4B4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 lang="en-CH"/>
          </a:p>
        </p:txBody>
      </p:sp>
      <p:sp>
        <p:nvSpPr>
          <p:cNvPr id="29" name="Shape 27"/>
          <p:cNvSpPr/>
          <p:nvPr/>
        </p:nvSpPr>
        <p:spPr>
          <a:xfrm>
            <a:off x="5605272" y="4160520"/>
            <a:ext cx="3566160" cy="0"/>
          </a:xfrm>
          <a:prstGeom prst="line">
            <a:avLst/>
          </a:prstGeom>
          <a:noFill/>
          <a:ln w="12700">
            <a:solidFill>
              <a:srgbClr val="B4B4B4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 lang="en-CH"/>
          </a:p>
        </p:txBody>
      </p:sp>
      <p:sp>
        <p:nvSpPr>
          <p:cNvPr id="30" name="Shape 28"/>
          <p:cNvSpPr/>
          <p:nvPr/>
        </p:nvSpPr>
        <p:spPr>
          <a:xfrm>
            <a:off x="5605272" y="4023360"/>
            <a:ext cx="0" cy="137160"/>
          </a:xfrm>
          <a:prstGeom prst="line">
            <a:avLst/>
          </a:prstGeom>
          <a:noFill/>
          <a:ln w="12700">
            <a:solidFill>
              <a:srgbClr val="B4B4B4"/>
            </a:solidFill>
            <a:prstDash val="dash"/>
            <a:headEnd type="triangle"/>
            <a:tailEnd type="none"/>
          </a:ln>
        </p:spPr>
        <p:txBody>
          <a:bodyPr/>
          <a:lstStyle/>
          <a:p>
            <a:endParaRPr lang="en-CH"/>
          </a:p>
        </p:txBody>
      </p:sp>
      <p:sp>
        <p:nvSpPr>
          <p:cNvPr id="31" name="Text 29"/>
          <p:cNvSpPr txBox="1"/>
          <p:nvPr/>
        </p:nvSpPr>
        <p:spPr>
          <a:xfrm>
            <a:off x="5669280" y="4206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 resolved, then the next task …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4956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pair of hands. The queue only clears as fast as you do.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925312"/>
            <a:ext cx="10817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 </a:t>
            </a:r>
            <a:r>
              <a:rPr lang="en-US" sz="1250" i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isn't any one task. It's that they never stop.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85800" y="63276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35" name="Text 33"/>
          <p:cNvSpPr txBox="1"/>
          <p:nvPr/>
        </p:nvSpPr>
        <p:spPr>
          <a:xfrm>
            <a:off x="685800" y="63642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vortexdeep.ch  ·  info@vortexdeep.ch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0131552" y="63642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 txBox="1"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7432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8412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 txBox="1"/>
          <p:nvPr/>
        </p:nvSpPr>
        <p:spPr>
          <a:xfrm>
            <a:off x="685800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16752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CREATION ICT  ·  VENTURELAB  ·  AUG-SEP 2026  ·  ZÜRICH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316736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turn repetitive tasks into AI workflows, with a human in control.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317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incoming · 1…N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2011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154680"/>
            <a:ext cx="2011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3" name="Text 11"/>
          <p:cNvSpPr txBox="1"/>
          <p:nvPr/>
        </p:nvSpPr>
        <p:spPr>
          <a:xfrm>
            <a:off x="822960" y="315468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657600"/>
            <a:ext cx="2011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5" name="Text 13"/>
          <p:cNvSpPr txBox="1"/>
          <p:nvPr/>
        </p:nvSpPr>
        <p:spPr>
          <a:xfrm>
            <a:off x="822960" y="36576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160520"/>
            <a:ext cx="2011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 txBox="1"/>
          <p:nvPr/>
        </p:nvSpPr>
        <p:spPr>
          <a:xfrm>
            <a:off x="822960" y="41605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4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834640" y="2852928"/>
            <a:ext cx="640080" cy="548640"/>
          </a:xfrm>
          <a:prstGeom prst="line">
            <a:avLst/>
          </a:prstGeom>
          <a:noFill/>
          <a:ln w="12700">
            <a:solidFill>
              <a:srgbClr val="B4B4B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CH"/>
          </a:p>
        </p:txBody>
      </p:sp>
      <p:sp>
        <p:nvSpPr>
          <p:cNvPr id="19" name="Shape 17"/>
          <p:cNvSpPr/>
          <p:nvPr/>
        </p:nvSpPr>
        <p:spPr>
          <a:xfrm>
            <a:off x="2834640" y="3355848"/>
            <a:ext cx="640080" cy="45720"/>
          </a:xfrm>
          <a:prstGeom prst="line">
            <a:avLst/>
          </a:prstGeom>
          <a:noFill/>
          <a:ln w="12700">
            <a:solidFill>
              <a:srgbClr val="B4B4B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CH"/>
          </a:p>
        </p:txBody>
      </p:sp>
      <p:sp>
        <p:nvSpPr>
          <p:cNvPr id="20" name="Shape 18"/>
          <p:cNvSpPr/>
          <p:nvPr/>
        </p:nvSpPr>
        <p:spPr>
          <a:xfrm flipV="1">
            <a:off x="2834640" y="3401568"/>
            <a:ext cx="640080" cy="457200"/>
          </a:xfrm>
          <a:prstGeom prst="line">
            <a:avLst/>
          </a:prstGeom>
          <a:noFill/>
          <a:ln w="12700">
            <a:solidFill>
              <a:srgbClr val="B4B4B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CH"/>
          </a:p>
        </p:txBody>
      </p:sp>
      <p:sp>
        <p:nvSpPr>
          <p:cNvPr id="21" name="Shape 19"/>
          <p:cNvSpPr/>
          <p:nvPr/>
        </p:nvSpPr>
        <p:spPr>
          <a:xfrm flipV="1">
            <a:off x="2834640" y="3401568"/>
            <a:ext cx="640080" cy="960120"/>
          </a:xfrm>
          <a:prstGeom prst="line">
            <a:avLst/>
          </a:prstGeom>
          <a:noFill/>
          <a:ln w="12700">
            <a:solidFill>
              <a:srgbClr val="B4B4B4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CH"/>
          </a:p>
        </p:txBody>
      </p:sp>
      <p:sp>
        <p:nvSpPr>
          <p:cNvPr id="22" name="Shape 20"/>
          <p:cNvSpPr/>
          <p:nvPr/>
        </p:nvSpPr>
        <p:spPr>
          <a:xfrm>
            <a:off x="3474720" y="2926080"/>
            <a:ext cx="2148840" cy="960120"/>
          </a:xfrm>
          <a:prstGeom prst="roundRect">
            <a:avLst>
              <a:gd name="adj" fmla="val 5714"/>
            </a:avLst>
          </a:prstGeom>
          <a:solidFill>
            <a:srgbClr val="14141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 txBox="1"/>
          <p:nvPr/>
        </p:nvSpPr>
        <p:spPr>
          <a:xfrm>
            <a:off x="3474720" y="292608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workflow</a:t>
            </a:r>
            <a:endParaRPr lang="en-US" sz="13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C7C7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work, in parallel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23560" y="3401568"/>
            <a:ext cx="41148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5" name="Shape 23"/>
          <p:cNvSpPr/>
          <p:nvPr/>
        </p:nvSpPr>
        <p:spPr>
          <a:xfrm>
            <a:off x="6144768" y="2834640"/>
            <a:ext cx="1143000" cy="1143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41414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Text 24"/>
          <p:cNvSpPr txBox="1"/>
          <p:nvPr/>
        </p:nvSpPr>
        <p:spPr>
          <a:xfrm>
            <a:off x="6144768" y="28346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endParaRPr lang="en-US" sz="13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577840" y="40416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point · human-in-the-loop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60920" y="3401568"/>
            <a:ext cx="50292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CH"/>
          </a:p>
        </p:txBody>
      </p:sp>
      <p:sp>
        <p:nvSpPr>
          <p:cNvPr id="29" name="Shape 27"/>
          <p:cNvSpPr/>
          <p:nvPr/>
        </p:nvSpPr>
        <p:spPr>
          <a:xfrm>
            <a:off x="7955280" y="3072384"/>
            <a:ext cx="2926080" cy="658368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0" name="Text 28"/>
          <p:cNvSpPr txBox="1"/>
          <p:nvPr/>
        </p:nvSpPr>
        <p:spPr>
          <a:xfrm>
            <a:off x="7955280" y="307238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1…N resolved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846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does the work in parallel. You approve each. Your call.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5925312"/>
            <a:ext cx="10817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 </a:t>
            </a:r>
            <a:r>
              <a:rPr lang="en-US" sz="1250" i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task costing you the most hours. Add from there.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85800" y="63276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34" name="Text 32"/>
          <p:cNvSpPr txBox="1"/>
          <p:nvPr/>
        </p:nvSpPr>
        <p:spPr>
          <a:xfrm>
            <a:off x="685800" y="63642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vortexdeep.ch  ·  info@vortexdeep.ch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131552" y="63642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 txBox="1"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7432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8412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 txBox="1"/>
          <p:nvPr/>
        </p:nvSpPr>
        <p:spPr>
          <a:xfrm>
            <a:off x="685800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16752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CREATION ICT  ·  VENTURELAB  ·  AUG-SEP 2026  ·  ZÜRICH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316736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and mid-sized companies — starting in Switzerland.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10512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defined by industry. By the admin that repeats every day.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2276856"/>
            <a:ext cx="3364992" cy="566928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 txBox="1"/>
          <p:nvPr/>
        </p:nvSpPr>
        <p:spPr>
          <a:xfrm>
            <a:off x="685800" y="2276856"/>
            <a:ext cx="3364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16552" y="2276856"/>
            <a:ext cx="3364992" cy="566928"/>
          </a:xfrm>
          <a:prstGeom prst="rect">
            <a:avLst/>
          </a:prstGeom>
          <a:solidFill>
            <a:srgbClr val="F3F3F3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3" name="Text 11"/>
          <p:cNvSpPr txBox="1"/>
          <p:nvPr/>
        </p:nvSpPr>
        <p:spPr>
          <a:xfrm>
            <a:off x="4416552" y="2276856"/>
            <a:ext cx="3364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47304" y="2276856"/>
            <a:ext cx="3364992" cy="566928"/>
          </a:xfrm>
          <a:prstGeom prst="rect">
            <a:avLst/>
          </a:prstGeom>
          <a:solidFill>
            <a:srgbClr val="F3F3F3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5" name="Text 13"/>
          <p:cNvSpPr txBox="1"/>
          <p:nvPr/>
        </p:nvSpPr>
        <p:spPr>
          <a:xfrm>
            <a:off x="8147304" y="2276856"/>
            <a:ext cx="3364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Worldwide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069080" y="2276856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99832" y="2276856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072384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SIZE  ·  SWISS BEACHHEAD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3401568"/>
            <a:ext cx="3419856" cy="1481328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 txBox="1"/>
          <p:nvPr/>
        </p:nvSpPr>
        <p:spPr>
          <a:xfrm>
            <a:off x="886968" y="35295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86968" y="3749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~600k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886968" y="42611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SMEs with repetitive admin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53542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mostly micro firms; a lighter tier could open them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79976" y="3401568"/>
            <a:ext cx="3419856" cy="1481328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5" name="Text 23"/>
          <p:cNvSpPr txBox="1"/>
          <p:nvPr/>
        </p:nvSpPr>
        <p:spPr>
          <a:xfrm>
            <a:off x="4581144" y="35295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81144" y="3749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~50k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4581144" y="42611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firms, 10–49 employees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81144" y="453542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CHF 400–750M ARR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74152" y="3401568"/>
            <a:ext cx="3419856" cy="1481328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0" name="Text 28"/>
          <p:cNvSpPr txBox="1"/>
          <p:nvPr/>
        </p:nvSpPr>
        <p:spPr>
          <a:xfrm>
            <a:off x="8275320" y="35295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3749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30–40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2611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clients by 2029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453542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CHF 0.25–0.6M ARR · under 0.1% of SAM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4992624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SECO / Federal Statistical Office. Revenue indicative.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266944"/>
            <a:ext cx="10817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(Total Addressable Market) — everyone who has the problem, if you could reach them all.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(Serviceable Addressable Market) — the slice you could actually serve with your model and focus.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(Serviceable Obtainable Market) — what you can realistically win in the near term (your beachhead).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925312"/>
            <a:ext cx="10817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 </a:t>
            </a:r>
            <a:r>
              <a:rPr lang="en-US" sz="1250" i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slice is the cautious middle: AI's help, not its autonomy.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85800" y="63276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38" name="Text 36"/>
          <p:cNvSpPr txBox="1"/>
          <p:nvPr/>
        </p:nvSpPr>
        <p:spPr>
          <a:xfrm>
            <a:off x="685800" y="63642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vortexdeep.ch  ·  info@vortexdeep.ch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0131552" y="63642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 txBox="1"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7432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8412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 txBox="1"/>
          <p:nvPr/>
        </p:nvSpPr>
        <p:spPr>
          <a:xfrm>
            <a:off x="685800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&amp; ADVANTAGE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16752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CREATION ICT  ·  VENTURELAB  ·  AUG-SEP 2026  ·  ZÜRICH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316736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automation. A person approves every step.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10512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ways to handle the repetition, each with a catch, and our fifth.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2677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OPTIONS  ·  EACH WITH A CATCH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6517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DIY tools:  </a:t>
            </a: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cheap, but you build and maintain it.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45643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autonomy:  </a:t>
            </a: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fast, but a black box you can't oversee.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26110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Hire:  </a:t>
            </a: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cost, and still manual.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06577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nothing:  </a:t>
            </a: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quietly compounds every day.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67712"/>
            <a:ext cx="5468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FIFTH WAY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2615184"/>
            <a:ext cx="5468112" cy="7315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 txBox="1"/>
          <p:nvPr/>
        </p:nvSpPr>
        <p:spPr>
          <a:xfrm>
            <a:off x="6236208" y="27614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2761488"/>
            <a:ext cx="4608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every step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784848" y="3072384"/>
            <a:ext cx="4608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sent or done on its own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35040" y="3419856"/>
            <a:ext cx="5468112" cy="7315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1" name="Text 19"/>
          <p:cNvSpPr txBox="1"/>
          <p:nvPr/>
        </p:nvSpPr>
        <p:spPr>
          <a:xfrm>
            <a:off x="6236208" y="3566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784848" y="3566160"/>
            <a:ext cx="4608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build and run it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784848" y="3877056"/>
            <a:ext cx="4608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tool to learn or maintain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35040" y="4224528"/>
            <a:ext cx="5468112" cy="7315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5" name="Text 23"/>
          <p:cNvSpPr txBox="1"/>
          <p:nvPr/>
        </p:nvSpPr>
        <p:spPr>
          <a:xfrm>
            <a:off x="6236208" y="437083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784848" y="4370832"/>
            <a:ext cx="4608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data stays yours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4681728"/>
            <a:ext cx="4608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lock-in, nothing hidden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35040" y="5029200"/>
            <a:ext cx="5468112" cy="7315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 txBox="1"/>
          <p:nvPr/>
        </p:nvSpPr>
        <p:spPr>
          <a:xfrm>
            <a:off x="6236208" y="517550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784848" y="5175504"/>
            <a:ext cx="4608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not replaced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784848" y="5486400"/>
            <a:ext cx="4608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automate the work, not the person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5925312"/>
            <a:ext cx="10817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 </a:t>
            </a:r>
            <a:r>
              <a:rPr lang="en-US" sz="1250" i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cautious middle: a few clients at a time, fixed scope.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85800" y="63276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34" name="Text 32"/>
          <p:cNvSpPr txBox="1"/>
          <p:nvPr/>
        </p:nvSpPr>
        <p:spPr>
          <a:xfrm>
            <a:off x="685800" y="63642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vortexdeep.ch  ·  info@vortexdeep.ch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131552" y="63642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 txBox="1"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7432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8412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 txBox="1"/>
          <p:nvPr/>
        </p:nvSpPr>
        <p:spPr>
          <a:xfrm>
            <a:off x="685800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16752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CREATION ICT  ·  VENTURELAB  ·  AUG-SEP 2026  ·  ZÜRICH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316736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narrow, prove it, then widen.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685800" y="2395728"/>
            <a:ext cx="2514600" cy="32004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0" name="Text 8"/>
          <p:cNvSpPr txBox="1"/>
          <p:nvPr/>
        </p:nvSpPr>
        <p:spPr>
          <a:xfrm>
            <a:off x="905256" y="259689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H2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905256" y="2999232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05256" y="3456432"/>
            <a:ext cx="2075688" cy="0"/>
          </a:xfrm>
          <a:prstGeom prst="line">
            <a:avLst/>
          </a:prstGeom>
          <a:noFill/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1"/>
          <p:cNvSpPr txBox="1"/>
          <p:nvPr/>
        </p:nvSpPr>
        <p:spPr>
          <a:xfrm>
            <a:off x="960120" y="3639312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Swiss clients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automation live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reference case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6432" y="2395728"/>
            <a:ext cx="2514600" cy="32004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5" name="Text 13"/>
          <p:cNvSpPr txBox="1"/>
          <p:nvPr/>
        </p:nvSpPr>
        <p:spPr>
          <a:xfrm>
            <a:off x="3675888" y="259689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3675888" y="2999232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675888" y="3456432"/>
            <a:ext cx="2075688" cy="0"/>
          </a:xfrm>
          <a:prstGeom prst="line">
            <a:avLst/>
          </a:prstGeom>
          <a:noFill/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6"/>
          <p:cNvSpPr txBox="1"/>
          <p:nvPr/>
        </p:nvSpPr>
        <p:spPr>
          <a:xfrm>
            <a:off x="3730752" y="3639312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6–8 managed clients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hire decided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27064" y="2395728"/>
            <a:ext cx="2514600" cy="32004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 txBox="1"/>
          <p:nvPr/>
        </p:nvSpPr>
        <p:spPr>
          <a:xfrm>
            <a:off x="6446520" y="259689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2999232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widen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46520" y="3456432"/>
            <a:ext cx="2075688" cy="0"/>
          </a:xfrm>
          <a:prstGeom prst="line">
            <a:avLst/>
          </a:prstGeom>
          <a:noFill/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 txBox="1"/>
          <p:nvPr/>
        </p:nvSpPr>
        <p:spPr>
          <a:xfrm>
            <a:off x="6501384" y="3639312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clients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→ EU expansion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Productise workflows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997696" y="2395728"/>
            <a:ext cx="2514600" cy="32004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5" name="Text 23"/>
          <p:cNvSpPr txBox="1"/>
          <p:nvPr/>
        </p:nvSpPr>
        <p:spPr>
          <a:xfrm>
            <a:off x="9217152" y="259689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217152" y="2999232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217152" y="3456432"/>
            <a:ext cx="2075688" cy="0"/>
          </a:xfrm>
          <a:prstGeom prst="line">
            <a:avLst/>
          </a:prstGeom>
          <a:noFill/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8" name="Text 26"/>
          <p:cNvSpPr txBox="1"/>
          <p:nvPr/>
        </p:nvSpPr>
        <p:spPr>
          <a:xfrm>
            <a:off x="9272016" y="3639312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30–40+ clients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~6–8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IP, licensed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5925312"/>
            <a:ext cx="10817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 </a:t>
            </a:r>
            <a:r>
              <a:rPr lang="en-US" sz="1250" i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one process, expand within the account. Each stage funds the next.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85800" y="63276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31" name="Text 29"/>
          <p:cNvSpPr txBox="1"/>
          <p:nvPr/>
        </p:nvSpPr>
        <p:spPr>
          <a:xfrm>
            <a:off x="685800" y="63642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vortexdeep.ch  ·  info@vortexdeep.ch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131552" y="63642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11</a:t>
            </a:r>
            <a:endParaRPr lang="en-US" sz="85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C8F846E-5AC9-36BA-1A22-85AA46AB27BD}"/>
              </a:ext>
            </a:extLst>
          </p:cNvPr>
          <p:cNvGrpSpPr/>
          <p:nvPr/>
        </p:nvGrpSpPr>
        <p:grpSpPr>
          <a:xfrm>
            <a:off x="1849120" y="4500880"/>
            <a:ext cx="650240" cy="999090"/>
            <a:chOff x="1605280" y="4500880"/>
            <a:chExt cx="650240" cy="999090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7F3337C-5339-96B5-9B75-1EF0BCEAF447}"/>
                </a:ext>
              </a:extLst>
            </p:cNvPr>
            <p:cNvCxnSpPr>
              <a:cxnSpLocks/>
            </p:cNvCxnSpPr>
            <p:nvPr/>
          </p:nvCxnSpPr>
          <p:spPr>
            <a:xfrm>
              <a:off x="1930400" y="4500880"/>
              <a:ext cx="0" cy="589280"/>
            </a:xfrm>
            <a:prstGeom prst="line">
              <a:avLst/>
            </a:prstGeom>
            <a:ln w="762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15BF915-6798-F4EC-A30F-3863B1F19949}"/>
                </a:ext>
              </a:extLst>
            </p:cNvPr>
            <p:cNvSpPr txBox="1"/>
            <p:nvPr/>
          </p:nvSpPr>
          <p:spPr>
            <a:xfrm>
              <a:off x="1605280" y="5069083"/>
              <a:ext cx="6502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H" sz="11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 LIVE PILOT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 txBox="1"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7432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8412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 txBox="1"/>
          <p:nvPr/>
        </p:nvSpPr>
        <p:spPr>
          <a:xfrm>
            <a:off x="685800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PLAN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16752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CREATION ICT  ·  VENTURELAB  ·  AUG-SEP 2026  ·  ZÜRICH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316736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to the scope you choose. Recurring by design.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10512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lines. A one-time setup funds the build; a monthly managed service is the recurring base. Five packages, priced by complexity and control.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2615184"/>
            <a:ext cx="2011680" cy="749808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 txBox="1"/>
          <p:nvPr/>
        </p:nvSpPr>
        <p:spPr>
          <a:xfrm>
            <a:off x="832104" y="2706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" y="2944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Intake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843784" y="2615184"/>
            <a:ext cx="2011680" cy="749808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 txBox="1"/>
          <p:nvPr/>
        </p:nvSpPr>
        <p:spPr>
          <a:xfrm>
            <a:off x="2990088" y="2706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990088" y="2944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Basic+ AI Triage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01768" y="2615184"/>
            <a:ext cx="2011680" cy="749808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 txBox="1"/>
          <p:nvPr/>
        </p:nvSpPr>
        <p:spPr>
          <a:xfrm>
            <a:off x="5148072" y="2706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148072" y="2944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Multi-Channel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159752" y="2615184"/>
            <a:ext cx="2011680" cy="749808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 txBox="1"/>
          <p:nvPr/>
        </p:nvSpPr>
        <p:spPr>
          <a:xfrm>
            <a:off x="7306056" y="2706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306056" y="2944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Operations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317736" y="2615184"/>
            <a:ext cx="2011680" cy="749808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 txBox="1"/>
          <p:nvPr/>
        </p:nvSpPr>
        <p:spPr>
          <a:xfrm>
            <a:off x="9464040" y="2706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464040" y="2944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Automation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3511296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 ~CHF 750 → 30'000          Monthly  ~CHF 150 → 6'000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3950208"/>
            <a:ext cx="10817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RECURRING REVENUE (ARR)  ·  INDICATIVE, BLENDED ~CHF 8–15K PER ACTIVE CLIENT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4206240"/>
            <a:ext cx="10817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clients start lower; the blend rises as accounts expand.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5800" y="4617720"/>
            <a:ext cx="2395728" cy="896112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 txBox="1"/>
          <p:nvPr/>
        </p:nvSpPr>
        <p:spPr>
          <a:xfrm>
            <a:off x="685800" y="4718304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956048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3374136" y="4617720"/>
            <a:ext cx="2395728" cy="896112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2" name="Text 30"/>
          <p:cNvSpPr txBox="1"/>
          <p:nvPr/>
        </p:nvSpPr>
        <p:spPr>
          <a:xfrm>
            <a:off x="3374136" y="4718304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BFB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374136" y="4956048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~50–120k</a:t>
            </a:r>
            <a:endParaRPr lang="en-US" sz="1900" dirty="0"/>
          </a:p>
        </p:txBody>
      </p:sp>
      <p:sp>
        <p:nvSpPr>
          <p:cNvPr id="34" name="Shape 32"/>
          <p:cNvSpPr/>
          <p:nvPr/>
        </p:nvSpPr>
        <p:spPr>
          <a:xfrm>
            <a:off x="6062472" y="4617720"/>
            <a:ext cx="2395728" cy="896112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5" name="Text 33"/>
          <p:cNvSpPr txBox="1"/>
          <p:nvPr/>
        </p:nvSpPr>
        <p:spPr>
          <a:xfrm>
            <a:off x="6062472" y="4718304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BFB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062472" y="4956048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~120–300k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8750808" y="4617720"/>
            <a:ext cx="2395728" cy="896112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8" name="Text 36"/>
          <p:cNvSpPr txBox="1"/>
          <p:nvPr/>
        </p:nvSpPr>
        <p:spPr>
          <a:xfrm>
            <a:off x="8750808" y="4718304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BFB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750808" y="4956048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~240–600k</a:t>
            </a:r>
            <a:endParaRPr lang="en-US" sz="1900" dirty="0"/>
          </a:p>
        </p:txBody>
      </p:sp>
      <p:sp>
        <p:nvSpPr>
          <p:cNvPr id="40" name="Text 38"/>
          <p:cNvSpPr txBox="1"/>
          <p:nvPr/>
        </p:nvSpPr>
        <p:spPr>
          <a:xfrm>
            <a:off x="3118104" y="4617720"/>
            <a:ext cx="2560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806440" y="4617720"/>
            <a:ext cx="2560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8494776" y="4617720"/>
            <a:ext cx="2560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85800" y="5925312"/>
            <a:ext cx="10817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 </a:t>
            </a:r>
            <a:r>
              <a:rPr lang="en-US" sz="1250" i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is a license, not a transfer. Break-even at ~6–8 clients. Bootstrap-first.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85800" y="63276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45" name="Text 43"/>
          <p:cNvSpPr txBox="1"/>
          <p:nvPr/>
        </p:nvSpPr>
        <p:spPr>
          <a:xfrm>
            <a:off x="685800" y="63642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vortexdeep.ch  ·  info@vortexdeep.ch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131552" y="63642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11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 txBox="1"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7432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8412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 txBox="1"/>
          <p:nvPr/>
        </p:nvSpPr>
        <p:spPr>
          <a:xfrm>
            <a:off x="685800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16752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CREATION ICT  ·  VENTURELAB  ·  AUG-SEP 2026  ·  ZÜRICH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316736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operator today — the team the roadmap will need.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10512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role is added only when revenue covers it. We hire from cashflow, not speculation.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267712"/>
            <a:ext cx="10817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NOW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" y="2542032"/>
            <a:ext cx="10817352" cy="676656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 txBox="1"/>
          <p:nvPr/>
        </p:nvSpPr>
        <p:spPr>
          <a:xfrm>
            <a:off x="886968" y="2542032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Maciek Szczech, Founder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2542032"/>
            <a:ext cx="7223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years in industrial operations. Covers all four work packages today. Targets the real pain, not a demo.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419856"/>
            <a:ext cx="10817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MISSING  ·  ADDED AS THE CLIENT LOAD (AND REVENUE) GROWS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694176"/>
            <a:ext cx="5294376" cy="768096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6" name="Text 14"/>
          <p:cNvSpPr txBox="1"/>
          <p:nvPr/>
        </p:nvSpPr>
        <p:spPr>
          <a:xfrm>
            <a:off x="886968" y="3840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35608" y="384048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 / delivery engineer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435608" y="4151376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hire, 2027/28. Scales the build beyond founder capacity. (WP2)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08776" y="3694176"/>
            <a:ext cx="5294376" cy="768096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 txBox="1"/>
          <p:nvPr/>
        </p:nvSpPr>
        <p:spPr>
          <a:xfrm>
            <a:off x="6409944" y="3840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58584" y="384048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/ business development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958584" y="4151376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2028, as clients reach 15–20. Frees the founder from outreach. (WP1)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4553712"/>
            <a:ext cx="5294376" cy="768096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4" name="Text 22"/>
          <p:cNvSpPr txBox="1"/>
          <p:nvPr/>
        </p:nvSpPr>
        <p:spPr>
          <a:xfrm>
            <a:off x="886968" y="470001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35608" y="470001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success / operations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435608" y="5010912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managed-service quality as the recurring base grows.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08776" y="4553712"/>
            <a:ext cx="5294376" cy="768096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8" name="Text 26"/>
          <p:cNvSpPr txBox="1"/>
          <p:nvPr/>
        </p:nvSpPr>
        <p:spPr>
          <a:xfrm>
            <a:off x="6409944" y="470001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958584" y="470001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→ EU expansion lead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958584" y="5010912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2028+, to open the first EU market. (WP4)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5541264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Bought in now, not hired:  </a:t>
            </a:r>
            <a:r>
              <a:rPr lang="en-US" sz="1050" i="1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&amp; IP counsel (contracts, licences, NDAs, data agreements) and accounting / fiduciary. Fractional, not headcount.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85800" y="63276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33" name="Text 31"/>
          <p:cNvSpPr txBox="1"/>
          <p:nvPr/>
        </p:nvSpPr>
        <p:spPr>
          <a:xfrm>
            <a:off x="685800" y="63642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vortexdeep.ch  ·  info@vortexdeep.ch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131552" y="63642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11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 txBox="1"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7432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8412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 txBox="1"/>
          <p:nvPr/>
        </p:nvSpPr>
        <p:spPr>
          <a:xfrm>
            <a:off x="685800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ADVISORS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16752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CREATION ICT  ·  VENTURELAB  ·  AUG-SEP 2026  ·  ZÜRICH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316736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board yet. The advisors we'd bring in as we scale.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10512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Advisory-first while founder-led. A formal board comes with funding. It's for credibility, introductions and governance, not titles.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10817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DREAM ADVISORY BOARD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" y="2688336"/>
            <a:ext cx="5294376" cy="11887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 txBox="1"/>
          <p:nvPr/>
        </p:nvSpPr>
        <p:spPr>
          <a:xfrm>
            <a:off x="886968" y="2834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28346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 / industry operator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3145536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manufacturing or Treuhand veteran who knows the beachhead. Validates we target real pain and opens doors.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08776" y="2688336"/>
            <a:ext cx="5294376" cy="11887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6" name="Text 14"/>
          <p:cNvSpPr txBox="1"/>
          <p:nvPr/>
        </p:nvSpPr>
        <p:spPr>
          <a:xfrm>
            <a:off x="6409944" y="2834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58584" y="28346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automation technical advisor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58584" y="3145536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the build current and credible on safety and human-in-the-loop; sanity-checks the tech as it scales.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5800" y="4023360"/>
            <a:ext cx="5294376" cy="11887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 txBox="1"/>
          <p:nvPr/>
        </p:nvSpPr>
        <p:spPr>
          <a:xfrm>
            <a:off x="886968" y="416966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35608" y="416966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 advisor (DACH B2B)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435608" y="448056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Sharpens the positioning and the sales motion; referrals into high-trust niches.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08776" y="4023360"/>
            <a:ext cx="5294376" cy="118872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4" name="Text 22"/>
          <p:cNvSpPr txBox="1"/>
          <p:nvPr/>
        </p:nvSpPr>
        <p:spPr>
          <a:xfrm>
            <a:off x="6409944" y="416966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58584" y="416966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/ IP &amp; governance advisor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958584" y="448056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company law, IP licensing, data agreements, term sheets. Matters more as licensing and any raise grow.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925312"/>
            <a:ext cx="10817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 </a:t>
            </a:r>
            <a:r>
              <a:rPr lang="en-US" sz="1250" i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fifth seat: a first design-partner client, to keep us honest.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85800" y="63276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 txBox="1"/>
          <p:nvPr/>
        </p:nvSpPr>
        <p:spPr>
          <a:xfrm>
            <a:off x="685800" y="63642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vortexdeep.ch  ·  info@vortexdeep.ch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131552" y="63642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 txBox="1"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7432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8412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 txBox="1"/>
          <p:nvPr/>
        </p:nvSpPr>
        <p:spPr>
          <a:xfrm>
            <a:off x="685800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MOTION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16752" y="90525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CREATION ICT  ·  VENTURELAB  ·  AUG-SEP 2026  ·  ZÜRICH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316736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isn't just a plan. It's already running.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10512"/>
            <a:ext cx="10817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Pre-revenue, but not pre-proof. Three things are live today.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2468880"/>
            <a:ext cx="3419856" cy="2606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 txBox="1"/>
          <p:nvPr/>
        </p:nvSpPr>
        <p:spPr>
          <a:xfrm>
            <a:off x="905256" y="267004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" y="310896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pilot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05256" y="3566160"/>
            <a:ext cx="2980944" cy="0"/>
          </a:xfrm>
          <a:prstGeom prst="line">
            <a:avLst/>
          </a:prstGeom>
          <a:noFill/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 txBox="1"/>
          <p:nvPr/>
        </p:nvSpPr>
        <p:spPr>
          <a:xfrm>
            <a:off x="905256" y="3730752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unpaid email-handling automation with a Swiss SME. Our first real implementation and reference case, in progress. A build we can point to, not just a claim.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79976" y="2468880"/>
            <a:ext cx="3419856" cy="2606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6" name="Text 14"/>
          <p:cNvSpPr txBox="1"/>
          <p:nvPr/>
        </p:nvSpPr>
        <p:spPr>
          <a:xfrm>
            <a:off x="4599432" y="267004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99432" y="310896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Check live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99432" y="3566160"/>
            <a:ext cx="2980944" cy="0"/>
          </a:xfrm>
          <a:prstGeom prst="line">
            <a:avLst/>
          </a:prstGeom>
          <a:noFill/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9" name="Text 17"/>
          <p:cNvSpPr txBox="1"/>
          <p:nvPr/>
        </p:nvSpPr>
        <p:spPr>
          <a:xfrm>
            <a:off x="4599432" y="3730752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self-check, live on vortexdeep.ch. The low-pressure front door that collects real data on who fits.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74152" y="2468880"/>
            <a:ext cx="3419856" cy="260604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1" name="Text 19"/>
          <p:cNvSpPr txBox="1"/>
          <p:nvPr/>
        </p:nvSpPr>
        <p:spPr>
          <a:xfrm>
            <a:off x="8293608" y="267004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BCB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310896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on the table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293608" y="3566160"/>
            <a:ext cx="2980944" cy="0"/>
          </a:xfrm>
          <a:prstGeom prst="line">
            <a:avLst/>
          </a:prstGeom>
          <a:noFill/>
          <a:ln w="9525">
            <a:solidFill>
              <a:srgbClr val="D2D2D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4" name="Text 22"/>
          <p:cNvSpPr txBox="1"/>
          <p:nvPr/>
        </p:nvSpPr>
        <p:spPr>
          <a:xfrm>
            <a:off x="8293608" y="3730752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quantify a prospect's cost of doing nothing (time, errors, lost leads) against our fee. Payback typically in a couple of months.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925312"/>
            <a:ext cx="10817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 </a:t>
            </a:r>
            <a:r>
              <a:rPr lang="en-US" sz="1250" i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Narrow, but real. Proof, not a demo.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85800" y="6327648"/>
            <a:ext cx="10817352" cy="0"/>
          </a:xfrm>
          <a:prstGeom prst="line">
            <a:avLst/>
          </a:prstGeom>
          <a:noFill/>
          <a:ln w="9525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7" name="Text 25"/>
          <p:cNvSpPr txBox="1"/>
          <p:nvPr/>
        </p:nvSpPr>
        <p:spPr>
          <a:xfrm>
            <a:off x="685800" y="63642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vortexdeep.ch  ·  info@vortexdeep.ch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0131552" y="63642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 txBox="1"/>
          <p:nvPr/>
        </p:nvSpPr>
        <p:spPr>
          <a:xfrm>
            <a:off x="68580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7432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VortexDeep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94560"/>
            <a:ext cx="10817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a small company drowning in</a:t>
            </a:r>
            <a:endParaRPr lang="en-US" sz="340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repetitive admin? That's exactly who we help.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108173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7C7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Introductions to SMEs in the beachhead, and early capital to compress the timeline: earlier delivery hire, faster CH → EU.  </a:t>
            </a: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stands on its own revenue; funding makes it faster.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84632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85800" y="5760720"/>
            <a:ext cx="10817352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" name="Text 8"/>
          <p:cNvSpPr txBox="1"/>
          <p:nvPr/>
        </p:nvSpPr>
        <p:spPr>
          <a:xfrm>
            <a:off x="685800" y="585216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CREATION ICT  ·  VENTURELAB  ·  AUG-SEP 2026  ·  ZÜRICH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17220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Maciek Szczech, Founder  ·  vortexdeep.ch  ·  info@vortexdeep.ch  ·  Claridapark 4, 8636 Wald ZH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</TotalTime>
  <Words>1518</Words>
  <Application>Microsoft Macintosh PowerPoint</Application>
  <PresentationFormat>Widescreen</PresentationFormat>
  <Paragraphs>253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maciek szczech</cp:lastModifiedBy>
  <cp:revision>2</cp:revision>
  <dcterms:created xsi:type="dcterms:W3CDTF">2026-08-29T17:23:06Z</dcterms:created>
  <dcterms:modified xsi:type="dcterms:W3CDTF">2026-08-31T12:46:31Z</dcterms:modified>
</cp:coreProperties>
</file>