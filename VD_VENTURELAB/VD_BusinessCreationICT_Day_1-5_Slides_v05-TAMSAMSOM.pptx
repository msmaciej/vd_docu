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46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easy once. The cost is that it never stops.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0" dirty="0" i="1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The problem isn't one task — it's one pair of hands, one at a time.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9</a:t>
            </a:r>
            <a:endParaRPr lang="en-US" sz="850" dirty="0"/>
          </a:p>
        </p:txBody>
      </p:sp>
      <p:sp>
        <p:nvSpPr>
          <p:cNvPr id="30" name="TextBox 29"/>
          <p:cNvSpPr txBox="1"/>
          <p:nvPr/>
        </p:nvSpPr>
        <p:spPr>
          <a:xfrm>
            <a:off x="822960" y="2487168"/>
            <a:ext cx="269748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the queue · 1…N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276148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Messages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29184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Documents &amp;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822191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Quotes &amp; renewals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352544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Reports</a:t>
            </a:r>
          </a:p>
        </p:txBody>
      </p:sp>
      <p:sp>
        <p:nvSpPr>
          <p:cNvPr id="35" name="Oval 34"/>
          <p:cNvSpPr/>
          <p:nvPr/>
        </p:nvSpPr>
        <p:spPr>
          <a:xfrm>
            <a:off x="4754880" y="2788920"/>
            <a:ext cx="1737360" cy="1737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You</a:t>
            </a:r>
          </a:p>
          <a:p>
            <a:pPr algn="ctr"/>
            <a:r>
              <a:rPr sz="1100" b="0">
                <a:solidFill>
                  <a:srgbClr val="8A8A8A"/>
                </a:solidFill>
              </a:rPr>
              <a:t>one at a time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520440" y="2990088"/>
            <a:ext cx="1280160" cy="667512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20440" y="3520440"/>
            <a:ext cx="1280160" cy="1371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520440" y="3657600"/>
            <a:ext cx="1280160" cy="393191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520440" y="3657600"/>
            <a:ext cx="1280160" cy="923544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92240" y="3291840"/>
            <a:ext cx="1234439" cy="9144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818120" y="2999232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resolved — one after another</a:t>
            </a:r>
          </a:p>
          <a:p>
            <a:pPr algn="ctr"/>
            <a:r>
              <a:rPr sz="1000" b="0">
                <a:solidFill>
                  <a:srgbClr val="8A8A8A"/>
                </a:solidFill>
              </a:rPr>
              <a:t>task 1, then 2, then 3 …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035040" y="3657600"/>
            <a:ext cx="2377440" cy="777240"/>
          </a:xfrm>
          <a:prstGeom prst="curvedConnector3">
            <a:avLst/>
          </a:prstGeom>
          <a:ln w="15875">
            <a:prstDash val="dash"/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26480" y="4160520"/>
            <a:ext cx="237744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then the next task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One pair of hands, one at a time — tasks 2…N wait their turn; the queue clears slowly.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one task costing you the most hours, then add more.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9</a:t>
            </a:r>
            <a:endParaRPr lang="en-US" sz="850" dirty="0"/>
          </a:p>
        </p:txBody>
      </p:sp>
      <p:sp>
        <p:nvSpPr>
          <p:cNvPr id="29" name="TextBox 28"/>
          <p:cNvSpPr txBox="1"/>
          <p:nvPr/>
        </p:nvSpPr>
        <p:spPr>
          <a:xfrm>
            <a:off x="822960" y="2267712"/>
            <a:ext cx="219456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</a:rPr>
              <a:t>incoming · 1…N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54203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04495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54787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050791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269748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workflow</a:t>
            </a:r>
          </a:p>
          <a:p>
            <a:pPr algn="ctr"/>
            <a:r>
              <a:rPr sz="1100" b="0">
                <a:solidFill>
                  <a:srgbClr val="C8C8C8"/>
                </a:solidFill>
              </a:rPr>
              <a:t>does the work — in parallel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017520" y="2770632"/>
            <a:ext cx="868680" cy="5943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17520" y="3273552"/>
            <a:ext cx="868680" cy="9144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17520" y="3364992"/>
            <a:ext cx="868680" cy="41148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17520" y="3364992"/>
            <a:ext cx="868680" cy="9144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17920" y="3364992"/>
            <a:ext cx="64008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903720" y="2679192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You</a:t>
            </a:r>
          </a:p>
          <a:p>
            <a:pPr algn="ctr"/>
            <a:r>
              <a:rPr sz="1100" b="0">
                <a:solidFill>
                  <a:srgbClr val="8A8A8A"/>
                </a:solidFill>
              </a:rPr>
              <a:t>approve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114800"/>
            <a:ext cx="22860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</a:rPr>
              <a:t>control point · human-in-the-loop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75320" y="3364992"/>
            <a:ext cx="612648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942832" y="3044952"/>
            <a:ext cx="233172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A1A1A"/>
                </a:solidFill>
              </a:rPr>
              <a:t>all 1…N resolved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The AI does the hard work in parallel; you approve each — all resolved, your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defines our market, not the industry. Any SME with the same admin repeating every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 ·  start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6946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 ·  expand</a:t>
            </a:r>
            <a:endParaRPr lang="en-US"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95565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 ·  scale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Our slice: teams aware of the problem but wary of autonomy — we meet them mid-journey and guide the decision. </a:t>
            </a:r>
            <a:endParaRPr lang="en-US" sz="1250" i="1" dirty="0">
              <a:solidFill>
                <a:srgbClr val="141414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9</a:t>
            </a:r>
            <a:endParaRPr lang="en-US" sz="850" dirty="0"/>
          </a:p>
        </p:txBody>
      </p:sp>
      <p:sp>
        <p:nvSpPr>
          <p:cNvPr id="39" name="TextBox 38"/>
          <p:cNvSpPr txBox="1"/>
          <p:nvPr/>
        </p:nvSpPr>
        <p:spPr>
          <a:xfrm>
            <a:off x="685800" y="3493008"/>
            <a:ext cx="10817352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b="1">
                <a:solidFill>
                  <a:srgbClr val="595959"/>
                </a:solidFill>
              </a:rPr>
              <a:t>MARKET SIZE  ·  SWISS BEACHHEAD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82219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/>
            <a:r>
              <a:rPr sz="1200" b="1">
                <a:solidFill>
                  <a:srgbClr val="8A8A8A"/>
                </a:solidFill>
              </a:rPr>
              <a:t>TAM</a:t>
            </a:r>
          </a:p>
          <a:p>
            <a:pPr algn="l">
              <a:spcBef>
                <a:spcPts val="200"/>
              </a:spcBef>
            </a:pPr>
            <a:r>
              <a:rPr sz="3000" b="1">
                <a:solidFill>
                  <a:srgbClr val="1A1A1A"/>
                </a:solidFill>
              </a:rPr>
              <a:t>~600k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A1A1A"/>
                </a:solidFill>
              </a:rPr>
              <a:t>Swiss SMEs with repetitive admin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95959"/>
                </a:solidFill>
              </a:rPr>
              <a:t>~90% are micro — the ceiling, not the target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79976" y="382219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/>
            <a:r>
              <a:rPr sz="1200" b="1">
                <a:solidFill>
                  <a:srgbClr val="8A8A8A"/>
                </a:solidFill>
              </a:rPr>
              <a:t>SAM</a:t>
            </a:r>
          </a:p>
          <a:p>
            <a:pPr algn="l">
              <a:spcBef>
                <a:spcPts val="200"/>
              </a:spcBef>
            </a:pPr>
            <a:r>
              <a:rPr sz="3000" b="1">
                <a:solidFill>
                  <a:srgbClr val="1A1A1A"/>
                </a:solidFill>
              </a:rPr>
              <a:t>~50k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A1A1A"/>
                </a:solidFill>
              </a:rPr>
              <a:t>small firms, 10–49 employees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95959"/>
                </a:solidFill>
              </a:rPr>
              <a:t>≈ CHF 0.6–0.8 bn/yr at our ARR — not all reachable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4152" y="382219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/>
            <a:r>
              <a:rPr sz="1200" b="1">
                <a:solidFill>
                  <a:srgbClr val="8A8A8A"/>
                </a:solidFill>
              </a:rPr>
              <a:t>SOM</a:t>
            </a:r>
          </a:p>
          <a:p>
            <a:pPr algn="l">
              <a:spcBef>
                <a:spcPts val="200"/>
              </a:spcBef>
            </a:pPr>
            <a:r>
              <a:rPr sz="3000" b="1">
                <a:solidFill>
                  <a:srgbClr val="1A1A1A"/>
                </a:solidFill>
              </a:rPr>
              <a:t>30–40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A1A1A"/>
                </a:solidFill>
              </a:rPr>
              <a:t>managed clients by 2029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595959"/>
                </a:solidFill>
              </a:rPr>
              <a:t>≈ CHF 0.4–0.7M ARR · under 0.1% of SAM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413248"/>
            <a:ext cx="108173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i="1">
                <a:solidFill>
                  <a:srgbClr val="8A8A8A"/>
                </a:solidFill>
              </a:rPr>
              <a:t>Base: SECO / Federal Statistical Office (Swiss SME structure). Revenue figures use our blended CHF 12–17k ARR per client — indicative.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automation, with a person approving every step.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72212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300" b="1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Four ways to handle the repetition — each with a trade-off: </a:t>
            </a:r>
          </a:p>
          <a:p>
            <a:endParaRPr lang="en-US" sz="300" b="1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00000"/>
              </a:lnSpc>
            </a:pP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DIY tools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cheap, but you build and maintain it  ·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Full-autonomy AI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fast, but a black box you can't oversee  ·  </a:t>
            </a:r>
          </a:p>
          <a:p>
            <a:pPr>
              <a:lnSpc>
                <a:spcPct val="100000"/>
              </a:lnSpc>
            </a:pP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Hire an ops person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headcount cost, still manual  ·  </a:t>
            </a:r>
            <a:r>
              <a:rPr lang="en-CH" sz="130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Do nothing </a:t>
            </a:r>
            <a:r>
              <a:rPr lang="en-CH" sz="130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the cost compounds.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800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</a:t>
            </a:r>
            <a:endParaRPr lang="en-US" sz="1300" b="1" dirty="0"/>
          </a:p>
        </p:txBody>
      </p:sp>
      <p:sp>
        <p:nvSpPr>
          <p:cNvPr id="10" name="Shape 8"/>
          <p:cNvSpPr/>
          <p:nvPr/>
        </p:nvSpPr>
        <p:spPr>
          <a:xfrm>
            <a:off x="685800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you have 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 — not the person doing 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The fit for the cautious middle — AI's help, not its autonomy. A few clients at a time, on a fixed agreed scope.”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86968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886968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3976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65144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5144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65144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665144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43320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320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3320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43320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0327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221495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1495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1495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221495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then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revenue lines: a one-time setup that funds the build, plus a monthly managed service — the recurring base. Five packages, priced by complexity and control.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32104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95539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041843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1843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5278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251582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1582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017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461321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321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4756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71060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1060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Monthly  ~CHF 150 → 6'000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(ARR) — INDICATIVE, BLENDED ~CHF 12–17K PER ACTIVE CLIENT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2485568" cy="960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80512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63976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3463976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63976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80–140k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58688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2152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242152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42152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200–340k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736863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0327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9020327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20327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400–680k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5800" y="56692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licence, not a transfer — break-even at ~6–8 managed clients;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while small, by design. Each role is added only when recurring revenue covers it — we hire from cashflow, not on speculation.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10820095" cy="8686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29626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962656"/>
            <a:ext cx="6933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 &amp; engineering. Today spans all four work packages — build &amp; automation, delivery &amp; managed service, go-to-market, and the client relationship. Ops-native credibility: targets the real pain, not a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05256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2152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61608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19392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19392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905256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2152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461608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19392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and lightweight while founder-led. A formal board comes with external funding (Day 5). Chosen for credibility, introductions and governance — not titles — protecting trust, data discipline and IP rather than taking decisions from the founder or the client.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09928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09928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2152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461608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6280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6280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01675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 to buyer reality.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1390</Words>
  <Application>Microsoft Macintosh PowerPoint</Application>
  <PresentationFormat>Widescreen</PresentationFormat>
  <Paragraphs>247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7</cp:revision>
  <dcterms:created xsi:type="dcterms:W3CDTF">2026-08-21T17:52:27Z</dcterms:created>
  <dcterms:modified xsi:type="dcterms:W3CDTF">2026-08-22T13:57:00Z</dcterms:modified>
</cp:coreProperties>
</file>