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>
        <p:scale>
          <a:sx n="100" d="100"/>
          <a:sy n="100" d="100"/>
        </p:scale>
        <p:origin x="336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0462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685800" y="640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108200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the repetitive work.</a:t>
            </a:r>
            <a:endParaRPr lang="en-US" sz="4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the decisions.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8862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AI workflows for small and mid-sized companies.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5943600"/>
            <a:ext cx="10820095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6345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21FEDF5-1F36-A774-7895-62D71657D3A2}"/>
              </a:ext>
            </a:extLst>
          </p:cNvPr>
          <p:cNvGrpSpPr>
            <a:grpSpLocks noChangeAspect="1"/>
          </p:cNvGrpSpPr>
          <p:nvPr/>
        </p:nvGrpSpPr>
        <p:grpSpPr>
          <a:xfrm>
            <a:off x="675042" y="642232"/>
            <a:ext cx="434429" cy="392519"/>
            <a:chOff x="568280" y="1252445"/>
            <a:chExt cx="553430" cy="50003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6B70C03-694B-5343-D4D6-78E394064AC9}"/>
                </a:ext>
              </a:extLst>
            </p:cNvPr>
            <p:cNvSpPr txBox="1"/>
            <p:nvPr/>
          </p:nvSpPr>
          <p:spPr>
            <a:xfrm>
              <a:off x="568280" y="1317644"/>
              <a:ext cx="553430" cy="313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CH" sz="1000" dirty="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878A66B-6F9B-8F73-76C6-19A3C6798696}"/>
                </a:ext>
              </a:extLst>
            </p:cNvPr>
            <p:cNvGrpSpPr/>
            <p:nvPr/>
          </p:nvGrpSpPr>
          <p:grpSpPr>
            <a:xfrm>
              <a:off x="596468" y="1252445"/>
              <a:ext cx="489560" cy="500035"/>
              <a:chOff x="596468" y="1252445"/>
              <a:chExt cx="489560" cy="500035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CC822FE5-EC2E-EA4E-12AE-B177C6E6FD6B}"/>
                  </a:ext>
                </a:extLst>
              </p:cNvPr>
              <p:cNvGrpSpPr/>
              <p:nvPr/>
            </p:nvGrpSpPr>
            <p:grpSpPr>
              <a:xfrm>
                <a:off x="596468" y="1293170"/>
                <a:ext cx="489560" cy="422035"/>
                <a:chOff x="1044524" y="559454"/>
                <a:chExt cx="489560" cy="422035"/>
              </a:xfrm>
            </p:grpSpPr>
            <p:sp>
              <p:nvSpPr>
                <p:cNvPr id="32" name="Hexagon 31">
                  <a:extLst>
                    <a:ext uri="{FF2B5EF4-FFF2-40B4-BE49-F238E27FC236}">
                      <a16:creationId xmlns:a16="http://schemas.microsoft.com/office/drawing/2014/main" id="{73CCBE67-B600-B843-EE80-780D5AF6F4EC}"/>
                    </a:ext>
                  </a:extLst>
                </p:cNvPr>
                <p:cNvSpPr/>
                <p:nvPr/>
              </p:nvSpPr>
              <p:spPr>
                <a:xfrm rot="1800000">
                  <a:off x="1075966" y="588911"/>
                  <a:ext cx="426678" cy="367826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33" name="Hexagon 32">
                  <a:extLst>
                    <a:ext uri="{FF2B5EF4-FFF2-40B4-BE49-F238E27FC236}">
                      <a16:creationId xmlns:a16="http://schemas.microsoft.com/office/drawing/2014/main" id="{3796F593-7CB9-5AA8-83B5-0743B2D5D31F}"/>
                    </a:ext>
                  </a:extLst>
                </p:cNvPr>
                <p:cNvSpPr/>
                <p:nvPr/>
              </p:nvSpPr>
              <p:spPr>
                <a:xfrm rot="1800000">
                  <a:off x="1044524" y="559454"/>
                  <a:ext cx="489560" cy="422035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</p:grp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1E10209F-3718-35A5-E949-A95474246A03}"/>
                  </a:ext>
                </a:extLst>
              </p:cNvPr>
              <p:cNvSpPr/>
              <p:nvPr/>
            </p:nvSpPr>
            <p:spPr>
              <a:xfrm>
                <a:off x="812028" y="1252445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FA4FF94-E883-736F-8D59-605931FAD9CA}"/>
                  </a:ext>
                </a:extLst>
              </p:cNvPr>
              <p:cNvSpPr/>
              <p:nvPr/>
            </p:nvSpPr>
            <p:spPr>
              <a:xfrm>
                <a:off x="610860" y="1365834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29ED60BE-AF06-DD89-FBC0-02F478E8C3C9}"/>
                  </a:ext>
                </a:extLst>
              </p:cNvPr>
              <p:cNvSpPr/>
              <p:nvPr/>
            </p:nvSpPr>
            <p:spPr>
              <a:xfrm>
                <a:off x="1013196" y="1365833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B719E04-284D-7427-202A-53508E881345}"/>
                  </a:ext>
                </a:extLst>
              </p:cNvPr>
              <p:cNvSpPr/>
              <p:nvPr/>
            </p:nvSpPr>
            <p:spPr>
              <a:xfrm>
                <a:off x="610859" y="1585289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A34B4B68-BE0F-A905-3BB0-C418BBFB7259}"/>
                  </a:ext>
                </a:extLst>
              </p:cNvPr>
              <p:cNvSpPr/>
              <p:nvPr/>
            </p:nvSpPr>
            <p:spPr>
              <a:xfrm>
                <a:off x="1013195" y="1588726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C4B8BAE-7981-4669-E0BE-088D0E0B7C17}"/>
                  </a:ext>
                </a:extLst>
              </p:cNvPr>
              <p:cNvSpPr/>
              <p:nvPr/>
            </p:nvSpPr>
            <p:spPr>
              <a:xfrm>
                <a:off x="812028" y="1694041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task is easy once. The cost is that it never stops.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60604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905256" y="275234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09928" y="277977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709928" y="316382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read, sorted and answered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42152" y="260604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6461608" y="275234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266280" y="277977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data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266280" y="316382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extracted, checked and filed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29768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905256" y="444398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709928" y="447141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&amp; renewals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709928" y="485546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follow-ups and renewals chased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42152" y="429768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6461608" y="444398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266280" y="447141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266280" y="485546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assembled and sent every week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isn't one task — it's the repetition.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85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54917F5-3B3F-3A33-7E50-7AAFE3A7A385}"/>
              </a:ext>
            </a:extLst>
          </p:cNvPr>
          <p:cNvGrpSpPr>
            <a:grpSpLocks noChangeAspect="1"/>
          </p:cNvGrpSpPr>
          <p:nvPr/>
        </p:nvGrpSpPr>
        <p:grpSpPr>
          <a:xfrm>
            <a:off x="11087512" y="283711"/>
            <a:ext cx="434429" cy="392519"/>
            <a:chOff x="568280" y="1252445"/>
            <a:chExt cx="553430" cy="500035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892FD69-9F98-8E23-5A3B-E885B09C2A58}"/>
                </a:ext>
              </a:extLst>
            </p:cNvPr>
            <p:cNvSpPr txBox="1"/>
            <p:nvPr/>
          </p:nvSpPr>
          <p:spPr>
            <a:xfrm>
              <a:off x="568280" y="1317644"/>
              <a:ext cx="553430" cy="313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CH" sz="1000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B42E7F7-EC11-7C37-C456-C56E140F3219}"/>
                </a:ext>
              </a:extLst>
            </p:cNvPr>
            <p:cNvGrpSpPr/>
            <p:nvPr/>
          </p:nvGrpSpPr>
          <p:grpSpPr>
            <a:xfrm>
              <a:off x="596468" y="1252445"/>
              <a:ext cx="489560" cy="500035"/>
              <a:chOff x="596468" y="1252445"/>
              <a:chExt cx="489560" cy="500035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E3AC4A43-5FE3-6B91-5C4A-C71CA18FC99E}"/>
                  </a:ext>
                </a:extLst>
              </p:cNvPr>
              <p:cNvGrpSpPr/>
              <p:nvPr/>
            </p:nvGrpSpPr>
            <p:grpSpPr>
              <a:xfrm>
                <a:off x="596468" y="1293170"/>
                <a:ext cx="489560" cy="422035"/>
                <a:chOff x="1044524" y="559454"/>
                <a:chExt cx="489560" cy="422035"/>
              </a:xfrm>
            </p:grpSpPr>
            <p:sp>
              <p:nvSpPr>
                <p:cNvPr id="52" name="Hexagon 51">
                  <a:extLst>
                    <a:ext uri="{FF2B5EF4-FFF2-40B4-BE49-F238E27FC236}">
                      <a16:creationId xmlns:a16="http://schemas.microsoft.com/office/drawing/2014/main" id="{377723FB-388C-5472-3F58-301746D1AC0E}"/>
                    </a:ext>
                  </a:extLst>
                </p:cNvPr>
                <p:cNvSpPr/>
                <p:nvPr/>
              </p:nvSpPr>
              <p:spPr>
                <a:xfrm rot="1800000">
                  <a:off x="1075966" y="588911"/>
                  <a:ext cx="426678" cy="367826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53" name="Hexagon 52">
                  <a:extLst>
                    <a:ext uri="{FF2B5EF4-FFF2-40B4-BE49-F238E27FC236}">
                      <a16:creationId xmlns:a16="http://schemas.microsoft.com/office/drawing/2014/main" id="{94FED8E7-1AA0-E324-2643-36275C89E499}"/>
                    </a:ext>
                  </a:extLst>
                </p:cNvPr>
                <p:cNvSpPr/>
                <p:nvPr/>
              </p:nvSpPr>
              <p:spPr>
                <a:xfrm rot="1800000">
                  <a:off x="1044524" y="559454"/>
                  <a:ext cx="489560" cy="422035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 dirty="0"/>
                </a:p>
              </p:txBody>
            </p:sp>
          </p:grp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B70E83D6-6F81-5970-7809-22E21B513CFB}"/>
                  </a:ext>
                </a:extLst>
              </p:cNvPr>
              <p:cNvSpPr/>
              <p:nvPr/>
            </p:nvSpPr>
            <p:spPr>
              <a:xfrm>
                <a:off x="812028" y="1252445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F693CE64-AD9B-348D-0787-C101F6ADCAD2}"/>
                  </a:ext>
                </a:extLst>
              </p:cNvPr>
              <p:cNvSpPr/>
              <p:nvPr/>
            </p:nvSpPr>
            <p:spPr>
              <a:xfrm>
                <a:off x="610860" y="1365834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56D187F-2503-DBFF-9E0F-12A2339DBCBA}"/>
                  </a:ext>
                </a:extLst>
              </p:cNvPr>
              <p:cNvSpPr/>
              <p:nvPr/>
            </p:nvSpPr>
            <p:spPr>
              <a:xfrm>
                <a:off x="1013196" y="1365833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4C810C4-717F-3636-DB10-8D65F9566B5C}"/>
                  </a:ext>
                </a:extLst>
              </p:cNvPr>
              <p:cNvSpPr/>
              <p:nvPr/>
            </p:nvSpPr>
            <p:spPr>
              <a:xfrm>
                <a:off x="610859" y="1585289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594BB33F-89D5-933E-AE1F-0DFE9F08A248}"/>
                  </a:ext>
                </a:extLst>
              </p:cNvPr>
              <p:cNvSpPr/>
              <p:nvPr/>
            </p:nvSpPr>
            <p:spPr>
              <a:xfrm>
                <a:off x="1013195" y="1588726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63568FBA-EEBA-71AA-0DDF-13122D705352}"/>
                  </a:ext>
                </a:extLst>
              </p:cNvPr>
              <p:cNvSpPr/>
              <p:nvPr/>
            </p:nvSpPr>
            <p:spPr>
              <a:xfrm>
                <a:off x="812028" y="1694041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 — with human control.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/>
          <p:nvPr/>
        </p:nvSpPr>
        <p:spPr>
          <a:xfrm>
            <a:off x="905256" y="247802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709928" y="250545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709928" y="288950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message, a form, a document,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42152" y="233172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6461608" y="247802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266280" y="250545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 → output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266280" y="288950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repetitive part of the work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402336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905256" y="41696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709928" y="41970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for your approval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709928" y="458114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sent, paid or filed on its own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42152" y="402336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/>
          <p:nvPr/>
        </p:nvSpPr>
        <p:spPr>
          <a:xfrm>
            <a:off x="6461608" y="41696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266280" y="41970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decide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266280" y="458114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and sign-off stay yours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one task costing you the most hours, then add more.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85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7EF34CC-E603-5CE5-6D21-008D187FE7AD}"/>
              </a:ext>
            </a:extLst>
          </p:cNvPr>
          <p:cNvGrpSpPr>
            <a:grpSpLocks noChangeAspect="1"/>
          </p:cNvGrpSpPr>
          <p:nvPr/>
        </p:nvGrpSpPr>
        <p:grpSpPr>
          <a:xfrm>
            <a:off x="11087512" y="283711"/>
            <a:ext cx="434429" cy="392519"/>
            <a:chOff x="568280" y="1252445"/>
            <a:chExt cx="553430" cy="500035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C7DCA7C-0B75-98F0-5191-65F9183BF29E}"/>
                </a:ext>
              </a:extLst>
            </p:cNvPr>
            <p:cNvSpPr txBox="1"/>
            <p:nvPr/>
          </p:nvSpPr>
          <p:spPr>
            <a:xfrm>
              <a:off x="568280" y="1317644"/>
              <a:ext cx="553430" cy="313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CH" sz="1000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C1BBF08-DAB5-A878-CD40-E77FBDE21F30}"/>
                </a:ext>
              </a:extLst>
            </p:cNvPr>
            <p:cNvGrpSpPr/>
            <p:nvPr/>
          </p:nvGrpSpPr>
          <p:grpSpPr>
            <a:xfrm>
              <a:off x="596468" y="1252445"/>
              <a:ext cx="489560" cy="500035"/>
              <a:chOff x="596468" y="1252445"/>
              <a:chExt cx="489560" cy="500035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3189E12E-7890-0895-97BB-A2A12F70DEE0}"/>
                  </a:ext>
                </a:extLst>
              </p:cNvPr>
              <p:cNvGrpSpPr/>
              <p:nvPr/>
            </p:nvGrpSpPr>
            <p:grpSpPr>
              <a:xfrm>
                <a:off x="596468" y="1293170"/>
                <a:ext cx="489560" cy="422035"/>
                <a:chOff x="1044524" y="559454"/>
                <a:chExt cx="489560" cy="422035"/>
              </a:xfrm>
            </p:grpSpPr>
            <p:sp>
              <p:nvSpPr>
                <p:cNvPr id="39" name="Hexagon 38">
                  <a:extLst>
                    <a:ext uri="{FF2B5EF4-FFF2-40B4-BE49-F238E27FC236}">
                      <a16:creationId xmlns:a16="http://schemas.microsoft.com/office/drawing/2014/main" id="{559ACE34-1BB6-0758-D2A5-00B5F8234AF3}"/>
                    </a:ext>
                  </a:extLst>
                </p:cNvPr>
                <p:cNvSpPr/>
                <p:nvPr/>
              </p:nvSpPr>
              <p:spPr>
                <a:xfrm rot="1800000">
                  <a:off x="1075966" y="588911"/>
                  <a:ext cx="426678" cy="367826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40" name="Hexagon 39">
                  <a:extLst>
                    <a:ext uri="{FF2B5EF4-FFF2-40B4-BE49-F238E27FC236}">
                      <a16:creationId xmlns:a16="http://schemas.microsoft.com/office/drawing/2014/main" id="{8E766F4D-9B48-14D2-20BD-8A69DBD16413}"/>
                    </a:ext>
                  </a:extLst>
                </p:cNvPr>
                <p:cNvSpPr/>
                <p:nvPr/>
              </p:nvSpPr>
              <p:spPr>
                <a:xfrm rot="1800000">
                  <a:off x="1044524" y="559454"/>
                  <a:ext cx="489560" cy="422035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 dirty="0"/>
                </a:p>
              </p:txBody>
            </p:sp>
          </p:grp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32EA91F-4F2A-77BA-213E-3D05710BA214}"/>
                  </a:ext>
                </a:extLst>
              </p:cNvPr>
              <p:cNvSpPr/>
              <p:nvPr/>
            </p:nvSpPr>
            <p:spPr>
              <a:xfrm>
                <a:off x="812028" y="1252445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293B8F36-65A9-ADD3-44C3-2566CEE968D1}"/>
                  </a:ext>
                </a:extLst>
              </p:cNvPr>
              <p:cNvSpPr/>
              <p:nvPr/>
            </p:nvSpPr>
            <p:spPr>
              <a:xfrm>
                <a:off x="610860" y="1365834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DAF6EDC-61D9-8E92-8991-D4C7B6385B56}"/>
                  </a:ext>
                </a:extLst>
              </p:cNvPr>
              <p:cNvSpPr/>
              <p:nvPr/>
            </p:nvSpPr>
            <p:spPr>
              <a:xfrm>
                <a:off x="1013196" y="1365833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5AB04624-72D4-165C-B58C-8DC8EE2EE133}"/>
                  </a:ext>
                </a:extLst>
              </p:cNvPr>
              <p:cNvSpPr/>
              <p:nvPr/>
            </p:nvSpPr>
            <p:spPr>
              <a:xfrm>
                <a:off x="610859" y="1585289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DD392AC-A916-475A-8788-6BDF20B074C5}"/>
                  </a:ext>
                </a:extLst>
              </p:cNvPr>
              <p:cNvSpPr/>
              <p:nvPr/>
            </p:nvSpPr>
            <p:spPr>
              <a:xfrm>
                <a:off x="1013195" y="1588726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76A561F2-F2D9-6EA1-6B44-644FADF46C2B}"/>
                  </a:ext>
                </a:extLst>
              </p:cNvPr>
              <p:cNvSpPr/>
              <p:nvPr/>
            </p:nvSpPr>
            <p:spPr>
              <a:xfrm>
                <a:off x="812028" y="1694041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 ·  HOW IT WORKS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repetitive tasks in — resolved work out.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 absorbs the volume. What surfaces to you is only the decision.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788920"/>
            <a:ext cx="3200400" cy="2468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886968" y="29535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TASKS  ·  1 … 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86968" y="3355848"/>
            <a:ext cx="2798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996696" y="33558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52728" y="3355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" y="3721608"/>
            <a:ext cx="2798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996696" y="37216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52728" y="3721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6968" y="4087368"/>
            <a:ext cx="2798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996696" y="40873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52728" y="4087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entry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6968" y="4453128"/>
            <a:ext cx="2798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/>
          <p:nvPr/>
        </p:nvSpPr>
        <p:spPr>
          <a:xfrm>
            <a:off x="996696" y="44531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52728" y="4453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 due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86968" y="4818888"/>
            <a:ext cx="2798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/>
          <p:nvPr/>
        </p:nvSpPr>
        <p:spPr>
          <a:xfrm>
            <a:off x="996696" y="48188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52728" y="48188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report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20640" y="3291840"/>
            <a:ext cx="2377440" cy="146304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512064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12064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human approval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31920" y="37033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543800" y="3703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8869680" y="2788920"/>
            <a:ext cx="2606040" cy="2468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3" name="Text 31"/>
          <p:cNvSpPr/>
          <p:nvPr/>
        </p:nvSpPr>
        <p:spPr>
          <a:xfrm>
            <a:off x="9070848" y="29535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070848" y="3355848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decisions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you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070848" y="416052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cleared automatically
•  held for your sign-off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volume never reaches your desk — only the choices that need you.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85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1E5D7FC-DD1C-FC7F-C056-09B2B329D687}"/>
              </a:ext>
            </a:extLst>
          </p:cNvPr>
          <p:cNvGrpSpPr>
            <a:grpSpLocks noChangeAspect="1"/>
          </p:cNvGrpSpPr>
          <p:nvPr/>
        </p:nvGrpSpPr>
        <p:grpSpPr>
          <a:xfrm>
            <a:off x="11087512" y="283711"/>
            <a:ext cx="434429" cy="392519"/>
            <a:chOff x="568280" y="1252445"/>
            <a:chExt cx="553430" cy="500035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5A7F578-C4F8-7842-419E-EE98CC714C7D}"/>
                </a:ext>
              </a:extLst>
            </p:cNvPr>
            <p:cNvSpPr txBox="1"/>
            <p:nvPr/>
          </p:nvSpPr>
          <p:spPr>
            <a:xfrm>
              <a:off x="568280" y="1317644"/>
              <a:ext cx="553430" cy="313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CH" sz="1000" dirty="0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5D2EDD9-0B3B-8FE9-2762-4C33F2CA3675}"/>
                </a:ext>
              </a:extLst>
            </p:cNvPr>
            <p:cNvGrpSpPr/>
            <p:nvPr/>
          </p:nvGrpSpPr>
          <p:grpSpPr>
            <a:xfrm>
              <a:off x="596468" y="1252445"/>
              <a:ext cx="489560" cy="500035"/>
              <a:chOff x="596468" y="1252445"/>
              <a:chExt cx="489560" cy="500035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42647B1E-818B-7C60-4FB7-B01F11D6B940}"/>
                  </a:ext>
                </a:extLst>
              </p:cNvPr>
              <p:cNvGrpSpPr/>
              <p:nvPr/>
            </p:nvGrpSpPr>
            <p:grpSpPr>
              <a:xfrm>
                <a:off x="596468" y="1293170"/>
                <a:ext cx="489560" cy="422035"/>
                <a:chOff x="1044524" y="559454"/>
                <a:chExt cx="489560" cy="422035"/>
              </a:xfrm>
            </p:grpSpPr>
            <p:sp>
              <p:nvSpPr>
                <p:cNvPr id="50" name="Hexagon 49">
                  <a:extLst>
                    <a:ext uri="{FF2B5EF4-FFF2-40B4-BE49-F238E27FC236}">
                      <a16:creationId xmlns:a16="http://schemas.microsoft.com/office/drawing/2014/main" id="{8D3BA0BA-70B5-0A36-08DC-EC266AF4588E}"/>
                    </a:ext>
                  </a:extLst>
                </p:cNvPr>
                <p:cNvSpPr/>
                <p:nvPr/>
              </p:nvSpPr>
              <p:spPr>
                <a:xfrm rot="1800000">
                  <a:off x="1075966" y="588911"/>
                  <a:ext cx="426678" cy="367826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51" name="Hexagon 50">
                  <a:extLst>
                    <a:ext uri="{FF2B5EF4-FFF2-40B4-BE49-F238E27FC236}">
                      <a16:creationId xmlns:a16="http://schemas.microsoft.com/office/drawing/2014/main" id="{19842EA0-BC3C-21AB-D20B-DB025D69EC60}"/>
                    </a:ext>
                  </a:extLst>
                </p:cNvPr>
                <p:cNvSpPr/>
                <p:nvPr/>
              </p:nvSpPr>
              <p:spPr>
                <a:xfrm rot="1800000">
                  <a:off x="1044524" y="559454"/>
                  <a:ext cx="489560" cy="422035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 dirty="0"/>
                </a:p>
              </p:txBody>
            </p:sp>
          </p:grp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733B3FE2-23AE-F398-B337-A5673BBA7852}"/>
                  </a:ext>
                </a:extLst>
              </p:cNvPr>
              <p:cNvSpPr/>
              <p:nvPr/>
            </p:nvSpPr>
            <p:spPr>
              <a:xfrm>
                <a:off x="812028" y="1252445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3D84B7B-50FF-EDDD-0BAB-C22A69FF3236}"/>
                  </a:ext>
                </a:extLst>
              </p:cNvPr>
              <p:cNvSpPr/>
              <p:nvPr/>
            </p:nvSpPr>
            <p:spPr>
              <a:xfrm>
                <a:off x="610860" y="1365834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C2CF79C-8F97-4FAF-4A0C-579FA4B6CD2C}"/>
                  </a:ext>
                </a:extLst>
              </p:cNvPr>
              <p:cNvSpPr/>
              <p:nvPr/>
            </p:nvSpPr>
            <p:spPr>
              <a:xfrm>
                <a:off x="1013196" y="1365833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917A779-BF10-24C4-481F-2692748A3419}"/>
                  </a:ext>
                </a:extLst>
              </p:cNvPr>
              <p:cNvSpPr/>
              <p:nvPr/>
            </p:nvSpPr>
            <p:spPr>
              <a:xfrm>
                <a:off x="610859" y="1585289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9D69B079-C8C0-7D16-6ADC-4A3BEBFD79F5}"/>
                  </a:ext>
                </a:extLst>
              </p:cNvPr>
              <p:cNvSpPr/>
              <p:nvPr/>
            </p:nvSpPr>
            <p:spPr>
              <a:xfrm>
                <a:off x="1013195" y="1588726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5C55B00-F2A2-A21C-E5FA-32F42D586CFB}"/>
                  </a:ext>
                </a:extLst>
              </p:cNvPr>
              <p:cNvSpPr/>
              <p:nvPr/>
            </p:nvSpPr>
            <p:spPr>
              <a:xfrm>
                <a:off x="812028" y="1694041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E861F6E-0A18-28AC-E6A1-DFC9B2C82367}"/>
              </a:ext>
            </a:extLst>
          </p:cNvPr>
          <p:cNvGrpSpPr>
            <a:grpSpLocks noChangeAspect="1"/>
          </p:cNvGrpSpPr>
          <p:nvPr/>
        </p:nvGrpSpPr>
        <p:grpSpPr>
          <a:xfrm>
            <a:off x="5883837" y="3484988"/>
            <a:ext cx="859805" cy="776861"/>
            <a:chOff x="568280" y="1252445"/>
            <a:chExt cx="553430" cy="500035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F91A608-0E40-3D4D-1563-9859D4BB17CB}"/>
                </a:ext>
              </a:extLst>
            </p:cNvPr>
            <p:cNvSpPr txBox="1"/>
            <p:nvPr/>
          </p:nvSpPr>
          <p:spPr>
            <a:xfrm>
              <a:off x="568280" y="1317644"/>
              <a:ext cx="553430" cy="313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CH" sz="1000" dirty="0"/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F3700F9A-A6E3-5FBA-9A6F-02B37BF218C2}"/>
                </a:ext>
              </a:extLst>
            </p:cNvPr>
            <p:cNvGrpSpPr/>
            <p:nvPr/>
          </p:nvGrpSpPr>
          <p:grpSpPr>
            <a:xfrm>
              <a:off x="596468" y="1252445"/>
              <a:ext cx="489560" cy="500035"/>
              <a:chOff x="596468" y="1252445"/>
              <a:chExt cx="489560" cy="500035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AFB95776-D1B4-9F67-ECD3-1064E8D4660E}"/>
                  </a:ext>
                </a:extLst>
              </p:cNvPr>
              <p:cNvGrpSpPr/>
              <p:nvPr/>
            </p:nvGrpSpPr>
            <p:grpSpPr>
              <a:xfrm>
                <a:off x="596468" y="1293170"/>
                <a:ext cx="489560" cy="422035"/>
                <a:chOff x="1044524" y="559454"/>
                <a:chExt cx="489560" cy="422035"/>
              </a:xfrm>
            </p:grpSpPr>
            <p:sp>
              <p:nvSpPr>
                <p:cNvPr id="62" name="Hexagon 61">
                  <a:extLst>
                    <a:ext uri="{FF2B5EF4-FFF2-40B4-BE49-F238E27FC236}">
                      <a16:creationId xmlns:a16="http://schemas.microsoft.com/office/drawing/2014/main" id="{4D34CC50-B2EE-0FBF-55CC-A07AE11494F4}"/>
                    </a:ext>
                  </a:extLst>
                </p:cNvPr>
                <p:cNvSpPr/>
                <p:nvPr/>
              </p:nvSpPr>
              <p:spPr>
                <a:xfrm rot="1800000">
                  <a:off x="1075966" y="588911"/>
                  <a:ext cx="426678" cy="367826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63" name="Hexagon 62">
                  <a:extLst>
                    <a:ext uri="{FF2B5EF4-FFF2-40B4-BE49-F238E27FC236}">
                      <a16:creationId xmlns:a16="http://schemas.microsoft.com/office/drawing/2014/main" id="{A6307380-317B-5C74-0304-7797F11E885D}"/>
                    </a:ext>
                  </a:extLst>
                </p:cNvPr>
                <p:cNvSpPr/>
                <p:nvPr/>
              </p:nvSpPr>
              <p:spPr>
                <a:xfrm rot="1800000">
                  <a:off x="1044524" y="559454"/>
                  <a:ext cx="489560" cy="422035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 dirty="0"/>
                </a:p>
              </p:txBody>
            </p:sp>
          </p:grp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F12EF82E-EAEA-8833-F9F1-4E36623E0822}"/>
                  </a:ext>
                </a:extLst>
              </p:cNvPr>
              <p:cNvSpPr/>
              <p:nvPr/>
            </p:nvSpPr>
            <p:spPr>
              <a:xfrm>
                <a:off x="812028" y="1252445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3FC86B80-551A-4FB3-F96F-262A93B05417}"/>
                  </a:ext>
                </a:extLst>
              </p:cNvPr>
              <p:cNvSpPr/>
              <p:nvPr/>
            </p:nvSpPr>
            <p:spPr>
              <a:xfrm>
                <a:off x="610860" y="1365834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96B11477-0876-F658-5B45-CA94E017F557}"/>
                  </a:ext>
                </a:extLst>
              </p:cNvPr>
              <p:cNvSpPr/>
              <p:nvPr/>
            </p:nvSpPr>
            <p:spPr>
              <a:xfrm>
                <a:off x="1013196" y="1365833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062B8C0F-B650-ADA9-DE2E-08382F7FBBCF}"/>
                  </a:ext>
                </a:extLst>
              </p:cNvPr>
              <p:cNvSpPr/>
              <p:nvPr/>
            </p:nvSpPr>
            <p:spPr>
              <a:xfrm>
                <a:off x="610859" y="1585289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995DD0D0-994D-A8B3-2018-F5FC1E54B4E1}"/>
                  </a:ext>
                </a:extLst>
              </p:cNvPr>
              <p:cNvSpPr/>
              <p:nvPr/>
            </p:nvSpPr>
            <p:spPr>
              <a:xfrm>
                <a:off x="1013195" y="1588726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85050F3C-5D2B-901C-9A0C-C2F9846F9842}"/>
                  </a:ext>
                </a:extLst>
              </p:cNvPr>
              <p:cNvSpPr/>
              <p:nvPr/>
            </p:nvSpPr>
            <p:spPr>
              <a:xfrm>
                <a:off x="812028" y="1694041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 defines our market, not the industry. Any SME with the same admin repeating every day.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697480"/>
            <a:ext cx="3362858" cy="566928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685800" y="2697480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 ·  start here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6946" y="269748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14418" y="2697480"/>
            <a:ext cx="3362858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4414418" y="2697480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 ·  expand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95565" y="269748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43037" y="2697480"/>
            <a:ext cx="3362858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8143037" y="2697480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 ·  scale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49300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WORKFLOWS WE SERVE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3767328"/>
            <a:ext cx="5263744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905256" y="3913632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709928" y="3941064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&amp; Customers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709928" y="4325112"/>
            <a:ext cx="403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 triage, replies, support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2152" y="3767328"/>
            <a:ext cx="5263744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6461608" y="3913632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266280" y="3941064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Growth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266280" y="4325112"/>
            <a:ext cx="403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quotes, follow-ups, renewals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4864608"/>
            <a:ext cx="5263744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905256" y="5010912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709928" y="5038344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Finance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709928" y="5422392"/>
            <a:ext cx="403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extraction, checks, filing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42152" y="4864608"/>
            <a:ext cx="5263744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6461608" y="5010912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266280" y="5038344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Insight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266280" y="5422392"/>
            <a:ext cx="403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and weekly updates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5800" y="594360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slice: teams who want AI's help but not its autonomy.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7" name="Text 35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85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73179-B4F9-6843-B17D-655849333C6F}"/>
              </a:ext>
            </a:extLst>
          </p:cNvPr>
          <p:cNvGrpSpPr>
            <a:grpSpLocks noChangeAspect="1"/>
          </p:cNvGrpSpPr>
          <p:nvPr/>
        </p:nvGrpSpPr>
        <p:grpSpPr>
          <a:xfrm>
            <a:off x="11087512" y="283711"/>
            <a:ext cx="434429" cy="392519"/>
            <a:chOff x="568280" y="1252445"/>
            <a:chExt cx="553430" cy="50003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FEF54B3-A2DA-6069-5563-557077379FE6}"/>
                </a:ext>
              </a:extLst>
            </p:cNvPr>
            <p:cNvSpPr txBox="1"/>
            <p:nvPr/>
          </p:nvSpPr>
          <p:spPr>
            <a:xfrm>
              <a:off x="568280" y="1317644"/>
              <a:ext cx="553430" cy="313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CH" sz="1000" dirty="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847EB17-3837-FB10-8191-353F8C58C037}"/>
                </a:ext>
              </a:extLst>
            </p:cNvPr>
            <p:cNvGrpSpPr/>
            <p:nvPr/>
          </p:nvGrpSpPr>
          <p:grpSpPr>
            <a:xfrm>
              <a:off x="596468" y="1252445"/>
              <a:ext cx="489560" cy="500035"/>
              <a:chOff x="596468" y="1252445"/>
              <a:chExt cx="489560" cy="500035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5CC8AE76-605A-DE01-2F45-17A41E3846DB}"/>
                  </a:ext>
                </a:extLst>
              </p:cNvPr>
              <p:cNvGrpSpPr/>
              <p:nvPr/>
            </p:nvGrpSpPr>
            <p:grpSpPr>
              <a:xfrm>
                <a:off x="596468" y="1293170"/>
                <a:ext cx="489560" cy="422035"/>
                <a:chOff x="1044524" y="559454"/>
                <a:chExt cx="489560" cy="422035"/>
              </a:xfrm>
            </p:grpSpPr>
            <p:sp>
              <p:nvSpPr>
                <p:cNvPr id="49" name="Hexagon 48">
                  <a:extLst>
                    <a:ext uri="{FF2B5EF4-FFF2-40B4-BE49-F238E27FC236}">
                      <a16:creationId xmlns:a16="http://schemas.microsoft.com/office/drawing/2014/main" id="{621DB500-42BA-A026-C2E6-D570FFFF94F5}"/>
                    </a:ext>
                  </a:extLst>
                </p:cNvPr>
                <p:cNvSpPr/>
                <p:nvPr/>
              </p:nvSpPr>
              <p:spPr>
                <a:xfrm rot="1800000">
                  <a:off x="1075966" y="588911"/>
                  <a:ext cx="426678" cy="367826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50" name="Hexagon 49">
                  <a:extLst>
                    <a:ext uri="{FF2B5EF4-FFF2-40B4-BE49-F238E27FC236}">
                      <a16:creationId xmlns:a16="http://schemas.microsoft.com/office/drawing/2014/main" id="{CA04AE95-62E0-06A3-BB6E-854591E43FB9}"/>
                    </a:ext>
                  </a:extLst>
                </p:cNvPr>
                <p:cNvSpPr/>
                <p:nvPr/>
              </p:nvSpPr>
              <p:spPr>
                <a:xfrm rot="1800000">
                  <a:off x="1044524" y="559454"/>
                  <a:ext cx="489560" cy="422035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 dirty="0"/>
                </a:p>
              </p:txBody>
            </p:sp>
          </p:grp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8B1F1FD4-F246-A502-DFAF-B41A05519037}"/>
                  </a:ext>
                </a:extLst>
              </p:cNvPr>
              <p:cNvSpPr/>
              <p:nvPr/>
            </p:nvSpPr>
            <p:spPr>
              <a:xfrm>
                <a:off x="812028" y="1252445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F24C57F2-15D6-246C-9BA2-7B1481E37DD2}"/>
                  </a:ext>
                </a:extLst>
              </p:cNvPr>
              <p:cNvSpPr/>
              <p:nvPr/>
            </p:nvSpPr>
            <p:spPr>
              <a:xfrm>
                <a:off x="610860" y="1365834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62FAFD1B-AAD7-F67F-D634-421079F5AAC1}"/>
                  </a:ext>
                </a:extLst>
              </p:cNvPr>
              <p:cNvSpPr/>
              <p:nvPr/>
            </p:nvSpPr>
            <p:spPr>
              <a:xfrm>
                <a:off x="1013196" y="1365833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656C8B0-F765-63EC-30CF-4BB7403EAF0A}"/>
                  </a:ext>
                </a:extLst>
              </p:cNvPr>
              <p:cNvSpPr/>
              <p:nvPr/>
            </p:nvSpPr>
            <p:spPr>
              <a:xfrm>
                <a:off x="610859" y="1585289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D5A2D8C-77B3-51A2-0C36-D4E0A7E3D192}"/>
                  </a:ext>
                </a:extLst>
              </p:cNvPr>
              <p:cNvSpPr/>
              <p:nvPr/>
            </p:nvSpPr>
            <p:spPr>
              <a:xfrm>
                <a:off x="1013195" y="1588726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5C8EC8D-F4C5-6B03-96CE-6BAFB52C36F4}"/>
                  </a:ext>
                </a:extLst>
              </p:cNvPr>
              <p:cNvSpPr/>
              <p:nvPr/>
            </p:nvSpPr>
            <p:spPr>
              <a:xfrm>
                <a:off x="812028" y="1694041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&amp; ADVANTAGE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automation, with a person approving every step.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Alternatives: DIY tools, full-autonomy AI, hiring an ops person, or doing nothing. Our approach: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60604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905256" y="275234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09928" y="277977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every step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709928" y="316382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sent or done on its own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42152" y="260604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6461608" y="275234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266280" y="277977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it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266280" y="316382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tool you have to learn or maintain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29768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905256" y="444398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709928" y="447141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yours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709928" y="485546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lock-in, nothing hidden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42152" y="429768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6461608" y="444398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266280" y="447141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not replaced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266280" y="485546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repetitive work — not the person doing it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clients at a time, on a fixed agreed scope — while small and founder-led.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85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B22E4A3-5AD9-C8AF-15AF-A7A4C70E40CA}"/>
              </a:ext>
            </a:extLst>
          </p:cNvPr>
          <p:cNvGrpSpPr>
            <a:grpSpLocks noChangeAspect="1"/>
          </p:cNvGrpSpPr>
          <p:nvPr/>
        </p:nvGrpSpPr>
        <p:grpSpPr>
          <a:xfrm>
            <a:off x="11087512" y="283711"/>
            <a:ext cx="434429" cy="392519"/>
            <a:chOff x="568280" y="1252445"/>
            <a:chExt cx="553430" cy="500035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C3D5193-6B7C-2EFC-DA48-AE3E89235696}"/>
                </a:ext>
              </a:extLst>
            </p:cNvPr>
            <p:cNvSpPr txBox="1"/>
            <p:nvPr/>
          </p:nvSpPr>
          <p:spPr>
            <a:xfrm>
              <a:off x="568280" y="1317644"/>
              <a:ext cx="553430" cy="313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CH" sz="1000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A8486BF-B648-2B4B-9EE9-FDAF525790E4}"/>
                </a:ext>
              </a:extLst>
            </p:cNvPr>
            <p:cNvGrpSpPr/>
            <p:nvPr/>
          </p:nvGrpSpPr>
          <p:grpSpPr>
            <a:xfrm>
              <a:off x="596468" y="1252445"/>
              <a:ext cx="489560" cy="500035"/>
              <a:chOff x="596468" y="1252445"/>
              <a:chExt cx="489560" cy="500035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A54B6FCE-BCFA-93EC-36B9-A6C638668A29}"/>
                  </a:ext>
                </a:extLst>
              </p:cNvPr>
              <p:cNvGrpSpPr/>
              <p:nvPr/>
            </p:nvGrpSpPr>
            <p:grpSpPr>
              <a:xfrm>
                <a:off x="596468" y="1293170"/>
                <a:ext cx="489560" cy="422035"/>
                <a:chOff x="1044524" y="559454"/>
                <a:chExt cx="489560" cy="422035"/>
              </a:xfrm>
            </p:grpSpPr>
            <p:sp>
              <p:nvSpPr>
                <p:cNvPr id="40" name="Hexagon 39">
                  <a:extLst>
                    <a:ext uri="{FF2B5EF4-FFF2-40B4-BE49-F238E27FC236}">
                      <a16:creationId xmlns:a16="http://schemas.microsoft.com/office/drawing/2014/main" id="{E4CC0D90-ED35-0BBC-FEF2-C55B9D556535}"/>
                    </a:ext>
                  </a:extLst>
                </p:cNvPr>
                <p:cNvSpPr/>
                <p:nvPr/>
              </p:nvSpPr>
              <p:spPr>
                <a:xfrm rot="1800000">
                  <a:off x="1075966" y="588911"/>
                  <a:ext cx="426678" cy="367826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41" name="Hexagon 40">
                  <a:extLst>
                    <a:ext uri="{FF2B5EF4-FFF2-40B4-BE49-F238E27FC236}">
                      <a16:creationId xmlns:a16="http://schemas.microsoft.com/office/drawing/2014/main" id="{F1057732-BEB2-E034-6F31-D8F0D5FB5C82}"/>
                    </a:ext>
                  </a:extLst>
                </p:cNvPr>
                <p:cNvSpPr/>
                <p:nvPr/>
              </p:nvSpPr>
              <p:spPr>
                <a:xfrm rot="1800000">
                  <a:off x="1044524" y="559454"/>
                  <a:ext cx="489560" cy="422035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 dirty="0"/>
                </a:p>
              </p:txBody>
            </p:sp>
          </p:grp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63B06C5-2E8D-3AD7-9EA9-7D5827C32BA2}"/>
                  </a:ext>
                </a:extLst>
              </p:cNvPr>
              <p:cNvSpPr/>
              <p:nvPr/>
            </p:nvSpPr>
            <p:spPr>
              <a:xfrm>
                <a:off x="812028" y="1252445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78C87FF-13E8-C432-D868-43F54BF3A9B5}"/>
                  </a:ext>
                </a:extLst>
              </p:cNvPr>
              <p:cNvSpPr/>
              <p:nvPr/>
            </p:nvSpPr>
            <p:spPr>
              <a:xfrm>
                <a:off x="610860" y="1365834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336224AE-9517-FB0E-7424-E06463A95F97}"/>
                  </a:ext>
                </a:extLst>
              </p:cNvPr>
              <p:cNvSpPr/>
              <p:nvPr/>
            </p:nvSpPr>
            <p:spPr>
              <a:xfrm>
                <a:off x="1013196" y="1365833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A64E2175-0AC4-220A-A537-32BC1ECDD208}"/>
                  </a:ext>
                </a:extLst>
              </p:cNvPr>
              <p:cNvSpPr/>
              <p:nvPr/>
            </p:nvSpPr>
            <p:spPr>
              <a:xfrm>
                <a:off x="610859" y="1585289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BCAF73C2-1982-3F9E-6CE2-25FEDFFA8256}"/>
                  </a:ext>
                </a:extLst>
              </p:cNvPr>
              <p:cNvSpPr/>
              <p:nvPr/>
            </p:nvSpPr>
            <p:spPr>
              <a:xfrm>
                <a:off x="1013195" y="1588726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1EB67AA8-D021-8025-063B-4EB924FF9A56}"/>
                  </a:ext>
                </a:extLst>
              </p:cNvPr>
              <p:cNvSpPr/>
              <p:nvPr/>
            </p:nvSpPr>
            <p:spPr>
              <a:xfrm>
                <a:off x="812028" y="1694041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/>
          <p:nvPr/>
        </p:nvSpPr>
        <p:spPr>
          <a:xfrm>
            <a:off x="886968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86968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6968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886968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Swiss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automation live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reference case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63976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3665144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65144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65144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3665144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managed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 decided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2152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6443320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3320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widen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43320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6443320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Productise workflows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20327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/>
          <p:nvPr/>
        </p:nvSpPr>
        <p:spPr>
          <a:xfrm>
            <a:off x="9221495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21495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21495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9221495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30–40+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~6–8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IP, licensed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one process, then expand within the account — each stage funds the next.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85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8AC2082-FF8E-73E7-AA96-BED7035237A1}"/>
              </a:ext>
            </a:extLst>
          </p:cNvPr>
          <p:cNvGrpSpPr>
            <a:grpSpLocks noChangeAspect="1"/>
          </p:cNvGrpSpPr>
          <p:nvPr/>
        </p:nvGrpSpPr>
        <p:grpSpPr>
          <a:xfrm>
            <a:off x="11087512" y="283711"/>
            <a:ext cx="434429" cy="392519"/>
            <a:chOff x="568280" y="1252445"/>
            <a:chExt cx="553430" cy="50003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1402BA7-F1CF-B27F-C6A9-D5008053B1AD}"/>
                </a:ext>
              </a:extLst>
            </p:cNvPr>
            <p:cNvSpPr txBox="1"/>
            <p:nvPr/>
          </p:nvSpPr>
          <p:spPr>
            <a:xfrm>
              <a:off x="568280" y="1317644"/>
              <a:ext cx="553430" cy="313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CH" sz="1000" dirty="0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CB2AB10-2840-3B4B-BFBB-247639F6901E}"/>
                </a:ext>
              </a:extLst>
            </p:cNvPr>
            <p:cNvGrpSpPr/>
            <p:nvPr/>
          </p:nvGrpSpPr>
          <p:grpSpPr>
            <a:xfrm>
              <a:off x="596468" y="1252445"/>
              <a:ext cx="489560" cy="500035"/>
              <a:chOff x="596468" y="1252445"/>
              <a:chExt cx="489560" cy="500035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83130415-F4CF-98AA-C19A-EFB3AFDE08C2}"/>
                  </a:ext>
                </a:extLst>
              </p:cNvPr>
              <p:cNvGrpSpPr/>
              <p:nvPr/>
            </p:nvGrpSpPr>
            <p:grpSpPr>
              <a:xfrm>
                <a:off x="596468" y="1293170"/>
                <a:ext cx="489560" cy="422035"/>
                <a:chOff x="1044524" y="559454"/>
                <a:chExt cx="489560" cy="422035"/>
              </a:xfrm>
            </p:grpSpPr>
            <p:sp>
              <p:nvSpPr>
                <p:cNvPr id="43" name="Hexagon 42">
                  <a:extLst>
                    <a:ext uri="{FF2B5EF4-FFF2-40B4-BE49-F238E27FC236}">
                      <a16:creationId xmlns:a16="http://schemas.microsoft.com/office/drawing/2014/main" id="{EFB31D09-7529-5BE4-0976-B805DC2053CA}"/>
                    </a:ext>
                  </a:extLst>
                </p:cNvPr>
                <p:cNvSpPr/>
                <p:nvPr/>
              </p:nvSpPr>
              <p:spPr>
                <a:xfrm rot="1800000">
                  <a:off x="1075966" y="588911"/>
                  <a:ext cx="426678" cy="367826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44" name="Hexagon 43">
                  <a:extLst>
                    <a:ext uri="{FF2B5EF4-FFF2-40B4-BE49-F238E27FC236}">
                      <a16:creationId xmlns:a16="http://schemas.microsoft.com/office/drawing/2014/main" id="{DDF1CEC2-86CC-F155-3038-A4EE4AC16D97}"/>
                    </a:ext>
                  </a:extLst>
                </p:cNvPr>
                <p:cNvSpPr/>
                <p:nvPr/>
              </p:nvSpPr>
              <p:spPr>
                <a:xfrm rot="1800000">
                  <a:off x="1044524" y="559454"/>
                  <a:ext cx="489560" cy="422035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 dirty="0"/>
                </a:p>
              </p:txBody>
            </p:sp>
          </p:grp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B1C189D0-EC86-B39C-877B-95B40F77F724}"/>
                  </a:ext>
                </a:extLst>
              </p:cNvPr>
              <p:cNvSpPr/>
              <p:nvPr/>
            </p:nvSpPr>
            <p:spPr>
              <a:xfrm>
                <a:off x="812028" y="1252445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9BC7EADC-C4D1-0C26-5B14-1204B7A4D6E6}"/>
                  </a:ext>
                </a:extLst>
              </p:cNvPr>
              <p:cNvSpPr/>
              <p:nvPr/>
            </p:nvSpPr>
            <p:spPr>
              <a:xfrm>
                <a:off x="610860" y="1365834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B15E8DF5-7453-26A0-3F6A-1F699A62C98F}"/>
                  </a:ext>
                </a:extLst>
              </p:cNvPr>
              <p:cNvSpPr/>
              <p:nvPr/>
            </p:nvSpPr>
            <p:spPr>
              <a:xfrm>
                <a:off x="1013196" y="1365833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8E85F7AD-5910-A27E-004F-56258702417B}"/>
                  </a:ext>
                </a:extLst>
              </p:cNvPr>
              <p:cNvSpPr/>
              <p:nvPr/>
            </p:nvSpPr>
            <p:spPr>
              <a:xfrm>
                <a:off x="610859" y="1585289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3C74F005-7127-9B2B-4658-E795D1776429}"/>
                  </a:ext>
                </a:extLst>
              </p:cNvPr>
              <p:cNvSpPr/>
              <p:nvPr/>
            </p:nvSpPr>
            <p:spPr>
              <a:xfrm>
                <a:off x="1013195" y="1588726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6A04D7E4-02F7-2979-E27D-1D372789D01A}"/>
                  </a:ext>
                </a:extLst>
              </p:cNvPr>
              <p:cNvSpPr/>
              <p:nvPr/>
            </p:nvSpPr>
            <p:spPr>
              <a:xfrm>
                <a:off x="812028" y="1694041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PLAN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 — recurring by design.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revenue lines: a one-time setup that funds the build, plus a monthly managed service — the recurring base. Five packages, priced by complexity and control.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832104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Intake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95539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3041843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41843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Basic+ AI Triage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05278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5251582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1582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Multi-Channel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017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7461321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61321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Operations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524756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9671060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71060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Automation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36576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~CHF 750 → 30'000        Monthly  ~CHF 150 → 6'000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411480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 (ARR) — INDICATIVE, BLENDED ~CHF 12–17K PER ACTIVE CLIENT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" y="4434840"/>
            <a:ext cx="2485568" cy="960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85800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180512" y="44348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63976" y="4434840"/>
            <a:ext cx="2485568" cy="96012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3463976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63976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80–140k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5958688" y="44348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42152" y="4434840"/>
            <a:ext cx="2485568" cy="96012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/>
          <p:nvPr/>
        </p:nvSpPr>
        <p:spPr>
          <a:xfrm>
            <a:off x="6242152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42152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200–340k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8736863" y="44348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20327" y="4434840"/>
            <a:ext cx="2485568" cy="96012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0" name="Text 38"/>
          <p:cNvSpPr/>
          <p:nvPr/>
        </p:nvSpPr>
        <p:spPr>
          <a:xfrm>
            <a:off x="9020327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020327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400–680k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685800" y="566928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is a licence, not a transfer — break-even at ~6–8 managed clients; bootstrap-first.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4" name="Text 42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85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C39F524-399F-E0F2-6128-4FB0117E078E}"/>
              </a:ext>
            </a:extLst>
          </p:cNvPr>
          <p:cNvGrpSpPr>
            <a:grpSpLocks noChangeAspect="1"/>
          </p:cNvGrpSpPr>
          <p:nvPr/>
        </p:nvGrpSpPr>
        <p:grpSpPr>
          <a:xfrm>
            <a:off x="11087512" y="283711"/>
            <a:ext cx="434429" cy="392519"/>
            <a:chOff x="568280" y="1252445"/>
            <a:chExt cx="553430" cy="500035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296BD31-6BCA-AF4A-B85A-5C7DC9FDBB59}"/>
                </a:ext>
              </a:extLst>
            </p:cNvPr>
            <p:cNvSpPr txBox="1"/>
            <p:nvPr/>
          </p:nvSpPr>
          <p:spPr>
            <a:xfrm>
              <a:off x="568280" y="1317644"/>
              <a:ext cx="553430" cy="313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CH" sz="1000" dirty="0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F3F59FDC-CEAB-9405-A33E-DBDAF5D53939}"/>
                </a:ext>
              </a:extLst>
            </p:cNvPr>
            <p:cNvGrpSpPr/>
            <p:nvPr/>
          </p:nvGrpSpPr>
          <p:grpSpPr>
            <a:xfrm>
              <a:off x="596468" y="1252445"/>
              <a:ext cx="489560" cy="500035"/>
              <a:chOff x="596468" y="1252445"/>
              <a:chExt cx="489560" cy="500035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3AB29B05-E886-FA00-3B3B-C568B9B710D8}"/>
                  </a:ext>
                </a:extLst>
              </p:cNvPr>
              <p:cNvGrpSpPr/>
              <p:nvPr/>
            </p:nvGrpSpPr>
            <p:grpSpPr>
              <a:xfrm>
                <a:off x="596468" y="1293170"/>
                <a:ext cx="489560" cy="422035"/>
                <a:chOff x="1044524" y="559454"/>
                <a:chExt cx="489560" cy="422035"/>
              </a:xfrm>
            </p:grpSpPr>
            <p:sp>
              <p:nvSpPr>
                <p:cNvPr id="56" name="Hexagon 55">
                  <a:extLst>
                    <a:ext uri="{FF2B5EF4-FFF2-40B4-BE49-F238E27FC236}">
                      <a16:creationId xmlns:a16="http://schemas.microsoft.com/office/drawing/2014/main" id="{5B21FDD4-9091-1312-2FF6-200800D8AA06}"/>
                    </a:ext>
                  </a:extLst>
                </p:cNvPr>
                <p:cNvSpPr/>
                <p:nvPr/>
              </p:nvSpPr>
              <p:spPr>
                <a:xfrm rot="1800000">
                  <a:off x="1075966" y="588911"/>
                  <a:ext cx="426678" cy="367826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57" name="Hexagon 56">
                  <a:extLst>
                    <a:ext uri="{FF2B5EF4-FFF2-40B4-BE49-F238E27FC236}">
                      <a16:creationId xmlns:a16="http://schemas.microsoft.com/office/drawing/2014/main" id="{55F17C0F-9231-9783-0373-55D7DE9CCCB7}"/>
                    </a:ext>
                  </a:extLst>
                </p:cNvPr>
                <p:cNvSpPr/>
                <p:nvPr/>
              </p:nvSpPr>
              <p:spPr>
                <a:xfrm rot="1800000">
                  <a:off x="1044524" y="559454"/>
                  <a:ext cx="489560" cy="422035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 dirty="0"/>
                </a:p>
              </p:txBody>
            </p:sp>
          </p:grp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5F49D5A-17A5-1C6E-1636-1B42E39E1D5E}"/>
                  </a:ext>
                </a:extLst>
              </p:cNvPr>
              <p:cNvSpPr/>
              <p:nvPr/>
            </p:nvSpPr>
            <p:spPr>
              <a:xfrm>
                <a:off x="812028" y="1252445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0D697F83-909D-0197-94D8-557D79CEAECD}"/>
                  </a:ext>
                </a:extLst>
              </p:cNvPr>
              <p:cNvSpPr/>
              <p:nvPr/>
            </p:nvSpPr>
            <p:spPr>
              <a:xfrm>
                <a:off x="610860" y="1365834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5ED715D1-7DB5-6DF6-C405-212C938ED0F8}"/>
                  </a:ext>
                </a:extLst>
              </p:cNvPr>
              <p:cNvSpPr/>
              <p:nvPr/>
            </p:nvSpPr>
            <p:spPr>
              <a:xfrm>
                <a:off x="1013196" y="1365833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2B23DFB1-9DC6-14DE-B8A4-BCA7C584B078}"/>
                  </a:ext>
                </a:extLst>
              </p:cNvPr>
              <p:cNvSpPr/>
              <p:nvPr/>
            </p:nvSpPr>
            <p:spPr>
              <a:xfrm>
                <a:off x="610859" y="1585289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20B7112A-2DF8-3B96-018D-E20D6262BDFB}"/>
                  </a:ext>
                </a:extLst>
              </p:cNvPr>
              <p:cNvSpPr/>
              <p:nvPr/>
            </p:nvSpPr>
            <p:spPr>
              <a:xfrm>
                <a:off x="1013195" y="1588726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FA7CAB2-693C-5793-6288-F511D015CAB5}"/>
                  </a:ext>
                </a:extLst>
              </p:cNvPr>
              <p:cNvSpPr/>
              <p:nvPr/>
            </p:nvSpPr>
            <p:spPr>
              <a:xfrm>
                <a:off x="812028" y="1694041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operator today — the team the roadmap will need.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Founder-led while small, by design. Each role is added only when recurring revenue covers it — we hire from cashflow, not on speculation.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NOW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852928"/>
            <a:ext cx="10820095" cy="8686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905256" y="29626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 — Founder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43400" y="2962656"/>
            <a:ext cx="6933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years in industrial operations &amp; engineering. Today spans all four work packages — build &amp; automation, delivery &amp; managed service, go-to-market, and the client relationship. Ops-native credibility: targets the real pain, not a demo.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385876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MISSING — ADDED AS THE CLIENT LOAD (AND REVENUE) GROWS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4114800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905256" y="4261104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463040" y="4288536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/ delivery engineer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463040" y="4562856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hire, 2027/28 — scale the build beyond founder capacity. (WP2)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42152" y="4114800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6461608" y="4261104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019392" y="4288536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/ business development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019392" y="4562856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2028, as clients reach 15–20 — frees the founder from outreach. (WP1)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5102352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905256" y="5248656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463040" y="5276088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success / operations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463040" y="5550408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managed-service quality as the recurring base grows.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42152" y="5102352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461608" y="5248656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019392" y="5276088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 lead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019392" y="5550408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2028+, to open the first EU market. (WP4)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" y="59436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in now, not hired:  </a:t>
            </a:r>
            <a:r>
              <a:rPr lang="en-US" sz="105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IP counsel (contracts, licences, NDAs, data agreements) and accounting / fiduciary — fractional, not headcount.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Text 31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85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6646E0B-0B8B-46C0-4981-CC064B22676D}"/>
              </a:ext>
            </a:extLst>
          </p:cNvPr>
          <p:cNvGrpSpPr>
            <a:grpSpLocks noChangeAspect="1"/>
          </p:cNvGrpSpPr>
          <p:nvPr/>
        </p:nvGrpSpPr>
        <p:grpSpPr>
          <a:xfrm>
            <a:off x="11087512" y="283711"/>
            <a:ext cx="434429" cy="392519"/>
            <a:chOff x="568280" y="1252445"/>
            <a:chExt cx="553430" cy="500035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5F5DE69-5DE2-9646-2E59-6D2201B849BA}"/>
                </a:ext>
              </a:extLst>
            </p:cNvPr>
            <p:cNvSpPr txBox="1"/>
            <p:nvPr/>
          </p:nvSpPr>
          <p:spPr>
            <a:xfrm>
              <a:off x="568280" y="1317644"/>
              <a:ext cx="553430" cy="313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CH" sz="1000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6D4211D-6748-9512-C6D5-5C2A1C3DB868}"/>
                </a:ext>
              </a:extLst>
            </p:cNvPr>
            <p:cNvGrpSpPr/>
            <p:nvPr/>
          </p:nvGrpSpPr>
          <p:grpSpPr>
            <a:xfrm>
              <a:off x="596468" y="1252445"/>
              <a:ext cx="489560" cy="500035"/>
              <a:chOff x="596468" y="1252445"/>
              <a:chExt cx="489560" cy="500035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73CA4E6C-282B-F51E-448C-ABB4EA1BBB8B}"/>
                  </a:ext>
                </a:extLst>
              </p:cNvPr>
              <p:cNvGrpSpPr/>
              <p:nvPr/>
            </p:nvGrpSpPr>
            <p:grpSpPr>
              <a:xfrm>
                <a:off x="596468" y="1293170"/>
                <a:ext cx="489560" cy="422035"/>
                <a:chOff x="1044524" y="559454"/>
                <a:chExt cx="489560" cy="422035"/>
              </a:xfrm>
            </p:grpSpPr>
            <p:sp>
              <p:nvSpPr>
                <p:cNvPr id="45" name="Hexagon 44">
                  <a:extLst>
                    <a:ext uri="{FF2B5EF4-FFF2-40B4-BE49-F238E27FC236}">
                      <a16:creationId xmlns:a16="http://schemas.microsoft.com/office/drawing/2014/main" id="{D967C685-5776-31D8-296D-125E65D3D86E}"/>
                    </a:ext>
                  </a:extLst>
                </p:cNvPr>
                <p:cNvSpPr/>
                <p:nvPr/>
              </p:nvSpPr>
              <p:spPr>
                <a:xfrm rot="1800000">
                  <a:off x="1075966" y="588911"/>
                  <a:ext cx="426678" cy="367826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46" name="Hexagon 45">
                  <a:extLst>
                    <a:ext uri="{FF2B5EF4-FFF2-40B4-BE49-F238E27FC236}">
                      <a16:creationId xmlns:a16="http://schemas.microsoft.com/office/drawing/2014/main" id="{082BD569-9D15-C2CD-2375-584907B2C80B}"/>
                    </a:ext>
                  </a:extLst>
                </p:cNvPr>
                <p:cNvSpPr/>
                <p:nvPr/>
              </p:nvSpPr>
              <p:spPr>
                <a:xfrm rot="1800000">
                  <a:off x="1044524" y="559454"/>
                  <a:ext cx="489560" cy="422035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 dirty="0"/>
                </a:p>
              </p:txBody>
            </p:sp>
          </p:grp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AE69A1DE-CEDB-4AA8-237E-5F208E2A557A}"/>
                  </a:ext>
                </a:extLst>
              </p:cNvPr>
              <p:cNvSpPr/>
              <p:nvPr/>
            </p:nvSpPr>
            <p:spPr>
              <a:xfrm>
                <a:off x="812028" y="1252445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354DBE3-43A3-B842-B05D-AF5D863F2B75}"/>
                  </a:ext>
                </a:extLst>
              </p:cNvPr>
              <p:cNvSpPr/>
              <p:nvPr/>
            </p:nvSpPr>
            <p:spPr>
              <a:xfrm>
                <a:off x="610860" y="1365834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0866F664-6E5F-60F1-8BA6-C486E2417BDC}"/>
                  </a:ext>
                </a:extLst>
              </p:cNvPr>
              <p:cNvSpPr/>
              <p:nvPr/>
            </p:nvSpPr>
            <p:spPr>
              <a:xfrm>
                <a:off x="1013196" y="1365833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BDE08C26-30F6-B57A-30AE-1B594D5F40CA}"/>
                  </a:ext>
                </a:extLst>
              </p:cNvPr>
              <p:cNvSpPr/>
              <p:nvPr/>
            </p:nvSpPr>
            <p:spPr>
              <a:xfrm>
                <a:off x="610859" y="1585289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3D20250F-88C9-C0CE-48A3-CAD73A053738}"/>
                  </a:ext>
                </a:extLst>
              </p:cNvPr>
              <p:cNvSpPr/>
              <p:nvPr/>
            </p:nvSpPr>
            <p:spPr>
              <a:xfrm>
                <a:off x="1013195" y="1588726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11EDB5BC-5265-0A6C-0C24-F430517F5693}"/>
                  </a:ext>
                </a:extLst>
              </p:cNvPr>
              <p:cNvSpPr/>
              <p:nvPr/>
            </p:nvSpPr>
            <p:spPr>
              <a:xfrm>
                <a:off x="812028" y="1694041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&amp; ADVISORS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board yet — the advisors we'd bring in as we scale.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Advisory-first and lightweight while founder-led. A formal board comes with external funding (Day 5). Chosen for credibility, introductions and governance — not titles — protecting trust, data discipline and IP rather than taking decisions from the founder or the client.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 ADVISORY BOARD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8803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905256" y="30266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09928" y="30540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/ industry operator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709928" y="34381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manufacturing or Treuhand veteran who knows the beachhead — validates we target real pain and opens doors.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42152" y="28803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6461608" y="30266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266280" y="30540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automation technical advisor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266280" y="34381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build current and credible on safety and human-in-the-loop; sanity-checks the tech as it scales.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4805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905256" y="46268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709928" y="46542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advisor (DACH B2B)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709928" y="50383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Sharpens the positioning and the sales motion; referrals into high-trust niches.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2152" y="44805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6461608" y="46268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266280" y="46542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IP &amp; governance advisor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266280" y="50383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company law, IP licensing, data agreements, term sheets — matters more as licensing and any raise grow.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5800" y="601675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fifth seat — a first design-partner client, to keep us honest to buyer reality.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85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A80E161-18D5-C3F0-CE76-0623BB293D81}"/>
              </a:ext>
            </a:extLst>
          </p:cNvPr>
          <p:cNvGrpSpPr>
            <a:grpSpLocks noChangeAspect="1"/>
          </p:cNvGrpSpPr>
          <p:nvPr/>
        </p:nvGrpSpPr>
        <p:grpSpPr>
          <a:xfrm>
            <a:off x="11087512" y="283711"/>
            <a:ext cx="434429" cy="392519"/>
            <a:chOff x="568280" y="1252445"/>
            <a:chExt cx="553430" cy="500035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459B465-B7D8-4316-905F-7037B0A4FE05}"/>
                </a:ext>
              </a:extLst>
            </p:cNvPr>
            <p:cNvSpPr txBox="1"/>
            <p:nvPr/>
          </p:nvSpPr>
          <p:spPr>
            <a:xfrm>
              <a:off x="568280" y="1317644"/>
              <a:ext cx="553430" cy="313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CH" sz="1000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FAEF397-CA67-6631-3B05-CDA2F35C73FF}"/>
                </a:ext>
              </a:extLst>
            </p:cNvPr>
            <p:cNvGrpSpPr/>
            <p:nvPr/>
          </p:nvGrpSpPr>
          <p:grpSpPr>
            <a:xfrm>
              <a:off x="596468" y="1252445"/>
              <a:ext cx="489560" cy="500035"/>
              <a:chOff x="596468" y="1252445"/>
              <a:chExt cx="489560" cy="500035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17F6EF0C-937B-7004-4A4B-AE03877D53C0}"/>
                  </a:ext>
                </a:extLst>
              </p:cNvPr>
              <p:cNvGrpSpPr/>
              <p:nvPr/>
            </p:nvGrpSpPr>
            <p:grpSpPr>
              <a:xfrm>
                <a:off x="596468" y="1293170"/>
                <a:ext cx="489560" cy="422035"/>
                <a:chOff x="1044524" y="559454"/>
                <a:chExt cx="489560" cy="422035"/>
              </a:xfrm>
            </p:grpSpPr>
            <p:sp>
              <p:nvSpPr>
                <p:cNvPr id="41" name="Hexagon 40">
                  <a:extLst>
                    <a:ext uri="{FF2B5EF4-FFF2-40B4-BE49-F238E27FC236}">
                      <a16:creationId xmlns:a16="http://schemas.microsoft.com/office/drawing/2014/main" id="{3753C47D-E167-9718-77DF-9BF54640E263}"/>
                    </a:ext>
                  </a:extLst>
                </p:cNvPr>
                <p:cNvSpPr/>
                <p:nvPr/>
              </p:nvSpPr>
              <p:spPr>
                <a:xfrm rot="1800000">
                  <a:off x="1075966" y="588911"/>
                  <a:ext cx="426678" cy="367826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42" name="Hexagon 41">
                  <a:extLst>
                    <a:ext uri="{FF2B5EF4-FFF2-40B4-BE49-F238E27FC236}">
                      <a16:creationId xmlns:a16="http://schemas.microsoft.com/office/drawing/2014/main" id="{22516E35-A04B-8376-88CC-EE2CB1D0B504}"/>
                    </a:ext>
                  </a:extLst>
                </p:cNvPr>
                <p:cNvSpPr/>
                <p:nvPr/>
              </p:nvSpPr>
              <p:spPr>
                <a:xfrm rot="1800000">
                  <a:off x="1044524" y="559454"/>
                  <a:ext cx="489560" cy="422035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 dirty="0"/>
                </a:p>
              </p:txBody>
            </p:sp>
          </p:grp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E26831B-2166-AA8D-0B02-A16C700FA4A7}"/>
                  </a:ext>
                </a:extLst>
              </p:cNvPr>
              <p:cNvSpPr/>
              <p:nvPr/>
            </p:nvSpPr>
            <p:spPr>
              <a:xfrm>
                <a:off x="812028" y="1252445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00E88A9A-3E00-8F5A-31B5-7770626EEF37}"/>
                  </a:ext>
                </a:extLst>
              </p:cNvPr>
              <p:cNvSpPr/>
              <p:nvPr/>
            </p:nvSpPr>
            <p:spPr>
              <a:xfrm>
                <a:off x="610860" y="1365834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E6F00D29-3E8E-35FD-6086-7F581E26B207}"/>
                  </a:ext>
                </a:extLst>
              </p:cNvPr>
              <p:cNvSpPr/>
              <p:nvPr/>
            </p:nvSpPr>
            <p:spPr>
              <a:xfrm>
                <a:off x="1013196" y="1365833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FCB09683-935D-A417-AD4C-27E70489AF72}"/>
                  </a:ext>
                </a:extLst>
              </p:cNvPr>
              <p:cNvSpPr/>
              <p:nvPr/>
            </p:nvSpPr>
            <p:spPr>
              <a:xfrm>
                <a:off x="610859" y="1585289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388B0553-1AF3-F0E8-7504-10F1CA2D30FA}"/>
                  </a:ext>
                </a:extLst>
              </p:cNvPr>
              <p:cNvSpPr/>
              <p:nvPr/>
            </p:nvSpPr>
            <p:spPr>
              <a:xfrm>
                <a:off x="1013195" y="1588726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313A09F-A720-75CF-2A1A-3C74DB7898EF}"/>
                  </a:ext>
                </a:extLst>
              </p:cNvPr>
              <p:cNvSpPr/>
              <p:nvPr/>
            </p:nvSpPr>
            <p:spPr>
              <a:xfrm>
                <a:off x="812028" y="1694041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1331</Words>
  <Application>Microsoft Macintosh PowerPoint</Application>
  <PresentationFormat>Widescreen</PresentationFormat>
  <Paragraphs>242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maciek szczech</cp:lastModifiedBy>
  <cp:revision>3</cp:revision>
  <dcterms:created xsi:type="dcterms:W3CDTF">2026-08-21T17:52:27Z</dcterms:created>
  <dcterms:modified xsi:type="dcterms:W3CDTF">2026-08-21T18:28:21Z</dcterms:modified>
</cp:coreProperties>
</file>