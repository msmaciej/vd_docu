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6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0462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685800" y="640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0312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handles the repetitive work.</a:t>
            </a:r>
            <a:endParaRPr lang="en-US" sz="4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decisions.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3886200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AI workflows for small and mid-sized companies.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5943600"/>
            <a:ext cx="10820095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5505A6F-B518-6426-D27E-37066DBD9623}"/>
              </a:ext>
            </a:extLst>
          </p:cNvPr>
          <p:cNvSpPr/>
          <p:nvPr/>
        </p:nvSpPr>
        <p:spPr>
          <a:xfrm>
            <a:off x="6810154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tasks, repeated every day.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75487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is easy once. The cost is that it never stops.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9</a:t>
            </a:r>
            <a:endParaRPr lang="en-US" sz="850" dirty="0"/>
          </a:p>
        </p:txBody>
      </p:sp>
      <p:cxnSp>
        <p:nvCxnSpPr>
          <p:cNvPr id="36" name="Connector 35"/>
          <p:cNvCxnSpPr>
            <a:cxnSpLocks/>
            <a:stCxn id="12" idx="3"/>
            <a:endCxn id="16" idx="2"/>
          </p:cNvCxnSpPr>
          <p:nvPr/>
        </p:nvCxnSpPr>
        <p:spPr>
          <a:xfrm>
            <a:off x="3017520" y="2770632"/>
            <a:ext cx="1836705" cy="73152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cxnSpLocks/>
            <a:stCxn id="13" idx="3"/>
            <a:endCxn id="16" idx="2"/>
          </p:cNvCxnSpPr>
          <p:nvPr/>
        </p:nvCxnSpPr>
        <p:spPr>
          <a:xfrm>
            <a:off x="3017520" y="3273552"/>
            <a:ext cx="1836705" cy="2286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cxnSpLocks/>
            <a:stCxn id="14" idx="3"/>
            <a:endCxn id="16" idx="2"/>
          </p:cNvCxnSpPr>
          <p:nvPr/>
        </p:nvCxnSpPr>
        <p:spPr>
          <a:xfrm flipV="1">
            <a:off x="3017520" y="3502152"/>
            <a:ext cx="1836705" cy="27432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cxnSpLocks/>
            <a:stCxn id="15" idx="3"/>
            <a:endCxn id="16" idx="2"/>
          </p:cNvCxnSpPr>
          <p:nvPr/>
        </p:nvCxnSpPr>
        <p:spPr>
          <a:xfrm flipV="1">
            <a:off x="3017520" y="3502152"/>
            <a:ext cx="1836705" cy="777239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cxnSpLocks/>
            <a:stCxn id="16" idx="6"/>
          </p:cNvCxnSpPr>
          <p:nvPr/>
        </p:nvCxnSpPr>
        <p:spPr>
          <a:xfrm flipV="1">
            <a:off x="6225825" y="3480102"/>
            <a:ext cx="1354295" cy="2205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580120" y="3118357"/>
            <a:ext cx="329184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resolved — one after another</a:t>
            </a:r>
          </a:p>
          <a:p>
            <a:pPr algn="ctr"/>
            <a:r>
              <a:rPr sz="1000" b="0">
                <a:solidFill>
                  <a:srgbClr val="8A8A8A"/>
                </a:solidFill>
              </a:rPr>
              <a:t>task 1, then 2, then 3 …</a:t>
            </a:r>
          </a:p>
        </p:txBody>
      </p:sp>
      <p:cxnSp>
        <p:nvCxnSpPr>
          <p:cNvPr id="42" name="Connector 41"/>
          <p:cNvCxnSpPr>
            <a:cxnSpLocks/>
          </p:cNvCxnSpPr>
          <p:nvPr/>
        </p:nvCxnSpPr>
        <p:spPr>
          <a:xfrm rot="10800000" flipV="1">
            <a:off x="5720769" y="3694176"/>
            <a:ext cx="1782438" cy="585381"/>
          </a:xfrm>
          <a:prstGeom prst="curvedConnector3">
            <a:avLst/>
          </a:prstGeom>
          <a:ln w="15875"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90930" y="4105952"/>
            <a:ext cx="1222476" cy="30777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lang="de-CH" sz="1000" dirty="0">
                <a:solidFill>
                  <a:srgbClr val="8A8A8A"/>
                </a:solidFill>
              </a:rPr>
              <a:t>t</a:t>
            </a:r>
            <a:r>
              <a:rPr lang="de-CH" sz="1000" b="0" dirty="0">
                <a:solidFill>
                  <a:srgbClr val="8A8A8A"/>
                </a:solidFill>
              </a:rPr>
              <a:t>ask1 </a:t>
            </a:r>
            <a:r>
              <a:rPr lang="de-CH" sz="1000" b="0" dirty="0" err="1">
                <a:solidFill>
                  <a:srgbClr val="8A8A8A"/>
                </a:solidFill>
              </a:rPr>
              <a:t>resolved</a:t>
            </a:r>
            <a:r>
              <a:rPr lang="de-CH" sz="1000" b="0" dirty="0">
                <a:solidFill>
                  <a:srgbClr val="8A8A8A"/>
                </a:solidFill>
              </a:rPr>
              <a:t>, </a:t>
            </a:r>
          </a:p>
          <a:p>
            <a:pPr algn="l"/>
            <a:r>
              <a:rPr sz="1000" b="0" dirty="0">
                <a:solidFill>
                  <a:srgbClr val="8A8A8A"/>
                </a:solidFill>
              </a:rPr>
              <a:t>then the next task</a:t>
            </a:r>
            <a:r>
              <a:rPr lang="de-CH" sz="1000" b="0" dirty="0">
                <a:solidFill>
                  <a:srgbClr val="8A8A8A"/>
                </a:solidFill>
              </a:rPr>
              <a:t> …</a:t>
            </a:r>
            <a:endParaRPr sz="1000" b="0" dirty="0">
              <a:solidFill>
                <a:srgbClr val="8A8A8A"/>
              </a:solidFill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560C1EE-B7E2-7A20-B739-530178D03D87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19CEA-1F7D-85D0-B715-A24878E29CAB}"/>
              </a:ext>
            </a:extLst>
          </p:cNvPr>
          <p:cNvSpPr txBox="1"/>
          <p:nvPr/>
        </p:nvSpPr>
        <p:spPr>
          <a:xfrm>
            <a:off x="822960" y="2267712"/>
            <a:ext cx="2194560" cy="15388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GB" sz="1000" dirty="0">
                <a:solidFill>
                  <a:srgbClr val="8A8A8A"/>
                </a:solidFill>
              </a:rPr>
              <a:t>the queue · 1…N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B2E9E1B-0B8C-EDEF-15B0-A1DD82BF4667}"/>
              </a:ext>
            </a:extLst>
          </p:cNvPr>
          <p:cNvSpPr/>
          <p:nvPr/>
        </p:nvSpPr>
        <p:spPr>
          <a:xfrm>
            <a:off x="822960" y="25420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lang="de-CH" sz="1200" b="0" dirty="0">
                <a:solidFill>
                  <a:srgbClr val="1A1A1A"/>
                </a:solidFill>
              </a:rPr>
              <a:t>Messages</a:t>
            </a:r>
            <a:endParaRPr sz="1200" b="0" dirty="0">
              <a:solidFill>
                <a:srgbClr val="1A1A1A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46E1748-C8E0-BF8C-2C20-9997F4296E0B}"/>
              </a:ext>
            </a:extLst>
          </p:cNvPr>
          <p:cNvSpPr/>
          <p:nvPr/>
        </p:nvSpPr>
        <p:spPr>
          <a:xfrm>
            <a:off x="822960" y="30449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lang="de-CH" sz="1200" b="0" dirty="0" err="1">
                <a:solidFill>
                  <a:srgbClr val="1A1A1A"/>
                </a:solidFill>
              </a:rPr>
              <a:t>Documents</a:t>
            </a:r>
            <a:r>
              <a:rPr lang="de-CH" sz="1200" b="0" dirty="0">
                <a:solidFill>
                  <a:srgbClr val="1A1A1A"/>
                </a:solidFill>
              </a:rPr>
              <a:t> &amp; Data</a:t>
            </a:r>
            <a:endParaRPr sz="1200" b="0" dirty="0">
              <a:solidFill>
                <a:srgbClr val="1A1A1A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A84E593-28E8-4007-4C6E-97A8DA82C6BD}"/>
              </a:ext>
            </a:extLst>
          </p:cNvPr>
          <p:cNvSpPr/>
          <p:nvPr/>
        </p:nvSpPr>
        <p:spPr>
          <a:xfrm>
            <a:off x="822960" y="354787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lang="de-CH" sz="1200" b="0" dirty="0" err="1">
                <a:solidFill>
                  <a:srgbClr val="1A1A1A"/>
                </a:solidFill>
              </a:rPr>
              <a:t>Quotes</a:t>
            </a:r>
            <a:r>
              <a:rPr lang="de-CH" sz="1200" b="0" dirty="0">
                <a:solidFill>
                  <a:srgbClr val="1A1A1A"/>
                </a:solidFill>
              </a:rPr>
              <a:t> &amp; </a:t>
            </a:r>
            <a:r>
              <a:rPr lang="de-CH" sz="1200" b="0" dirty="0" err="1">
                <a:solidFill>
                  <a:srgbClr val="1A1A1A"/>
                </a:solidFill>
              </a:rPr>
              <a:t>Renewals</a:t>
            </a:r>
            <a:endParaRPr sz="1200" b="0" dirty="0">
              <a:solidFill>
                <a:srgbClr val="1A1A1A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3AB0131-DBCE-E548-2947-66FDD9D12241}"/>
              </a:ext>
            </a:extLst>
          </p:cNvPr>
          <p:cNvSpPr/>
          <p:nvPr/>
        </p:nvSpPr>
        <p:spPr>
          <a:xfrm>
            <a:off x="822960" y="4050791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lang="de-CH" sz="1200" b="0" dirty="0">
                <a:solidFill>
                  <a:srgbClr val="1A1A1A"/>
                </a:solidFill>
              </a:rPr>
              <a:t>Reports</a:t>
            </a:r>
            <a:endParaRPr sz="1200" b="0" dirty="0">
              <a:solidFill>
                <a:srgbClr val="1A1A1A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1D577BD-87F0-3E86-C451-F783343738CA}"/>
              </a:ext>
            </a:extLst>
          </p:cNvPr>
          <p:cNvSpPr/>
          <p:nvPr/>
        </p:nvSpPr>
        <p:spPr>
          <a:xfrm>
            <a:off x="4854225" y="2816352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dirty="0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lang="en-GB" sz="1100" dirty="0">
                <a:solidFill>
                  <a:srgbClr val="8A8A8A"/>
                </a:solidFill>
              </a:rPr>
              <a:t>a</a:t>
            </a:r>
            <a:r>
              <a:rPr sz="1100" b="0" dirty="0" err="1">
                <a:solidFill>
                  <a:srgbClr val="8A8A8A"/>
                </a:solidFill>
              </a:rPr>
              <a:t>pprove</a:t>
            </a:r>
            <a:r>
              <a:rPr lang="de-CH" sz="1100" b="0" dirty="0">
                <a:solidFill>
                  <a:srgbClr val="8A8A8A"/>
                </a:solidFill>
              </a:rPr>
              <a:t> / </a:t>
            </a:r>
            <a:r>
              <a:rPr lang="de-CH" sz="1100" b="0" dirty="0" err="1">
                <a:solidFill>
                  <a:srgbClr val="8A8A8A"/>
                </a:solidFill>
              </a:rPr>
              <a:t>one</a:t>
            </a:r>
            <a:r>
              <a:rPr lang="de-CH" sz="1100" b="0" dirty="0">
                <a:solidFill>
                  <a:srgbClr val="8A8A8A"/>
                </a:solidFill>
              </a:rPr>
              <a:t> at a time</a:t>
            </a:r>
            <a:endParaRPr sz="1100" b="0" dirty="0">
              <a:solidFill>
                <a:srgbClr val="8A8A8A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A6357B-51AB-EA21-1F90-6D294B6BFCAA}"/>
              </a:ext>
            </a:extLst>
          </p:cNvPr>
          <p:cNvSpPr txBox="1"/>
          <p:nvPr/>
        </p:nvSpPr>
        <p:spPr>
          <a:xfrm>
            <a:off x="822960" y="4892040"/>
            <a:ext cx="10515600" cy="169277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lang="en-GB" sz="1100" dirty="0">
                <a:solidFill>
                  <a:srgbClr val="595959"/>
                </a:solidFill>
              </a:rPr>
              <a:t>One pair of hands, one at a time — the queue only clears as fast as you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turn repetitive tasks into AI workflows — with human control.</a:t>
            </a:r>
            <a:endParaRPr lang="en-US" sz="2300" dirty="0"/>
          </a:p>
        </p:txBody>
      </p:sp>
      <p:sp>
        <p:nvSpPr>
          <p:cNvPr id="26" name="Shape 2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9</a:t>
            </a:r>
            <a:endParaRPr lang="en-US" sz="850" dirty="0"/>
          </a:p>
        </p:txBody>
      </p:sp>
      <p:sp>
        <p:nvSpPr>
          <p:cNvPr id="29" name="TextBox 28"/>
          <p:cNvSpPr txBox="1"/>
          <p:nvPr/>
        </p:nvSpPr>
        <p:spPr>
          <a:xfrm>
            <a:off x="822960" y="2267712"/>
            <a:ext cx="219456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000" b="0" dirty="0">
                <a:solidFill>
                  <a:srgbClr val="8A8A8A"/>
                </a:solidFill>
              </a:rPr>
              <a:t>incoming · 1…N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54203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04495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3547872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050791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0">
                <a:solidFill>
                  <a:srgbClr val="1A1A1A"/>
                </a:solidFill>
              </a:rPr>
              <a:t>task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2697480"/>
            <a:ext cx="2377440" cy="1325880"/>
          </a:xfrm>
          <a:prstGeom prst="roundRect">
            <a:avLst>
              <a:gd name="adj" fmla="val 12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AI workflow</a:t>
            </a:r>
          </a:p>
          <a:p>
            <a:pPr algn="ctr"/>
            <a:r>
              <a:rPr sz="1100" b="0">
                <a:solidFill>
                  <a:srgbClr val="C8C8C8"/>
                </a:solidFill>
              </a:rPr>
              <a:t>does the work — in parallel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017520" y="2770632"/>
            <a:ext cx="868680" cy="59436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017520" y="3273552"/>
            <a:ext cx="868680" cy="9144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3017520" y="3364992"/>
            <a:ext cx="868680" cy="41148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017520" y="3364992"/>
            <a:ext cx="868680" cy="91440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17920" y="3364992"/>
            <a:ext cx="640080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903720" y="2679192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A1A1A"/>
                </a:solidFill>
              </a:rPr>
              <a:t>You</a:t>
            </a:r>
          </a:p>
          <a:p>
            <a:pPr algn="ctr"/>
            <a:r>
              <a:rPr sz="1100" b="0">
                <a:solidFill>
                  <a:srgbClr val="8A8A8A"/>
                </a:solidFill>
              </a:rPr>
              <a:t>approve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114800"/>
            <a:ext cx="22860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ctr"/>
            <a:r>
              <a:rPr sz="1000" b="0">
                <a:solidFill>
                  <a:srgbClr val="8A8A8A"/>
                </a:solidFill>
              </a:rPr>
              <a:t>control point · human-in-the-loop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275320" y="3364992"/>
            <a:ext cx="612648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942832" y="3044952"/>
            <a:ext cx="2331720" cy="65836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1A1A1A"/>
                </a:solidFill>
              </a:rPr>
              <a:t>all 1…N resolved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92040"/>
            <a:ext cx="10515600" cy="27432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/>
            <a:r>
              <a:rPr sz="1100" b="0" dirty="0">
                <a:solidFill>
                  <a:srgbClr val="595959"/>
                </a:solidFill>
              </a:rPr>
              <a:t>The AI does the work in parallel. You approve each. Your call.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4DBC038-1380-6CCD-40BC-462ECF9452E6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10" name="Text 33">
            <a:extLst>
              <a:ext uri="{FF2B5EF4-FFF2-40B4-BE49-F238E27FC236}">
                <a16:creationId xmlns:a16="http://schemas.microsoft.com/office/drawing/2014/main" id="{0BBA9D9F-658F-EB76-CD95-C13591370D7E}"/>
              </a:ext>
            </a:extLst>
          </p:cNvPr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task costing you the most hours. Add from there.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and mid-sized companies — starting in Switzerland.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85800" y="2280920"/>
            <a:ext cx="3362858" cy="566928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685800" y="228092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6946" y="22809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414418" y="228092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4414418" y="228092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</a:t>
            </a:r>
            <a:endParaRPr lang="en-US" sz="13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95565" y="2280920"/>
            <a:ext cx="329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43037" y="2280920"/>
            <a:ext cx="3362858" cy="566928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8143037" y="2280920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Our slice is the cautious middle — AI's help, not its autonomy.</a:t>
            </a:r>
            <a:endParaRPr lang="en-US" sz="1250" i="1" dirty="0">
              <a:solidFill>
                <a:srgbClr val="141414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8" name="Text 36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9</a:t>
            </a:r>
            <a:endParaRPr lang="en-US" sz="850" dirty="0"/>
          </a:p>
        </p:txBody>
      </p:sp>
      <p:sp>
        <p:nvSpPr>
          <p:cNvPr id="39" name="TextBox 38"/>
          <p:cNvSpPr txBox="1"/>
          <p:nvPr/>
        </p:nvSpPr>
        <p:spPr>
          <a:xfrm>
            <a:off x="685800" y="3076448"/>
            <a:ext cx="10817352" cy="25603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200" b="1">
                <a:solidFill>
                  <a:srgbClr val="595959"/>
                </a:solidFill>
              </a:rPr>
              <a:t>MARKET SIZE  ·  SWISS BEACHHEAD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340563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/>
            <a:r>
              <a:rPr sz="1200" b="1" dirty="0">
                <a:solidFill>
                  <a:srgbClr val="8A8A8A"/>
                </a:solidFill>
              </a:rPr>
              <a:t>TAM</a:t>
            </a:r>
          </a:p>
          <a:p>
            <a:pPr algn="l">
              <a:spcBef>
                <a:spcPts val="200"/>
              </a:spcBef>
            </a:pPr>
            <a:r>
              <a:rPr sz="3000" b="1" dirty="0">
                <a:solidFill>
                  <a:srgbClr val="1A1A1A"/>
                </a:solidFill>
              </a:rPr>
              <a:t>~600k</a:t>
            </a:r>
          </a:p>
          <a:p>
            <a:pPr algn="l">
              <a:spcBef>
                <a:spcPts val="400"/>
              </a:spcBef>
            </a:pPr>
            <a:r>
              <a:rPr sz="1300" b="1" dirty="0">
                <a:solidFill>
                  <a:srgbClr val="1A1A1A"/>
                </a:solidFill>
              </a:rPr>
              <a:t>Swiss SMEs with repetitive admin</a:t>
            </a:r>
            <a:endParaRPr lang="de-CH" sz="1300" b="1" dirty="0">
              <a:solidFill>
                <a:srgbClr val="1A1A1A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GB" sz="1100" dirty="0">
                <a:solidFill>
                  <a:srgbClr val="595959"/>
                </a:solidFill>
              </a:rPr>
              <a:t>m</a:t>
            </a:r>
            <a:r>
              <a:rPr sz="1100" b="0" dirty="0" err="1">
                <a:solidFill>
                  <a:srgbClr val="595959"/>
                </a:solidFill>
              </a:rPr>
              <a:t>icro</a:t>
            </a:r>
            <a:r>
              <a:rPr lang="de-CH" sz="1100" b="0" dirty="0">
                <a:solidFill>
                  <a:srgbClr val="595959"/>
                </a:solidFill>
              </a:rPr>
              <a:t> </a:t>
            </a:r>
            <a:r>
              <a:rPr lang="de-CH" sz="1100" b="0" dirty="0" err="1">
                <a:solidFill>
                  <a:srgbClr val="595959"/>
                </a:solidFill>
              </a:rPr>
              <a:t>size</a:t>
            </a:r>
            <a:r>
              <a:rPr lang="de-CH" sz="1100" b="0" dirty="0">
                <a:solidFill>
                  <a:srgbClr val="595959"/>
                </a:solidFill>
              </a:rPr>
              <a:t> -&gt; </a:t>
            </a:r>
            <a:r>
              <a:rPr sz="1100" b="0" dirty="0">
                <a:solidFill>
                  <a:srgbClr val="595959"/>
                </a:solidFill>
              </a:rPr>
              <a:t>a lighter tier </a:t>
            </a:r>
            <a:r>
              <a:rPr lang="de-CH" sz="1100" b="0" dirty="0">
                <a:solidFill>
                  <a:srgbClr val="595959"/>
                </a:solidFill>
              </a:rPr>
              <a:t>-&gt; the fit </a:t>
            </a:r>
            <a:r>
              <a:rPr lang="de-CH" sz="1100" dirty="0">
                <a:solidFill>
                  <a:srgbClr val="595959"/>
                </a:solidFill>
              </a:rPr>
              <a:t>c</a:t>
            </a:r>
            <a:r>
              <a:rPr lang="de-CH" sz="1100" b="0" dirty="0">
                <a:solidFill>
                  <a:srgbClr val="595959"/>
                </a:solidFill>
              </a:rPr>
              <a:t>heck to </a:t>
            </a:r>
            <a:r>
              <a:rPr lang="de-CH" sz="1100" b="0" dirty="0" err="1">
                <a:solidFill>
                  <a:srgbClr val="595959"/>
                </a:solidFill>
              </a:rPr>
              <a:t>test</a:t>
            </a:r>
            <a:endParaRPr sz="1100" b="0" dirty="0">
              <a:solidFill>
                <a:srgbClr val="595959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379976" y="340563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/>
            <a:r>
              <a:rPr sz="1200" b="1" dirty="0">
                <a:solidFill>
                  <a:srgbClr val="8A8A8A"/>
                </a:solidFill>
              </a:rPr>
              <a:t>SAM</a:t>
            </a:r>
          </a:p>
          <a:p>
            <a:pPr algn="l">
              <a:spcBef>
                <a:spcPts val="200"/>
              </a:spcBef>
            </a:pPr>
            <a:r>
              <a:rPr sz="3000" b="1" dirty="0">
                <a:solidFill>
                  <a:srgbClr val="1A1A1A"/>
                </a:solidFill>
              </a:rPr>
              <a:t>~50k</a:t>
            </a:r>
          </a:p>
          <a:p>
            <a:pPr algn="l">
              <a:spcBef>
                <a:spcPts val="400"/>
              </a:spcBef>
            </a:pPr>
            <a:r>
              <a:rPr sz="1300" b="1" dirty="0">
                <a:solidFill>
                  <a:srgbClr val="1A1A1A"/>
                </a:solidFill>
              </a:rPr>
              <a:t>small firms, 10–49 employees</a:t>
            </a:r>
            <a:endParaRPr lang="de-CH" sz="1300" b="1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</a:pPr>
            <a:r>
              <a:rPr lang="en-CH" sz="1100" dirty="0">
                <a:solidFill>
                  <a:schemeClr val="bg1">
                    <a:lumMod val="50000"/>
                  </a:schemeClr>
                </a:solidFill>
              </a:rPr>
              <a:t>CHF 600–800M ARR</a:t>
            </a:r>
            <a:endParaRPr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74152" y="3405631"/>
            <a:ext cx="3419856" cy="1481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28016" bIns="73152" rtlCol="0" anchor="t"/>
          <a:lstStyle/>
          <a:p>
            <a:pPr algn="l"/>
            <a:r>
              <a:rPr sz="1200" b="1" dirty="0">
                <a:solidFill>
                  <a:srgbClr val="8A8A8A"/>
                </a:solidFill>
              </a:rPr>
              <a:t>SOM</a:t>
            </a:r>
          </a:p>
          <a:p>
            <a:pPr algn="l">
              <a:spcBef>
                <a:spcPts val="200"/>
              </a:spcBef>
            </a:pPr>
            <a:r>
              <a:rPr sz="3000" b="1" dirty="0">
                <a:solidFill>
                  <a:srgbClr val="1A1A1A"/>
                </a:solidFill>
              </a:rPr>
              <a:t>30–40</a:t>
            </a:r>
          </a:p>
          <a:p>
            <a:pPr algn="l">
              <a:spcBef>
                <a:spcPts val="400"/>
              </a:spcBef>
            </a:pPr>
            <a:r>
              <a:rPr sz="1300" b="1" dirty="0">
                <a:solidFill>
                  <a:srgbClr val="1A1A1A"/>
                </a:solidFill>
              </a:rPr>
              <a:t>managed clients by 2029</a:t>
            </a:r>
            <a:endParaRPr lang="de-CH" sz="1300" b="1" dirty="0">
              <a:solidFill>
                <a:srgbClr val="1A1A1A"/>
              </a:solidFill>
            </a:endParaRPr>
          </a:p>
          <a:p>
            <a:pPr>
              <a:spcBef>
                <a:spcPts val="400"/>
              </a:spcBef>
            </a:pPr>
            <a:r>
              <a:rPr lang="en-CH" sz="1100" dirty="0">
                <a:solidFill>
                  <a:schemeClr val="bg1">
                    <a:lumMod val="50000"/>
                  </a:schemeClr>
                </a:solidFill>
              </a:rPr>
              <a:t>CHF 0.4–0.7M ARR · under 0.1% of SAM</a:t>
            </a:r>
            <a:endParaRPr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5800" y="4996688"/>
            <a:ext cx="10817352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 i="1" dirty="0">
                <a:solidFill>
                  <a:srgbClr val="8A8A8A"/>
                </a:solidFill>
              </a:rPr>
              <a:t>Source: SECO / Federal Statistical Office. Revenue indicative.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D8504EF-083C-2628-06AE-708E1461AC88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4CC1D562-EB16-9493-B737-2E1D6592528F}"/>
              </a:ext>
            </a:extLst>
          </p:cNvPr>
          <p:cNvSpPr/>
          <p:nvPr/>
        </p:nvSpPr>
        <p:spPr>
          <a:xfrm>
            <a:off x="685800" y="175487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2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defined by industry. By the admin that repeats every day.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8AD1C-441E-6B2F-A1B6-6A2469AFE870}"/>
              </a:ext>
            </a:extLst>
          </p:cNvPr>
          <p:cNvSpPr txBox="1"/>
          <p:nvPr/>
        </p:nvSpPr>
        <p:spPr>
          <a:xfrm>
            <a:off x="685800" y="5328920"/>
            <a:ext cx="5786199" cy="6617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lvl="0"/>
            <a:r>
              <a:rPr sz="1000" i="1" dirty="0">
                <a:solidFill>
                  <a:srgbClr val="8A8A8A"/>
                </a:solidFill>
              </a:rPr>
              <a:t>SECO / </a:t>
            </a:r>
            <a:r>
              <a:rPr lang="en-CH" sz="1000" i="1" dirty="0">
                <a:solidFill>
                  <a:srgbClr val="8A8A8A"/>
                </a:solidFill>
              </a:rPr>
              <a:t>TAM (Total Addressable Market) — everyone who has the problem, if you could reach them all.</a:t>
            </a:r>
          </a:p>
          <a:p>
            <a:pPr lvl="0"/>
            <a:r>
              <a:rPr lang="en-CH" sz="1000" i="1" dirty="0">
                <a:solidFill>
                  <a:srgbClr val="8A8A8A"/>
                </a:solidFill>
              </a:rPr>
              <a:t>SAM (Serviceable Addressable Market) — the slice you could actually serve with your model and focus.</a:t>
            </a:r>
          </a:p>
          <a:p>
            <a:pPr lvl="0"/>
            <a:r>
              <a:rPr lang="en-CH" sz="1000" i="1" dirty="0">
                <a:solidFill>
                  <a:srgbClr val="8A8A8A"/>
                </a:solidFill>
              </a:rPr>
              <a:t>SOM (Serviceable Obtainable Market) — what you can realistically win in the near term (your beachhead).</a:t>
            </a:r>
          </a:p>
          <a:p>
            <a:endParaRPr sz="1000" i="1" dirty="0">
              <a:solidFill>
                <a:srgbClr val="8A8A8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&amp; ADVANTAGE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automation — a person approves every step.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72212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Competition - ways to handle the repetition, each with a catch: </a:t>
            </a:r>
          </a:p>
          <a:p>
            <a:endParaRPr lang="en-US" sz="600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ct val="100000"/>
              </a:lnSpc>
            </a:pPr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25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DIY tools </a:t>
            </a:r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you maintain it  ·  </a:t>
            </a:r>
            <a:r>
              <a:rPr lang="en-CH" sz="125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Full autonomy </a:t>
            </a:r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a black box  ·  </a:t>
            </a:r>
          </a:p>
          <a:p>
            <a:pPr>
              <a:lnSpc>
                <a:spcPct val="100000"/>
              </a:lnSpc>
            </a:pPr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   </a:t>
            </a:r>
            <a:r>
              <a:rPr lang="en-CH" sz="125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Hire </a:t>
            </a:r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headcount, still manual  ·  </a:t>
            </a:r>
            <a:r>
              <a:rPr lang="en-CH" sz="1250" dirty="0">
                <a:solidFill>
                  <a:srgbClr val="C00000"/>
                </a:solidFill>
                <a:latin typeface="Arial" pitchFamily="34" charset="0"/>
                <a:cs typeface="Arial" pitchFamily="34" charset="-120"/>
              </a:rPr>
              <a:t>Do nothing </a:t>
            </a:r>
            <a:r>
              <a:rPr lang="en-CH" sz="1250" dirty="0">
                <a:solidFill>
                  <a:srgbClr val="5F5F5F"/>
                </a:solidFill>
                <a:latin typeface="Arial" pitchFamily="34" charset="0"/>
                <a:cs typeface="Arial" pitchFamily="34" charset="-120"/>
              </a:rPr>
              <a:t>— the cost compounds.</a:t>
            </a:r>
          </a:p>
          <a:p>
            <a:pPr>
              <a:lnSpc>
                <a:spcPct val="100000"/>
              </a:lnSpc>
            </a:pPr>
            <a:endParaRPr lang="en-US" sz="600" dirty="0">
              <a:solidFill>
                <a:srgbClr val="5F5F5F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905256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709928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approve every step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09928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sent or done on its 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42152" y="272796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6461608" y="28742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66280" y="29016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and run it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66280" y="328574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tool you have to learn or maintain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905256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709928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yours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709928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nothing hidden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2152" y="4297680"/>
            <a:ext cx="5263744" cy="14173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61608" y="444398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66280" y="447141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not replaced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266280" y="4855464"/>
            <a:ext cx="403844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 the repetitive work — not the person doing it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9</a:t>
            </a:r>
            <a:endParaRPr lang="en-US" sz="85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7A632FE-31E6-53EC-5DA1-1A39DB40DB59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32" name="Text 33">
            <a:extLst>
              <a:ext uri="{FF2B5EF4-FFF2-40B4-BE49-F238E27FC236}">
                <a16:creationId xmlns:a16="http://schemas.microsoft.com/office/drawing/2014/main" id="{EFA14B12-029B-6784-BCF8-AFD170920673}"/>
              </a:ext>
            </a:extLst>
          </p:cNvPr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CH" sz="1250" i="1" dirty="0">
                <a:solidFill>
                  <a:srgbClr val="141414"/>
                </a:solidFill>
                <a:latin typeface="Arial" pitchFamily="34" charset="0"/>
                <a:cs typeface="Arial" pitchFamily="34" charset="-120"/>
              </a:rPr>
              <a:t>Built for the cautious middle. A few clients at a time, fixed scope.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narrow, prove it, then widen.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0" name="Text 8"/>
          <p:cNvSpPr/>
          <p:nvPr/>
        </p:nvSpPr>
        <p:spPr>
          <a:xfrm>
            <a:off x="886968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6968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6968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886968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Swiss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automation live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reference case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63976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665144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65144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65144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3665144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 managed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 decided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2152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43320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3320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widen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43320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6443320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15–20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Productise workflows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020327" y="2286000"/>
            <a:ext cx="2485568" cy="3246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9221495" y="2468880"/>
            <a:ext cx="211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221495" y="2999232"/>
            <a:ext cx="2119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221495" y="3456432"/>
            <a:ext cx="2083232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9221495" y="3611880"/>
            <a:ext cx="21198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30–40+ clients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of ~6–8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IP, licensed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9</a:t>
            </a:r>
            <a:endParaRPr lang="en-US" sz="85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1BF69A65-91A9-CF3A-526F-206632907D9E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31" name="Text 33">
            <a:extLst>
              <a:ext uri="{FF2B5EF4-FFF2-40B4-BE49-F238E27FC236}">
                <a16:creationId xmlns:a16="http://schemas.microsoft.com/office/drawing/2014/main" id="{736273F0-18F1-9AC6-CD30-D6F21ED010DE}"/>
              </a:ext>
            </a:extLst>
          </p:cNvPr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one process, expand within the account — each stage funds the next.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PLAN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to the scope you choose — recurring by design.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lines: a one-time setup that funds the build, and a monthly managed service — the recurring base. Five packages, priced by complexity and control.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832104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Intake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95539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4" name="Text 12"/>
          <p:cNvSpPr/>
          <p:nvPr/>
        </p:nvSpPr>
        <p:spPr>
          <a:xfrm>
            <a:off x="3041843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41843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Basic+ AI Triage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05278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7" name="Text 15"/>
          <p:cNvSpPr/>
          <p:nvPr/>
        </p:nvSpPr>
        <p:spPr>
          <a:xfrm>
            <a:off x="5251582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51582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Multi-Channel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017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7461321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321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524756" y="2743200"/>
            <a:ext cx="1981139" cy="82296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9671060" y="2852928"/>
            <a:ext cx="1706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71060" y="3127248"/>
            <a:ext cx="1706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Automation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65760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 ~CHF 750 → 30'000        Monthly  ~CHF 150 → 6'000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411480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RECURRING REVENUE (ARR) — INDICATIVE, BLENDED ~CHF 12–17K PER ACTIVE CLIENT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" y="4434840"/>
            <a:ext cx="2485568" cy="96012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85800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180512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63976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2" name="Text 30"/>
          <p:cNvSpPr/>
          <p:nvPr/>
        </p:nvSpPr>
        <p:spPr>
          <a:xfrm>
            <a:off x="3463976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63976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80–140k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958688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42152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6242152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42152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200–340k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736863" y="443484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20327" y="4434840"/>
            <a:ext cx="2485568" cy="96012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9020327" y="4562856"/>
            <a:ext cx="248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020327" y="4818888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400–680k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Text 43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9</a:t>
            </a:r>
            <a:endParaRPr lang="en-US" sz="85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316E5ABB-7EA2-7A52-8B4A-839186B3C851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7A615443-9A18-0D4B-D2F2-23B77A681BBD}"/>
              </a:ext>
            </a:extLst>
          </p:cNvPr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is a license, not a transfer. Break-even at ~6–8 clients. Bootstrap-first.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operator today — the team the roadmap will need.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role is added only when revenue covers it. We hire from cashflow, not speculation.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NOW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52928"/>
            <a:ext cx="10820095" cy="8686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29626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 — Founder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2962656"/>
            <a:ext cx="69338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in industrial operations. Covers all four work packages today. Targets the real pain, not a demo.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85800" y="3858768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MISSING — ADDED AS THE CLIENT LOAD (AND REVENUE) GROWS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905256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463040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/ delivery engineer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463040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hire, 2027/28 — scale the build beyond founder capacity. (WP2)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42152" y="4114800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6461608" y="4261104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19392" y="4288536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/ business development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019392" y="4562856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2028, as clients reach 15–20 — frees the founder from outreach. (WP1)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905256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463040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success / operations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463040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managed-service quality as the recurring base grows.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42152" y="5102352"/>
            <a:ext cx="5263744" cy="786384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8" name="Text 26"/>
          <p:cNvSpPr/>
          <p:nvPr/>
        </p:nvSpPr>
        <p:spPr>
          <a:xfrm>
            <a:off x="6461608" y="5248656"/>
            <a:ext cx="5577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7019392" y="5276088"/>
            <a:ext cx="428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 → EU expansion lead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19392" y="5550408"/>
            <a:ext cx="4285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0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2028+, to open the first EU market. (WP4)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594360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in now, not hired:  </a:t>
            </a:r>
            <a:r>
              <a:rPr lang="en-US" sz="1050" i="1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IP counsel (contracts, licences, NDAs, data agreements) and accounting / fiduciary — fractional, not headcount.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4" name="Text 32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9</a:t>
            </a:r>
            <a:endParaRPr lang="en-US" sz="85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F1CFF2FF-7B41-DE4B-962C-ABCEA950664C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VortexDeep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11103559" y="283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8412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685800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&amp; ADVISORS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5848" y="905256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CREATION ICT  ·  VENTURELAB  ·  AUG-SEP 2026  ·  ZÜRICH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board yet — the advisors we'd bring in as we scale.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Advisory-first while founder-led. A formal board comes with funding — chosen for credibility, introductions and governance, not titles.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0820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DREAM ADVISORY BOARD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905256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709928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 / industry operator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709928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manufacturing or Treuhand veteran who knows the beachhead — validates we target real pain and opens doors.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42152" y="28803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6461608" y="30266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266280" y="30540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automation technical advisor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66280" y="34381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build current and credible on safety and human-in-the-loop; sanity-checks the tech as it scales.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0" name="Text 18"/>
          <p:cNvSpPr/>
          <p:nvPr/>
        </p:nvSpPr>
        <p:spPr>
          <a:xfrm>
            <a:off x="905256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709928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advisor (DACH B2B)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709928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Sharpens the positioning and the sales motion; referrals into high-trust niches.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42152" y="4480560"/>
            <a:ext cx="5263744" cy="1325880"/>
          </a:xfrm>
          <a:prstGeom prst="rect">
            <a:avLst/>
          </a:prstGeom>
          <a:solidFill>
            <a:srgbClr val="F3F3F3"/>
          </a:solidFill>
          <a:ln/>
        </p:spPr>
        <p:txBody>
          <a:bodyPr/>
          <a:lstStyle/>
          <a:p>
            <a:endParaRPr lang="en-CH"/>
          </a:p>
        </p:txBody>
      </p:sp>
      <p:sp>
        <p:nvSpPr>
          <p:cNvPr id="24" name="Text 22"/>
          <p:cNvSpPr/>
          <p:nvPr/>
        </p:nvSpPr>
        <p:spPr>
          <a:xfrm>
            <a:off x="6461608" y="4626864"/>
            <a:ext cx="804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BCB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66280" y="4654296"/>
            <a:ext cx="403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/ IP &amp; governance advisor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66280" y="5038344"/>
            <a:ext cx="403844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150" dirty="0">
                <a:solidFill>
                  <a:srgbClr val="5F5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company law, IP licensing, data agreements, term sheets — matters more as licensing and any raise grow.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85800" y="6327648"/>
            <a:ext cx="10820095" cy="0"/>
          </a:xfrm>
          <a:prstGeom prst="line">
            <a:avLst/>
          </a:prstGeom>
          <a:noFill/>
          <a:ln w="9525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10134295" y="6382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9</a:t>
            </a:r>
            <a:endParaRPr lang="en-US" sz="85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F5DC6C5C-E427-8F5A-D061-E8CDE7456CAB}"/>
              </a:ext>
            </a:extLst>
          </p:cNvPr>
          <p:cNvSpPr/>
          <p:nvPr/>
        </p:nvSpPr>
        <p:spPr>
          <a:xfrm>
            <a:off x="685800" y="6345936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Maciek Szczech, Founder  ·  vortexdeep.ch  ·  info@vortexdeep.ch  ·  Claridapark 4, 8636 Wald ZH</a:t>
            </a:r>
            <a:endParaRPr lang="en-US" sz="900" dirty="0"/>
          </a:p>
        </p:txBody>
      </p:sp>
      <p:sp>
        <p:nvSpPr>
          <p:cNvPr id="29" name="Text 33">
            <a:extLst>
              <a:ext uri="{FF2B5EF4-FFF2-40B4-BE49-F238E27FC236}">
                <a16:creationId xmlns:a16="http://schemas.microsoft.com/office/drawing/2014/main" id="{221C9EB6-2C46-AEE8-1812-6BB172424FF6}"/>
              </a:ext>
            </a:extLst>
          </p:cNvPr>
          <p:cNvSpPr/>
          <p:nvPr/>
        </p:nvSpPr>
        <p:spPr>
          <a:xfrm>
            <a:off x="685800" y="5943600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250" i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seat — a first design-partner client, to keep us honest.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1327</Words>
  <Application>Microsoft Macintosh PowerPoint</Application>
  <PresentationFormat>Widescreen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maciek szczech</cp:lastModifiedBy>
  <cp:revision>14</cp:revision>
  <dcterms:created xsi:type="dcterms:W3CDTF">2026-08-21T17:52:27Z</dcterms:created>
  <dcterms:modified xsi:type="dcterms:W3CDTF">2026-08-24T16:49:02Z</dcterms:modified>
</cp:coreProperties>
</file>