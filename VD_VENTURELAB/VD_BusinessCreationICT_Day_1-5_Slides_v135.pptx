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0"/>
    <p:restoredTop sz="94610"/>
  </p:normalViewPr>
  <p:slideViewPr>
    <p:cSldViewPr snapToGrid="0" snapToObjects="1">
      <p:cViewPr>
        <p:scale>
          <a:sx n="120" d="100"/>
          <a:sy n="120" d="100"/>
        </p:scale>
        <p:origin x="110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3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One sentence on what we do and who keeps control. Swiss SMEs, AI-assisted, human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unchanged from v11-1. Same flow grid as slide 3: identical incoming column, identical resolved column. The difference is the middle (one person, sequential) and the staircase on the right (one after another) versus slide 3 (all at once).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"AI does the work / you approve each" softened to routine steps + defined control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figures unchanged. Only the source line now separates official data from our own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"approves every step" -&gt; defined control points; "black box" -&gt; less direct oversight; "no lock-in" -&gt; documented access, export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milestones unchanged from v11-1, now explicitly labelled as working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pricing and ARR band unchanged; the ownership line now matches the pricing catalogue, which does include Build-Transfer at the top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4: founders -&gt; key hires -&gt; board &amp; advisors. This slide covers the inner two layers only; advisors and board move to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 rewrite. Day 4 distinction: advisor = expertise + network, light, small equity. Board = governance, formal, post-funding. v11-1 conflated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"live pilot" -&gt; pilot in progress, unpaid; payback claim now framed as a model to be confirmed with the first paid client. BEFORE PRESENTING: confirm the Fit Check is actually live on vortexdeep.ch. If it is not, replace card 02 with "Discovery &amp; pricing tools - catalogue, discovery scripts and pricing logic, ready to scope consistently."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v13: combines the v11-1 funding ask with the design-partner validation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66928" y="3913632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easy once. The cost is that it never stops.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75888" y="2651760"/>
            <a:ext cx="4837176" cy="2505456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675888" y="35295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675888" y="3931920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4297680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in parallel · every task waits its turn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· ONE AFTER ANOTHER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36024" y="2651760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task 1 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36024" y="5248656"/>
            <a:ext cx="2286000" cy="18288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 txBox="1"/>
          <p:nvPr/>
        </p:nvSpPr>
        <p:spPr>
          <a:xfrm>
            <a:off x="9336024" y="5285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and pair of hands. The queue only clears as fast as you do.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9" name="Text 3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The bottleneck isn't any one task. It's that they never stop.</a:t>
            </a:r>
            <a:endParaRPr lang="en-US" sz="1400" dirty="0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AC489B24-5477-A173-B2EA-BB49263D0D77}"/>
              </a:ext>
            </a:extLst>
          </p:cNvPr>
          <p:cNvSpPr/>
          <p:nvPr/>
        </p:nvSpPr>
        <p:spPr>
          <a:xfrm>
            <a:off x="9786024" y="3313530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2 …</a:t>
            </a:r>
            <a:endParaRPr lang="en-US" sz="1300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B698A649-9B27-6C04-2AE2-7B436F917D07}"/>
              </a:ext>
            </a:extLst>
          </p:cNvPr>
          <p:cNvSpPr/>
          <p:nvPr/>
        </p:nvSpPr>
        <p:spPr>
          <a:xfrm>
            <a:off x="10236024" y="3968496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3 …</a:t>
            </a:r>
            <a:endParaRPr lang="en-US" sz="1300" dirty="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95955942-CF4C-67DA-CCA5-4B7E4AEA5214}"/>
              </a:ext>
            </a:extLst>
          </p:cNvPr>
          <p:cNvSpPr/>
          <p:nvPr/>
        </p:nvSpPr>
        <p:spPr>
          <a:xfrm>
            <a:off x="10686024" y="4623462"/>
            <a:ext cx="900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300" dirty="0">
                <a:solidFill>
                  <a:srgbClr val="5F5F5F"/>
                </a:solidFill>
                <a:ea typeface="Calibri" pitchFamily="34" charset="-122"/>
                <a:cs typeface="Calibri" pitchFamily="34" charset="-120"/>
              </a:rPr>
              <a:t>then 4 …</a:t>
            </a:r>
            <a:endParaRPr lang="en-US" sz="1300" dirty="0"/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4C8BF497-B254-8014-18E0-95C07FCC2E1B}"/>
              </a:ext>
            </a:extLst>
          </p:cNvPr>
          <p:cNvCxnSpPr>
            <a:stCxn id="27" idx="3"/>
            <a:endCxn id="40" idx="1"/>
          </p:cNvCxnSpPr>
          <p:nvPr/>
        </p:nvCxnSpPr>
        <p:spPr>
          <a:xfrm flipH="1">
            <a:off x="9786024" y="2916936"/>
            <a:ext cx="450000" cy="661770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ACE220-E858-F631-C711-0071E6DF038A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H="1">
            <a:off x="10236024" y="3578706"/>
            <a:ext cx="450000" cy="654966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9CDFD2E-A259-B3EB-D665-4A93C42FA4A2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 flipH="1">
            <a:off x="10686024" y="4233672"/>
            <a:ext cx="450000" cy="654966"/>
          </a:xfrm>
          <a:prstGeom prst="bentConnector5">
            <a:avLst>
              <a:gd name="adj1" fmla="val -50800"/>
              <a:gd name="adj2" fmla="val 50000"/>
              <a:gd name="adj3" fmla="val 1508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9">
            <a:extLst>
              <a:ext uri="{FF2B5EF4-FFF2-40B4-BE49-F238E27FC236}">
                <a16:creationId xmlns:a16="http://schemas.microsoft.com/office/drawing/2014/main" id="{A231185E-686C-D9BE-F65B-C4CA2440AFC2}"/>
              </a:ext>
            </a:extLst>
          </p:cNvPr>
          <p:cNvSpPr txBox="1"/>
          <p:nvPr/>
        </p:nvSpPr>
        <p:spPr>
          <a:xfrm>
            <a:off x="3675888" y="2307903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AT A TIME</a:t>
            </a:r>
            <a:endParaRPr lang="en-US" sz="1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workflows handle the routine steps in parallel. Your team reviews decisions and exceptions at defined control points.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· TASKS 1…N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694944" y="265176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694944" y="33101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94944" y="3968496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2286000" cy="530352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694944" y="4626864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35808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3675888" y="2651760"/>
            <a:ext cx="2240280" cy="2505456"/>
          </a:xfrm>
          <a:prstGeom prst="roundRect">
            <a:avLst>
              <a:gd name="adj" fmla="val 163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3675888" y="35295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8953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drafts,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C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3758184"/>
            <a:ext cx="384048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574536" y="2651760"/>
            <a:ext cx="1938528" cy="250545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574536" y="35661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74536" y="3913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52486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point · human-in-the-loop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95944" y="3758184"/>
            <a:ext cx="457200" cy="146304"/>
          </a:xfrm>
          <a:prstGeom prst="rightArrow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9336024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· IN PARALLEL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336024" y="2651760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9464040" y="26517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336024" y="3310128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9464040" y="33101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36024" y="3968496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 txBox="1"/>
          <p:nvPr/>
        </p:nvSpPr>
        <p:spPr>
          <a:xfrm>
            <a:off x="9464040" y="396849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36024" y="4626864"/>
            <a:ext cx="17373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9464040" y="462686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50468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prepares; your team decides. Nothing consequential goes out unreviewed.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Text 39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Start with the task costing you the most hours. Add from there.</a:t>
            </a:r>
            <a:endParaRPr lang="en-US" sz="1400" dirty="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14D37515-F2C8-3635-70D8-8F5B8061790D}"/>
              </a:ext>
            </a:extLst>
          </p:cNvPr>
          <p:cNvSpPr txBox="1"/>
          <p:nvPr/>
        </p:nvSpPr>
        <p:spPr>
          <a:xfrm>
            <a:off x="6574536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EC32A61C-70B5-D1FC-72D8-C86603B3B908}"/>
              </a:ext>
            </a:extLst>
          </p:cNvPr>
          <p:cNvSpPr txBox="1"/>
          <p:nvPr/>
        </p:nvSpPr>
        <p:spPr>
          <a:xfrm>
            <a:off x="3675888" y="2304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AT THE SAME TIME</a:t>
            </a:r>
            <a:endParaRPr lang="en-US" sz="1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defined by industry. By the admin that repeats every day.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· SWISS BEACHHEAD · WORKING ESTIMATES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566928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SMEs with repetitive admin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has the problem. Mostly micro firms; a lighter tier could open them.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297680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firms, 10–49 employees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we can serve with this model. CHF 400–750M ARR.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028432" y="27614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3054096"/>
            <a:ext cx="3529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8028432" y="396849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clients by 2029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4315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realistically win. CHF 0.25–0.6M ARR · under 0.1% of SAM.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28523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SECO / FSO (STATENT 2023) for company counts. SAM and SOM are VortexDeep estimates from stated targeting and pricing assumptions.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Our slice is the cautious middle: AI's help, not its autonomy.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&amp; ADVANTAGE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handle the repetition, each with a catch, and our fifth.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OPTIONS · EACH WITH A CATCH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49808" y="261518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tools: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but you build and maintain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419856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749808" y="341985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less direct oversight.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749808" y="42245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cost, and still manual.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5212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749808" y="502920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nothing: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quietly compounds every day.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304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FIFTH WAY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27648" y="2615184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6473952" y="261518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688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at defined control points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2980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consequential goes out unreviewed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7648" y="3419856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473952" y="3419856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it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12864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tool to learn or maintain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27648" y="4224528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6473952" y="4224528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12864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yours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access, export on request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27648" y="5029200"/>
            <a:ext cx="5294376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473952" y="5029200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912864" y="51023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not replaced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the work, not the person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Built for the cautious middle: a few clients at a time, fixed scope.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targets, based on current pricing and delivery assumptions.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Swiss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 live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case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623598"/>
            <a:ext cx="2148840" cy="402336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64992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managed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hire decided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50–120k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widen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→ EU expansion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workflows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63056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120–300k</a:t>
            </a:r>
            <a:endParaRPr lang="en-US" sz="11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FD04C28-233D-204B-C8BA-4C943AC026F8}"/>
              </a:ext>
            </a:extLst>
          </p:cNvPr>
          <p:cNvGrpSpPr/>
          <p:nvPr/>
        </p:nvGrpSpPr>
        <p:grpSpPr>
          <a:xfrm>
            <a:off x="566928" y="2505456"/>
            <a:ext cx="11057839" cy="237744"/>
            <a:chOff x="566928" y="2505456"/>
            <a:chExt cx="11057839" cy="237744"/>
          </a:xfrm>
        </p:grpSpPr>
        <p:sp>
          <p:nvSpPr>
            <p:cNvPr id="11" name="Shape 9"/>
            <p:cNvSpPr/>
            <p:nvPr/>
          </p:nvSpPr>
          <p:spPr>
            <a:xfrm>
              <a:off x="566928" y="2615184"/>
              <a:ext cx="11057839" cy="18288"/>
            </a:xfrm>
            <a:prstGeom prst="rect">
              <a:avLst/>
            </a:prstGeom>
            <a:solidFill>
              <a:srgbClr val="DADAD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2" name="Shape 10"/>
            <p:cNvSpPr/>
            <p:nvPr/>
          </p:nvSpPr>
          <p:spPr>
            <a:xfrm>
              <a:off x="566928" y="2505456"/>
              <a:ext cx="237744" cy="237744"/>
            </a:xfrm>
            <a:prstGeom prst="ellipse">
              <a:avLst/>
            </a:prstGeom>
            <a:solidFill>
              <a:srgbClr val="141414"/>
            </a:solidFill>
            <a:ln w="19050">
              <a:solidFill>
                <a:srgbClr val="141414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8" name="Shape 16"/>
            <p:cNvSpPr/>
            <p:nvPr/>
          </p:nvSpPr>
          <p:spPr>
            <a:xfrm>
              <a:off x="3364992" y="2505456"/>
              <a:ext cx="237744" cy="23774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24" name="Shape 22"/>
            <p:cNvSpPr/>
            <p:nvPr/>
          </p:nvSpPr>
          <p:spPr>
            <a:xfrm>
              <a:off x="6163056" y="2505456"/>
              <a:ext cx="237744" cy="23774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30" name="Shape 28"/>
            <p:cNvSpPr/>
            <p:nvPr/>
          </p:nvSpPr>
          <p:spPr>
            <a:xfrm>
              <a:off x="8961120" y="2505456"/>
              <a:ext cx="237744" cy="2377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sp>
        <p:nvSpPr>
          <p:cNvPr id="31" name="Text 29"/>
          <p:cNvSpPr txBox="1"/>
          <p:nvPr/>
        </p:nvSpPr>
        <p:spPr>
          <a:xfrm>
            <a:off x="896112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456432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30–40+ clients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~5–8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IP, licensed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4626864"/>
            <a:ext cx="2148840" cy="402336"/>
          </a:xfrm>
          <a:prstGeom prst="rect">
            <a:avLst/>
          </a:prstGeom>
          <a:solidFill>
            <a:schemeClr val="bg1">
              <a:lumMod val="85000"/>
              <a:alpha val="44663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240–600k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10235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ARR scenario, not a forecast.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Land one process, expand within the account. Each stage funds the next.</a:t>
            </a:r>
            <a:endParaRPr lang="en-US" sz="1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2C60FA-BE15-4C28-EE6E-B3A3FEA28EB7}"/>
              </a:ext>
            </a:extLst>
          </p:cNvPr>
          <p:cNvGrpSpPr/>
          <p:nvPr/>
        </p:nvGrpSpPr>
        <p:grpSpPr>
          <a:xfrm>
            <a:off x="2139107" y="2531580"/>
            <a:ext cx="180000" cy="2176006"/>
            <a:chOff x="1960880" y="2531580"/>
            <a:chExt cx="180000" cy="2176006"/>
          </a:xfrm>
        </p:grpSpPr>
        <p:sp>
          <p:nvSpPr>
            <p:cNvPr id="39" name="Doughnut 38">
              <a:extLst>
                <a:ext uri="{FF2B5EF4-FFF2-40B4-BE49-F238E27FC236}">
                  <a16:creationId xmlns:a16="http://schemas.microsoft.com/office/drawing/2014/main" id="{CBD6D996-A57A-F657-A9B0-9A851B699005}"/>
                </a:ext>
              </a:extLst>
            </p:cNvPr>
            <p:cNvSpPr/>
            <p:nvPr/>
          </p:nvSpPr>
          <p:spPr>
            <a:xfrm>
              <a:off x="1960880" y="253158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bg1">
                <a:lumMod val="50000"/>
                <a:alpha val="4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sp>
          <p:nvSpPr>
            <p:cNvPr id="40" name="Doughnut 39">
              <a:extLst>
                <a:ext uri="{FF2B5EF4-FFF2-40B4-BE49-F238E27FC236}">
                  <a16:creationId xmlns:a16="http://schemas.microsoft.com/office/drawing/2014/main" id="{97A0CF7B-2EAE-8BD8-D19F-BC6A2760CB3D}"/>
                </a:ext>
              </a:extLst>
            </p:cNvPr>
            <p:cNvSpPr/>
            <p:nvPr/>
          </p:nvSpPr>
          <p:spPr>
            <a:xfrm>
              <a:off x="1960880" y="4527586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bg1">
                <a:lumMod val="50000"/>
                <a:alpha val="45000"/>
              </a:schemeClr>
            </a:solidFill>
            <a:ln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1070989-34B6-31ED-2959-770CD5934C60}"/>
                </a:ext>
              </a:extLst>
            </p:cNvPr>
            <p:cNvCxnSpPr>
              <a:stCxn id="39" idx="4"/>
              <a:endCxn id="40" idx="0"/>
            </p:cNvCxnSpPr>
            <p:nvPr/>
          </p:nvCxnSpPr>
          <p:spPr>
            <a:xfrm>
              <a:off x="2050880" y="2711580"/>
              <a:ext cx="0" cy="1816006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3616A8C-09B7-9CB6-7668-456D4CC82EB7}"/>
              </a:ext>
            </a:extLst>
          </p:cNvPr>
          <p:cNvGrpSpPr/>
          <p:nvPr/>
        </p:nvGrpSpPr>
        <p:grpSpPr>
          <a:xfrm>
            <a:off x="2588177" y="2532330"/>
            <a:ext cx="180000" cy="899460"/>
            <a:chOff x="1960880" y="2531580"/>
            <a:chExt cx="180000" cy="899460"/>
          </a:xfrm>
        </p:grpSpPr>
        <p:sp>
          <p:nvSpPr>
            <p:cNvPr id="45" name="Doughnut 44">
              <a:extLst>
                <a:ext uri="{FF2B5EF4-FFF2-40B4-BE49-F238E27FC236}">
                  <a16:creationId xmlns:a16="http://schemas.microsoft.com/office/drawing/2014/main" id="{E96D8939-3A73-1D7F-96AE-151748A32BE8}"/>
                </a:ext>
              </a:extLst>
            </p:cNvPr>
            <p:cNvSpPr/>
            <p:nvPr/>
          </p:nvSpPr>
          <p:spPr>
            <a:xfrm>
              <a:off x="1960880" y="253158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sp>
          <p:nvSpPr>
            <p:cNvPr id="46" name="Doughnut 45">
              <a:extLst>
                <a:ext uri="{FF2B5EF4-FFF2-40B4-BE49-F238E27FC236}">
                  <a16:creationId xmlns:a16="http://schemas.microsoft.com/office/drawing/2014/main" id="{7BD287A4-FFA0-4575-C51C-057B15065B18}"/>
                </a:ext>
              </a:extLst>
            </p:cNvPr>
            <p:cNvSpPr/>
            <p:nvPr/>
          </p:nvSpPr>
          <p:spPr>
            <a:xfrm>
              <a:off x="1960880" y="3251040"/>
              <a:ext cx="180000" cy="180000"/>
            </a:xfrm>
            <a:prstGeom prst="donut">
              <a:avLst>
                <a:gd name="adj" fmla="val 30865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2F281C-64C4-6D66-FDA5-BBF70FFDA313}"/>
                </a:ext>
              </a:extLst>
            </p:cNvPr>
            <p:cNvCxnSpPr>
              <a:cxnSpLocks/>
              <a:stCxn id="45" idx="4"/>
            </p:cNvCxnSpPr>
            <p:nvPr/>
          </p:nvCxnSpPr>
          <p:spPr>
            <a:xfrm>
              <a:off x="2050880" y="2711580"/>
              <a:ext cx="0" cy="565020"/>
            </a:xfrm>
            <a:prstGeom prst="line">
              <a:avLst/>
            </a:prstGeom>
            <a:ln w="63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 15">
            <a:extLst>
              <a:ext uri="{FF2B5EF4-FFF2-40B4-BE49-F238E27FC236}">
                <a16:creationId xmlns:a16="http://schemas.microsoft.com/office/drawing/2014/main" id="{30324CA7-3571-EB75-A645-3A4C5A1DD74D}"/>
              </a:ext>
            </a:extLst>
          </p:cNvPr>
          <p:cNvSpPr txBox="1"/>
          <p:nvPr/>
        </p:nvSpPr>
        <p:spPr>
          <a:xfrm>
            <a:off x="2378177" y="3337560"/>
            <a:ext cx="581998" cy="402336"/>
          </a:xfrm>
          <a:prstGeom prst="rect">
            <a:avLst/>
          </a:prstGeom>
          <a:solidFill>
            <a:srgbClr val="0070C0">
              <a:alpha val="25029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ICT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funds the build; a monthly managed service is the recurring base. Five packages, priced by complexity and control.</a:t>
            </a:r>
            <a:endParaRPr lang="en-US" sz="15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18C1EB-17A6-E289-343F-0334CB275D48}"/>
              </a:ext>
            </a:extLst>
          </p:cNvPr>
          <p:cNvGrpSpPr/>
          <p:nvPr/>
        </p:nvGrpSpPr>
        <p:grpSpPr>
          <a:xfrm>
            <a:off x="566928" y="2286000"/>
            <a:ext cx="10543032" cy="786384"/>
            <a:chOff x="566928" y="2304288"/>
            <a:chExt cx="11009376" cy="786384"/>
          </a:xfrm>
        </p:grpSpPr>
        <p:sp>
          <p:nvSpPr>
            <p:cNvPr id="11" name="Shape 9"/>
            <p:cNvSpPr/>
            <p:nvPr/>
          </p:nvSpPr>
          <p:spPr>
            <a:xfrm>
              <a:off x="566928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3" name="Shape 11"/>
            <p:cNvSpPr/>
            <p:nvPr/>
          </p:nvSpPr>
          <p:spPr>
            <a:xfrm>
              <a:off x="2798064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5" name="Shape 13"/>
            <p:cNvSpPr/>
            <p:nvPr/>
          </p:nvSpPr>
          <p:spPr>
            <a:xfrm>
              <a:off x="5029200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7" name="Shape 15"/>
            <p:cNvSpPr/>
            <p:nvPr/>
          </p:nvSpPr>
          <p:spPr>
            <a:xfrm>
              <a:off x="7260336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  <p:sp>
          <p:nvSpPr>
            <p:cNvPr id="19" name="Shape 17"/>
            <p:cNvSpPr/>
            <p:nvPr/>
          </p:nvSpPr>
          <p:spPr>
            <a:xfrm>
              <a:off x="9491472" y="2304288"/>
              <a:ext cx="2084832" cy="786384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CH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87EC80-52C1-3DAB-7A5E-AD7801D60357}"/>
              </a:ext>
            </a:extLst>
          </p:cNvPr>
          <p:cNvGrpSpPr/>
          <p:nvPr/>
        </p:nvGrpSpPr>
        <p:grpSpPr>
          <a:xfrm>
            <a:off x="731520" y="2304288"/>
            <a:ext cx="10378440" cy="786384"/>
            <a:chOff x="731520" y="2304288"/>
            <a:chExt cx="10698480" cy="786384"/>
          </a:xfrm>
        </p:grpSpPr>
        <p:sp>
          <p:nvSpPr>
            <p:cNvPr id="12" name="Text 10"/>
            <p:cNvSpPr txBox="1"/>
            <p:nvPr/>
          </p:nvSpPr>
          <p:spPr>
            <a:xfrm>
              <a:off x="731520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 Intake</a:t>
              </a:r>
              <a:endParaRPr lang="en-US" sz="115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962656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Basic+ AI Triage</a:t>
              </a:r>
              <a:endParaRPr lang="en-US" sz="1150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5193792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 Multi-Channel</a:t>
              </a:r>
              <a:endParaRPr lang="en-US" sz="115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7424928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Managed Operations</a:t>
              </a:r>
              <a:endParaRPr lang="en-US" sz="115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9656064" y="2304288"/>
              <a:ext cx="1773936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4141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Automation</a:t>
              </a:r>
              <a:endParaRPr lang="en-US" sz="115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566928" y="321868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 txBox="1"/>
          <p:nvPr/>
        </p:nvSpPr>
        <p:spPr>
          <a:xfrm>
            <a:off x="768096" y="321868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</a:t>
            </a: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750 → 30’000</a:t>
            </a: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Monthly  </a:t>
            </a:r>
            <a:r>
              <a:rPr lang="en-US" sz="12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~CHF 150 → 6’000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384048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· INDICATIVE SCENARIO, NOT A FORECAST · BLENDED ~CHF 8–15K PER ACTIVE CLIENT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230368"/>
            <a:ext cx="2148840" cy="20116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566928" y="49560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64992" y="5047488"/>
            <a:ext cx="214884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3364992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~50–120k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364992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63056" y="4718304"/>
            <a:ext cx="2148840" cy="713232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163056" y="4443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~120–300k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63056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1120" y="4297680"/>
            <a:ext cx="2148840" cy="1133856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8961120" y="40233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~240–600k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54681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Licence by default; build-transfer only in the highest tier. Break-even at ~6–8 clients on current assumptions. Bootstrap-first.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Sell + Run all have to be covered. Each seat opens when revenue covers it — plan: hire from cashflow.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212848"/>
            <a:ext cx="11057839" cy="1024128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786384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2578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</a:t>
            </a:r>
            <a:r>
              <a:rPr lang="en-US" sz="110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 + SELL + RUN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871216"/>
            <a:ext cx="106189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industrial operations, engineering, process and automation. 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015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· EACH SEAT OPENS WHEN ITS TRIGGER IS MET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731520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co-founder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BUILD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integrations, security. Equity, not salary.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paid clients, 2027/2028.</a:t>
            </a:r>
          </a:p>
        </p:txBody>
      </p:sp>
      <p:sp>
        <p:nvSpPr>
          <p:cNvPr id="20" name="Shape 18"/>
          <p:cNvSpPr/>
          <p:nvPr/>
        </p:nvSpPr>
        <p:spPr>
          <a:xfrm>
            <a:off x="6199632" y="3694176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364224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Managed operations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11480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monitoring, support, reporting.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base outgrows one person, 2028.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36592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731520" y="4855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 — B2B solution seller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51572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scoping, quoting and renewals with SME owners.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15–20 clients.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4736592"/>
            <a:ext cx="5422392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364224" y="48554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in, not hired</a:t>
            </a:r>
            <a:r>
              <a:rPr lang="en-US" sz="1050" b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EXTERNAL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51572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IP, accounting / fiduciary, data protection,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 a service. Fractional.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Order of hiring: BUILD first, then RUN, then SELL. Sales is the function I already cover; delivery capacity breaks before demand does.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ADVISORS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&amp; advisors.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fill specific gaps; a board holds me accountable. None of these seats is filled today — these are profiles, not people.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30428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· SPECIFIC GAPS · LIGHT ENGAGEMENT, 2–4 H/MONTH, SMALL EQUITY WITH VESTING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49808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/ industry operator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manufacturing or Treuhand veteran who knows the beachhead. Validates we target real pain,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opens doors.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4480560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&amp; data governance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build credible on security, privacy and human-in-the-loop as it scales. Sanity-checks the tech.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28432" y="2615184"/>
            <a:ext cx="3529584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11312" y="27249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11312" y="298094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B2B go-to-market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34381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Sharpens positioning and the sales motion; referrals into high-trust niches.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3891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· LATER, WITH FUNDING · FORMAL, QUARTERLY, ACCOUNTABLE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663440"/>
            <a:ext cx="11057839" cy="1042416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749808" y="4791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773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chair / B2B services operator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" y="5084064"/>
            <a:ext cx="101434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accountability and strategic challenge; someone who has scaled a Swiss services business. Finance &amp; legal joins the board only when a raise makes it necessary — until then it is bought in (see Team).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Not advisors, and not listed as such: a first design-partner client. We name advisors only once they are actually engaged.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7315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6291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5967" y="6291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969264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664208"/>
            <a:ext cx="105091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but not pre-proof. Three things exist right 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3529584" cy="320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786384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97680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4297680" y="2615184"/>
            <a:ext cx="3529584" cy="32004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4517136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self-check on vortexdeep.ch. The low-pressure front door that collects real data on who fits.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28432" y="2615184"/>
            <a:ext cx="3529584" cy="2395728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8028432" y="2615184"/>
            <a:ext cx="3529584" cy="32004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8247888" y="2798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30540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474720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a prospect's cost of doing nothing — time, errors, lost leads — against our fee. We model payback; the figure gets confirmed with the first paid client.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870448"/>
            <a:ext cx="11057839" cy="420624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8096" y="5870448"/>
            <a:ext cx="106555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Narrow, but real. Technical proof is done; commercial proof is next.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77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566928" y="237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55487" y="23774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8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2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That’s exactly who we help.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66928" y="3675888"/>
            <a:ext cx="100584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566928" y="391363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SMEs in the beachhead — ideally one design partner willing to map and test a process — and early capital to compress the timeline: earlier delivery hire, faster CH → EU. The model is built to stand on its own revenue; funding makes it faster.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029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 Szczech, Founder  ·  vortexdeep.ch  ·  info@vortexdeep.ch  ·  Claridapark 4, 8636 Wald ZH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1980</Words>
  <Application>Microsoft Macintosh PowerPoint</Application>
  <PresentationFormat>Widescreen</PresentationFormat>
  <Paragraphs>277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VortexDeep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VortexDeep - Business Creation ICT - v13</dc:title>
  <dc:subject>PptxGenJS Presentation</dc:subject>
  <dc:creator>Maciek Szczech</dc:creator>
  <cp:lastModifiedBy>maciek szczech</cp:lastModifiedBy>
  <cp:revision>6</cp:revision>
  <dcterms:created xsi:type="dcterms:W3CDTF">2026-09-01T17:37:29Z</dcterms:created>
  <dcterms:modified xsi:type="dcterms:W3CDTF">2026-09-01T20:22:36Z</dcterms:modified>
</cp:coreProperties>
</file>