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12188825" cy="6858000"/>
  <p:notesSz cx="6858000" cy="12188825"/>
  <p:embeddedFontLst>
    <p:embeddedFont>
      <p:font typeface="IBM Plex Mono" panose="020B0509050203000203" pitchFamily="49" charset="77"/>
      <p:regular r:id="rId13"/>
      <p:bold r:id="rId14"/>
      <p:italic r:id="rId15"/>
      <p:bold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286"/>
    <p:restoredTop sz="94610"/>
  </p:normalViewPr>
  <p:slideViewPr>
    <p:cSldViewPr snapToGrid="0" snapToObjects="1">
      <p:cViewPr>
        <p:scale>
          <a:sx n="400" d="100"/>
          <a:sy n="400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833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91E1-37FE-647F-A2F6-BC67625B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0C60B-9D0C-D96D-D72C-AB8272495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E2EF8-B258-7687-B241-E89666B71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DC417-165E-B23B-7ED5-E163C8E16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53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7503A-6DA5-41D6-BCDC-14E4347F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17235-F94B-6BBB-721B-311D699E0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19F98-657E-AE42-000D-31BF960E5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6027E-97D7-5B17-0B2F-5BB383402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57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07FE-A2FE-88A5-0BFC-D420B64A5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81DB7-A4A2-647F-5C8A-9B150C5FD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B6B77-AC68-8E8E-9875-08F0838CA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42D80-E051-F53D-EE2A-04A802CB9F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61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214884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3400" b="1" dirty="0">
                <a:solidFill>
                  <a:srgbClr val="2A2520"/>
                </a:solidFill>
                <a:latin typeface="IBM Plex Mono" pitchFamily="34" charset="0"/>
              </a:rPr>
              <a:t>AI handles the repetitive work. You keep the decisions.</a:t>
            </a:r>
            <a:endParaRPr lang="en-US" sz="3400" b="1" dirty="0">
              <a:solidFill>
                <a:srgbClr val="2A2520"/>
              </a:solidFill>
              <a:latin typeface="IBM Plex Mono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0080" y="3977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CH" sz="1500" dirty="0">
                <a:solidFill>
                  <a:srgbClr val="6E6155"/>
                </a:solidFill>
                <a:latin typeface="IBM Plex Mono" pitchFamily="34" charset="0"/>
              </a:rPr>
              <a:t>We build and run AI workflows for small and mid-sized companies.</a:t>
            </a:r>
            <a:endParaRPr lang="en-US" sz="1500" dirty="0">
              <a:solidFill>
                <a:srgbClr val="6E6155"/>
              </a:solidFill>
              <a:latin typeface="IBM Plex Mono" pitchFamily="34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0FB502C-E811-9738-95A1-1322B441B66E}"/>
              </a:ext>
            </a:extLst>
          </p:cNvPr>
          <p:cNvSpPr/>
          <p:nvPr/>
        </p:nvSpPr>
        <p:spPr>
          <a:xfrm>
            <a:off x="4572000" y="292608"/>
            <a:ext cx="6976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8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4A8D2F1-A41B-4331-C64E-4106E4A08E3D}"/>
              </a:ext>
            </a:extLst>
          </p:cNvPr>
          <p:cNvSpPr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8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1A865E-9B45-E6F7-483D-4DD55ED4D9DC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0C6AC0B-5FA3-4B7F-15F6-19D0BC731656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AF024AB-05BE-E5D2-DADA-C7737F55A5DA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3AC5553-E23A-D1EC-15E4-201346B72E94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38" name="Hexagon 37">
                  <a:extLst>
                    <a:ext uri="{FF2B5EF4-FFF2-40B4-BE49-F238E27FC236}">
                      <a16:creationId xmlns:a16="http://schemas.microsoft.com/office/drawing/2014/main" id="{85789D88-34F7-A4BA-7597-6D4CD8CB21BF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39" name="Hexagon 38">
                  <a:extLst>
                    <a:ext uri="{FF2B5EF4-FFF2-40B4-BE49-F238E27FC236}">
                      <a16:creationId xmlns:a16="http://schemas.microsoft.com/office/drawing/2014/main" id="{69D919A2-BF12-C372-A7EE-0C815CB23E70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5CA3C54-B2DC-5D35-BB44-F146F26B8551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5F874E4-7568-CF48-0394-BDA95DFF193D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F7CA9FE-CFD1-B6B7-E024-93AF97EB478A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669B332-749F-DB0F-4799-BDD2944E0F92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CE1E905-C2AF-130C-5A57-B45761E98057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B71C673-79EF-6F0C-39B8-E2931601A5FB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EA2788-BEE8-1F08-93EB-DE281F06FA95}"/>
              </a:ext>
            </a:extLst>
          </p:cNvPr>
          <p:cNvGrpSpPr/>
          <p:nvPr/>
        </p:nvGrpSpPr>
        <p:grpSpPr>
          <a:xfrm>
            <a:off x="281831" y="295705"/>
            <a:ext cx="362026" cy="327099"/>
            <a:chOff x="568280" y="1252445"/>
            <a:chExt cx="553430" cy="50003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E9A8B08-C24E-EACE-12E5-91B175A0FADF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9431766-175E-6375-2B8A-BB9146141693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4F91981-7B04-9DAA-3289-B860B2B9E7FE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2" name="Hexagon 41">
                  <a:extLst>
                    <a:ext uri="{FF2B5EF4-FFF2-40B4-BE49-F238E27FC236}">
                      <a16:creationId xmlns:a16="http://schemas.microsoft.com/office/drawing/2014/main" id="{2DC8088A-A2B6-DA34-2750-8C95E1C1A83C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3" name="Hexagon 42">
                  <a:extLst>
                    <a:ext uri="{FF2B5EF4-FFF2-40B4-BE49-F238E27FC236}">
                      <a16:creationId xmlns:a16="http://schemas.microsoft.com/office/drawing/2014/main" id="{3BF9B77E-F1AD-2041-846E-1BB6957732DB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3234BFF-915A-253F-2397-3EFEDD009D2D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BBBCE90-F6C2-38A8-F9A1-51A3F2E460CB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ED02760-0332-DADE-EFC5-37FEA2BABE47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F97BD23-C475-887C-201D-45948AA01670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5198206-D2E1-CDDA-DAD6-107E92EA5F5D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3E09F2A-62E7-EA1D-3FD7-5F480549FB17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298448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Simple tasks, repeated every day.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495073"/>
            <a:ext cx="10908792" cy="37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400" dirty="0">
                <a:solidFill>
                  <a:srgbClr val="6E6155"/>
                </a:solidFill>
                <a:latin typeface="IBM Plex Mono" pitchFamily="34" charset="0"/>
              </a:rPr>
              <a:t>Each task is easy once. The cost is that it never stops.</a:t>
            </a:r>
            <a:endParaRPr lang="en-US" sz="1400" dirty="0">
              <a:solidFill>
                <a:srgbClr val="6E6155"/>
              </a:solidFill>
              <a:latin typeface="IBM Plex Mono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5326380" cy="932688"/>
          </a:xfrm>
          <a:prstGeom prst="roundRect">
            <a:avLst>
              <a:gd name="adj" fmla="val 5882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0" name="Text 7"/>
          <p:cNvSpPr/>
          <p:nvPr/>
        </p:nvSpPr>
        <p:spPr>
          <a:xfrm>
            <a:off x="859536" y="2926080"/>
            <a:ext cx="402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16736" y="2926080"/>
            <a:ext cx="44485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Messages read,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sorted and answered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22492" y="2926080"/>
            <a:ext cx="5326380" cy="932688"/>
          </a:xfrm>
          <a:prstGeom prst="roundRect">
            <a:avLst>
              <a:gd name="adj" fmla="val 5882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Text 10"/>
          <p:cNvSpPr/>
          <p:nvPr/>
        </p:nvSpPr>
        <p:spPr>
          <a:xfrm>
            <a:off x="6441948" y="2926080"/>
            <a:ext cx="402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99148" y="2926080"/>
            <a:ext cx="44485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Documents and data extracted,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checked and filed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114800"/>
            <a:ext cx="5326380" cy="932688"/>
          </a:xfrm>
          <a:prstGeom prst="roundRect">
            <a:avLst>
              <a:gd name="adj" fmla="val 5882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6" name="Text 13"/>
          <p:cNvSpPr/>
          <p:nvPr/>
        </p:nvSpPr>
        <p:spPr>
          <a:xfrm>
            <a:off x="859536" y="4114800"/>
            <a:ext cx="402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16736" y="4114800"/>
            <a:ext cx="44485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Quotes, follow-ups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 renewals chased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22492" y="4114800"/>
            <a:ext cx="5326380" cy="932688"/>
          </a:xfrm>
          <a:prstGeom prst="roundRect">
            <a:avLst>
              <a:gd name="adj" fmla="val 5882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9" name="Text 16"/>
          <p:cNvSpPr/>
          <p:nvPr/>
        </p:nvSpPr>
        <p:spPr>
          <a:xfrm>
            <a:off x="6441948" y="4114800"/>
            <a:ext cx="402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99148" y="4114800"/>
            <a:ext cx="44485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Reports and updates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assembled every week</a:t>
            </a:r>
            <a:endParaRPr lang="en-US" sz="15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D97345A0-8012-46B8-82CF-C6C231A5C530}"/>
              </a:ext>
            </a:extLst>
          </p:cNvPr>
          <p:cNvSpPr/>
          <p:nvPr/>
        </p:nvSpPr>
        <p:spPr>
          <a:xfrm>
            <a:off x="4572000" y="292608"/>
            <a:ext cx="6976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8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2F8A5803-94C0-BC95-6140-9DA43EE09B82}"/>
              </a:ext>
            </a:extLst>
          </p:cNvPr>
          <p:cNvSpPr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85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9F2B82D-BE8A-D5C2-C6A3-7865E625871B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AD9FB7-769A-F842-0E07-9CE32042AFD7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82297F2-8D22-C7D7-72C9-86D2BA1F235B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D6D7D35-59C2-1679-1FDC-B4A3F7171F16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33" name="Hexagon 32">
                  <a:extLst>
                    <a:ext uri="{FF2B5EF4-FFF2-40B4-BE49-F238E27FC236}">
                      <a16:creationId xmlns:a16="http://schemas.microsoft.com/office/drawing/2014/main" id="{62F65D9D-6C9C-CEA8-F510-0E65ED396AB9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34" name="Hexagon 33">
                  <a:extLst>
                    <a:ext uri="{FF2B5EF4-FFF2-40B4-BE49-F238E27FC236}">
                      <a16:creationId xmlns:a16="http://schemas.microsoft.com/office/drawing/2014/main" id="{8469B096-70AC-4AF0-C2DB-DB7AAAF75E95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5E026FE-E903-67C5-DFE6-D20E9B155454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C480DFA-EA5A-2CF1-5D40-E639ACC216FF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354BB13-AFD2-5D5B-E4C8-1489BAAC2424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9E3E25A-5BB1-7871-CF89-2F80284C86DE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A6F87DF-8358-EC70-D307-53A4C50944BE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A54C6EB-6BB3-06FB-8D5F-CDB92ECE64BE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  <p:sp>
        <p:nvSpPr>
          <p:cNvPr id="35" name="Shape 21">
            <a:extLst>
              <a:ext uri="{FF2B5EF4-FFF2-40B4-BE49-F238E27FC236}">
                <a16:creationId xmlns:a16="http://schemas.microsoft.com/office/drawing/2014/main" id="{09C0FDB6-D8F3-9FFB-BA37-0B65F0062632}"/>
              </a:ext>
            </a:extLst>
          </p:cNvPr>
          <p:cNvSpPr/>
          <p:nvPr/>
        </p:nvSpPr>
        <p:spPr>
          <a:xfrm>
            <a:off x="640080" y="5321808"/>
            <a:ext cx="10908792" cy="530352"/>
          </a:xfrm>
          <a:prstGeom prst="roundRect">
            <a:avLst>
              <a:gd name="adj" fmla="val 10345"/>
            </a:avLst>
          </a:prstGeom>
          <a:solidFill>
            <a:srgbClr val="ECE0C6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A98B7DB1-1A4F-6B40-DEB2-2288C3CD4D04}"/>
              </a:ext>
            </a:extLst>
          </p:cNvPr>
          <p:cNvSpPr/>
          <p:nvPr/>
        </p:nvSpPr>
        <p:spPr>
          <a:xfrm>
            <a:off x="859536" y="5321808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 isn't one task — it's the repetition.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298448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A2520"/>
                </a:solidFill>
                <a:latin typeface="IBM Plex Mono" panose="020B0509050203000203" pitchFamily="49" charset="77"/>
                <a:ea typeface="IBM Plex Mono" pitchFamily="34" charset="-122"/>
                <a:cs typeface="IBM Plex Mono" pitchFamily="34" charset="-120"/>
              </a:rPr>
              <a:t>We turn repetitive tasks into AI workflows —</a:t>
            </a:r>
            <a:endParaRPr lang="en-US" sz="2400" dirty="0">
              <a:latin typeface="IBM Plex Mono" panose="020B0509050203000203" pitchFamily="49" charset="77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A2520"/>
                </a:solidFill>
                <a:latin typeface="IBM Plex Mono" panose="020B0509050203000203" pitchFamily="49" charset="77"/>
                <a:ea typeface="IBM Plex Mono" pitchFamily="34" charset="-122"/>
                <a:cs typeface="IBM Plex Mono" pitchFamily="34" charset="-120"/>
              </a:rPr>
              <a:t>with human control.</a:t>
            </a:r>
            <a:endParaRPr lang="en-US" sz="2400" dirty="0">
              <a:latin typeface="IBM Plex Mono" panose="020B0509050203000203" pitchFamily="49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2548890" cy="2194560"/>
          </a:xfrm>
          <a:prstGeom prst="roundRect">
            <a:avLst>
              <a:gd name="adj" fmla="val 2917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Text 6"/>
          <p:cNvSpPr/>
          <p:nvPr/>
        </p:nvSpPr>
        <p:spPr>
          <a:xfrm>
            <a:off x="859536" y="306324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59536" y="3593592"/>
            <a:ext cx="21099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Input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9536" y="4251960"/>
            <a:ext cx="21099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message, a form, a document, data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26714" y="2880360"/>
            <a:ext cx="2548890" cy="2194560"/>
          </a:xfrm>
          <a:prstGeom prst="roundRect">
            <a:avLst>
              <a:gd name="adj" fmla="val 2917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Text 10"/>
          <p:cNvSpPr/>
          <p:nvPr/>
        </p:nvSpPr>
        <p:spPr>
          <a:xfrm>
            <a:off x="3646170" y="306324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646170" y="3593592"/>
            <a:ext cx="21099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workflow -&gt; output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46170" y="4251960"/>
            <a:ext cx="21099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repetitive part of the work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3348" y="2880360"/>
            <a:ext cx="2548890" cy="2194560"/>
          </a:xfrm>
          <a:prstGeom prst="roundRect">
            <a:avLst>
              <a:gd name="adj" fmla="val 2917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Text 14"/>
          <p:cNvSpPr/>
          <p:nvPr/>
        </p:nvSpPr>
        <p:spPr>
          <a:xfrm>
            <a:off x="6432804" y="306324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32804" y="3593592"/>
            <a:ext cx="21099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Held for your approval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32804" y="4251960"/>
            <a:ext cx="21099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nothing is sent, paid or filed on its own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999982" y="2880360"/>
            <a:ext cx="2548890" cy="2194560"/>
          </a:xfrm>
          <a:prstGeom prst="roundRect">
            <a:avLst>
              <a:gd name="adj" fmla="val 2917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8"/>
          <p:cNvSpPr/>
          <p:nvPr/>
        </p:nvSpPr>
        <p:spPr>
          <a:xfrm>
            <a:off x="9219438" y="306324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219438" y="3593592"/>
            <a:ext cx="21099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600" b="1" dirty="0">
                <a:solidFill>
                  <a:srgbClr val="2A2520"/>
                </a:solidFill>
                <a:latin typeface="IBM Plex Mono" pitchFamily="34" charset="0"/>
              </a:rPr>
              <a:t>You decide</a:t>
            </a:r>
            <a:endParaRPr lang="en-US" sz="1600" b="1" dirty="0">
              <a:solidFill>
                <a:srgbClr val="2A2520"/>
              </a:solidFill>
              <a:latin typeface="IBM Plex Mono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219438" y="4251960"/>
            <a:ext cx="21099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300" dirty="0">
                <a:solidFill>
                  <a:srgbClr val="6E6155"/>
                </a:solidFill>
                <a:latin typeface="IBM Plex Mono" pitchFamily="34" charset="0"/>
              </a:rPr>
              <a:t>the decision and sign-off stay yours</a:t>
            </a:r>
            <a:endParaRPr lang="en-US" sz="1300" dirty="0">
              <a:solidFill>
                <a:srgbClr val="6E6155"/>
              </a:solidFill>
              <a:latin typeface="IBM Plex Mono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40080" y="5321808"/>
            <a:ext cx="10908792" cy="530352"/>
          </a:xfrm>
          <a:prstGeom prst="roundRect">
            <a:avLst>
              <a:gd name="adj" fmla="val 10345"/>
            </a:avLst>
          </a:prstGeom>
          <a:solidFill>
            <a:srgbClr val="ECE0C6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2"/>
          <p:cNvSpPr/>
          <p:nvPr/>
        </p:nvSpPr>
        <p:spPr>
          <a:xfrm>
            <a:off x="859536" y="5321808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H" sz="1400" dirty="0">
                <a:solidFill>
                  <a:srgbClr val="2A2520"/>
                </a:solidFill>
                <a:latin typeface="IBM Plex Mono" pitchFamily="34" charset="0"/>
              </a:rPr>
              <a:t>Start with the one task costing you the most hours, then add more.</a:t>
            </a:r>
            <a:endParaRPr lang="en-US" sz="1400" dirty="0">
              <a:solidFill>
                <a:srgbClr val="2A2520"/>
              </a:solidFill>
              <a:latin typeface="IBM Plex Mono" pitchFamily="34" charset="0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321661DF-48C6-D214-03EC-AFB0C25950FA}"/>
              </a:ext>
            </a:extLst>
          </p:cNvPr>
          <p:cNvSpPr/>
          <p:nvPr/>
        </p:nvSpPr>
        <p:spPr>
          <a:xfrm>
            <a:off x="4572000" y="292608"/>
            <a:ext cx="6976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8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63ADB06A-3973-763C-0ACF-1146C849CBEA}"/>
              </a:ext>
            </a:extLst>
          </p:cNvPr>
          <p:cNvSpPr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85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A4E324-122A-C062-B2A6-CE8770A83ABA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7FCE54-5D1B-301D-20B0-7F823306C6C1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EDE5F3D-758F-0421-5C9E-96CC0C151CB1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74E34EC-7AFB-3606-297E-70D645FC9251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36" name="Hexagon 35">
                  <a:extLst>
                    <a:ext uri="{FF2B5EF4-FFF2-40B4-BE49-F238E27FC236}">
                      <a16:creationId xmlns:a16="http://schemas.microsoft.com/office/drawing/2014/main" id="{15C139C7-34C2-A42D-F668-332FF44C7757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37" name="Hexagon 36">
                  <a:extLst>
                    <a:ext uri="{FF2B5EF4-FFF2-40B4-BE49-F238E27FC236}">
                      <a16:creationId xmlns:a16="http://schemas.microsoft.com/office/drawing/2014/main" id="{6A302029-BC93-F85E-4CC3-216EC9443D00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1C609A6-B648-864E-59E7-284AFCF35D51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E1E5E36-5AA2-8E20-241D-2ACB8542BD86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9D90C9D-9E29-F346-F464-566BC57DF373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0F10611-1297-3F88-25BA-83E784D5D855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8D759F0-1E36-4527-C1E5-0B1FEEC705FB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A7CD85D-3D3B-0F1F-5CA7-35A24A089E17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756DB-5A94-902A-8681-79F86065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5458FC8-DCA4-1A07-3BB1-F00BA3DE6869}"/>
              </a:ext>
            </a:extLst>
          </p:cNvPr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ACAEC21-0C75-4C9E-7ECA-20452B671564}"/>
              </a:ext>
            </a:extLst>
          </p:cNvPr>
          <p:cNvSpPr/>
          <p:nvPr/>
        </p:nvSpPr>
        <p:spPr>
          <a:xfrm>
            <a:off x="640080" y="3563085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SOLUTION</a:t>
            </a:r>
            <a:endParaRPr lang="en-US" sz="13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D159350-B1CB-6BFB-AE0D-CA6CA013B5CE}"/>
              </a:ext>
            </a:extLst>
          </p:cNvPr>
          <p:cNvSpPr/>
          <p:nvPr/>
        </p:nvSpPr>
        <p:spPr>
          <a:xfrm>
            <a:off x="640079" y="3870951"/>
            <a:ext cx="7464830" cy="2194560"/>
          </a:xfrm>
          <a:prstGeom prst="roundRect">
            <a:avLst>
              <a:gd name="adj" fmla="val 2917"/>
            </a:avLst>
          </a:prstGeom>
          <a:noFill/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5CD2702F-151F-4F8C-0D7E-14E3A98D4EDF}"/>
              </a:ext>
            </a:extLst>
          </p:cNvPr>
          <p:cNvSpPr/>
          <p:nvPr/>
        </p:nvSpPr>
        <p:spPr>
          <a:xfrm>
            <a:off x="4572000" y="292608"/>
            <a:ext cx="6976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8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6A89D317-65B3-B1C6-B0AC-FCE491A884F3}"/>
              </a:ext>
            </a:extLst>
          </p:cNvPr>
          <p:cNvSpPr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85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80239B-971D-D229-A50B-77E09D8AC40E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60A466-89A1-2FBA-715C-7AA223C43125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F8B1C5C-08DF-C4D9-22C5-10AE097663B2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3D0A26E-716E-2D67-6F2F-2F9BEF6B2ACA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36" name="Hexagon 35">
                  <a:extLst>
                    <a:ext uri="{FF2B5EF4-FFF2-40B4-BE49-F238E27FC236}">
                      <a16:creationId xmlns:a16="http://schemas.microsoft.com/office/drawing/2014/main" id="{C054758D-48AC-1A72-B153-62CA6625361C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37" name="Hexagon 36">
                  <a:extLst>
                    <a:ext uri="{FF2B5EF4-FFF2-40B4-BE49-F238E27FC236}">
                      <a16:creationId xmlns:a16="http://schemas.microsoft.com/office/drawing/2014/main" id="{4108CC80-9352-3CF7-4460-6F4C3F98D949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056B629-3212-2CD6-3FE6-61FDA0945A40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1956251-FB5F-7BA0-4F2A-685DB2CDCA0A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ECD0ADD-786E-F82A-E62B-CC489655371A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707C6ED-FBEA-6069-20EF-498C6B3BCAC0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7714BC6-9A62-FAA2-A49C-65FBF64A50B0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F4BA407-81E8-AB27-4CEB-58F710B77448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  <p:sp>
        <p:nvSpPr>
          <p:cNvPr id="2" name="Text 2">
            <a:extLst>
              <a:ext uri="{FF2B5EF4-FFF2-40B4-BE49-F238E27FC236}">
                <a16:creationId xmlns:a16="http://schemas.microsoft.com/office/drawing/2014/main" id="{026D086C-5224-491F-1AEB-BB8D51E3D304}"/>
              </a:ext>
            </a:extLst>
          </p:cNvPr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</a:t>
            </a:r>
            <a:endParaRPr lang="en-US" sz="1300" dirty="0"/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C0A86EEA-4ED9-E9B8-C693-901D5B9A6BD9}"/>
              </a:ext>
            </a:extLst>
          </p:cNvPr>
          <p:cNvSpPr/>
          <p:nvPr/>
        </p:nvSpPr>
        <p:spPr>
          <a:xfrm>
            <a:off x="640016" y="1246087"/>
            <a:ext cx="7464893" cy="2194560"/>
          </a:xfrm>
          <a:prstGeom prst="roundRect">
            <a:avLst>
              <a:gd name="adj" fmla="val 2917"/>
            </a:avLst>
          </a:prstGeom>
          <a:noFill/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41AB7E5-2918-7799-295F-5E7776EB1DC6}"/>
              </a:ext>
            </a:extLst>
          </p:cNvPr>
          <p:cNvGrpSpPr/>
          <p:nvPr/>
        </p:nvGrpSpPr>
        <p:grpSpPr>
          <a:xfrm>
            <a:off x="1803873" y="4602381"/>
            <a:ext cx="4767319" cy="752910"/>
            <a:chOff x="5736308" y="1751180"/>
            <a:chExt cx="4767319" cy="75291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F501F88-223F-CE8D-7006-ACE43880B3BD}"/>
                </a:ext>
              </a:extLst>
            </p:cNvPr>
            <p:cNvGrpSpPr/>
            <p:nvPr/>
          </p:nvGrpSpPr>
          <p:grpSpPr>
            <a:xfrm>
              <a:off x="5736308" y="1751180"/>
              <a:ext cx="4767319" cy="425092"/>
              <a:chOff x="6432804" y="2272447"/>
              <a:chExt cx="4767319" cy="425092"/>
            </a:xfrm>
          </p:grpSpPr>
          <p:sp>
            <p:nvSpPr>
              <p:cNvPr id="51" name="Alternative Process 50">
                <a:extLst>
                  <a:ext uri="{FF2B5EF4-FFF2-40B4-BE49-F238E27FC236}">
                    <a16:creationId xmlns:a16="http://schemas.microsoft.com/office/drawing/2014/main" id="{92CAAFA1-55D6-9CB5-646E-3DF3815DA8D5}"/>
                  </a:ext>
                </a:extLst>
              </p:cNvPr>
              <p:cNvSpPr/>
              <p:nvPr/>
            </p:nvSpPr>
            <p:spPr>
              <a:xfrm>
                <a:off x="7512486" y="2299599"/>
                <a:ext cx="431956" cy="370390"/>
              </a:xfrm>
              <a:prstGeom prst="flowChartAlternateProcess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H" sz="1300" dirty="0">
                    <a:solidFill>
                      <a:schemeClr val="tx1"/>
                    </a:solidFill>
                  </a:rPr>
                  <a:t>VD</a:t>
                </a: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890078A-4039-7F8C-33F8-432D2328FC20}"/>
                  </a:ext>
                </a:extLst>
              </p:cNvPr>
              <p:cNvGrpSpPr/>
              <p:nvPr/>
            </p:nvGrpSpPr>
            <p:grpSpPr>
              <a:xfrm>
                <a:off x="9584661" y="2306510"/>
                <a:ext cx="416688" cy="370390"/>
                <a:chOff x="6402748" y="4481279"/>
                <a:chExt cx="416688" cy="370390"/>
              </a:xfrm>
            </p:grpSpPr>
            <p:sp>
              <p:nvSpPr>
                <p:cNvPr id="66" name="Alternative Process 65">
                  <a:extLst>
                    <a:ext uri="{FF2B5EF4-FFF2-40B4-BE49-F238E27FC236}">
                      <a16:creationId xmlns:a16="http://schemas.microsoft.com/office/drawing/2014/main" id="{793DD28D-7CB8-6876-C5CA-C465C6C5AA85}"/>
                    </a:ext>
                  </a:extLst>
                </p:cNvPr>
                <p:cNvSpPr/>
                <p:nvPr/>
              </p:nvSpPr>
              <p:spPr>
                <a:xfrm>
                  <a:off x="6402748" y="4481279"/>
                  <a:ext cx="416688" cy="370390"/>
                </a:xfrm>
                <a:prstGeom prst="flowChartAlternateProcess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DBFE810E-17F6-152B-C162-7CFDE15A7ACF}"/>
                    </a:ext>
                  </a:extLst>
                </p:cNvPr>
                <p:cNvGrpSpPr/>
                <p:nvPr/>
              </p:nvGrpSpPr>
              <p:grpSpPr>
                <a:xfrm>
                  <a:off x="6441554" y="4501285"/>
                  <a:ext cx="348711" cy="318363"/>
                  <a:chOff x="6768196" y="5199310"/>
                  <a:chExt cx="348711" cy="318363"/>
                </a:xfrm>
              </p:grpSpPr>
              <p:pic>
                <p:nvPicPr>
                  <p:cNvPr id="68" name="Graphic 67" descr="User with solid fill">
                    <a:extLst>
                      <a:ext uri="{FF2B5EF4-FFF2-40B4-BE49-F238E27FC236}">
                        <a16:creationId xmlns:a16="http://schemas.microsoft.com/office/drawing/2014/main" id="{95271EEA-BBA8-25CC-A6D7-EDE2C19FE0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6768196" y="5199310"/>
                    <a:ext cx="283464" cy="283464"/>
                  </a:xfrm>
                  <a:prstGeom prst="rect">
                    <a:avLst/>
                  </a:prstGeom>
                </p:spPr>
              </p:pic>
              <p:pic>
                <p:nvPicPr>
                  <p:cNvPr id="69" name="Graphic 68" descr="User with solid fill">
                    <a:extLst>
                      <a:ext uri="{FF2B5EF4-FFF2-40B4-BE49-F238E27FC236}">
                        <a16:creationId xmlns:a16="http://schemas.microsoft.com/office/drawing/2014/main" id="{35B8C4F4-1811-DF72-51DA-8FE7FDDC62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6798988" y="5213576"/>
                    <a:ext cx="283464" cy="283464"/>
                  </a:xfrm>
                  <a:prstGeom prst="rect">
                    <a:avLst/>
                  </a:prstGeom>
                </p:spPr>
              </p:pic>
              <p:pic>
                <p:nvPicPr>
                  <p:cNvPr id="70" name="Graphic 69" descr="User with solid fill">
                    <a:extLst>
                      <a:ext uri="{FF2B5EF4-FFF2-40B4-BE49-F238E27FC236}">
                        <a16:creationId xmlns:a16="http://schemas.microsoft.com/office/drawing/2014/main" id="{01B6A148-624B-72AA-C20E-BB9A7C83C7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6833443" y="5234209"/>
                    <a:ext cx="283464" cy="283464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54" name="Graphic 53" descr="Business Growth with solid fill">
                <a:extLst>
                  <a:ext uri="{FF2B5EF4-FFF2-40B4-BE49-F238E27FC236}">
                    <a16:creationId xmlns:a16="http://schemas.microsoft.com/office/drawing/2014/main" id="{4B6C9C79-9A6E-75C4-467B-CFBA31D26D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76738" y="2341454"/>
                <a:ext cx="323385" cy="323385"/>
              </a:xfrm>
              <a:prstGeom prst="rect">
                <a:avLst/>
              </a:prstGeom>
            </p:spPr>
          </p:pic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51682F89-45CE-6B0C-BDEC-1343431FAE12}"/>
                  </a:ext>
                </a:extLst>
              </p:cNvPr>
              <p:cNvGrpSpPr/>
              <p:nvPr/>
            </p:nvGrpSpPr>
            <p:grpSpPr>
              <a:xfrm>
                <a:off x="8548291" y="2272447"/>
                <a:ext cx="416688" cy="416688"/>
                <a:chOff x="5543909" y="4932999"/>
                <a:chExt cx="416688" cy="416688"/>
              </a:xfrm>
            </p:grpSpPr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083AB72-DFFE-7922-5B00-4C31BDC3D991}"/>
                    </a:ext>
                  </a:extLst>
                </p:cNvPr>
                <p:cNvSpPr txBox="1"/>
                <p:nvPr/>
              </p:nvSpPr>
              <p:spPr>
                <a:xfrm>
                  <a:off x="5543909" y="4932999"/>
                  <a:ext cx="416688" cy="416688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CH" dirty="0"/>
                </a:p>
              </p:txBody>
            </p:sp>
            <p:pic>
              <p:nvPicPr>
                <p:cNvPr id="65" name="Graphic 64" descr="Merger with solid fill">
                  <a:extLst>
                    <a:ext uri="{FF2B5EF4-FFF2-40B4-BE49-F238E27FC236}">
                      <a16:creationId xmlns:a16="http://schemas.microsoft.com/office/drawing/2014/main" id="{181E5C62-834F-F457-1F7A-CD58FD8253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97394" y="4985145"/>
                  <a:ext cx="319749" cy="319749"/>
                </a:xfrm>
                <a:prstGeom prst="rect">
                  <a:avLst/>
                </a:prstGeom>
              </p:spPr>
            </p:pic>
          </p:grp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C17065EE-0A23-40FC-3AB4-202A1FDB8A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7741" y="2491305"/>
                <a:ext cx="57463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5DBBBA8-5970-7DBC-2FF1-64AF990389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3988" y="2491736"/>
                <a:ext cx="532862" cy="0"/>
              </a:xfrm>
              <a:prstGeom prst="straightConnector1">
                <a:avLst/>
              </a:prstGeom>
              <a:ln w="25400" cmpd="thickThin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DD2E4CD-7E4A-9045-3865-2C105C7DA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5395" y="2491305"/>
                <a:ext cx="57463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9" name="Graphic 58" descr="Badge Tick1 with solid fill">
                <a:extLst>
                  <a:ext uri="{FF2B5EF4-FFF2-40B4-BE49-F238E27FC236}">
                    <a16:creationId xmlns:a16="http://schemas.microsoft.com/office/drawing/2014/main" id="{EC7B32D9-7E09-D6C9-F46A-F1F55ADE28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578352" y="2357699"/>
                <a:ext cx="267211" cy="267211"/>
              </a:xfrm>
              <a:prstGeom prst="rect">
                <a:avLst/>
              </a:prstGeom>
            </p:spPr>
          </p:pic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2F8DF8C7-B44A-37BB-7019-44BA759E414C}"/>
                  </a:ext>
                </a:extLst>
              </p:cNvPr>
              <p:cNvCxnSpPr/>
              <p:nvPr/>
            </p:nvCxnSpPr>
            <p:spPr>
              <a:xfrm flipV="1">
                <a:off x="6892804" y="2493379"/>
                <a:ext cx="558945" cy="4361"/>
              </a:xfrm>
              <a:prstGeom prst="straightConnector1">
                <a:avLst/>
              </a:prstGeom>
              <a:ln w="6350">
                <a:solidFill>
                  <a:srgbClr val="0070C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FDDC3A09-7EB9-3E49-8492-7E0FAB1253D8}"/>
                  </a:ext>
                </a:extLst>
              </p:cNvPr>
              <p:cNvGrpSpPr/>
              <p:nvPr/>
            </p:nvGrpSpPr>
            <p:grpSpPr>
              <a:xfrm>
                <a:off x="6432804" y="2280851"/>
                <a:ext cx="416688" cy="416688"/>
                <a:chOff x="6449760" y="2267076"/>
                <a:chExt cx="416688" cy="416688"/>
              </a:xfrm>
            </p:grpSpPr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0A8EC4C-A31D-7E43-8DAB-A02B1D0C2C98}"/>
                    </a:ext>
                  </a:extLst>
                </p:cNvPr>
                <p:cNvSpPr txBox="1"/>
                <p:nvPr/>
              </p:nvSpPr>
              <p:spPr>
                <a:xfrm>
                  <a:off x="6449760" y="2267076"/>
                  <a:ext cx="416688" cy="416688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CH" dirty="0"/>
                </a:p>
              </p:txBody>
            </p:sp>
            <p:pic>
              <p:nvPicPr>
                <p:cNvPr id="63" name="Graphic 62" descr="Lost with solid fill">
                  <a:extLst>
                    <a:ext uri="{FF2B5EF4-FFF2-40B4-BE49-F238E27FC236}">
                      <a16:creationId xmlns:a16="http://schemas.microsoft.com/office/drawing/2014/main" id="{D70D4640-9776-AF36-64DC-A95CC11972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45926" y="2355880"/>
                  <a:ext cx="239838" cy="239838"/>
                </a:xfrm>
                <a:prstGeom prst="rect">
                  <a:avLst/>
                </a:prstGeom>
              </p:spPr>
            </p:pic>
          </p:grp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51CE2A-5233-9086-C798-944FE68D3E4A}"/>
                </a:ext>
              </a:extLst>
            </p:cNvPr>
            <p:cNvSpPr txBox="1"/>
            <p:nvPr/>
          </p:nvSpPr>
          <p:spPr>
            <a:xfrm>
              <a:off x="7759867" y="2211702"/>
              <a:ext cx="600543" cy="2923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H" sz="1300" dirty="0"/>
                <a:t>1 .. 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216E228-BCDB-E165-3EDE-7D04CBAB0A4E}"/>
                </a:ext>
              </a:extLst>
            </p:cNvPr>
            <p:cNvSpPr txBox="1"/>
            <p:nvPr/>
          </p:nvSpPr>
          <p:spPr>
            <a:xfrm>
              <a:off x="9715189" y="2209890"/>
              <a:ext cx="600543" cy="2923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H" sz="1300" dirty="0"/>
                <a:t>1 .. N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9CEFDD8-076D-148F-C3C0-5A2D779D1313}"/>
              </a:ext>
            </a:extLst>
          </p:cNvPr>
          <p:cNvGrpSpPr/>
          <p:nvPr/>
        </p:nvGrpSpPr>
        <p:grpSpPr>
          <a:xfrm>
            <a:off x="1877023" y="1551012"/>
            <a:ext cx="4694169" cy="1584710"/>
            <a:chOff x="6768022" y="1100760"/>
            <a:chExt cx="4694169" cy="158471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BD269D7-C22E-5D40-9DE2-21C8A57937D1}"/>
                </a:ext>
              </a:extLst>
            </p:cNvPr>
            <p:cNvGrpSpPr/>
            <p:nvPr/>
          </p:nvGrpSpPr>
          <p:grpSpPr>
            <a:xfrm>
              <a:off x="8817420" y="1941871"/>
              <a:ext cx="416688" cy="416688"/>
              <a:chOff x="2959363" y="4932978"/>
              <a:chExt cx="416688" cy="416688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406CE0F-B8E9-4C49-1565-2839BF3340C8}"/>
                  </a:ext>
                </a:extLst>
              </p:cNvPr>
              <p:cNvSpPr txBox="1"/>
              <p:nvPr/>
            </p:nvSpPr>
            <p:spPr>
              <a:xfrm>
                <a:off x="2959363" y="4932978"/>
                <a:ext cx="416688" cy="41668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en-CH" dirty="0"/>
              </a:p>
            </p:txBody>
          </p:sp>
          <p:pic>
            <p:nvPicPr>
              <p:cNvPr id="125" name="Graphic 124" descr="Lost with solid fill">
                <a:extLst>
                  <a:ext uri="{FF2B5EF4-FFF2-40B4-BE49-F238E27FC236}">
                    <a16:creationId xmlns:a16="http://schemas.microsoft.com/office/drawing/2014/main" id="{28D16216-1DA5-09ED-D699-87B9DFEE3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55529" y="5021782"/>
                <a:ext cx="239838" cy="239838"/>
              </a:xfrm>
              <a:prstGeom prst="rect">
                <a:avLst/>
              </a:prstGeom>
            </p:spPr>
          </p:pic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7C4BC54-CEA9-FB5B-1B63-95186E3EBA04}"/>
                </a:ext>
              </a:extLst>
            </p:cNvPr>
            <p:cNvCxnSpPr/>
            <p:nvPr/>
          </p:nvCxnSpPr>
          <p:spPr>
            <a:xfrm flipV="1">
              <a:off x="9251695" y="2153261"/>
              <a:ext cx="558945" cy="4361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Alternative Process 80">
              <a:extLst>
                <a:ext uri="{FF2B5EF4-FFF2-40B4-BE49-F238E27FC236}">
                  <a16:creationId xmlns:a16="http://schemas.microsoft.com/office/drawing/2014/main" id="{64B61831-43FB-447D-CD7F-664CD2378B20}"/>
                </a:ext>
              </a:extLst>
            </p:cNvPr>
            <p:cNvSpPr/>
            <p:nvPr/>
          </p:nvSpPr>
          <p:spPr>
            <a:xfrm>
              <a:off x="9836935" y="1961856"/>
              <a:ext cx="416688" cy="370390"/>
            </a:xfrm>
            <a:prstGeom prst="flowChartAlternateProcess">
              <a:avLst/>
            </a:prstGeom>
            <a:solidFill>
              <a:schemeClr val="accent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dirty="0">
                  <a:solidFill>
                    <a:schemeClr val="tx1"/>
                  </a:solidFill>
                </a:rPr>
                <a:t>…</a:t>
              </a:r>
            </a:p>
          </p:txBody>
        </p:sp>
        <p:pic>
          <p:nvPicPr>
            <p:cNvPr id="82" name="Graphic 81" descr="Badge Question Mark with solid fill">
              <a:extLst>
                <a:ext uri="{FF2B5EF4-FFF2-40B4-BE49-F238E27FC236}">
                  <a16:creationId xmlns:a16="http://schemas.microsoft.com/office/drawing/2014/main" id="{782BBB0C-B52F-73AA-0800-B10A6D0052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58757" y="2004254"/>
              <a:ext cx="267211" cy="267211"/>
            </a:xfrm>
            <a:prstGeom prst="rect">
              <a:avLst/>
            </a:prstGeom>
          </p:spPr>
        </p:pic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B033AD3C-588F-597F-9861-23B023FC901B}"/>
                </a:ext>
              </a:extLst>
            </p:cNvPr>
            <p:cNvCxnSpPr/>
            <p:nvPr/>
          </p:nvCxnSpPr>
          <p:spPr>
            <a:xfrm flipV="1">
              <a:off x="10297505" y="2144870"/>
              <a:ext cx="558945" cy="4361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4" name="Graphic 83" descr="Scatterplot with solid fill">
              <a:extLst>
                <a:ext uri="{FF2B5EF4-FFF2-40B4-BE49-F238E27FC236}">
                  <a16:creationId xmlns:a16="http://schemas.microsoft.com/office/drawing/2014/main" id="{8FFB8EA2-DBBC-F533-94FB-EE43E12C7B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125968" y="1950797"/>
              <a:ext cx="336223" cy="336223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67113FB-C67A-9BFB-50BD-4AA3C56F521D}"/>
                </a:ext>
              </a:extLst>
            </p:cNvPr>
            <p:cNvSpPr txBox="1"/>
            <p:nvPr/>
          </p:nvSpPr>
          <p:spPr>
            <a:xfrm>
              <a:off x="8718430" y="2393082"/>
              <a:ext cx="600543" cy="2923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H" sz="1300" dirty="0"/>
                <a:t>2 .. N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A4D3DC8-0FFE-55CE-A73D-9D689381053C}"/>
                </a:ext>
              </a:extLst>
            </p:cNvPr>
            <p:cNvGrpSpPr/>
            <p:nvPr/>
          </p:nvGrpSpPr>
          <p:grpSpPr>
            <a:xfrm>
              <a:off x="9846729" y="1134823"/>
              <a:ext cx="416688" cy="370390"/>
              <a:chOff x="6402748" y="4481279"/>
              <a:chExt cx="416688" cy="370390"/>
            </a:xfrm>
          </p:grpSpPr>
          <p:sp>
            <p:nvSpPr>
              <p:cNvPr id="119" name="Alternative Process 118">
                <a:extLst>
                  <a:ext uri="{FF2B5EF4-FFF2-40B4-BE49-F238E27FC236}">
                    <a16:creationId xmlns:a16="http://schemas.microsoft.com/office/drawing/2014/main" id="{48EC9648-35E4-0111-02EF-6BC69BE84088}"/>
                  </a:ext>
                </a:extLst>
              </p:cNvPr>
              <p:cNvSpPr/>
              <p:nvPr/>
            </p:nvSpPr>
            <p:spPr>
              <a:xfrm>
                <a:off x="6402748" y="4481279"/>
                <a:ext cx="416688" cy="370390"/>
              </a:xfrm>
              <a:prstGeom prst="flowChartAlternateProcess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D6DC78FA-AD42-C61C-A2DE-460715B529BB}"/>
                  </a:ext>
                </a:extLst>
              </p:cNvPr>
              <p:cNvGrpSpPr/>
              <p:nvPr/>
            </p:nvGrpSpPr>
            <p:grpSpPr>
              <a:xfrm>
                <a:off x="6441554" y="4501285"/>
                <a:ext cx="348711" cy="318363"/>
                <a:chOff x="6768196" y="5199310"/>
                <a:chExt cx="348711" cy="318363"/>
              </a:xfrm>
            </p:grpSpPr>
            <p:pic>
              <p:nvPicPr>
                <p:cNvPr id="121" name="Graphic 120" descr="User with solid fill">
                  <a:extLst>
                    <a:ext uri="{FF2B5EF4-FFF2-40B4-BE49-F238E27FC236}">
                      <a16:creationId xmlns:a16="http://schemas.microsoft.com/office/drawing/2014/main" id="{FF81077E-CA7E-15B3-8949-9F6F55CDC8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768196" y="5199310"/>
                  <a:ext cx="283464" cy="283464"/>
                </a:xfrm>
                <a:prstGeom prst="rect">
                  <a:avLst/>
                </a:prstGeom>
              </p:spPr>
            </p:pic>
            <p:pic>
              <p:nvPicPr>
                <p:cNvPr id="122" name="Graphic 121" descr="User with solid fill">
                  <a:extLst>
                    <a:ext uri="{FF2B5EF4-FFF2-40B4-BE49-F238E27FC236}">
                      <a16:creationId xmlns:a16="http://schemas.microsoft.com/office/drawing/2014/main" id="{8DB19587-E2FA-8434-6A3E-54F6DEF758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798988" y="5213576"/>
                  <a:ext cx="283464" cy="283464"/>
                </a:xfrm>
                <a:prstGeom prst="rect">
                  <a:avLst/>
                </a:prstGeom>
              </p:spPr>
            </p:pic>
            <p:pic>
              <p:nvPicPr>
                <p:cNvPr id="123" name="Graphic 122" descr="User with solid fill">
                  <a:extLst>
                    <a:ext uri="{FF2B5EF4-FFF2-40B4-BE49-F238E27FC236}">
                      <a16:creationId xmlns:a16="http://schemas.microsoft.com/office/drawing/2014/main" id="{6AF9121A-29A4-05ED-F4FE-34748F2D0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833443" y="5234209"/>
                  <a:ext cx="283464" cy="283464"/>
                </a:xfrm>
                <a:prstGeom prst="rect">
                  <a:avLst/>
                </a:prstGeom>
              </p:spPr>
            </p:pic>
          </p:grpSp>
        </p:grpSp>
        <p:pic>
          <p:nvPicPr>
            <p:cNvPr id="87" name="Graphic 86" descr="Business Growth with solid fill">
              <a:extLst>
                <a:ext uri="{FF2B5EF4-FFF2-40B4-BE49-F238E27FC236}">
                  <a16:creationId xmlns:a16="http://schemas.microsoft.com/office/drawing/2014/main" id="{40DBCBCF-A6C5-4006-0746-BB2E4CFAE3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38806" y="1169767"/>
              <a:ext cx="323385" cy="323385"/>
            </a:xfrm>
            <a:prstGeom prst="rect">
              <a:avLst/>
            </a:prstGeom>
          </p:spPr>
        </p:pic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68864440-C829-97B3-5C78-CA3409161098}"/>
                </a:ext>
              </a:extLst>
            </p:cNvPr>
            <p:cNvGrpSpPr/>
            <p:nvPr/>
          </p:nvGrpSpPr>
          <p:grpSpPr>
            <a:xfrm>
              <a:off x="8810359" y="1100760"/>
              <a:ext cx="416688" cy="416688"/>
              <a:chOff x="5543909" y="4932999"/>
              <a:chExt cx="416688" cy="416688"/>
            </a:xfrm>
          </p:grpSpPr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74930F1-7E0A-5A86-86DA-3C17FD56D436}"/>
                  </a:ext>
                </a:extLst>
              </p:cNvPr>
              <p:cNvSpPr txBox="1"/>
              <p:nvPr/>
            </p:nvSpPr>
            <p:spPr>
              <a:xfrm>
                <a:off x="5543909" y="4932999"/>
                <a:ext cx="416688" cy="41668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en-CH" dirty="0"/>
              </a:p>
            </p:txBody>
          </p:sp>
          <p:pic>
            <p:nvPicPr>
              <p:cNvPr id="118" name="Graphic 117" descr="Merger with solid fill">
                <a:extLst>
                  <a:ext uri="{FF2B5EF4-FFF2-40B4-BE49-F238E27FC236}">
                    <a16:creationId xmlns:a16="http://schemas.microsoft.com/office/drawing/2014/main" id="{3D9D6D1B-1A9F-6AB4-1225-3EE922F206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597394" y="4985145"/>
                <a:ext cx="319749" cy="319749"/>
              </a:xfrm>
              <a:prstGeom prst="rect">
                <a:avLst/>
              </a:prstGeom>
            </p:spPr>
          </p:pic>
        </p:grp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2242B6D3-7A82-BE3B-08A1-A26486761827}"/>
                </a:ext>
              </a:extLst>
            </p:cNvPr>
            <p:cNvCxnSpPr>
              <a:cxnSpLocks/>
            </p:cNvCxnSpPr>
            <p:nvPr/>
          </p:nvCxnSpPr>
          <p:spPr>
            <a:xfrm>
              <a:off x="8229809" y="1319618"/>
              <a:ext cx="574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72CD97B-F813-0039-E136-669B1A09E71E}"/>
                </a:ext>
              </a:extLst>
            </p:cNvPr>
            <p:cNvCxnSpPr>
              <a:cxnSpLocks/>
            </p:cNvCxnSpPr>
            <p:nvPr/>
          </p:nvCxnSpPr>
          <p:spPr>
            <a:xfrm>
              <a:off x="10296056" y="1320049"/>
              <a:ext cx="532862" cy="0"/>
            </a:xfrm>
            <a:prstGeom prst="straightConnector1">
              <a:avLst/>
            </a:prstGeom>
            <a:ln w="25400" cmpd="thickThin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F723198E-AD92-EB9C-ECFB-B9AD232A4B1B}"/>
                </a:ext>
              </a:extLst>
            </p:cNvPr>
            <p:cNvCxnSpPr>
              <a:cxnSpLocks/>
            </p:cNvCxnSpPr>
            <p:nvPr/>
          </p:nvCxnSpPr>
          <p:spPr>
            <a:xfrm>
              <a:off x="9247463" y="1319618"/>
              <a:ext cx="574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Graphic 91" descr="Badge Tick1 with solid fill">
              <a:extLst>
                <a:ext uri="{FF2B5EF4-FFF2-40B4-BE49-F238E27FC236}">
                  <a16:creationId xmlns:a16="http://schemas.microsoft.com/office/drawing/2014/main" id="{BAA2C9FE-A39F-40A0-0C6E-E97366F79E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840420" y="1186012"/>
              <a:ext cx="267211" cy="267211"/>
            </a:xfrm>
            <a:prstGeom prst="rect">
              <a:avLst/>
            </a:prstGeom>
          </p:spPr>
        </p:pic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85811088-C9E7-C591-DD67-D143F3CDB342}"/>
                </a:ext>
              </a:extLst>
            </p:cNvPr>
            <p:cNvCxnSpPr>
              <a:cxnSpLocks/>
            </p:cNvCxnSpPr>
            <p:nvPr/>
          </p:nvCxnSpPr>
          <p:spPr>
            <a:xfrm>
              <a:off x="7234011" y="1316467"/>
              <a:ext cx="479806" cy="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6E25F77-232B-EA26-F0E9-82E9BE88C902}"/>
                </a:ext>
              </a:extLst>
            </p:cNvPr>
            <p:cNvGrpSpPr/>
            <p:nvPr/>
          </p:nvGrpSpPr>
          <p:grpSpPr>
            <a:xfrm>
              <a:off x="6768022" y="1109164"/>
              <a:ext cx="416688" cy="416688"/>
              <a:chOff x="6522910" y="2267076"/>
              <a:chExt cx="416688" cy="416688"/>
            </a:xfrm>
          </p:grpSpPr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AF7D7BC-E54B-8E6E-2E69-4B8B1535895B}"/>
                  </a:ext>
                </a:extLst>
              </p:cNvPr>
              <p:cNvSpPr txBox="1"/>
              <p:nvPr/>
            </p:nvSpPr>
            <p:spPr>
              <a:xfrm>
                <a:off x="6522910" y="2267076"/>
                <a:ext cx="416688" cy="41668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en-CH" dirty="0"/>
              </a:p>
            </p:txBody>
          </p:sp>
          <p:pic>
            <p:nvPicPr>
              <p:cNvPr id="116" name="Graphic 115" descr="Lost with solid fill">
                <a:extLst>
                  <a:ext uri="{FF2B5EF4-FFF2-40B4-BE49-F238E27FC236}">
                    <a16:creationId xmlns:a16="http://schemas.microsoft.com/office/drawing/2014/main" id="{CF362817-8528-5E2A-0C7E-E84A70DAF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613851" y="2355880"/>
                <a:ext cx="239838" cy="239838"/>
              </a:xfrm>
              <a:prstGeom prst="rect">
                <a:avLst/>
              </a:prstGeom>
            </p:spPr>
          </p:pic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C89FE-2FD5-86DF-C0E9-39C0F8F77BC0}"/>
                </a:ext>
              </a:extLst>
            </p:cNvPr>
            <p:cNvSpPr txBox="1"/>
            <p:nvPr/>
          </p:nvSpPr>
          <p:spPr>
            <a:xfrm>
              <a:off x="8718431" y="1561282"/>
              <a:ext cx="600543" cy="2923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H" sz="1300" dirty="0"/>
                <a:t>1 .. 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B98DB63-118D-C834-CE19-A80B4C330920}"/>
                </a:ext>
              </a:extLst>
            </p:cNvPr>
            <p:cNvSpPr txBox="1"/>
            <p:nvPr/>
          </p:nvSpPr>
          <p:spPr>
            <a:xfrm>
              <a:off x="10673753" y="1539251"/>
              <a:ext cx="600543" cy="2923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H" sz="1300" dirty="0"/>
                <a:t>1 ..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8DCF912-C55A-818F-4900-FD58C16129DA}"/>
                </a:ext>
              </a:extLst>
            </p:cNvPr>
            <p:cNvSpPr txBox="1"/>
            <p:nvPr/>
          </p:nvSpPr>
          <p:spPr>
            <a:xfrm>
              <a:off x="10665922" y="2393082"/>
              <a:ext cx="600543" cy="2923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H" sz="1300" dirty="0"/>
                <a:t>2 .. N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78866780-82E9-1C56-B0CC-511F216ECCA1}"/>
                </a:ext>
              </a:extLst>
            </p:cNvPr>
            <p:cNvGrpSpPr/>
            <p:nvPr/>
          </p:nvGrpSpPr>
          <p:grpSpPr>
            <a:xfrm>
              <a:off x="7769667" y="1120161"/>
              <a:ext cx="416688" cy="370390"/>
              <a:chOff x="6402748" y="4481279"/>
              <a:chExt cx="416688" cy="370390"/>
            </a:xfrm>
          </p:grpSpPr>
          <p:sp>
            <p:nvSpPr>
              <p:cNvPr id="102" name="Alternative Process 101">
                <a:extLst>
                  <a:ext uri="{FF2B5EF4-FFF2-40B4-BE49-F238E27FC236}">
                    <a16:creationId xmlns:a16="http://schemas.microsoft.com/office/drawing/2014/main" id="{A37C0224-0E4C-4DB5-2105-0094C895E303}"/>
                  </a:ext>
                </a:extLst>
              </p:cNvPr>
              <p:cNvSpPr/>
              <p:nvPr/>
            </p:nvSpPr>
            <p:spPr>
              <a:xfrm>
                <a:off x="6402748" y="4481279"/>
                <a:ext cx="416688" cy="370390"/>
              </a:xfrm>
              <a:prstGeom prst="flowChartAlternateProcess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122BE251-1E57-DB92-B040-D8E3BB2D269A}"/>
                  </a:ext>
                </a:extLst>
              </p:cNvPr>
              <p:cNvGrpSpPr/>
              <p:nvPr/>
            </p:nvGrpSpPr>
            <p:grpSpPr>
              <a:xfrm>
                <a:off x="6441554" y="4501285"/>
                <a:ext cx="348711" cy="318363"/>
                <a:chOff x="6768196" y="5199310"/>
                <a:chExt cx="348711" cy="318363"/>
              </a:xfrm>
            </p:grpSpPr>
            <p:pic>
              <p:nvPicPr>
                <p:cNvPr id="105" name="Graphic 104" descr="User with solid fill">
                  <a:extLst>
                    <a:ext uri="{FF2B5EF4-FFF2-40B4-BE49-F238E27FC236}">
                      <a16:creationId xmlns:a16="http://schemas.microsoft.com/office/drawing/2014/main" id="{8C0A8F00-5592-944C-30AE-5D01C5531F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768196" y="5199310"/>
                  <a:ext cx="283464" cy="283464"/>
                </a:xfrm>
                <a:prstGeom prst="rect">
                  <a:avLst/>
                </a:prstGeom>
              </p:spPr>
            </p:pic>
            <p:pic>
              <p:nvPicPr>
                <p:cNvPr id="113" name="Graphic 112" descr="User with solid fill">
                  <a:extLst>
                    <a:ext uri="{FF2B5EF4-FFF2-40B4-BE49-F238E27FC236}">
                      <a16:creationId xmlns:a16="http://schemas.microsoft.com/office/drawing/2014/main" id="{2AC9F2DF-6533-A8A7-FE84-CB20A87AB1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798988" y="5213576"/>
                  <a:ext cx="283464" cy="283464"/>
                </a:xfrm>
                <a:prstGeom prst="rect">
                  <a:avLst/>
                </a:prstGeom>
              </p:spPr>
            </p:pic>
            <p:pic>
              <p:nvPicPr>
                <p:cNvPr id="114" name="Graphic 113" descr="User with solid fill">
                  <a:extLst>
                    <a:ext uri="{FF2B5EF4-FFF2-40B4-BE49-F238E27FC236}">
                      <a16:creationId xmlns:a16="http://schemas.microsoft.com/office/drawing/2014/main" id="{E1417CEC-EA3A-5613-F37D-F19539A19F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833443" y="5234209"/>
                  <a:ext cx="283464" cy="28346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99" name="Elbow Connector 98">
              <a:extLst>
                <a:ext uri="{FF2B5EF4-FFF2-40B4-BE49-F238E27FC236}">
                  <a16:creationId xmlns:a16="http://schemas.microsoft.com/office/drawing/2014/main" id="{DEF69A06-C0BD-A851-9AD2-E96FFAA3C599}"/>
                </a:ext>
              </a:extLst>
            </p:cNvPr>
            <p:cNvCxnSpPr>
              <a:cxnSpLocks/>
              <a:stCxn id="115" idx="2"/>
              <a:endCxn id="100" idx="1"/>
            </p:cNvCxnSpPr>
            <p:nvPr/>
          </p:nvCxnSpPr>
          <p:spPr>
            <a:xfrm rot="16200000" flipH="1">
              <a:off x="7075443" y="1426774"/>
              <a:ext cx="616912" cy="81506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Alternative Process 99">
              <a:extLst>
                <a:ext uri="{FF2B5EF4-FFF2-40B4-BE49-F238E27FC236}">
                  <a16:creationId xmlns:a16="http://schemas.microsoft.com/office/drawing/2014/main" id="{BB1C9BCE-3E9A-A451-1DEC-50F654E56E26}"/>
                </a:ext>
              </a:extLst>
            </p:cNvPr>
            <p:cNvSpPr/>
            <p:nvPr/>
          </p:nvSpPr>
          <p:spPr>
            <a:xfrm>
              <a:off x="7791433" y="1957569"/>
              <a:ext cx="416688" cy="370390"/>
            </a:xfrm>
            <a:prstGeom prst="flowChartAlternateProcess">
              <a:avLst/>
            </a:prstGeom>
            <a:solidFill>
              <a:schemeClr val="accent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H" dirty="0">
                  <a:solidFill>
                    <a:schemeClr val="tx1"/>
                  </a:solidFill>
                </a:rPr>
                <a:t>…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0ADFDAA-4DC7-1543-A382-FADF90F3BFDD}"/>
                </a:ext>
              </a:extLst>
            </p:cNvPr>
            <p:cNvCxnSpPr>
              <a:cxnSpLocks/>
            </p:cNvCxnSpPr>
            <p:nvPr/>
          </p:nvCxnSpPr>
          <p:spPr>
            <a:xfrm>
              <a:off x="8229809" y="2153261"/>
              <a:ext cx="574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Text 2">
            <a:extLst>
              <a:ext uri="{FF2B5EF4-FFF2-40B4-BE49-F238E27FC236}">
                <a16:creationId xmlns:a16="http://schemas.microsoft.com/office/drawing/2014/main" id="{FE59277B-C880-AAD2-AC2C-C82BC8B62E1F}"/>
              </a:ext>
            </a:extLst>
          </p:cNvPr>
          <p:cNvSpPr/>
          <p:nvPr/>
        </p:nvSpPr>
        <p:spPr>
          <a:xfrm>
            <a:off x="8414800" y="932688"/>
            <a:ext cx="20799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LEGEND</a:t>
            </a:r>
            <a:endParaRPr lang="en-US" sz="1300" dirty="0"/>
          </a:p>
        </p:txBody>
      </p:sp>
      <p:sp>
        <p:nvSpPr>
          <p:cNvPr id="128" name="Shape 5">
            <a:extLst>
              <a:ext uri="{FF2B5EF4-FFF2-40B4-BE49-F238E27FC236}">
                <a16:creationId xmlns:a16="http://schemas.microsoft.com/office/drawing/2014/main" id="{DC8117BC-4B76-567D-8E03-E2ACB8B854BC}"/>
              </a:ext>
            </a:extLst>
          </p:cNvPr>
          <p:cNvSpPr/>
          <p:nvPr/>
        </p:nvSpPr>
        <p:spPr>
          <a:xfrm>
            <a:off x="8408109" y="1246087"/>
            <a:ext cx="3244815" cy="4805373"/>
          </a:xfrm>
          <a:prstGeom prst="roundRect">
            <a:avLst>
              <a:gd name="adj" fmla="val 2917"/>
            </a:avLst>
          </a:prstGeom>
          <a:noFill/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E31292F-5711-7FC5-1507-1A34693AF03B}"/>
              </a:ext>
            </a:extLst>
          </p:cNvPr>
          <p:cNvSpPr txBox="1"/>
          <p:nvPr/>
        </p:nvSpPr>
        <p:spPr>
          <a:xfrm>
            <a:off x="9229201" y="4006363"/>
            <a:ext cx="9220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0" spc="100" dirty="0" err="1">
                <a:solidFill>
                  <a:srgbClr val="6E6155"/>
                </a:solidFill>
                <a:latin typeface="IBM Plex Mono" pitchFamily="34" charset="0"/>
              </a:rPr>
              <a:t>VortexDeep</a:t>
            </a:r>
            <a:endParaRPr lang="en-CH" sz="800" dirty="0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3377334-6AC6-E9E6-81F6-2FA0B2200681}"/>
              </a:ext>
            </a:extLst>
          </p:cNvPr>
          <p:cNvGrpSpPr/>
          <p:nvPr/>
        </p:nvGrpSpPr>
        <p:grpSpPr>
          <a:xfrm>
            <a:off x="8777137" y="1506219"/>
            <a:ext cx="416688" cy="416688"/>
            <a:chOff x="8745964" y="4601976"/>
            <a:chExt cx="416688" cy="416688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903E7F3-A20D-28B4-9DF3-83AC1A2C3AF3}"/>
                </a:ext>
              </a:extLst>
            </p:cNvPr>
            <p:cNvSpPr txBox="1"/>
            <p:nvPr/>
          </p:nvSpPr>
          <p:spPr>
            <a:xfrm>
              <a:off x="8745964" y="4601976"/>
              <a:ext cx="416688" cy="4166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CH" dirty="0"/>
            </a:p>
          </p:txBody>
        </p:sp>
        <p:pic>
          <p:nvPicPr>
            <p:cNvPr id="131" name="Graphic 130" descr="Lost with solid fill">
              <a:extLst>
                <a:ext uri="{FF2B5EF4-FFF2-40B4-BE49-F238E27FC236}">
                  <a16:creationId xmlns:a16="http://schemas.microsoft.com/office/drawing/2014/main" id="{014DF298-B26A-7B9E-E9A8-C61AA9D5CB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42130" y="4690780"/>
              <a:ext cx="239838" cy="239838"/>
            </a:xfrm>
            <a:prstGeom prst="rect">
              <a:avLst/>
            </a:prstGeom>
          </p:spPr>
        </p:pic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9598150-47C4-C4E7-DBB6-741E5756F80C}"/>
              </a:ext>
            </a:extLst>
          </p:cNvPr>
          <p:cNvGrpSpPr/>
          <p:nvPr/>
        </p:nvGrpSpPr>
        <p:grpSpPr>
          <a:xfrm>
            <a:off x="8777470" y="1998495"/>
            <a:ext cx="416688" cy="416688"/>
            <a:chOff x="4071760" y="4754781"/>
            <a:chExt cx="416688" cy="41668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C3387B7-291C-103C-3BA5-E20E532580DA}"/>
                </a:ext>
              </a:extLst>
            </p:cNvPr>
            <p:cNvSpPr txBox="1"/>
            <p:nvPr/>
          </p:nvSpPr>
          <p:spPr>
            <a:xfrm>
              <a:off x="4071760" y="4754781"/>
              <a:ext cx="416688" cy="4166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CH" dirty="0"/>
            </a:p>
          </p:txBody>
        </p:sp>
        <p:pic>
          <p:nvPicPr>
            <p:cNvPr id="135" name="Graphic 134" descr="Merger with solid fill">
              <a:extLst>
                <a:ext uri="{FF2B5EF4-FFF2-40B4-BE49-F238E27FC236}">
                  <a16:creationId xmlns:a16="http://schemas.microsoft.com/office/drawing/2014/main" id="{4E2BB67A-41D3-67FF-B5F0-909710944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25245" y="4806927"/>
              <a:ext cx="319749" cy="319749"/>
            </a:xfrm>
            <a:prstGeom prst="rect">
              <a:avLst/>
            </a:prstGeom>
          </p:spPr>
        </p:pic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988FB3FF-2AAB-8089-1C01-BC82165AB122}"/>
              </a:ext>
            </a:extLst>
          </p:cNvPr>
          <p:cNvSpPr txBox="1"/>
          <p:nvPr/>
        </p:nvSpPr>
        <p:spPr>
          <a:xfrm>
            <a:off x="9193825" y="1692389"/>
            <a:ext cx="12170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</a:rPr>
              <a:t>incoming tasks</a:t>
            </a:r>
            <a:endParaRPr lang="en-CH" sz="8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BF52C5A-9F00-F950-F7DC-B5BF6841C121}"/>
              </a:ext>
            </a:extLst>
          </p:cNvPr>
          <p:cNvSpPr txBox="1"/>
          <p:nvPr/>
        </p:nvSpPr>
        <p:spPr>
          <a:xfrm>
            <a:off x="9186991" y="2199999"/>
            <a:ext cx="12170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</a:rPr>
              <a:t>resolved tasks</a:t>
            </a:r>
            <a:endParaRPr lang="en-CH" sz="800" dirty="0"/>
          </a:p>
        </p:txBody>
      </p:sp>
      <p:sp>
        <p:nvSpPr>
          <p:cNvPr id="143" name="Alternative Process 142">
            <a:extLst>
              <a:ext uri="{FF2B5EF4-FFF2-40B4-BE49-F238E27FC236}">
                <a16:creationId xmlns:a16="http://schemas.microsoft.com/office/drawing/2014/main" id="{4A223BD0-A05C-3BF2-C554-3D9A7EED5A43}"/>
              </a:ext>
            </a:extLst>
          </p:cNvPr>
          <p:cNvSpPr/>
          <p:nvPr/>
        </p:nvSpPr>
        <p:spPr>
          <a:xfrm>
            <a:off x="8789391" y="3840942"/>
            <a:ext cx="431956" cy="370390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1300" dirty="0">
                <a:solidFill>
                  <a:schemeClr val="tx1"/>
                </a:solidFill>
              </a:rPr>
              <a:t>VD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D3757BE-5532-4774-A4C1-6FB8CDC9ACA4}"/>
              </a:ext>
            </a:extLst>
          </p:cNvPr>
          <p:cNvGrpSpPr/>
          <p:nvPr/>
        </p:nvGrpSpPr>
        <p:grpSpPr>
          <a:xfrm>
            <a:off x="8802122" y="3377128"/>
            <a:ext cx="416688" cy="370390"/>
            <a:chOff x="6402748" y="4481279"/>
            <a:chExt cx="416688" cy="370390"/>
          </a:xfrm>
        </p:grpSpPr>
        <p:sp>
          <p:nvSpPr>
            <p:cNvPr id="157" name="Alternative Process 156">
              <a:extLst>
                <a:ext uri="{FF2B5EF4-FFF2-40B4-BE49-F238E27FC236}">
                  <a16:creationId xmlns:a16="http://schemas.microsoft.com/office/drawing/2014/main" id="{67923899-346D-82B9-8FA3-D2EBDAE2A352}"/>
                </a:ext>
              </a:extLst>
            </p:cNvPr>
            <p:cNvSpPr/>
            <p:nvPr/>
          </p:nvSpPr>
          <p:spPr>
            <a:xfrm>
              <a:off x="6402748" y="4481279"/>
              <a:ext cx="416688" cy="370390"/>
            </a:xfrm>
            <a:prstGeom prst="flowChartAlternateProcess">
              <a:avLst/>
            </a:prstGeom>
            <a:solidFill>
              <a:schemeClr val="accent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>
                <a:solidFill>
                  <a:schemeClr val="tx1"/>
                </a:solidFill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9A699C69-1FB5-CC0C-DD6A-E409E03E3BFA}"/>
                </a:ext>
              </a:extLst>
            </p:cNvPr>
            <p:cNvGrpSpPr/>
            <p:nvPr/>
          </p:nvGrpSpPr>
          <p:grpSpPr>
            <a:xfrm>
              <a:off x="6441554" y="4501285"/>
              <a:ext cx="348711" cy="318363"/>
              <a:chOff x="6768196" y="5199310"/>
              <a:chExt cx="348711" cy="318363"/>
            </a:xfrm>
          </p:grpSpPr>
          <p:pic>
            <p:nvPicPr>
              <p:cNvPr id="159" name="Graphic 158" descr="User with solid fill">
                <a:extLst>
                  <a:ext uri="{FF2B5EF4-FFF2-40B4-BE49-F238E27FC236}">
                    <a16:creationId xmlns:a16="http://schemas.microsoft.com/office/drawing/2014/main" id="{DDC560BD-A2D0-64BF-F149-A57AFAD0B2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6768196" y="5199310"/>
                <a:ext cx="283464" cy="283464"/>
              </a:xfrm>
              <a:prstGeom prst="rect">
                <a:avLst/>
              </a:prstGeom>
            </p:spPr>
          </p:pic>
          <p:pic>
            <p:nvPicPr>
              <p:cNvPr id="160" name="Graphic 159" descr="User with solid fill">
                <a:extLst>
                  <a:ext uri="{FF2B5EF4-FFF2-40B4-BE49-F238E27FC236}">
                    <a16:creationId xmlns:a16="http://schemas.microsoft.com/office/drawing/2014/main" id="{B88878C4-2F0A-E886-A886-0D382FAEF5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6798988" y="5213576"/>
                <a:ext cx="283464" cy="283464"/>
              </a:xfrm>
              <a:prstGeom prst="rect">
                <a:avLst/>
              </a:prstGeom>
            </p:spPr>
          </p:pic>
          <p:pic>
            <p:nvPicPr>
              <p:cNvPr id="161" name="Graphic 160" descr="User with solid fill">
                <a:extLst>
                  <a:ext uri="{FF2B5EF4-FFF2-40B4-BE49-F238E27FC236}">
                    <a16:creationId xmlns:a16="http://schemas.microsoft.com/office/drawing/2014/main" id="{2799B917-73D3-FC1A-E919-A2EA9AAE8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6833443" y="5234209"/>
                <a:ext cx="283464" cy="283464"/>
              </a:xfrm>
              <a:prstGeom prst="rect">
                <a:avLst/>
              </a:prstGeom>
            </p:spPr>
          </p:pic>
        </p:grp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CAF1317B-C2D2-3713-CF32-7CF521303FFC}"/>
              </a:ext>
            </a:extLst>
          </p:cNvPr>
          <p:cNvSpPr txBox="1"/>
          <p:nvPr/>
        </p:nvSpPr>
        <p:spPr>
          <a:xfrm>
            <a:off x="8789391" y="2492828"/>
            <a:ext cx="4166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…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AE2480F-99D2-2C2D-40D6-372BD98556EA}"/>
              </a:ext>
            </a:extLst>
          </p:cNvPr>
          <p:cNvSpPr txBox="1"/>
          <p:nvPr/>
        </p:nvSpPr>
        <p:spPr>
          <a:xfrm>
            <a:off x="9198912" y="2631986"/>
            <a:ext cx="9957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</a:rPr>
              <a:t>open action</a:t>
            </a:r>
            <a:endParaRPr lang="en-CH" sz="8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37E08F0-F49B-FCC6-FDB4-5106A8E6C333}"/>
              </a:ext>
            </a:extLst>
          </p:cNvPr>
          <p:cNvSpPr txBox="1"/>
          <p:nvPr/>
        </p:nvSpPr>
        <p:spPr>
          <a:xfrm>
            <a:off x="8787327" y="2934978"/>
            <a:ext cx="4166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N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1E9A5CF-BADB-A522-34B0-FD5587C11C06}"/>
              </a:ext>
            </a:extLst>
          </p:cNvPr>
          <p:cNvSpPr txBox="1"/>
          <p:nvPr/>
        </p:nvSpPr>
        <p:spPr>
          <a:xfrm>
            <a:off x="9196848" y="3074136"/>
            <a:ext cx="12907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</a:rPr>
              <a:t>number of tasks</a:t>
            </a:r>
            <a:endParaRPr lang="en-CH" sz="8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5FF1EAC-8D4C-08E8-611C-CF999B5EBC96}"/>
              </a:ext>
            </a:extLst>
          </p:cNvPr>
          <p:cNvSpPr txBox="1"/>
          <p:nvPr/>
        </p:nvSpPr>
        <p:spPr>
          <a:xfrm>
            <a:off x="9247256" y="3532074"/>
            <a:ext cx="848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</a:rPr>
              <a:t>resources</a:t>
            </a:r>
            <a:endParaRPr lang="en-CH" sz="800" dirty="0"/>
          </a:p>
        </p:txBody>
      </p:sp>
      <p:pic>
        <p:nvPicPr>
          <p:cNvPr id="169" name="Graphic 168" descr="Scatterplot with solid fill">
            <a:extLst>
              <a:ext uri="{FF2B5EF4-FFF2-40B4-BE49-F238E27FC236}">
                <a16:creationId xmlns:a16="http://schemas.microsoft.com/office/drawing/2014/main" id="{7433A569-0A40-9817-E47E-65066B4F7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1666" y="5162693"/>
            <a:ext cx="336223" cy="336223"/>
          </a:xfrm>
          <a:prstGeom prst="rect">
            <a:avLst/>
          </a:prstGeom>
        </p:spPr>
      </p:pic>
      <p:pic>
        <p:nvPicPr>
          <p:cNvPr id="170" name="Graphic 169" descr="Business Growth with solid fill">
            <a:extLst>
              <a:ext uri="{FF2B5EF4-FFF2-40B4-BE49-F238E27FC236}">
                <a16:creationId xmlns:a16="http://schemas.microsoft.com/office/drawing/2014/main" id="{9B0BDCB5-A6ED-CFF5-0138-594FFFCE2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4504" y="4768065"/>
            <a:ext cx="323385" cy="323385"/>
          </a:xfrm>
          <a:prstGeom prst="rect">
            <a:avLst/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6C503EB7-19E7-DFD8-2042-C4F51A9D2C22}"/>
              </a:ext>
            </a:extLst>
          </p:cNvPr>
          <p:cNvSpPr txBox="1"/>
          <p:nvPr/>
        </p:nvSpPr>
        <p:spPr>
          <a:xfrm>
            <a:off x="9240154" y="5243634"/>
            <a:ext cx="6270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</a:rPr>
              <a:t>impact</a:t>
            </a:r>
            <a:endParaRPr lang="en-CH" sz="8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B2386BCA-17DB-C137-DF1D-D37352A80621}"/>
              </a:ext>
            </a:extLst>
          </p:cNvPr>
          <p:cNvSpPr txBox="1"/>
          <p:nvPr/>
        </p:nvSpPr>
        <p:spPr>
          <a:xfrm>
            <a:off x="9237631" y="4845854"/>
            <a:ext cx="6270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</a:rPr>
              <a:t>impact</a:t>
            </a:r>
            <a:endParaRPr lang="en-CH" sz="800" dirty="0"/>
          </a:p>
        </p:txBody>
      </p:sp>
      <p:pic>
        <p:nvPicPr>
          <p:cNvPr id="7" name="Graphic 6" descr="Badge Question Mark with solid fill">
            <a:extLst>
              <a:ext uri="{FF2B5EF4-FFF2-40B4-BE49-F238E27FC236}">
                <a16:creationId xmlns:a16="http://schemas.microsoft.com/office/drawing/2014/main" id="{D913BFCD-1DEE-3AAA-9E87-20C8F5CDF0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24499" y="5199949"/>
            <a:ext cx="267211" cy="267211"/>
          </a:xfrm>
          <a:prstGeom prst="rect">
            <a:avLst/>
          </a:prstGeom>
        </p:spPr>
      </p:pic>
      <p:pic>
        <p:nvPicPr>
          <p:cNvPr id="9" name="Graphic 8" descr="Badge Tick1 with solid fill">
            <a:extLst>
              <a:ext uri="{FF2B5EF4-FFF2-40B4-BE49-F238E27FC236}">
                <a16:creationId xmlns:a16="http://schemas.microsoft.com/office/drawing/2014/main" id="{DE5418B7-2D4B-07CC-F759-C0DE64DAA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10767" y="4819970"/>
            <a:ext cx="267211" cy="26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84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Small and mid-sized companies — starting in Switzerland.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25265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400" dirty="0">
                <a:solidFill>
                  <a:srgbClr val="6E6155"/>
                </a:solidFill>
                <a:latin typeface="IBM Plex Mono" pitchFamily="34" charset="0"/>
              </a:rPr>
              <a:t>The workflow defines our market, not the industry. </a:t>
            </a:r>
          </a:p>
          <a:p>
            <a:r>
              <a:rPr lang="en-CH" sz="1400" dirty="0">
                <a:solidFill>
                  <a:srgbClr val="6E6155"/>
                </a:solidFill>
                <a:latin typeface="IBM Plex Mono" pitchFamily="34" charset="0"/>
              </a:rPr>
              <a:t>Any SME with the same admin repeating every day. </a:t>
            </a:r>
            <a:endParaRPr lang="en-US" sz="1400" dirty="0">
              <a:solidFill>
                <a:srgbClr val="6E6155"/>
              </a:solidFill>
              <a:latin typeface="IBM Plex Mono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832BFB9-0173-628A-2A86-B8C336552B72}"/>
              </a:ext>
            </a:extLst>
          </p:cNvPr>
          <p:cNvGrpSpPr/>
          <p:nvPr/>
        </p:nvGrpSpPr>
        <p:grpSpPr>
          <a:xfrm>
            <a:off x="640080" y="3156585"/>
            <a:ext cx="5934456" cy="603504"/>
            <a:chOff x="640080" y="2956560"/>
            <a:chExt cx="5934456" cy="603504"/>
          </a:xfrm>
        </p:grpSpPr>
        <p:sp>
          <p:nvSpPr>
            <p:cNvPr id="10" name="Shape 8"/>
            <p:cNvSpPr/>
            <p:nvPr/>
          </p:nvSpPr>
          <p:spPr>
            <a:xfrm>
              <a:off x="640080" y="2956560"/>
              <a:ext cx="1600200" cy="603504"/>
            </a:xfrm>
            <a:prstGeom prst="roundRect">
              <a:avLst>
                <a:gd name="adj" fmla="val 12121"/>
              </a:avLst>
            </a:prstGeom>
            <a:solidFill>
              <a:srgbClr val="ECE0C6"/>
            </a:solidFill>
            <a:ln w="19050">
              <a:solidFill>
                <a:srgbClr val="4E6A82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sp>
          <p:nvSpPr>
            <p:cNvPr id="11" name="Text 9"/>
            <p:cNvSpPr/>
            <p:nvPr/>
          </p:nvSpPr>
          <p:spPr>
            <a:xfrm>
              <a:off x="640080" y="2956560"/>
              <a:ext cx="160020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A252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CH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240280" y="2956560"/>
              <a:ext cx="566928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4E6A82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807208" y="2956560"/>
              <a:ext cx="1600200" cy="603504"/>
            </a:xfrm>
            <a:prstGeom prst="roundRect">
              <a:avLst>
                <a:gd name="adj" fmla="val 12121"/>
              </a:avLst>
            </a:prstGeom>
            <a:solidFill>
              <a:srgbClr val="F2EAD8"/>
            </a:solidFill>
            <a:ln w="12700">
              <a:solidFill>
                <a:srgbClr val="E2D4B8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sp>
          <p:nvSpPr>
            <p:cNvPr id="14" name="Text 12"/>
            <p:cNvSpPr/>
            <p:nvPr/>
          </p:nvSpPr>
          <p:spPr>
            <a:xfrm>
              <a:off x="2807208" y="2956560"/>
              <a:ext cx="160020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bg1">
                      <a:lumMod val="6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EU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4407408" y="2956560"/>
              <a:ext cx="566928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4E6A82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974336" y="2956560"/>
              <a:ext cx="1600200" cy="603504"/>
            </a:xfrm>
            <a:prstGeom prst="roundRect">
              <a:avLst>
                <a:gd name="adj" fmla="val 12121"/>
              </a:avLst>
            </a:prstGeom>
            <a:solidFill>
              <a:srgbClr val="F2EAD8"/>
            </a:solidFill>
            <a:ln w="12700">
              <a:solidFill>
                <a:srgbClr val="E2D4B8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CH"/>
            </a:p>
          </p:txBody>
        </p:sp>
        <p:sp>
          <p:nvSpPr>
            <p:cNvPr id="17" name="Text 15"/>
            <p:cNvSpPr/>
            <p:nvPr/>
          </p:nvSpPr>
          <p:spPr>
            <a:xfrm>
              <a:off x="4974336" y="2956560"/>
              <a:ext cx="160020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chemeClr val="bg1">
                      <a:lumMod val="75000"/>
                    </a:schemeClr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Worldwide</a:t>
              </a:r>
              <a:endParaRPr lang="en-US" sz="14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18" name="Text 16"/>
          <p:cNvSpPr/>
          <p:nvPr/>
        </p:nvSpPr>
        <p:spPr>
          <a:xfrm>
            <a:off x="640080" y="28437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VD - Start in Switzerland — expand as we grow: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4020693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kern="0" spc="50" dirty="0">
                <a:solidFill>
                  <a:srgbClr val="4E6A82"/>
                </a:solidFill>
                <a:latin typeface="IBM Plex Mono" pitchFamily="34" charset="0"/>
              </a:rPr>
              <a:t>SME - workflows: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1E9549-E541-D261-B2F5-CAE96AB50C81}"/>
              </a:ext>
            </a:extLst>
          </p:cNvPr>
          <p:cNvGrpSpPr/>
          <p:nvPr/>
        </p:nvGrpSpPr>
        <p:grpSpPr>
          <a:xfrm>
            <a:off x="640080" y="4322064"/>
            <a:ext cx="10908792" cy="603504"/>
            <a:chOff x="640080" y="4626864"/>
            <a:chExt cx="10908792" cy="603504"/>
          </a:xfrm>
        </p:grpSpPr>
        <p:sp>
          <p:nvSpPr>
            <p:cNvPr id="20" name="Shape 18"/>
            <p:cNvSpPr/>
            <p:nvPr/>
          </p:nvSpPr>
          <p:spPr>
            <a:xfrm>
              <a:off x="640080" y="4626864"/>
              <a:ext cx="2562606" cy="603504"/>
            </a:xfrm>
            <a:prstGeom prst="roundRect">
              <a:avLst>
                <a:gd name="adj" fmla="val 9091"/>
              </a:avLst>
            </a:prstGeom>
            <a:solidFill>
              <a:srgbClr val="F2EAD8"/>
            </a:solidFill>
            <a:ln w="12700">
              <a:solidFill>
                <a:srgbClr val="E2D4B8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4626864"/>
              <a:ext cx="2379726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150" dirty="0">
                  <a:solidFill>
                    <a:srgbClr val="2A252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Communication &amp; Customers</a:t>
              </a:r>
              <a:endParaRPr lang="en-US" sz="11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422142" y="4626864"/>
              <a:ext cx="2562606" cy="603504"/>
            </a:xfrm>
            <a:prstGeom prst="roundRect">
              <a:avLst>
                <a:gd name="adj" fmla="val 9091"/>
              </a:avLst>
            </a:prstGeom>
            <a:solidFill>
              <a:srgbClr val="F2EAD8"/>
            </a:solidFill>
            <a:ln w="12700">
              <a:solidFill>
                <a:srgbClr val="E2D4B8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3" name="Text 21"/>
            <p:cNvSpPr/>
            <p:nvPr/>
          </p:nvSpPr>
          <p:spPr>
            <a:xfrm>
              <a:off x="3513582" y="4626864"/>
              <a:ext cx="2379726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150" dirty="0">
                  <a:solidFill>
                    <a:srgbClr val="2A252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Sales &amp; Growth</a:t>
              </a:r>
              <a:endParaRPr lang="en-US" sz="11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204204" y="4626864"/>
              <a:ext cx="2562606" cy="603504"/>
            </a:xfrm>
            <a:prstGeom prst="roundRect">
              <a:avLst>
                <a:gd name="adj" fmla="val 9091"/>
              </a:avLst>
            </a:prstGeom>
            <a:solidFill>
              <a:srgbClr val="F2EAD8"/>
            </a:solidFill>
            <a:ln w="12700">
              <a:solidFill>
                <a:srgbClr val="E2D4B8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5" name="Text 23"/>
            <p:cNvSpPr/>
            <p:nvPr/>
          </p:nvSpPr>
          <p:spPr>
            <a:xfrm>
              <a:off x="6295644" y="4626864"/>
              <a:ext cx="2379726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150" dirty="0">
                  <a:solidFill>
                    <a:srgbClr val="2A252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Documents &amp; Finance</a:t>
              </a:r>
              <a:endParaRPr lang="en-US" sz="11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8986266" y="4626864"/>
              <a:ext cx="2562606" cy="603504"/>
            </a:xfrm>
            <a:prstGeom prst="roundRect">
              <a:avLst>
                <a:gd name="adj" fmla="val 9091"/>
              </a:avLst>
            </a:prstGeom>
            <a:solidFill>
              <a:srgbClr val="F2EAD8"/>
            </a:solidFill>
            <a:ln w="12700">
              <a:solidFill>
                <a:srgbClr val="E2D4B8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7" name="Text 25"/>
            <p:cNvSpPr/>
            <p:nvPr/>
          </p:nvSpPr>
          <p:spPr>
            <a:xfrm>
              <a:off x="9077706" y="4626864"/>
              <a:ext cx="2379726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150" dirty="0">
                  <a:solidFill>
                    <a:srgbClr val="2A2520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Operations &amp; Insight</a:t>
              </a:r>
              <a:endParaRPr lang="en-US" sz="115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1D86071-7363-E671-66E5-21FB0E7B5F99}"/>
              </a:ext>
            </a:extLst>
          </p:cNvPr>
          <p:cNvGrpSpPr/>
          <p:nvPr/>
        </p:nvGrpSpPr>
        <p:grpSpPr>
          <a:xfrm>
            <a:off x="640080" y="5210937"/>
            <a:ext cx="10908792" cy="676656"/>
            <a:chOff x="640080" y="5468112"/>
            <a:chExt cx="10908792" cy="676656"/>
          </a:xfrm>
        </p:grpSpPr>
        <p:sp>
          <p:nvSpPr>
            <p:cNvPr id="28" name="Shape 26"/>
            <p:cNvSpPr/>
            <p:nvPr/>
          </p:nvSpPr>
          <p:spPr>
            <a:xfrm>
              <a:off x="640080" y="5468112"/>
              <a:ext cx="10908792" cy="676656"/>
            </a:xfrm>
            <a:prstGeom prst="roundRect">
              <a:avLst>
                <a:gd name="adj" fmla="val 8108"/>
              </a:avLst>
            </a:prstGeom>
            <a:solidFill>
              <a:srgbClr val="ECE0C6"/>
            </a:solidFill>
            <a:ln w="12700">
              <a:solidFill>
                <a:srgbClr val="E2D4B8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9" name="Text 27"/>
            <p:cNvSpPr/>
            <p:nvPr/>
          </p:nvSpPr>
          <p:spPr>
            <a:xfrm>
              <a:off x="859536" y="5468112"/>
              <a:ext cx="1046988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CH" sz="1150" dirty="0">
                  <a:solidFill>
                    <a:srgbClr val="2A2520"/>
                  </a:solidFill>
                  <a:latin typeface="IBM Plex Mono" pitchFamily="34" charset="0"/>
                </a:rPr>
                <a:t>Our slice: teams who want AI's help but not its autonomy. Start with one process, expand from there</a:t>
              </a:r>
              <a:r>
                <a:rPr lang="en-US" sz="1150" dirty="0">
                  <a:solidFill>
                    <a:srgbClr val="2A2520"/>
                  </a:solidFill>
                  <a:latin typeface="IBM Plex Mono" pitchFamily="34" charset="0"/>
                </a:rPr>
                <a:t>.</a:t>
              </a:r>
            </a:p>
          </p:txBody>
        </p:sp>
      </p:grpSp>
      <p:sp>
        <p:nvSpPr>
          <p:cNvPr id="31" name="Text 0">
            <a:extLst>
              <a:ext uri="{FF2B5EF4-FFF2-40B4-BE49-F238E27FC236}">
                <a16:creationId xmlns:a16="http://schemas.microsoft.com/office/drawing/2014/main" id="{170F3B13-2B27-361F-E102-C7F76CCFF871}"/>
              </a:ext>
            </a:extLst>
          </p:cNvPr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1A86542E-EECF-8E3B-539B-B7CEBC13593B}"/>
              </a:ext>
            </a:extLst>
          </p:cNvPr>
          <p:cNvSpPr/>
          <p:nvPr/>
        </p:nvSpPr>
        <p:spPr>
          <a:xfrm>
            <a:off x="4572000" y="292608"/>
            <a:ext cx="6976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8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5123C658-9019-C178-AEFE-39167817738F}"/>
              </a:ext>
            </a:extLst>
          </p:cNvPr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MARKET</a:t>
            </a:r>
            <a:endParaRPr lang="en-US" sz="13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55DEF1-BF4F-D74E-9986-58B725C4D3C4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2FB863-1308-1FF5-B88D-D354C4E65A02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BE2A013-1EA0-8688-F070-F96A1AC71510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8594732-4EB8-D959-EE3D-30F8CA699325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2" name="Hexagon 41">
                  <a:extLst>
                    <a:ext uri="{FF2B5EF4-FFF2-40B4-BE49-F238E27FC236}">
                      <a16:creationId xmlns:a16="http://schemas.microsoft.com/office/drawing/2014/main" id="{22619FDB-7AE6-2368-C808-CC8FAF5530A9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3" name="Hexagon 42">
                  <a:extLst>
                    <a:ext uri="{FF2B5EF4-FFF2-40B4-BE49-F238E27FC236}">
                      <a16:creationId xmlns:a16="http://schemas.microsoft.com/office/drawing/2014/main" id="{E493746E-7803-23E6-86D4-22C776B67364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2192BA0-CE3D-BE2B-5104-EFB796B9F28A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AC0BEEF-3793-2FC3-2120-26252A433242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C6209FD-253D-0C49-DF3C-F8C969276075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18A1C7B-5946-11BD-5356-E72CEB86644E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27C0C3F-0732-BAC9-CBFA-152991C30D2C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03FB3FE-5753-A8DF-F993-34302170CA77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0" y="292608"/>
            <a:ext cx="6976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2400" b="1" dirty="0">
                <a:solidFill>
                  <a:srgbClr val="2A2520"/>
                </a:solidFill>
                <a:latin typeface="IBM Plex Mono" pitchFamily="34" charset="0"/>
              </a:rPr>
              <a:t>Managed automation, with a person approving every step.</a:t>
            </a:r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350" dirty="0">
                <a:solidFill>
                  <a:srgbClr val="6E6155"/>
                </a:solidFill>
                <a:latin typeface="IBM Plex Mono" pitchFamily="34" charset="0"/>
              </a:rPr>
              <a:t>VD alternatives: DIY tools, full-autonomy AI, hiring an ops person, or doing nothing. </a:t>
            </a:r>
          </a:p>
          <a:p>
            <a:endParaRPr lang="en-CH" sz="1350" dirty="0">
              <a:solidFill>
                <a:srgbClr val="6E6155"/>
              </a:solidFill>
              <a:latin typeface="IBM Plex Mono" pitchFamily="34" charset="0"/>
            </a:endParaRPr>
          </a:p>
          <a:p>
            <a:r>
              <a:rPr lang="en-CH" sz="1350" dirty="0">
                <a:solidFill>
                  <a:srgbClr val="6E6155"/>
                </a:solidFill>
                <a:latin typeface="IBM Plex Mono" pitchFamily="34" charset="0"/>
              </a:rPr>
              <a:t>VD approach:</a:t>
            </a:r>
            <a:endParaRPr lang="en-US" sz="1350" dirty="0">
              <a:solidFill>
                <a:srgbClr val="6E6155"/>
              </a:solidFill>
              <a:latin typeface="IBM Plex Mono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2548890" cy="1874520"/>
          </a:xfrm>
          <a:prstGeom prst="roundRect">
            <a:avLst>
              <a:gd name="adj" fmla="val 3415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41248" y="2862072"/>
            <a:ext cx="21465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" y="3337560"/>
            <a:ext cx="214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 approve every step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904488"/>
            <a:ext cx="214655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6714" y="2697480"/>
            <a:ext cx="2548890" cy="1874520"/>
          </a:xfrm>
          <a:prstGeom prst="roundRect">
            <a:avLst>
              <a:gd name="adj" fmla="val 3415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27882" y="2862072"/>
            <a:ext cx="21465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27882" y="3337560"/>
            <a:ext cx="214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 build and run 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27882" y="3904488"/>
            <a:ext cx="214655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a tool you have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3348" y="2697480"/>
            <a:ext cx="2548890" cy="1874520"/>
          </a:xfrm>
          <a:prstGeom prst="roundRect">
            <a:avLst>
              <a:gd name="adj" fmla="val 3415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6414516" y="2862072"/>
            <a:ext cx="21465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14516" y="3337560"/>
            <a:ext cx="214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data stays yours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4516" y="3904488"/>
            <a:ext cx="214655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9982" y="2697480"/>
            <a:ext cx="2548890" cy="1874520"/>
          </a:xfrm>
          <a:prstGeom prst="roundRect">
            <a:avLst>
              <a:gd name="adj" fmla="val 3415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201150" y="2862072"/>
            <a:ext cx="21465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01150" y="3337560"/>
            <a:ext cx="21465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People not replaced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01150" y="3904488"/>
            <a:ext cx="214655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150" dirty="0">
                <a:solidFill>
                  <a:srgbClr val="6E6155"/>
                </a:solidFill>
                <a:latin typeface="IBM Plex Mono" pitchFamily="34" charset="0"/>
              </a:rPr>
              <a:t>we automate the repetitive work — not the person doing it</a:t>
            </a:r>
            <a:endParaRPr lang="en-US" sz="1150" dirty="0">
              <a:solidFill>
                <a:srgbClr val="6E6155"/>
              </a:solidFill>
              <a:latin typeface="IBM Plex Mono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" y="4773168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ECE0C6"/>
          </a:solidFill>
          <a:ln w="15875">
            <a:solidFill>
              <a:srgbClr val="4E6A8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859536" y="4773168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VD Automations:  traditional, AI driven, Agentic </a:t>
            </a:r>
          </a:p>
          <a:p>
            <a:r>
              <a:rPr lang="en-CH" sz="1250" dirty="0">
                <a:solidFill>
                  <a:srgbClr val="2A2520"/>
                </a:solidFill>
                <a:latin typeface="IBM Plex Mono" pitchFamily="34" charset="0"/>
              </a:rPr>
              <a:t>We handle the complex, multi-step work too — always held for your approval.</a:t>
            </a:r>
            <a:endParaRPr lang="en-US" sz="1250" dirty="0">
              <a:solidFill>
                <a:srgbClr val="2A2520"/>
              </a:solidFill>
              <a:latin typeface="IBM Plex Mono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VD </a:t>
            </a:r>
            <a:r>
              <a:rPr lang="de-CH" sz="1100" i="1" dirty="0" err="1">
                <a:solidFill>
                  <a:srgbClr val="6E6155"/>
                </a:solidFill>
                <a:latin typeface="IBM Plex Mono" pitchFamily="34" charset="0"/>
              </a:rPr>
              <a:t>focus</a:t>
            </a:r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: a </a:t>
            </a:r>
            <a:r>
              <a:rPr lang="de-CH" sz="1100" i="1" dirty="0" err="1">
                <a:solidFill>
                  <a:srgbClr val="6E6155"/>
                </a:solidFill>
                <a:latin typeface="IBM Plex Mono" pitchFamily="34" charset="0"/>
              </a:rPr>
              <a:t>few</a:t>
            </a:r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 </a:t>
            </a:r>
            <a:r>
              <a:rPr lang="de-CH" sz="1100" i="1" dirty="0" err="1">
                <a:solidFill>
                  <a:srgbClr val="6E6155"/>
                </a:solidFill>
                <a:latin typeface="IBM Plex Mono" pitchFamily="34" charset="0"/>
              </a:rPr>
              <a:t>clients</a:t>
            </a:r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 at a time, on a </a:t>
            </a:r>
            <a:r>
              <a:rPr lang="de-CH" sz="1100" i="1" dirty="0" err="1">
                <a:solidFill>
                  <a:srgbClr val="6E6155"/>
                </a:solidFill>
                <a:latin typeface="IBM Plex Mono" pitchFamily="34" charset="0"/>
              </a:rPr>
              <a:t>fixed</a:t>
            </a:r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, </a:t>
            </a:r>
            <a:r>
              <a:rPr lang="de-CH" sz="1100" i="1" dirty="0" err="1">
                <a:solidFill>
                  <a:srgbClr val="6E6155"/>
                </a:solidFill>
                <a:latin typeface="IBM Plex Mono" pitchFamily="34" charset="0"/>
              </a:rPr>
              <a:t>agreed</a:t>
            </a:r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 </a:t>
            </a:r>
            <a:r>
              <a:rPr lang="de-CH" sz="1100" i="1" dirty="0" err="1">
                <a:solidFill>
                  <a:srgbClr val="6E6155"/>
                </a:solidFill>
                <a:latin typeface="IBM Plex Mono" pitchFamily="34" charset="0"/>
              </a:rPr>
              <a:t>scope</a:t>
            </a:r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 — </a:t>
            </a:r>
            <a:r>
              <a:rPr lang="de-CH" sz="1100" i="1" dirty="0" err="1">
                <a:solidFill>
                  <a:srgbClr val="6E6155"/>
                </a:solidFill>
                <a:latin typeface="IBM Plex Mono" pitchFamily="34" charset="0"/>
              </a:rPr>
              <a:t>while</a:t>
            </a:r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 small and </a:t>
            </a:r>
            <a:r>
              <a:rPr lang="de-CH" sz="1100" i="1" dirty="0" err="1">
                <a:solidFill>
                  <a:srgbClr val="6E6155"/>
                </a:solidFill>
                <a:latin typeface="IBM Plex Mono" pitchFamily="34" charset="0"/>
              </a:rPr>
              <a:t>founder</a:t>
            </a:r>
            <a:r>
              <a:rPr lang="de-CH" sz="1100" i="1" dirty="0">
                <a:solidFill>
                  <a:srgbClr val="6E6155"/>
                </a:solidFill>
                <a:latin typeface="IBM Plex Mono" pitchFamily="34" charset="0"/>
              </a:rPr>
              <a:t>-led.</a:t>
            </a:r>
            <a:endParaRPr lang="en-US" sz="1100" i="1" dirty="0">
              <a:solidFill>
                <a:srgbClr val="6E6155"/>
              </a:solidFill>
              <a:latin typeface="IBM Plex Mono" pitchFamily="34" charset="0"/>
            </a:endParaRP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61C6A9B4-88E8-E17A-3B49-A9D8CFCF8D2A}"/>
              </a:ext>
            </a:extLst>
          </p:cNvPr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961CFCFC-97BD-080F-C3B2-714C8A1DB133}"/>
              </a:ext>
            </a:extLst>
          </p:cNvPr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COMPETITION &amp; ADVANTAGE</a:t>
            </a:r>
            <a:endParaRPr lang="en-US" sz="13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93BC49-4E7A-26C9-AA18-696910C926E7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D0E9A6C-5FB1-5545-9DEA-17032A4D55C1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13006D8-9852-8D34-604E-D82479C5BA29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C30390E-02B1-3203-3A2F-BCE835D1D663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38" name="Hexagon 37">
                  <a:extLst>
                    <a:ext uri="{FF2B5EF4-FFF2-40B4-BE49-F238E27FC236}">
                      <a16:creationId xmlns:a16="http://schemas.microsoft.com/office/drawing/2014/main" id="{A0593274-6BD4-148A-E7F6-59B294514D75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39" name="Hexagon 38">
                  <a:extLst>
                    <a:ext uri="{FF2B5EF4-FFF2-40B4-BE49-F238E27FC236}">
                      <a16:creationId xmlns:a16="http://schemas.microsoft.com/office/drawing/2014/main" id="{AEEA9792-0C22-3F7E-A714-F91B203A580E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7DACB5A-5DD2-DCB0-4C7A-0651CC8AE360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39A523F-97AB-42EF-8840-8FA6A367283F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272DB87-CE2E-D8BA-F2BD-B582209AB0DD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FE4B91A-BBC6-603C-4BC4-C7DE78C8BA23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9D5DB10-B0AB-C508-8DAE-1955719BA57D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419A27A-17CD-F7CC-284E-A8AA52F8B48E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206240" y="256032"/>
            <a:ext cx="7342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38251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 narrow, prove it, then widen.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2548890" cy="2240280"/>
          </a:xfrm>
          <a:prstGeom prst="roundRect">
            <a:avLst>
              <a:gd name="adj" fmla="val 2857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9" name="Text 6"/>
          <p:cNvSpPr/>
          <p:nvPr/>
        </p:nvSpPr>
        <p:spPr>
          <a:xfrm>
            <a:off x="841248" y="3017520"/>
            <a:ext cx="214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 H2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3383280"/>
            <a:ext cx="214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Foundation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1248" y="3822192"/>
            <a:ext cx="21465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1–2 Swiss clients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automation live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reference case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6714" y="2834640"/>
            <a:ext cx="2548890" cy="2240280"/>
          </a:xfrm>
          <a:prstGeom prst="roundRect">
            <a:avLst>
              <a:gd name="adj" fmla="val 2857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Text 10"/>
          <p:cNvSpPr/>
          <p:nvPr/>
        </p:nvSpPr>
        <p:spPr>
          <a:xfrm>
            <a:off x="3627882" y="3017520"/>
            <a:ext cx="214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27882" y="3383280"/>
            <a:ext cx="214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Prove it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627882" y="3822192"/>
            <a:ext cx="21465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6–8 managed clients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Break-even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hire decided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3348" y="2834640"/>
            <a:ext cx="2548890" cy="2240280"/>
          </a:xfrm>
          <a:prstGeom prst="roundRect">
            <a:avLst>
              <a:gd name="adj" fmla="val 2857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7" name="Text 14"/>
          <p:cNvSpPr/>
          <p:nvPr/>
        </p:nvSpPr>
        <p:spPr>
          <a:xfrm>
            <a:off x="6414516" y="3017520"/>
            <a:ext cx="214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2028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14516" y="3383280"/>
            <a:ext cx="214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&amp; widen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414516" y="3822192"/>
            <a:ext cx="21465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15–20 clients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 → EU expansion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Productise workflows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999982" y="2834640"/>
            <a:ext cx="2548890" cy="2240280"/>
          </a:xfrm>
          <a:prstGeom prst="roundRect">
            <a:avLst>
              <a:gd name="adj" fmla="val 2857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8"/>
          <p:cNvSpPr/>
          <p:nvPr/>
        </p:nvSpPr>
        <p:spPr>
          <a:xfrm>
            <a:off x="9201150" y="3017520"/>
            <a:ext cx="214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2029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201150" y="3383280"/>
            <a:ext cx="214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9201150" y="3822192"/>
            <a:ext cx="21465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30–40+ clients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 of ~6–8</a:t>
            </a:r>
            <a:endParaRPr lang="en-US" sz="12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Reusable IP, licensed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5349240"/>
            <a:ext cx="10908792" cy="530352"/>
          </a:xfrm>
          <a:prstGeom prst="roundRect">
            <a:avLst>
              <a:gd name="adj" fmla="val 10345"/>
            </a:avLst>
          </a:prstGeom>
          <a:solidFill>
            <a:srgbClr val="ECE0C6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2"/>
          <p:cNvSpPr/>
          <p:nvPr/>
        </p:nvSpPr>
        <p:spPr>
          <a:xfrm>
            <a:off x="859536" y="5349240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Land one process, then expand within the account — each stage funds the next.</a:t>
            </a:r>
            <a:endParaRPr lang="en-US" sz="13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ECC5B3-ED03-8DCB-EB0B-AF95C66B5476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80D4998-60D1-EA5C-54B9-CE12FC3BBE55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B9188E2-CD52-EE0E-D54C-C53DF807BA15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B06E83A-C5D9-0C4F-CEA8-35736690CDDE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36" name="Hexagon 35">
                  <a:extLst>
                    <a:ext uri="{FF2B5EF4-FFF2-40B4-BE49-F238E27FC236}">
                      <a16:creationId xmlns:a16="http://schemas.microsoft.com/office/drawing/2014/main" id="{A10720A0-DBCF-9029-E319-E031E83CE164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37" name="Hexagon 36">
                  <a:extLst>
                    <a:ext uri="{FF2B5EF4-FFF2-40B4-BE49-F238E27FC236}">
                      <a16:creationId xmlns:a16="http://schemas.microsoft.com/office/drawing/2014/main" id="{16B53D92-9B73-9325-91D6-F23912E57371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085FB05-0430-9FD1-7CB6-4A116FBC22A6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FD69A82-EEE0-16B8-54C2-AAB681414E08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D38BCEE-1721-C410-EB98-0B0708C44B82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AE6581B-5B93-623D-3E0F-B0B5F548D51B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3C64720-8406-A03E-8BA9-34F8B258AC0E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54D5256-DBBA-28E4-17A0-061C27CB6D0E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  <p:sp>
        <p:nvSpPr>
          <p:cNvPr id="2" name="Text 16">
            <a:extLst>
              <a:ext uri="{FF2B5EF4-FFF2-40B4-BE49-F238E27FC236}">
                <a16:creationId xmlns:a16="http://schemas.microsoft.com/office/drawing/2014/main" id="{976D1013-3A8C-A60E-0C43-7C66FF03F108}"/>
              </a:ext>
            </a:extLst>
          </p:cNvPr>
          <p:cNvSpPr/>
          <p:nvPr/>
        </p:nvSpPr>
        <p:spPr>
          <a:xfrm>
            <a:off x="640080" y="2538986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206240" y="256032"/>
            <a:ext cx="7342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FINANCIAL PLAN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38251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29844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Priced to the scope you choose — recurring by design.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1883664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one price — priced by complexity and control. Two revenue lines: a one-time setup that funds the build, plus a monthly managed service — the recurring base.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542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Five packages, by complexity — setup ~CHF 750 → 30'000 · monthly ~150 → 6'000: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834640"/>
            <a:ext cx="2035454" cy="658368"/>
          </a:xfrm>
          <a:prstGeom prst="roundRect">
            <a:avLst>
              <a:gd name="adj" fmla="val 8333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8"/>
          <p:cNvSpPr/>
          <p:nvPr/>
        </p:nvSpPr>
        <p:spPr>
          <a:xfrm>
            <a:off x="713232" y="2834640"/>
            <a:ext cx="18891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Basic Intake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58414" y="2834640"/>
            <a:ext cx="2035454" cy="658368"/>
          </a:xfrm>
          <a:prstGeom prst="roundRect">
            <a:avLst>
              <a:gd name="adj" fmla="val 8333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0"/>
          <p:cNvSpPr/>
          <p:nvPr/>
        </p:nvSpPr>
        <p:spPr>
          <a:xfrm>
            <a:off x="2931566" y="2834640"/>
            <a:ext cx="18891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Basic+ AI Triage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76749" y="2834640"/>
            <a:ext cx="2035454" cy="658368"/>
          </a:xfrm>
          <a:prstGeom prst="roundRect">
            <a:avLst>
              <a:gd name="adj" fmla="val 8333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2"/>
          <p:cNvSpPr/>
          <p:nvPr/>
        </p:nvSpPr>
        <p:spPr>
          <a:xfrm>
            <a:off x="5149901" y="2834640"/>
            <a:ext cx="18891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 Multi-Channel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95083" y="2834640"/>
            <a:ext cx="2035454" cy="658368"/>
          </a:xfrm>
          <a:prstGeom prst="roundRect">
            <a:avLst>
              <a:gd name="adj" fmla="val 8333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4"/>
          <p:cNvSpPr/>
          <p:nvPr/>
        </p:nvSpPr>
        <p:spPr>
          <a:xfrm>
            <a:off x="7368235" y="2834640"/>
            <a:ext cx="18891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Managed Operations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513418" y="2834640"/>
            <a:ext cx="2035454" cy="658368"/>
          </a:xfrm>
          <a:prstGeom prst="roundRect">
            <a:avLst>
              <a:gd name="adj" fmla="val 8333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6"/>
          <p:cNvSpPr/>
          <p:nvPr/>
        </p:nvSpPr>
        <p:spPr>
          <a:xfrm>
            <a:off x="9586570" y="2834640"/>
            <a:ext cx="18891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Agentic Automation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373075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Recurring revenue (ARR) — indicative, blended ~CHF 12–17k per active client: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402336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2" name="Text 19"/>
          <p:cNvSpPr/>
          <p:nvPr/>
        </p:nvSpPr>
        <p:spPr>
          <a:xfrm>
            <a:off x="640080" y="402336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1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377440" y="40233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944368" y="402336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5" name="Text 22"/>
          <p:cNvSpPr/>
          <p:nvPr/>
        </p:nvSpPr>
        <p:spPr>
          <a:xfrm>
            <a:off x="2944368" y="402336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2027</a:t>
            </a:r>
            <a:endParaRPr lang="en-US" sz="1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80–140k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681728" y="40233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248656" y="402336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F2EAD8"/>
          </a:solidFill>
          <a:ln w="12700">
            <a:solidFill>
              <a:srgbClr val="E2D4B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8" name="Text 25"/>
          <p:cNvSpPr/>
          <p:nvPr/>
        </p:nvSpPr>
        <p:spPr>
          <a:xfrm>
            <a:off x="5248656" y="402336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2028</a:t>
            </a:r>
            <a:endParaRPr lang="en-US" sz="1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200–340k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86016" y="4023360"/>
            <a:ext cx="566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552944" y="402336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ECE0C6"/>
          </a:solidFill>
          <a:ln w="19050">
            <a:solidFill>
              <a:srgbClr val="4E6A8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1" name="Text 28"/>
          <p:cNvSpPr/>
          <p:nvPr/>
        </p:nvSpPr>
        <p:spPr>
          <a:xfrm>
            <a:off x="7552944" y="402336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2029</a:t>
            </a:r>
            <a:endParaRPr lang="en-US" sz="1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400–680k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381744" y="4023360"/>
            <a:ext cx="2167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CHF · setup + licence fees on top of recurring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0080" y="5074920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ECE0C6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1"/>
          <p:cNvSpPr/>
          <p:nvPr/>
        </p:nvSpPr>
        <p:spPr>
          <a:xfrm>
            <a:off x="859536" y="5074920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Ownership is a licence, not a transfer</a:t>
            </a:r>
            <a:r>
              <a:rPr lang="en-US" sz="13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— the IP and reusable methodology stay with us. Break-even at ~6–8 managed clients; bootstrap-first, grows on its own cash.</a:t>
            </a:r>
            <a:endParaRPr lang="en-US" sz="13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945CEB5-79E6-B508-127D-ACD770CEE2D9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A3560BD-AF8F-1223-70B9-F209904F068D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4F3F250-9315-A92E-7FE7-109D96CD3391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F84AF62-FF57-590E-C753-377CDDD450B1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5" name="Hexagon 44">
                  <a:extLst>
                    <a:ext uri="{FF2B5EF4-FFF2-40B4-BE49-F238E27FC236}">
                      <a16:creationId xmlns:a16="http://schemas.microsoft.com/office/drawing/2014/main" id="{72974619-B653-9CBC-1B30-C23D7D6C93D7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6" name="Hexagon 45">
                  <a:extLst>
                    <a:ext uri="{FF2B5EF4-FFF2-40B4-BE49-F238E27FC236}">
                      <a16:creationId xmlns:a16="http://schemas.microsoft.com/office/drawing/2014/main" id="{35B376F5-4199-E2FF-3700-4C6AEEBDBCB7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9F0629C-5C02-D1A3-B5C3-9672BFA93BC3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9E2F97E-DD9C-5A6D-3B14-D50DBA8854DA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EE0AD69-1582-F542-E5E6-640A2C26062C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6BE89A5-DFF4-1797-2A00-B6F9A36E995C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F163E80-E93B-333E-FC3A-5628990E075D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9C51E0F-3974-8D69-5598-2A043B22E5C9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FB3C-AD63-E5EE-8818-85F762B22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143E1BF-43AC-460D-0A7B-D4DAB3669B35}"/>
              </a:ext>
            </a:extLst>
          </p:cNvPr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3A01C38-DAAA-D094-FFE7-EDE0C8B0CE9D}"/>
              </a:ext>
            </a:extLst>
          </p:cNvPr>
          <p:cNvSpPr/>
          <p:nvPr/>
        </p:nvSpPr>
        <p:spPr>
          <a:xfrm>
            <a:off x="4206240" y="256032"/>
            <a:ext cx="7342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96F679F-DC92-9A2C-2632-6F4ED229DCD5}"/>
              </a:ext>
            </a:extLst>
          </p:cNvPr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6EC2D53-E199-FA8B-B8DE-EDF97F673A5A}"/>
              </a:ext>
            </a:extLst>
          </p:cNvPr>
          <p:cNvSpPr/>
          <p:nvPr/>
        </p:nvSpPr>
        <p:spPr>
          <a:xfrm>
            <a:off x="640080" y="638251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4233E0D-A5FA-F8E5-0A95-548436D8DC98}"/>
              </a:ext>
            </a:extLst>
          </p:cNvPr>
          <p:cNvSpPr/>
          <p:nvPr/>
        </p:nvSpPr>
        <p:spPr>
          <a:xfrm>
            <a:off x="640080" y="129844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2A2520"/>
                </a:solidFill>
                <a:latin typeface="IBM Plex Mono" pitchFamily="34" charset="0"/>
              </a:rPr>
              <a:t>One operator today — the team the roadmap will need.</a:t>
            </a:r>
          </a:p>
          <a:p>
            <a:pPr marL="0" indent="0">
              <a:lnSpc>
                <a:spcPct val="105000"/>
              </a:lnSpc>
              <a:buNone/>
            </a:pP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02BA4A4-BC38-A37A-304A-A8BA1552D457}"/>
              </a:ext>
            </a:extLst>
          </p:cNvPr>
          <p:cNvSpPr/>
          <p:nvPr/>
        </p:nvSpPr>
        <p:spPr>
          <a:xfrm>
            <a:off x="640080" y="1883663"/>
            <a:ext cx="10908792" cy="91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300" dirty="0">
                <a:solidFill>
                  <a:srgbClr val="6E6155"/>
                </a:solidFill>
                <a:latin typeface="IBM Plex Mono" pitchFamily="34" charset="0"/>
              </a:rPr>
              <a:t>Founder-led while small, by design. Each role is added only when recurring revenue covers it — we hire from cashflow, not on speculation.</a:t>
            </a:r>
          </a:p>
          <a:p>
            <a:pPr marL="0" indent="0">
              <a:lnSpc>
                <a:spcPct val="122000"/>
              </a:lnSpc>
              <a:buNone/>
            </a:pPr>
            <a:endParaRPr lang="en-US" sz="13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4CD01E43-6698-5BA6-761E-BF82D0CEF039}"/>
              </a:ext>
            </a:extLst>
          </p:cNvPr>
          <p:cNvSpPr/>
          <p:nvPr/>
        </p:nvSpPr>
        <p:spPr>
          <a:xfrm>
            <a:off x="640080" y="5074920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ECE0C6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D199C36-C047-C830-65BA-0430C8CCBE38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CB812DF-9F26-6657-5CC1-DF62FFA18B3A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A4FAA48-A084-9394-9D23-9683A125A18F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A5D3ECE-F171-B713-3182-3039F90D2A0C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5" name="Hexagon 44">
                  <a:extLst>
                    <a:ext uri="{FF2B5EF4-FFF2-40B4-BE49-F238E27FC236}">
                      <a16:creationId xmlns:a16="http://schemas.microsoft.com/office/drawing/2014/main" id="{7507F34F-7074-3DB1-2622-4121E90B8CD0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6" name="Hexagon 45">
                  <a:extLst>
                    <a:ext uri="{FF2B5EF4-FFF2-40B4-BE49-F238E27FC236}">
                      <a16:creationId xmlns:a16="http://schemas.microsoft.com/office/drawing/2014/main" id="{B254D5F9-68D0-D1AB-356F-C9BAF7460540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73DE13E-EAAF-E338-544D-B5B4713989B2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7728044-C193-D900-5288-C16F6EBBE82C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1CB5C8D-D61C-71D7-4D63-BB8227F8DE5E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3FD594AD-2602-6224-5D2C-979CE230C586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632E5DE-F06A-DBA2-3C1D-3CFEA127AED2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1839F3E-9A45-E853-FA1A-8944D9DBB28A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  <p:sp>
        <p:nvSpPr>
          <p:cNvPr id="47" name="Text 31">
            <a:extLst>
              <a:ext uri="{FF2B5EF4-FFF2-40B4-BE49-F238E27FC236}">
                <a16:creationId xmlns:a16="http://schemas.microsoft.com/office/drawing/2014/main" id="{32A0DA62-694E-F29B-8BA2-25C0BBA3C4D8}"/>
              </a:ext>
            </a:extLst>
          </p:cNvPr>
          <p:cNvSpPr/>
          <p:nvPr/>
        </p:nvSpPr>
        <p:spPr>
          <a:xfrm>
            <a:off x="859536" y="5074920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3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Bought </a:t>
            </a:r>
            <a:r>
              <a:rPr lang="en-US" sz="1200" b="1" dirty="0">
                <a:solidFill>
                  <a:srgbClr val="4E6A82"/>
                </a:solidFill>
                <a:latin typeface="IBM Plex Mono" panose="020B0509050203000203" pitchFamily="49" charset="77"/>
              </a:rPr>
              <a:t>in now, not hired:  </a:t>
            </a:r>
            <a:r>
              <a:rPr lang="en-US" sz="1200" dirty="0">
                <a:solidFill>
                  <a:srgbClr val="3C4149"/>
                </a:solidFill>
                <a:latin typeface="IBM Plex Mono" panose="020B0509050203000203" pitchFamily="49" charset="77"/>
                <a:ea typeface="Arial" pitchFamily="34" charset="-122"/>
                <a:cs typeface="Arial" pitchFamily="34" charset="-120"/>
              </a:rPr>
              <a:t>legal &amp; IP counsel (contracts, </a:t>
            </a:r>
            <a:r>
              <a:rPr lang="en-US" sz="1200" dirty="0" err="1">
                <a:solidFill>
                  <a:srgbClr val="3C4149"/>
                </a:solidFill>
                <a:latin typeface="IBM Plex Mono" panose="020B0509050203000203" pitchFamily="49" charset="77"/>
                <a:ea typeface="Arial" pitchFamily="34" charset="-122"/>
                <a:cs typeface="Arial" pitchFamily="34" charset="-120"/>
              </a:rPr>
              <a:t>licences</a:t>
            </a:r>
            <a:r>
              <a:rPr lang="en-US" sz="1200" dirty="0">
                <a:solidFill>
                  <a:srgbClr val="3C4149"/>
                </a:solidFill>
                <a:latin typeface="IBM Plex Mono" panose="020B0509050203000203" pitchFamily="49" charset="77"/>
                <a:ea typeface="Arial" pitchFamily="34" charset="-122"/>
                <a:cs typeface="Arial" pitchFamily="34" charset="-120"/>
              </a:rPr>
              <a:t>, NDAs, data agreements) and accounting / fiduciary — fractional, not headcount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5926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F40E-DB84-F004-13F0-E64554A35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2E36D6D-0296-4368-3217-CF9BA684DF54}"/>
              </a:ext>
            </a:extLst>
          </p:cNvPr>
          <p:cNvSpPr/>
          <p:nvPr/>
        </p:nvSpPr>
        <p:spPr>
          <a:xfrm>
            <a:off x="1152144" y="2560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02C7591-4459-A755-6FD0-F5320F5172E5}"/>
              </a:ext>
            </a:extLst>
          </p:cNvPr>
          <p:cNvSpPr/>
          <p:nvPr/>
        </p:nvSpPr>
        <p:spPr>
          <a:xfrm>
            <a:off x="4206240" y="256032"/>
            <a:ext cx="7342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5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CREATION ICT   ·   VENTURELAB   ·   AUGUST 2026   ·   ZÜRICH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F121E9B-6009-0E36-0609-D41321A77427}"/>
              </a:ext>
            </a:extLst>
          </p:cNvPr>
          <p:cNvSpPr/>
          <p:nvPr/>
        </p:nvSpPr>
        <p:spPr>
          <a:xfrm>
            <a:off x="640080" y="93268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BOARD &amp; ADVISORS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0905316-9930-A910-7D59-9BF6EAED39AC}"/>
              </a:ext>
            </a:extLst>
          </p:cNvPr>
          <p:cNvSpPr/>
          <p:nvPr/>
        </p:nvSpPr>
        <p:spPr>
          <a:xfrm>
            <a:off x="640080" y="6382512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Maciek Szczech, Founder   ·   vortexdeep.ch   ·   info@vortexdeep.ch   ·   Claridapark 4, 8636 Wald ZH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12796E4-2A12-77AC-AE72-D98C059E2697}"/>
              </a:ext>
            </a:extLst>
          </p:cNvPr>
          <p:cNvSpPr/>
          <p:nvPr/>
        </p:nvSpPr>
        <p:spPr>
          <a:xfrm>
            <a:off x="640080" y="129844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2A2520"/>
                </a:solidFill>
                <a:latin typeface="IBM Plex Mono" pitchFamily="34" charset="0"/>
              </a:rPr>
              <a:t>No board yet — the advisors we'd bring in as we scale.</a:t>
            </a:r>
          </a:p>
          <a:p>
            <a:pPr marL="0" indent="0">
              <a:lnSpc>
                <a:spcPct val="105000"/>
              </a:lnSpc>
              <a:buNone/>
            </a:pPr>
            <a:endParaRPr lang="en-US" sz="24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A3458A56-8929-545B-C4E1-EA02D3F36D86}"/>
              </a:ext>
            </a:extLst>
          </p:cNvPr>
          <p:cNvSpPr/>
          <p:nvPr/>
        </p:nvSpPr>
        <p:spPr>
          <a:xfrm>
            <a:off x="640080" y="5074920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ECE0C6"/>
          </a:solidFill>
          <a:ln w="12700">
            <a:solidFill>
              <a:srgbClr val="E2D4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033F0DEF-C588-696D-5AB6-BECD9FABA1D6}"/>
              </a:ext>
            </a:extLst>
          </p:cNvPr>
          <p:cNvSpPr/>
          <p:nvPr/>
        </p:nvSpPr>
        <p:spPr>
          <a:xfrm>
            <a:off x="859536" y="5074920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4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Ownership is a licence, not a transfer</a:t>
            </a:r>
            <a:r>
              <a:rPr lang="en-US" sz="1300" dirty="0">
                <a:solidFill>
                  <a:srgbClr val="2A2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— the IP and reusable methodology stay with us. Break-even at ~6–8 managed clients; bootstrap-first, grows on its own cash.</a:t>
            </a:r>
            <a:endParaRPr lang="en-US" sz="13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3C81A99-8A8D-5D9D-26D5-E14F5F4062F3}"/>
              </a:ext>
            </a:extLst>
          </p:cNvPr>
          <p:cNvGrpSpPr/>
          <p:nvPr/>
        </p:nvGrpSpPr>
        <p:grpSpPr>
          <a:xfrm>
            <a:off x="660234" y="294693"/>
            <a:ext cx="362026" cy="327099"/>
            <a:chOff x="568280" y="1252445"/>
            <a:chExt cx="553430" cy="50003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96C2C77-0A6C-9EC3-1309-9488DE70BAFD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763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000" dirty="0"/>
                <a:t>VD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4E5A55B-E8E7-5BAE-36BA-B78100DFC86F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EA61D1B7-8341-729B-B44F-B5C4408D4F2E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5" name="Hexagon 44">
                  <a:extLst>
                    <a:ext uri="{FF2B5EF4-FFF2-40B4-BE49-F238E27FC236}">
                      <a16:creationId xmlns:a16="http://schemas.microsoft.com/office/drawing/2014/main" id="{459E579E-370A-DCDC-30FE-82410DBB1590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6" name="Hexagon 45">
                  <a:extLst>
                    <a:ext uri="{FF2B5EF4-FFF2-40B4-BE49-F238E27FC236}">
                      <a16:creationId xmlns:a16="http://schemas.microsoft.com/office/drawing/2014/main" id="{9BD4FE14-26EB-8791-FAD5-2B67B1D96700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E502719-ACDF-2C2F-12CC-DD26DEE86B46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EF78FAD-74AC-A029-18A6-1D511D919E47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E2D89AA-7524-BAAA-10CC-2E0B5ACAD86D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804E68A-B63D-E56F-A150-7BBBD6518791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9B1F76A-8F4D-EBC8-A2CC-578854E16D41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C6A0A4C-E5A3-44F4-EDC4-7629902A5495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  <p:sp>
        <p:nvSpPr>
          <p:cNvPr id="2" name="Text 5">
            <a:extLst>
              <a:ext uri="{FF2B5EF4-FFF2-40B4-BE49-F238E27FC236}">
                <a16:creationId xmlns:a16="http://schemas.microsoft.com/office/drawing/2014/main" id="{7C2DB2A5-F1BF-DE6F-55E9-9143E110E7A7}"/>
              </a:ext>
            </a:extLst>
          </p:cNvPr>
          <p:cNvSpPr/>
          <p:nvPr/>
        </p:nvSpPr>
        <p:spPr>
          <a:xfrm>
            <a:off x="640080" y="1883663"/>
            <a:ext cx="10908792" cy="91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300" dirty="0">
                <a:solidFill>
                  <a:srgbClr val="6E6155"/>
                </a:solidFill>
                <a:latin typeface="IBM Plex Mono" pitchFamily="34" charset="0"/>
              </a:rPr>
              <a:t>Advisory-first and lightweight while founder-led. A formal board comes with external funding (Day 5). Chosen for credibility, introductions and governance — not titles — and it protects trust, data discipline and IP rather than taking decisions from the founder or the client.</a:t>
            </a:r>
          </a:p>
          <a:p>
            <a:pPr marL="0" indent="0">
              <a:lnSpc>
                <a:spcPct val="122000"/>
              </a:lnSpc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35417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1146</Words>
  <Application>Microsoft Macintosh PowerPoint</Application>
  <PresentationFormat>Custom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IBM Plex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23</cp:revision>
  <dcterms:created xsi:type="dcterms:W3CDTF">2026-08-19T06:47:24Z</dcterms:created>
  <dcterms:modified xsi:type="dcterms:W3CDTF">2026-08-21T18:22:39Z</dcterms:modified>
</cp:coreProperties>
</file>